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" name="Image 0" descr="/home/z/my-project/download/connexai_massapro_brand/slides/images/page_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41283" y="4936331"/>
            <a:ext cx="1202717" cy="120701"/>
          </a:xfrm>
          <a:prstGeom prst="rect">
            <a:avLst/>
          </a:prstGeom>
          <a:noFill/>
          <a:ln/>
          <a:effectLst>
            <a:outerShdw sx="100000" sy="100000" kx="0" ky="0" algn="bl" rotWithShape="0" blurRad="28575" dist="9525" dir="5400000">
              <a:srgbClr val="000000">
                <a:alpha val="60000"/>
              </a:srgbClr>
            </a:outerShdw>
          </a:effectLst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spc="124" kern="0" dirty="0">
                <a:solidFill>
                  <a:srgbClr val="FFFFFF">
                    <a:alpha val="5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MASSAPRO · 01 / 30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428625" y="610791"/>
            <a:ext cx="4000500" cy="0"/>
          </a:xfrm>
          <a:prstGeom prst="line">
            <a:avLst/>
          </a:prstGeom>
          <a:noFill/>
          <a:ln w="7144">
            <a:solidFill>
              <a:srgbClr val="A78BF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425553" y="607219"/>
            <a:ext cx="0" cy="1386557"/>
          </a:xfrm>
          <a:prstGeom prst="line">
            <a:avLst/>
          </a:prstGeom>
          <a:noFill/>
          <a:ln w="7144">
            <a:solidFill>
              <a:srgbClr val="A78B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8625" y="1990204"/>
            <a:ext cx="4000500" cy="0"/>
          </a:xfrm>
          <a:prstGeom prst="line">
            <a:avLst/>
          </a:prstGeom>
          <a:noFill/>
          <a:ln w="7144">
            <a:solidFill>
              <a:srgbClr val="A78BF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42913" y="607219"/>
            <a:ext cx="0" cy="1386557"/>
          </a:xfrm>
          <a:prstGeom prst="line">
            <a:avLst/>
          </a:prstGeom>
          <a:noFill/>
          <a:ln w="28575">
            <a:solidFill>
              <a:srgbClr val="7C3AED"/>
            </a:solidFill>
            <a:prstDash val="solid"/>
          </a:ln>
        </p:spPr>
      </p:sp>
      <p:pic>
        <p:nvPicPr>
          <p:cNvPr id="7" name="Image 0" descr="/home/z/my-project/download/connexai_massapro_brand/slides/images/page_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28625" y="607219"/>
            <a:ext cx="4000500" cy="1386557"/>
          </a:xfrm>
          <a:prstGeom prst="roundRect">
            <a:avLst>
              <a:gd name="adj" fmla="val 8243"/>
            </a:avLst>
          </a:prstGeom>
          <a:solidFill>
            <a:srgbClr val="1A0B2E">
              <a:alpha val="92000"/>
            </a:srgbClr>
          </a:solidFill>
          <a:ln/>
          <a:effectLst>
            <a:outerShdw sx="100000" sy="100000" kx="0" ky="0" algn="bl" rotWithShape="0" blurRad="190500" dist="38100" dir="5400000">
              <a:srgbClr val="000000">
                <a:alpha val="4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614363" y="742950"/>
            <a:ext cx="3650456" cy="1082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b="1" spc="101" kern="0" dirty="0">
                <a:solidFill>
                  <a:srgbClr val="A78BF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THE MASSAPRO PLATFORM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614363" y="878681"/>
            <a:ext cx="3760184" cy="203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1238" b="1" dirty="0">
                <a:solidFill>
                  <a:srgbClr val="FFFFFF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One Platform. A Complete Agentic AI Workforce.</a:t>
            </a:r>
            <a:endParaRPr lang="en-US" sz="1238" dirty="0"/>
          </a:p>
        </p:txBody>
      </p:sp>
      <p:sp>
        <p:nvSpPr>
          <p:cNvPr id="11" name="Text 8"/>
          <p:cNvSpPr/>
          <p:nvPr/>
        </p:nvSpPr>
        <p:spPr>
          <a:xfrm>
            <a:off x="614363" y="1138647"/>
            <a:ext cx="3650456" cy="71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FFFFFF">
                    <a:alpha val="85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Our </a:t>
            </a:r>
            <a:pPr algn="l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A78BFA">
                    <a:alpha val="85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proprietary LLM</a:t>
            </a:r>
            <a:pPr algn="l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FFFFFF">
                    <a:alpha val="85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orchestrates the entire customer journey across every channel — replacing the call center with a </a:t>
            </a:r>
            <a:pPr algn="l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A78BFA">
                    <a:alpha val="85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growth machine</a:t>
            </a:r>
            <a:pPr algn="l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FFFFFF">
                    <a:alpha val="85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powered by Agentic AI. Unlike most providers that charge per-minute AI tokens for voice or text, MassaPro offers a flat </a:t>
            </a:r>
            <a:pPr algn="l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A78BFA">
                    <a:alpha val="85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pay-per-agent + volume pricing</a:t>
            </a:r>
            <a:pPr algn="l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FFFFFF">
                    <a:alpha val="85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— scaling without surprise bills.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7901233" y="144361"/>
            <a:ext cx="1065602" cy="325641"/>
          </a:xfrm>
          <a:prstGeom prst="roundRect">
            <a:avLst>
              <a:gd name="adj" fmla="val 2922075"/>
            </a:avLst>
          </a:prstGeom>
          <a:solidFill>
            <a:srgbClr val="FFFFFF">
              <a:alpha val="96000"/>
            </a:srgbClr>
          </a:solidFill>
          <a:ln w="7144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19050" dir="5400000">
              <a:srgbClr val="7C3AED">
                <a:alpha val="1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8245562" y="250031"/>
            <a:ext cx="576969" cy="125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spc="32" kern="0" dirty="0">
                <a:solidFill>
                  <a:srgbClr val="7C3AE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MassaPro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8002674" y="221456"/>
            <a:ext cx="81985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spc="32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7941283" y="4936331"/>
            <a:ext cx="1202717" cy="120701"/>
          </a:xfrm>
          <a:prstGeom prst="rect">
            <a:avLst/>
          </a:prstGeom>
          <a:noFill/>
          <a:ln/>
          <a:effectLst>
            <a:outerShdw sx="100000" sy="100000" kx="0" ky="0" algn="bl" rotWithShape="0" blurRad="28575" dist="9525" dir="5400000">
              <a:srgbClr val="000000">
                <a:alpha val="60000"/>
              </a:srgbClr>
            </a:outerShdw>
          </a:effectLst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spc="124" kern="0" dirty="0">
                <a:solidFill>
                  <a:srgbClr val="FFFFFF">
                    <a:alpha val="5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MASSAPRO · 02 / 30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" name="Image 0" descr="/home/z/my-project/download/connexai_massapro_brand/slides/images/page_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01233" y="144361"/>
            <a:ext cx="1065602" cy="325641"/>
          </a:xfrm>
          <a:prstGeom prst="roundRect">
            <a:avLst>
              <a:gd name="adj" fmla="val 2922075"/>
            </a:avLst>
          </a:prstGeom>
          <a:solidFill>
            <a:srgbClr val="FFFFFF">
              <a:alpha val="96000"/>
            </a:srgbClr>
          </a:solidFill>
          <a:ln w="7144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19050" dir="5400000">
              <a:srgbClr val="7C3AED">
                <a:alpha val="1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8245562" y="250031"/>
            <a:ext cx="576969" cy="125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spc="32" kern="0" dirty="0">
                <a:solidFill>
                  <a:srgbClr val="7C3AE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MassaPro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8002674" y="221456"/>
            <a:ext cx="81985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spc="32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941283" y="4936331"/>
            <a:ext cx="1202717" cy="120701"/>
          </a:xfrm>
          <a:prstGeom prst="rect">
            <a:avLst/>
          </a:prstGeom>
          <a:noFill/>
          <a:ln/>
          <a:effectLst>
            <a:outerShdw sx="100000" sy="100000" kx="0" ky="0" algn="bl" rotWithShape="0" blurRad="28575" dist="9525" dir="5400000">
              <a:srgbClr val="000000">
                <a:alpha val="60000"/>
              </a:srgbClr>
            </a:outerShdw>
          </a:effectLst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spc="124" kern="0" dirty="0">
                <a:solidFill>
                  <a:srgbClr val="FFFFFF">
                    <a:alpha val="5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MASSAPRO · 03 / 30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" name="Image 0" descr="/home/z/my-project/download/connexai_massapro_brand/slides/images/page_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01233" y="144361"/>
            <a:ext cx="1065602" cy="325641"/>
          </a:xfrm>
          <a:prstGeom prst="roundRect">
            <a:avLst>
              <a:gd name="adj" fmla="val 2922075"/>
            </a:avLst>
          </a:prstGeom>
          <a:solidFill>
            <a:srgbClr val="FFFFFF">
              <a:alpha val="96000"/>
            </a:srgbClr>
          </a:solidFill>
          <a:ln w="7144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19050" dir="5400000">
              <a:srgbClr val="7C3AED">
                <a:alpha val="1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8245562" y="250031"/>
            <a:ext cx="576969" cy="125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spc="32" kern="0" dirty="0">
                <a:solidFill>
                  <a:srgbClr val="7C3AE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MassaPro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8002674" y="221456"/>
            <a:ext cx="81985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spc="32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941283" y="4936331"/>
            <a:ext cx="1202717" cy="120701"/>
          </a:xfrm>
          <a:prstGeom prst="rect">
            <a:avLst/>
          </a:prstGeom>
          <a:noFill/>
          <a:ln/>
          <a:effectLst>
            <a:outerShdw sx="100000" sy="100000" kx="0" ky="0" algn="bl" rotWithShape="0" blurRad="28575" dist="9525" dir="5400000">
              <a:srgbClr val="000000">
                <a:alpha val="60000"/>
              </a:srgbClr>
            </a:outerShdw>
          </a:effectLst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spc="124" kern="0" dirty="0">
                <a:solidFill>
                  <a:srgbClr val="FFFFFF">
                    <a:alpha val="5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MASSAPRO · 04 / 30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428625" y="646509"/>
            <a:ext cx="3714750" cy="0"/>
          </a:xfrm>
          <a:prstGeom prst="line">
            <a:avLst/>
          </a:prstGeom>
          <a:noFill/>
          <a:ln w="7144">
            <a:solidFill>
              <a:srgbClr val="A78BF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139803" y="642938"/>
            <a:ext cx="0" cy="1287326"/>
          </a:xfrm>
          <a:prstGeom prst="line">
            <a:avLst/>
          </a:prstGeom>
          <a:noFill/>
          <a:ln w="7144">
            <a:solidFill>
              <a:srgbClr val="A78B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8625" y="1926692"/>
            <a:ext cx="3714750" cy="0"/>
          </a:xfrm>
          <a:prstGeom prst="line">
            <a:avLst/>
          </a:prstGeom>
          <a:noFill/>
          <a:ln w="7144">
            <a:solidFill>
              <a:srgbClr val="A78BF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42913" y="642938"/>
            <a:ext cx="0" cy="1287326"/>
          </a:xfrm>
          <a:prstGeom prst="line">
            <a:avLst/>
          </a:prstGeom>
          <a:noFill/>
          <a:ln w="28575">
            <a:solidFill>
              <a:srgbClr val="7C3AED"/>
            </a:solidFill>
            <a:prstDash val="solid"/>
          </a:ln>
        </p:spPr>
      </p:sp>
      <p:pic>
        <p:nvPicPr>
          <p:cNvPr id="7" name="Image 0" descr="/home/z/my-project/download/connexai_massapro_brand/slides/images/page_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28625" y="642938"/>
            <a:ext cx="3714750" cy="1287326"/>
          </a:xfrm>
          <a:prstGeom prst="roundRect">
            <a:avLst>
              <a:gd name="adj" fmla="val 8879"/>
            </a:avLst>
          </a:prstGeom>
          <a:solidFill>
            <a:srgbClr val="1A0B2E">
              <a:alpha val="92000"/>
            </a:srgbClr>
          </a:solidFill>
          <a:ln/>
          <a:effectLst>
            <a:outerShdw sx="100000" sy="100000" kx="0" ky="0" algn="bl" rotWithShape="0" blurRad="190500" dist="38100" dir="5400000">
              <a:srgbClr val="000000">
                <a:alpha val="4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614363" y="778669"/>
            <a:ext cx="3474434" cy="1082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b="1" spc="101" kern="0" dirty="0">
                <a:solidFill>
                  <a:srgbClr val="A78BF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PROPRIETARY LLM · OMNI-CHANNEL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614363" y="914400"/>
            <a:ext cx="3364706" cy="40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1238" b="1" dirty="0">
                <a:solidFill>
                  <a:srgbClr val="FFFFFF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A single LLM orchestrating every customer touchpoint.</a:t>
            </a:r>
            <a:endParaRPr lang="en-US" sz="1238" dirty="0"/>
          </a:p>
        </p:txBody>
      </p:sp>
      <p:sp>
        <p:nvSpPr>
          <p:cNvPr id="11" name="Text 8"/>
          <p:cNvSpPr/>
          <p:nvPr/>
        </p:nvSpPr>
        <p:spPr>
          <a:xfrm>
            <a:off x="614363" y="1362894"/>
            <a:ext cx="3364706" cy="4316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FFFFFF">
                    <a:alpha val="85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Voice, video, chat, email, and WhatsApp — all routed through </a:t>
            </a:r>
            <a:pPr algn="l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A78BFA">
                    <a:alpha val="85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our proprietary LLM</a:t>
            </a:r>
            <a:pPr algn="l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FFFFFF">
                    <a:alpha val="85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. No third-party token fees. No per-minute charges. Just </a:t>
            </a:r>
            <a:pPr algn="l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A78BFA">
                    <a:alpha val="85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predictable per-agent pricing</a:t>
            </a:r>
            <a:pPr algn="l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FFFFFF">
                    <a:alpha val="85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that scales with your business.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7901233" y="144361"/>
            <a:ext cx="1065602" cy="325641"/>
          </a:xfrm>
          <a:prstGeom prst="roundRect">
            <a:avLst>
              <a:gd name="adj" fmla="val 2922075"/>
            </a:avLst>
          </a:prstGeom>
          <a:solidFill>
            <a:srgbClr val="FFFFFF">
              <a:alpha val="96000"/>
            </a:srgbClr>
          </a:solidFill>
          <a:ln w="7144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19050" dir="5400000">
              <a:srgbClr val="7C3AED">
                <a:alpha val="1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8245562" y="250031"/>
            <a:ext cx="576969" cy="125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spc="32" kern="0" dirty="0">
                <a:solidFill>
                  <a:srgbClr val="7C3AE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MassaPro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8002674" y="221456"/>
            <a:ext cx="81985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spc="32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7941283" y="4936331"/>
            <a:ext cx="1202717" cy="120701"/>
          </a:xfrm>
          <a:prstGeom prst="rect">
            <a:avLst/>
          </a:prstGeom>
          <a:noFill/>
          <a:ln/>
          <a:effectLst>
            <a:outerShdw sx="100000" sy="100000" kx="0" ky="0" algn="bl" rotWithShape="0" blurRad="28575" dist="9525" dir="5400000">
              <a:srgbClr val="000000">
                <a:alpha val="60000"/>
              </a:srgbClr>
            </a:outerShdw>
          </a:effectLst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spc="124" kern="0" dirty="0">
                <a:solidFill>
                  <a:srgbClr val="FFFFFF">
                    <a:alpha val="5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MASSAPRO · 05 / 30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" name="Image 0" descr="/home/z/my-project/download/connexai_massapro_brand/slides/images/page_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01233" y="144361"/>
            <a:ext cx="1065602" cy="325641"/>
          </a:xfrm>
          <a:prstGeom prst="roundRect">
            <a:avLst>
              <a:gd name="adj" fmla="val 2922075"/>
            </a:avLst>
          </a:prstGeom>
          <a:solidFill>
            <a:srgbClr val="FFFFFF">
              <a:alpha val="96000"/>
            </a:srgbClr>
          </a:solidFill>
          <a:ln w="7144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19050" dir="5400000">
              <a:srgbClr val="7C3AED">
                <a:alpha val="1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8245562" y="250031"/>
            <a:ext cx="576969" cy="125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spc="32" kern="0" dirty="0">
                <a:solidFill>
                  <a:srgbClr val="7C3AE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MassaPro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8002674" y="221456"/>
            <a:ext cx="81985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spc="32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941283" y="4936331"/>
            <a:ext cx="1202717" cy="120701"/>
          </a:xfrm>
          <a:prstGeom prst="rect">
            <a:avLst/>
          </a:prstGeom>
          <a:noFill/>
          <a:ln/>
          <a:effectLst>
            <a:outerShdw sx="100000" sy="100000" kx="0" ky="0" algn="bl" rotWithShape="0" blurRad="28575" dist="9525" dir="5400000">
              <a:srgbClr val="000000">
                <a:alpha val="60000"/>
              </a:srgbClr>
            </a:outerShdw>
          </a:effectLst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spc="124" kern="0" dirty="0">
                <a:solidFill>
                  <a:srgbClr val="FFFFFF">
                    <a:alpha val="5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MASSAPRO · 06 / 30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" name="Image 0" descr="/home/z/my-project/download/connexai_massapro_brand/slides/images/page_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01233" y="144361"/>
            <a:ext cx="1065602" cy="325641"/>
          </a:xfrm>
          <a:prstGeom prst="roundRect">
            <a:avLst>
              <a:gd name="adj" fmla="val 2922075"/>
            </a:avLst>
          </a:prstGeom>
          <a:solidFill>
            <a:srgbClr val="FFFFFF">
              <a:alpha val="96000"/>
            </a:srgbClr>
          </a:solidFill>
          <a:ln w="7144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19050" dir="5400000">
              <a:srgbClr val="7C3AED">
                <a:alpha val="1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8245562" y="250031"/>
            <a:ext cx="576969" cy="125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spc="32" kern="0" dirty="0">
                <a:solidFill>
                  <a:srgbClr val="7C3AE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MassaPro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8002674" y="221456"/>
            <a:ext cx="81985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spc="32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941283" y="4936331"/>
            <a:ext cx="1202717" cy="120701"/>
          </a:xfrm>
          <a:prstGeom prst="rect">
            <a:avLst/>
          </a:prstGeom>
          <a:noFill/>
          <a:ln/>
          <a:effectLst>
            <a:outerShdw sx="100000" sy="100000" kx="0" ky="0" algn="bl" rotWithShape="0" blurRad="28575" dist="9525" dir="5400000">
              <a:srgbClr val="000000">
                <a:alpha val="60000"/>
              </a:srgbClr>
            </a:outerShdw>
          </a:effectLst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spc="124" kern="0" dirty="0">
                <a:solidFill>
                  <a:srgbClr val="FFFFFF">
                    <a:alpha val="5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MASSAPRO · 07 / 30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" name="Image 0" descr="/home/z/my-project/download/connexai_massapro_brand/slides/images/page_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01233" y="144361"/>
            <a:ext cx="1065602" cy="325641"/>
          </a:xfrm>
          <a:prstGeom prst="roundRect">
            <a:avLst>
              <a:gd name="adj" fmla="val 2922075"/>
            </a:avLst>
          </a:prstGeom>
          <a:solidFill>
            <a:srgbClr val="FFFFFF">
              <a:alpha val="96000"/>
            </a:srgbClr>
          </a:solidFill>
          <a:ln w="7144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19050" dir="5400000">
              <a:srgbClr val="7C3AED">
                <a:alpha val="1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8245562" y="250031"/>
            <a:ext cx="576969" cy="125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spc="32" kern="0" dirty="0">
                <a:solidFill>
                  <a:srgbClr val="7C3AE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MassaPro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8002674" y="221456"/>
            <a:ext cx="81985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spc="32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941283" y="4936331"/>
            <a:ext cx="1202717" cy="120701"/>
          </a:xfrm>
          <a:prstGeom prst="rect">
            <a:avLst/>
          </a:prstGeom>
          <a:noFill/>
          <a:ln/>
          <a:effectLst>
            <a:outerShdw sx="100000" sy="100000" kx="0" ky="0" algn="bl" rotWithShape="0" blurRad="28575" dist="9525" dir="5400000">
              <a:srgbClr val="000000">
                <a:alpha val="60000"/>
              </a:srgbClr>
            </a:outerShdw>
          </a:effectLst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spc="124" kern="0" dirty="0">
                <a:solidFill>
                  <a:srgbClr val="FFFFFF">
                    <a:alpha val="5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MASSAPRO · 08 / 30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" name="Image 0" descr="/home/z/my-project/download/connexai_massapro_brand/slides/images/page_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01233" y="144361"/>
            <a:ext cx="1065602" cy="325641"/>
          </a:xfrm>
          <a:prstGeom prst="roundRect">
            <a:avLst>
              <a:gd name="adj" fmla="val 2922075"/>
            </a:avLst>
          </a:prstGeom>
          <a:solidFill>
            <a:srgbClr val="FFFFFF">
              <a:alpha val="96000"/>
            </a:srgbClr>
          </a:solidFill>
          <a:ln w="7144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19050" dir="5400000">
              <a:srgbClr val="7C3AED">
                <a:alpha val="1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8245562" y="250031"/>
            <a:ext cx="576969" cy="125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spc="32" kern="0" dirty="0">
                <a:solidFill>
                  <a:srgbClr val="7C3AE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MassaPro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8002674" y="221456"/>
            <a:ext cx="81985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spc="32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941283" y="4936331"/>
            <a:ext cx="1202717" cy="120701"/>
          </a:xfrm>
          <a:prstGeom prst="rect">
            <a:avLst/>
          </a:prstGeom>
          <a:noFill/>
          <a:ln/>
          <a:effectLst>
            <a:outerShdw sx="100000" sy="100000" kx="0" ky="0" algn="bl" rotWithShape="0" blurRad="28575" dist="9525" dir="5400000">
              <a:srgbClr val="000000">
                <a:alpha val="60000"/>
              </a:srgbClr>
            </a:outerShdw>
          </a:effectLst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spc="124" kern="0" dirty="0">
                <a:solidFill>
                  <a:srgbClr val="FFFFFF">
                    <a:alpha val="5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MASSAPRO · 09 / 30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" name="Image 0" descr="/home/z/my-project/download/connexai_massapro_brand/slides/images/page_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01233" y="144361"/>
            <a:ext cx="1065602" cy="325641"/>
          </a:xfrm>
          <a:prstGeom prst="roundRect">
            <a:avLst>
              <a:gd name="adj" fmla="val 2922075"/>
            </a:avLst>
          </a:prstGeom>
          <a:solidFill>
            <a:srgbClr val="FFFFFF">
              <a:alpha val="96000"/>
            </a:srgbClr>
          </a:solidFill>
          <a:ln w="7144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19050" dir="5400000">
              <a:srgbClr val="7C3AED">
                <a:alpha val="1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8245562" y="250031"/>
            <a:ext cx="576969" cy="125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spc="32" kern="0" dirty="0">
                <a:solidFill>
                  <a:srgbClr val="7C3AE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MassaPro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8002674" y="221456"/>
            <a:ext cx="81985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spc="32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941283" y="4936331"/>
            <a:ext cx="1202717" cy="120701"/>
          </a:xfrm>
          <a:prstGeom prst="rect">
            <a:avLst/>
          </a:prstGeom>
          <a:noFill/>
          <a:ln/>
          <a:effectLst>
            <a:outerShdw sx="100000" sy="100000" kx="0" ky="0" algn="bl" rotWithShape="0" blurRad="28575" dist="9525" dir="5400000">
              <a:srgbClr val="000000">
                <a:alpha val="60000"/>
              </a:srgbClr>
            </a:outerShdw>
          </a:effectLst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spc="124" kern="0" dirty="0">
                <a:solidFill>
                  <a:srgbClr val="FFFFFF">
                    <a:alpha val="5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MASSAPRO · 10 / 30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" name="Image 0" descr="/home/z/my-project/download/connexai_massapro_brand/slides/images/page_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01233" y="144361"/>
            <a:ext cx="1065602" cy="325641"/>
          </a:xfrm>
          <a:prstGeom prst="roundRect">
            <a:avLst>
              <a:gd name="adj" fmla="val 2922075"/>
            </a:avLst>
          </a:prstGeom>
          <a:solidFill>
            <a:srgbClr val="FFFFFF">
              <a:alpha val="96000"/>
            </a:srgbClr>
          </a:solidFill>
          <a:ln w="7144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19050" dir="5400000">
              <a:srgbClr val="7C3AED">
                <a:alpha val="1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8245562" y="250031"/>
            <a:ext cx="576969" cy="125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spc="32" kern="0" dirty="0">
                <a:solidFill>
                  <a:srgbClr val="7C3AE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MassaPro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8002674" y="221456"/>
            <a:ext cx="81985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spc="32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941283" y="4936331"/>
            <a:ext cx="1202717" cy="120701"/>
          </a:xfrm>
          <a:prstGeom prst="rect">
            <a:avLst/>
          </a:prstGeom>
          <a:noFill/>
          <a:ln/>
          <a:effectLst>
            <a:outerShdw sx="100000" sy="100000" kx="0" ky="0" algn="bl" rotWithShape="0" blurRad="28575" dist="9525" dir="5400000">
              <a:srgbClr val="000000">
                <a:alpha val="60000"/>
              </a:srgbClr>
            </a:outerShdw>
          </a:effectLst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spc="124" kern="0" dirty="0">
                <a:solidFill>
                  <a:srgbClr val="FFFFFF">
                    <a:alpha val="5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MASSAPRO · 11 / 30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" name="Image 0" descr="/home/z/my-project/download/connexai_massapro_brand/slides/images/page_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01233" y="144361"/>
            <a:ext cx="1065602" cy="325641"/>
          </a:xfrm>
          <a:prstGeom prst="roundRect">
            <a:avLst>
              <a:gd name="adj" fmla="val 2922075"/>
            </a:avLst>
          </a:prstGeom>
          <a:solidFill>
            <a:srgbClr val="FFFFFF">
              <a:alpha val="96000"/>
            </a:srgbClr>
          </a:solidFill>
          <a:ln w="7144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19050" dir="5400000">
              <a:srgbClr val="7C3AED">
                <a:alpha val="1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8245562" y="250031"/>
            <a:ext cx="576969" cy="125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spc="32" kern="0" dirty="0">
                <a:solidFill>
                  <a:srgbClr val="7C3AE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MassaPro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8002674" y="221456"/>
            <a:ext cx="81985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spc="32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941283" y="4936331"/>
            <a:ext cx="1202717" cy="120701"/>
          </a:xfrm>
          <a:prstGeom prst="rect">
            <a:avLst/>
          </a:prstGeom>
          <a:noFill/>
          <a:ln/>
          <a:effectLst>
            <a:outerShdw sx="100000" sy="100000" kx="0" ky="0" algn="bl" rotWithShape="0" blurRad="28575" dist="9525" dir="5400000">
              <a:srgbClr val="000000">
                <a:alpha val="60000"/>
              </a:srgbClr>
            </a:outerShdw>
          </a:effectLst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spc="124" kern="0" dirty="0">
                <a:solidFill>
                  <a:srgbClr val="FFFFFF">
                    <a:alpha val="5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MASSAPRO · 12 / 30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" name="Image 0" descr="/home/z/my-project/download/connexai_massapro_brand/slides/images/page_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01233" y="144361"/>
            <a:ext cx="1065602" cy="325641"/>
          </a:xfrm>
          <a:prstGeom prst="roundRect">
            <a:avLst>
              <a:gd name="adj" fmla="val 2922075"/>
            </a:avLst>
          </a:prstGeom>
          <a:solidFill>
            <a:srgbClr val="FFFFFF">
              <a:alpha val="96000"/>
            </a:srgbClr>
          </a:solidFill>
          <a:ln w="7144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19050" dir="5400000">
              <a:srgbClr val="7C3AED">
                <a:alpha val="1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8245562" y="250031"/>
            <a:ext cx="576969" cy="125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spc="32" kern="0" dirty="0">
                <a:solidFill>
                  <a:srgbClr val="7C3AE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MassaPro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8002674" y="221456"/>
            <a:ext cx="81985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spc="32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941283" y="4936331"/>
            <a:ext cx="1202717" cy="120701"/>
          </a:xfrm>
          <a:prstGeom prst="rect">
            <a:avLst/>
          </a:prstGeom>
          <a:noFill/>
          <a:ln/>
          <a:effectLst>
            <a:outerShdw sx="100000" sy="100000" kx="0" ky="0" algn="bl" rotWithShape="0" blurRad="28575" dist="9525" dir="5400000">
              <a:srgbClr val="000000">
                <a:alpha val="60000"/>
              </a:srgbClr>
            </a:outerShdw>
          </a:effectLst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spc="124" kern="0" dirty="0">
                <a:solidFill>
                  <a:srgbClr val="FFFFFF">
                    <a:alpha val="5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MASSAPRO · 13 / 30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" name="Image 0" descr="/home/z/my-project/download/connexai_massapro_brand/slides/images/page_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01233" y="144361"/>
            <a:ext cx="1065602" cy="325641"/>
          </a:xfrm>
          <a:prstGeom prst="roundRect">
            <a:avLst>
              <a:gd name="adj" fmla="val 2922075"/>
            </a:avLst>
          </a:prstGeom>
          <a:solidFill>
            <a:srgbClr val="FFFFFF">
              <a:alpha val="96000"/>
            </a:srgbClr>
          </a:solidFill>
          <a:ln w="7144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19050" dir="5400000">
              <a:srgbClr val="7C3AED">
                <a:alpha val="1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8245562" y="250031"/>
            <a:ext cx="576969" cy="125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spc="32" kern="0" dirty="0">
                <a:solidFill>
                  <a:srgbClr val="7C3AE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MassaPro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8002674" y="221456"/>
            <a:ext cx="81985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spc="32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941283" y="4936331"/>
            <a:ext cx="1202717" cy="120701"/>
          </a:xfrm>
          <a:prstGeom prst="rect">
            <a:avLst/>
          </a:prstGeom>
          <a:noFill/>
          <a:ln/>
          <a:effectLst>
            <a:outerShdw sx="100000" sy="100000" kx="0" ky="0" algn="bl" rotWithShape="0" blurRad="28575" dist="9525" dir="5400000">
              <a:srgbClr val="000000">
                <a:alpha val="60000"/>
              </a:srgbClr>
            </a:outerShdw>
          </a:effectLst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spc="124" kern="0" dirty="0">
                <a:solidFill>
                  <a:srgbClr val="FFFFFF">
                    <a:alpha val="5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MASSAPRO · 14 / 30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" name="Image 0" descr="/home/z/my-project/download/connexai_massapro_brand/slides/images/page_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01233" y="144361"/>
            <a:ext cx="1065602" cy="325641"/>
          </a:xfrm>
          <a:prstGeom prst="roundRect">
            <a:avLst>
              <a:gd name="adj" fmla="val 2922075"/>
            </a:avLst>
          </a:prstGeom>
          <a:solidFill>
            <a:srgbClr val="FFFFFF">
              <a:alpha val="96000"/>
            </a:srgbClr>
          </a:solidFill>
          <a:ln w="7144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19050" dir="5400000">
              <a:srgbClr val="7C3AED">
                <a:alpha val="1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8245562" y="250031"/>
            <a:ext cx="576969" cy="125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spc="32" kern="0" dirty="0">
                <a:solidFill>
                  <a:srgbClr val="7C3AE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MassaPro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8002674" y="221456"/>
            <a:ext cx="81985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spc="32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941283" y="4936331"/>
            <a:ext cx="1202717" cy="120701"/>
          </a:xfrm>
          <a:prstGeom prst="rect">
            <a:avLst/>
          </a:prstGeom>
          <a:noFill/>
          <a:ln/>
          <a:effectLst>
            <a:outerShdw sx="100000" sy="100000" kx="0" ky="0" algn="bl" rotWithShape="0" blurRad="28575" dist="9525" dir="5400000">
              <a:srgbClr val="000000">
                <a:alpha val="60000"/>
              </a:srgbClr>
            </a:outerShdw>
          </a:effectLst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spc="124" kern="0" dirty="0">
                <a:solidFill>
                  <a:srgbClr val="FFFFFF">
                    <a:alpha val="5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MASSAPRO · 15 / 30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" name="Image 0" descr="/home/z/my-project/download/connexai_massapro_brand/slides/images/page_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01233" y="144361"/>
            <a:ext cx="1065602" cy="325641"/>
          </a:xfrm>
          <a:prstGeom prst="roundRect">
            <a:avLst>
              <a:gd name="adj" fmla="val 2922075"/>
            </a:avLst>
          </a:prstGeom>
          <a:solidFill>
            <a:srgbClr val="FFFFFF">
              <a:alpha val="96000"/>
            </a:srgbClr>
          </a:solidFill>
          <a:ln w="7144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19050" dir="5400000">
              <a:srgbClr val="7C3AED">
                <a:alpha val="1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8245562" y="250031"/>
            <a:ext cx="576969" cy="125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spc="32" kern="0" dirty="0">
                <a:solidFill>
                  <a:srgbClr val="7C3AE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MassaPro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8002674" y="221456"/>
            <a:ext cx="81985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spc="32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941283" y="4936331"/>
            <a:ext cx="1202717" cy="120701"/>
          </a:xfrm>
          <a:prstGeom prst="rect">
            <a:avLst/>
          </a:prstGeom>
          <a:noFill/>
          <a:ln/>
          <a:effectLst>
            <a:outerShdw sx="100000" sy="100000" kx="0" ky="0" algn="bl" rotWithShape="0" blurRad="28575" dist="9525" dir="5400000">
              <a:srgbClr val="000000">
                <a:alpha val="60000"/>
              </a:srgbClr>
            </a:outerShdw>
          </a:effectLst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spc="124" kern="0" dirty="0">
                <a:solidFill>
                  <a:srgbClr val="FFFFFF">
                    <a:alpha val="5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MASSAPRO · 16 / 30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" name="Image 0" descr="/home/z/my-project/download/connexai_massapro_brand/slides/images/page_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01233" y="144361"/>
            <a:ext cx="1065602" cy="325641"/>
          </a:xfrm>
          <a:prstGeom prst="roundRect">
            <a:avLst>
              <a:gd name="adj" fmla="val 2922075"/>
            </a:avLst>
          </a:prstGeom>
          <a:solidFill>
            <a:srgbClr val="FFFFFF">
              <a:alpha val="96000"/>
            </a:srgbClr>
          </a:solidFill>
          <a:ln w="7144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19050" dir="5400000">
              <a:srgbClr val="7C3AED">
                <a:alpha val="1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8245562" y="250031"/>
            <a:ext cx="576969" cy="125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spc="32" kern="0" dirty="0">
                <a:solidFill>
                  <a:srgbClr val="7C3AE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MassaPro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8002674" y="221456"/>
            <a:ext cx="81985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spc="32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941283" y="4936331"/>
            <a:ext cx="1202717" cy="120701"/>
          </a:xfrm>
          <a:prstGeom prst="rect">
            <a:avLst/>
          </a:prstGeom>
          <a:noFill/>
          <a:ln/>
          <a:effectLst>
            <a:outerShdw sx="100000" sy="100000" kx="0" ky="0" algn="bl" rotWithShape="0" blurRad="28575" dist="9525" dir="5400000">
              <a:srgbClr val="000000">
                <a:alpha val="60000"/>
              </a:srgbClr>
            </a:outerShdw>
          </a:effectLst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spc="124" kern="0" dirty="0">
                <a:solidFill>
                  <a:srgbClr val="FFFFFF">
                    <a:alpha val="5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MASSAPRO · 17 / 30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" name="Image 0" descr="/home/z/my-project/download/connexai_massapro_brand/slides/images/page_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01233" y="144361"/>
            <a:ext cx="1065602" cy="325641"/>
          </a:xfrm>
          <a:prstGeom prst="roundRect">
            <a:avLst>
              <a:gd name="adj" fmla="val 2922075"/>
            </a:avLst>
          </a:prstGeom>
          <a:solidFill>
            <a:srgbClr val="FFFFFF">
              <a:alpha val="96000"/>
            </a:srgbClr>
          </a:solidFill>
          <a:ln w="7144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19050" dir="5400000">
              <a:srgbClr val="7C3AED">
                <a:alpha val="1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8245562" y="250031"/>
            <a:ext cx="576969" cy="125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spc="32" kern="0" dirty="0">
                <a:solidFill>
                  <a:srgbClr val="7C3AE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MassaPro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8002674" y="221456"/>
            <a:ext cx="81985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spc="32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941283" y="4936331"/>
            <a:ext cx="1202717" cy="120701"/>
          </a:xfrm>
          <a:prstGeom prst="rect">
            <a:avLst/>
          </a:prstGeom>
          <a:noFill/>
          <a:ln/>
          <a:effectLst>
            <a:outerShdw sx="100000" sy="100000" kx="0" ky="0" algn="bl" rotWithShape="0" blurRad="28575" dist="9525" dir="5400000">
              <a:srgbClr val="000000">
                <a:alpha val="60000"/>
              </a:srgbClr>
            </a:outerShdw>
          </a:effectLst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spc="124" kern="0" dirty="0">
                <a:solidFill>
                  <a:srgbClr val="FFFFFF">
                    <a:alpha val="5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MASSAPRO · 18 / 30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" name="Image 0" descr="/home/z/my-project/download/connexai_massapro_brand/slides/images/page_1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01233" y="144361"/>
            <a:ext cx="1065602" cy="325641"/>
          </a:xfrm>
          <a:prstGeom prst="roundRect">
            <a:avLst>
              <a:gd name="adj" fmla="val 2922075"/>
            </a:avLst>
          </a:prstGeom>
          <a:solidFill>
            <a:srgbClr val="FFFFFF">
              <a:alpha val="96000"/>
            </a:srgbClr>
          </a:solidFill>
          <a:ln w="7144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19050" dir="5400000">
              <a:srgbClr val="7C3AED">
                <a:alpha val="1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8245562" y="250031"/>
            <a:ext cx="576969" cy="125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spc="32" kern="0" dirty="0">
                <a:solidFill>
                  <a:srgbClr val="7C3AE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MassaPro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8002674" y="221456"/>
            <a:ext cx="81985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spc="32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941283" y="4936331"/>
            <a:ext cx="1202717" cy="120701"/>
          </a:xfrm>
          <a:prstGeom prst="rect">
            <a:avLst/>
          </a:prstGeom>
          <a:noFill/>
          <a:ln/>
          <a:effectLst>
            <a:outerShdw sx="100000" sy="100000" kx="0" ky="0" algn="bl" rotWithShape="0" blurRad="28575" dist="9525" dir="5400000">
              <a:srgbClr val="000000">
                <a:alpha val="60000"/>
              </a:srgbClr>
            </a:outerShdw>
          </a:effectLst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spc="124" kern="0" dirty="0">
                <a:solidFill>
                  <a:srgbClr val="FFFFFF">
                    <a:alpha val="5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MASSAPRO · 19 / 30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" name="Image 0" descr="/home/z/my-project/download/connexai_massapro_brand/slides/images/page_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01233" y="144361"/>
            <a:ext cx="1065602" cy="325641"/>
          </a:xfrm>
          <a:prstGeom prst="roundRect">
            <a:avLst>
              <a:gd name="adj" fmla="val 2922075"/>
            </a:avLst>
          </a:prstGeom>
          <a:solidFill>
            <a:srgbClr val="FFFFFF">
              <a:alpha val="96000"/>
            </a:srgbClr>
          </a:solidFill>
          <a:ln w="7144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19050" dir="5400000">
              <a:srgbClr val="7C3AED">
                <a:alpha val="1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8245562" y="250031"/>
            <a:ext cx="576969" cy="125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spc="32" kern="0" dirty="0">
                <a:solidFill>
                  <a:srgbClr val="7C3AE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MassaPro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8002674" y="221456"/>
            <a:ext cx="81985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spc="32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941283" y="4936331"/>
            <a:ext cx="1202717" cy="120701"/>
          </a:xfrm>
          <a:prstGeom prst="rect">
            <a:avLst/>
          </a:prstGeom>
          <a:noFill/>
          <a:ln/>
          <a:effectLst>
            <a:outerShdw sx="100000" sy="100000" kx="0" ky="0" algn="bl" rotWithShape="0" blurRad="28575" dist="9525" dir="5400000">
              <a:srgbClr val="000000">
                <a:alpha val="60000"/>
              </a:srgbClr>
            </a:outerShdw>
          </a:effectLst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spc="124" kern="0" dirty="0">
                <a:solidFill>
                  <a:srgbClr val="FFFFFF">
                    <a:alpha val="5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MASSAPRO · 20 / 30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" name="Image 0" descr="/home/z/my-project/download/connexai_massapro_brand/slides/images/page_2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01233" y="144361"/>
            <a:ext cx="1065602" cy="325641"/>
          </a:xfrm>
          <a:prstGeom prst="roundRect">
            <a:avLst>
              <a:gd name="adj" fmla="val 2922075"/>
            </a:avLst>
          </a:prstGeom>
          <a:solidFill>
            <a:srgbClr val="FFFFFF">
              <a:alpha val="96000"/>
            </a:srgbClr>
          </a:solidFill>
          <a:ln w="7144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19050" dir="5400000">
              <a:srgbClr val="7C3AED">
                <a:alpha val="1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8245562" y="250031"/>
            <a:ext cx="576969" cy="125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spc="32" kern="0" dirty="0">
                <a:solidFill>
                  <a:srgbClr val="7C3AE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MassaPro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8002674" y="221456"/>
            <a:ext cx="81985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spc="32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941283" y="4936331"/>
            <a:ext cx="1202717" cy="120701"/>
          </a:xfrm>
          <a:prstGeom prst="rect">
            <a:avLst/>
          </a:prstGeom>
          <a:noFill/>
          <a:ln/>
          <a:effectLst>
            <a:outerShdw sx="100000" sy="100000" kx="0" ky="0" algn="bl" rotWithShape="0" blurRad="28575" dist="9525" dir="5400000">
              <a:srgbClr val="000000">
                <a:alpha val="60000"/>
              </a:srgbClr>
            </a:outerShdw>
          </a:effectLst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spc="124" kern="0" dirty="0">
                <a:solidFill>
                  <a:srgbClr val="FFFFFF">
                    <a:alpha val="5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MASSAPRO · 21 / 30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428625" y="610791"/>
            <a:ext cx="3857625" cy="0"/>
          </a:xfrm>
          <a:prstGeom prst="line">
            <a:avLst/>
          </a:prstGeom>
          <a:noFill/>
          <a:ln w="7144">
            <a:solidFill>
              <a:srgbClr val="A78BF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2678" y="607219"/>
            <a:ext cx="0" cy="1431206"/>
          </a:xfrm>
          <a:prstGeom prst="line">
            <a:avLst/>
          </a:prstGeom>
          <a:noFill/>
          <a:ln w="7144">
            <a:solidFill>
              <a:srgbClr val="A78B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8625" y="2034853"/>
            <a:ext cx="3857625" cy="0"/>
          </a:xfrm>
          <a:prstGeom prst="line">
            <a:avLst/>
          </a:prstGeom>
          <a:noFill/>
          <a:ln w="7144">
            <a:solidFill>
              <a:srgbClr val="A78BF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42913" y="607219"/>
            <a:ext cx="0" cy="1431206"/>
          </a:xfrm>
          <a:prstGeom prst="line">
            <a:avLst/>
          </a:prstGeom>
          <a:noFill/>
          <a:ln w="28575">
            <a:solidFill>
              <a:srgbClr val="7C3AED"/>
            </a:solidFill>
            <a:prstDash val="solid"/>
          </a:ln>
        </p:spPr>
      </p:sp>
      <p:pic>
        <p:nvPicPr>
          <p:cNvPr id="7" name="Image 0" descr="/home/z/my-project/download/connexai_massapro_brand/slides/images/page_2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28625" y="607219"/>
            <a:ext cx="3857625" cy="1431206"/>
          </a:xfrm>
          <a:prstGeom prst="roundRect">
            <a:avLst>
              <a:gd name="adj" fmla="val 7986"/>
            </a:avLst>
          </a:prstGeom>
          <a:solidFill>
            <a:srgbClr val="1A0B2E">
              <a:alpha val="92000"/>
            </a:srgbClr>
          </a:solidFill>
          <a:ln/>
          <a:effectLst>
            <a:outerShdw sx="100000" sy="100000" kx="0" ky="0" algn="bl" rotWithShape="0" blurRad="190500" dist="38100" dir="5400000">
              <a:srgbClr val="000000">
                <a:alpha val="4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614363" y="742950"/>
            <a:ext cx="3507581" cy="1082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b="1" spc="101" kern="0" dirty="0">
                <a:solidFill>
                  <a:srgbClr val="A78BF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AGENTIC AI WORKFORCE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614363" y="878681"/>
            <a:ext cx="3507581" cy="40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1238" b="1" dirty="0">
                <a:solidFill>
                  <a:srgbClr val="FFFFFF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Replace your call center with a coordinated AI workforce.</a:t>
            </a:r>
            <a:endParaRPr lang="en-US" sz="1238" dirty="0"/>
          </a:p>
        </p:txBody>
      </p:sp>
      <p:sp>
        <p:nvSpPr>
          <p:cNvPr id="11" name="Text 8"/>
          <p:cNvSpPr/>
          <p:nvPr/>
        </p:nvSpPr>
        <p:spPr>
          <a:xfrm>
            <a:off x="614363" y="1327175"/>
            <a:ext cx="3507581" cy="575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FFFFFF">
                    <a:alpha val="85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AI agents are not chatbots. They are autonomous systems that reason, decide, and act — orchestrated by </a:t>
            </a:r>
            <a:pPr algn="l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A78BFA">
                    <a:alpha val="85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our proprietary LLM</a:t>
            </a:r>
            <a:pPr algn="l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FFFFFF">
                    <a:alpha val="85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. Specialized agents handle sales, service, retention, and claims together, scaling without headcount or per-minute token costs.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7901233" y="144361"/>
            <a:ext cx="1065602" cy="325641"/>
          </a:xfrm>
          <a:prstGeom prst="roundRect">
            <a:avLst>
              <a:gd name="adj" fmla="val 2922075"/>
            </a:avLst>
          </a:prstGeom>
          <a:solidFill>
            <a:srgbClr val="FFFFFF">
              <a:alpha val="96000"/>
            </a:srgbClr>
          </a:solidFill>
          <a:ln w="7144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19050" dir="5400000">
              <a:srgbClr val="7C3AED">
                <a:alpha val="1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8245562" y="250031"/>
            <a:ext cx="576969" cy="125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spc="32" kern="0" dirty="0">
                <a:solidFill>
                  <a:srgbClr val="7C3AE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MassaPro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8002674" y="221456"/>
            <a:ext cx="81985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spc="32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7941283" y="4936331"/>
            <a:ext cx="1202717" cy="120701"/>
          </a:xfrm>
          <a:prstGeom prst="rect">
            <a:avLst/>
          </a:prstGeom>
          <a:noFill/>
          <a:ln/>
          <a:effectLst>
            <a:outerShdw sx="100000" sy="100000" kx="0" ky="0" algn="bl" rotWithShape="0" blurRad="28575" dist="9525" dir="5400000">
              <a:srgbClr val="000000">
                <a:alpha val="60000"/>
              </a:srgbClr>
            </a:outerShdw>
          </a:effectLst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spc="124" kern="0" dirty="0">
                <a:solidFill>
                  <a:srgbClr val="FFFFFF">
                    <a:alpha val="5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MASSAPRO · 22 / 30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" name="Image 0" descr="/home/z/my-project/download/connexai_massapro_brand/slides/images/page_2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01233" y="144361"/>
            <a:ext cx="1065602" cy="325641"/>
          </a:xfrm>
          <a:prstGeom prst="roundRect">
            <a:avLst>
              <a:gd name="adj" fmla="val 2922075"/>
            </a:avLst>
          </a:prstGeom>
          <a:solidFill>
            <a:srgbClr val="FFFFFF">
              <a:alpha val="96000"/>
            </a:srgbClr>
          </a:solidFill>
          <a:ln w="7144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19050" dir="5400000">
              <a:srgbClr val="7C3AED">
                <a:alpha val="1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8245562" y="250031"/>
            <a:ext cx="576969" cy="125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spc="32" kern="0" dirty="0">
                <a:solidFill>
                  <a:srgbClr val="7C3AE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MassaPro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8002674" y="221456"/>
            <a:ext cx="81985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spc="32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941283" y="4936331"/>
            <a:ext cx="1202717" cy="120701"/>
          </a:xfrm>
          <a:prstGeom prst="rect">
            <a:avLst/>
          </a:prstGeom>
          <a:noFill/>
          <a:ln/>
          <a:effectLst>
            <a:outerShdw sx="100000" sy="100000" kx="0" ky="0" algn="bl" rotWithShape="0" blurRad="28575" dist="9525" dir="5400000">
              <a:srgbClr val="000000">
                <a:alpha val="60000"/>
              </a:srgbClr>
            </a:outerShdw>
          </a:effectLst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spc="124" kern="0" dirty="0">
                <a:solidFill>
                  <a:srgbClr val="FFFFFF">
                    <a:alpha val="5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MASSAPRO · 23 / 30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" name="Image 0" descr="/home/z/my-project/download/connexai_massapro_brand/slides/images/page_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01233" y="144361"/>
            <a:ext cx="1065602" cy="325641"/>
          </a:xfrm>
          <a:prstGeom prst="roundRect">
            <a:avLst>
              <a:gd name="adj" fmla="val 2922075"/>
            </a:avLst>
          </a:prstGeom>
          <a:solidFill>
            <a:srgbClr val="FFFFFF">
              <a:alpha val="96000"/>
            </a:srgbClr>
          </a:solidFill>
          <a:ln w="7144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19050" dir="5400000">
              <a:srgbClr val="7C3AED">
                <a:alpha val="1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8245562" y="250031"/>
            <a:ext cx="576969" cy="125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spc="32" kern="0" dirty="0">
                <a:solidFill>
                  <a:srgbClr val="7C3AE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MassaPro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8002674" y="221456"/>
            <a:ext cx="81985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spc="32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941283" y="4936331"/>
            <a:ext cx="1202717" cy="120701"/>
          </a:xfrm>
          <a:prstGeom prst="rect">
            <a:avLst/>
          </a:prstGeom>
          <a:noFill/>
          <a:ln/>
          <a:effectLst>
            <a:outerShdw sx="100000" sy="100000" kx="0" ky="0" algn="bl" rotWithShape="0" blurRad="28575" dist="9525" dir="5400000">
              <a:srgbClr val="000000">
                <a:alpha val="60000"/>
              </a:srgbClr>
            </a:outerShdw>
          </a:effectLst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spc="124" kern="0" dirty="0">
                <a:solidFill>
                  <a:srgbClr val="FFFFFF">
                    <a:alpha val="5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MASSAPRO · 24 / 30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" name="Image 0" descr="/home/z/my-project/download/connexai_massapro_brand/slides/images/page_2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01233" y="144361"/>
            <a:ext cx="1065602" cy="325641"/>
          </a:xfrm>
          <a:prstGeom prst="roundRect">
            <a:avLst>
              <a:gd name="adj" fmla="val 2922075"/>
            </a:avLst>
          </a:prstGeom>
          <a:solidFill>
            <a:srgbClr val="FFFFFF">
              <a:alpha val="96000"/>
            </a:srgbClr>
          </a:solidFill>
          <a:ln w="7144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19050" dir="5400000">
              <a:srgbClr val="7C3AED">
                <a:alpha val="1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8245562" y="250031"/>
            <a:ext cx="576969" cy="125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spc="32" kern="0" dirty="0">
                <a:solidFill>
                  <a:srgbClr val="7C3AE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MassaPro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8002674" y="221456"/>
            <a:ext cx="81985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spc="32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941283" y="4936331"/>
            <a:ext cx="1202717" cy="120701"/>
          </a:xfrm>
          <a:prstGeom prst="rect">
            <a:avLst/>
          </a:prstGeom>
          <a:noFill/>
          <a:ln/>
          <a:effectLst>
            <a:outerShdw sx="100000" sy="100000" kx="0" ky="0" algn="bl" rotWithShape="0" blurRad="28575" dist="9525" dir="5400000">
              <a:srgbClr val="000000">
                <a:alpha val="60000"/>
              </a:srgbClr>
            </a:outerShdw>
          </a:effectLst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spc="124" kern="0" dirty="0">
                <a:solidFill>
                  <a:srgbClr val="FFFFFF">
                    <a:alpha val="5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MASSAPRO · 25 / 30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" name="Image 0" descr="/home/z/my-project/download/connexai_massapro_brand/slides/images/page_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01233" y="144361"/>
            <a:ext cx="1065602" cy="325641"/>
          </a:xfrm>
          <a:prstGeom prst="roundRect">
            <a:avLst>
              <a:gd name="adj" fmla="val 2922075"/>
            </a:avLst>
          </a:prstGeom>
          <a:solidFill>
            <a:srgbClr val="FFFFFF">
              <a:alpha val="96000"/>
            </a:srgbClr>
          </a:solidFill>
          <a:ln w="7144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19050" dir="5400000">
              <a:srgbClr val="7C3AED">
                <a:alpha val="1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8245562" y="250031"/>
            <a:ext cx="576969" cy="125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spc="32" kern="0" dirty="0">
                <a:solidFill>
                  <a:srgbClr val="7C3AE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MassaPro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8002674" y="221456"/>
            <a:ext cx="81985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spc="32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941283" y="4936331"/>
            <a:ext cx="1202717" cy="120701"/>
          </a:xfrm>
          <a:prstGeom prst="rect">
            <a:avLst/>
          </a:prstGeom>
          <a:noFill/>
          <a:ln/>
          <a:effectLst>
            <a:outerShdw sx="100000" sy="100000" kx="0" ky="0" algn="bl" rotWithShape="0" blurRad="28575" dist="9525" dir="5400000">
              <a:srgbClr val="000000">
                <a:alpha val="60000"/>
              </a:srgbClr>
            </a:outerShdw>
          </a:effectLst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spc="124" kern="0" dirty="0">
                <a:solidFill>
                  <a:srgbClr val="FFFFFF">
                    <a:alpha val="5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MASSAPRO · 26 / 30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" name="Image 0" descr="/home/z/my-project/download/connexai_massapro_brand/slides/images/page_2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01233" y="144361"/>
            <a:ext cx="1065602" cy="325641"/>
          </a:xfrm>
          <a:prstGeom prst="roundRect">
            <a:avLst>
              <a:gd name="adj" fmla="val 2922075"/>
            </a:avLst>
          </a:prstGeom>
          <a:solidFill>
            <a:srgbClr val="FFFFFF">
              <a:alpha val="96000"/>
            </a:srgbClr>
          </a:solidFill>
          <a:ln w="7144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19050" dir="5400000">
              <a:srgbClr val="7C3AED">
                <a:alpha val="1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8245562" y="250031"/>
            <a:ext cx="576969" cy="125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spc="32" kern="0" dirty="0">
                <a:solidFill>
                  <a:srgbClr val="7C3AE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MassaPro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8002674" y="221456"/>
            <a:ext cx="81985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spc="32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941283" y="4936331"/>
            <a:ext cx="1202717" cy="120701"/>
          </a:xfrm>
          <a:prstGeom prst="rect">
            <a:avLst/>
          </a:prstGeom>
          <a:noFill/>
          <a:ln/>
          <a:effectLst>
            <a:outerShdw sx="100000" sy="100000" kx="0" ky="0" algn="bl" rotWithShape="0" blurRad="28575" dist="9525" dir="5400000">
              <a:srgbClr val="000000">
                <a:alpha val="60000"/>
              </a:srgbClr>
            </a:outerShdw>
          </a:effectLst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spc="124" kern="0" dirty="0">
                <a:solidFill>
                  <a:srgbClr val="FFFFFF">
                    <a:alpha val="5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MASSAPRO · 27 / 30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428625" y="646509"/>
            <a:ext cx="4000500" cy="0"/>
          </a:xfrm>
          <a:prstGeom prst="line">
            <a:avLst/>
          </a:prstGeom>
          <a:noFill/>
          <a:ln w="7144">
            <a:solidFill>
              <a:srgbClr val="A78BF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425553" y="642938"/>
            <a:ext cx="0" cy="1242678"/>
          </a:xfrm>
          <a:prstGeom prst="line">
            <a:avLst/>
          </a:prstGeom>
          <a:noFill/>
          <a:ln w="7144">
            <a:solidFill>
              <a:srgbClr val="A78B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8625" y="1882043"/>
            <a:ext cx="4000500" cy="0"/>
          </a:xfrm>
          <a:prstGeom prst="line">
            <a:avLst/>
          </a:prstGeom>
          <a:noFill/>
          <a:ln w="7144">
            <a:solidFill>
              <a:srgbClr val="A78BF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42913" y="642938"/>
            <a:ext cx="0" cy="1242678"/>
          </a:xfrm>
          <a:prstGeom prst="line">
            <a:avLst/>
          </a:prstGeom>
          <a:noFill/>
          <a:ln w="28575">
            <a:solidFill>
              <a:srgbClr val="7C3AED"/>
            </a:solidFill>
            <a:prstDash val="solid"/>
          </a:ln>
        </p:spPr>
      </p:sp>
      <p:pic>
        <p:nvPicPr>
          <p:cNvPr id="7" name="Image 0" descr="/home/z/my-project/download/connexai_massapro_brand/slides/images/page_2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28625" y="642938"/>
            <a:ext cx="4000500" cy="1242678"/>
          </a:xfrm>
          <a:prstGeom prst="roundRect">
            <a:avLst>
              <a:gd name="adj" fmla="val 9198"/>
            </a:avLst>
          </a:prstGeom>
          <a:solidFill>
            <a:srgbClr val="1A0B2E">
              <a:alpha val="92000"/>
            </a:srgbClr>
          </a:solidFill>
          <a:ln/>
          <a:effectLst>
            <a:outerShdw sx="100000" sy="100000" kx="0" ky="0" algn="bl" rotWithShape="0" blurRad="190500" dist="38100" dir="5400000">
              <a:srgbClr val="000000">
                <a:alpha val="4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614363" y="778669"/>
            <a:ext cx="3650456" cy="1082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b="1" spc="101" kern="0" dirty="0">
                <a:solidFill>
                  <a:srgbClr val="A78BF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THE MASSAPRO ADVANTAGE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614363" y="914400"/>
            <a:ext cx="3760184" cy="203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1238" b="1" dirty="0">
                <a:solidFill>
                  <a:srgbClr val="FFFFFF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A growth machine, not a cost center.</a:t>
            </a:r>
            <a:endParaRPr lang="en-US" sz="1238" dirty="0"/>
          </a:p>
        </p:txBody>
      </p:sp>
      <p:sp>
        <p:nvSpPr>
          <p:cNvPr id="11" name="Text 8"/>
          <p:cNvSpPr/>
          <p:nvPr/>
        </p:nvSpPr>
        <p:spPr>
          <a:xfrm>
            <a:off x="614363" y="1174366"/>
            <a:ext cx="3650456" cy="575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FFFFFF">
                    <a:alpha val="85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Replace the entire call center and customer journey platform with </a:t>
            </a:r>
            <a:pPr algn="l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A78BFA">
                    <a:alpha val="85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Agentic AI orchestrated by our proprietary LLM</a:t>
            </a:r>
            <a:pPr algn="l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FFFFFF">
                    <a:alpha val="85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. Scale without per-minute AI token fees — pay a flat </a:t>
            </a:r>
            <a:pPr algn="l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A78BFA">
                    <a:alpha val="85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per-agent + volume price</a:t>
            </a:r>
            <a:pPr algn="l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FFFFFF">
                    <a:alpha val="85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. Save costs. Boost productivity. Turn service into growth.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7901233" y="144361"/>
            <a:ext cx="1065602" cy="325641"/>
          </a:xfrm>
          <a:prstGeom prst="roundRect">
            <a:avLst>
              <a:gd name="adj" fmla="val 2922075"/>
            </a:avLst>
          </a:prstGeom>
          <a:solidFill>
            <a:srgbClr val="FFFFFF">
              <a:alpha val="96000"/>
            </a:srgbClr>
          </a:solidFill>
          <a:ln w="7144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19050" dir="5400000">
              <a:srgbClr val="7C3AED">
                <a:alpha val="1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8245562" y="250031"/>
            <a:ext cx="576969" cy="125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spc="32" kern="0" dirty="0">
                <a:solidFill>
                  <a:srgbClr val="7C3AE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MassaPro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8002674" y="221456"/>
            <a:ext cx="81985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spc="32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7941283" y="4936331"/>
            <a:ext cx="1202717" cy="120701"/>
          </a:xfrm>
          <a:prstGeom prst="rect">
            <a:avLst/>
          </a:prstGeom>
          <a:noFill/>
          <a:ln/>
          <a:effectLst>
            <a:outerShdw sx="100000" sy="100000" kx="0" ky="0" algn="bl" rotWithShape="0" blurRad="28575" dist="9525" dir="5400000">
              <a:srgbClr val="000000">
                <a:alpha val="60000"/>
              </a:srgbClr>
            </a:outerShdw>
          </a:effectLst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spc="124" kern="0" dirty="0">
                <a:solidFill>
                  <a:srgbClr val="FFFFFF">
                    <a:alpha val="5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MASSAPRO · 28 / 30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428625" y="610791"/>
            <a:ext cx="3714750" cy="0"/>
          </a:xfrm>
          <a:prstGeom prst="line">
            <a:avLst/>
          </a:prstGeom>
          <a:noFill/>
          <a:ln w="7144">
            <a:solidFill>
              <a:srgbClr val="A78BF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139803" y="607219"/>
            <a:ext cx="0" cy="1431206"/>
          </a:xfrm>
          <a:prstGeom prst="line">
            <a:avLst/>
          </a:prstGeom>
          <a:noFill/>
          <a:ln w="7144">
            <a:solidFill>
              <a:srgbClr val="A78B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8625" y="2034853"/>
            <a:ext cx="3714750" cy="0"/>
          </a:xfrm>
          <a:prstGeom prst="line">
            <a:avLst/>
          </a:prstGeom>
          <a:noFill/>
          <a:ln w="7144">
            <a:solidFill>
              <a:srgbClr val="A78BF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42913" y="607219"/>
            <a:ext cx="0" cy="1431206"/>
          </a:xfrm>
          <a:prstGeom prst="line">
            <a:avLst/>
          </a:prstGeom>
          <a:noFill/>
          <a:ln w="28575">
            <a:solidFill>
              <a:srgbClr val="7C3AED"/>
            </a:solidFill>
            <a:prstDash val="solid"/>
          </a:ln>
        </p:spPr>
      </p:sp>
      <p:pic>
        <p:nvPicPr>
          <p:cNvPr id="7" name="Image 0" descr="/home/z/my-project/download/connexai_massapro_brand/slides/images/page_2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28625" y="607219"/>
            <a:ext cx="3714750" cy="1431206"/>
          </a:xfrm>
          <a:prstGeom prst="roundRect">
            <a:avLst>
              <a:gd name="adj" fmla="val 7986"/>
            </a:avLst>
          </a:prstGeom>
          <a:solidFill>
            <a:srgbClr val="1A0B2E">
              <a:alpha val="92000"/>
            </a:srgbClr>
          </a:solidFill>
          <a:ln/>
          <a:effectLst>
            <a:outerShdw sx="100000" sy="100000" kx="0" ky="0" algn="bl" rotWithShape="0" blurRad="190500" dist="38100" dir="5400000">
              <a:srgbClr val="000000">
                <a:alpha val="4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614363" y="742950"/>
            <a:ext cx="3364706" cy="1082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b="1" spc="101" kern="0" dirty="0">
                <a:solidFill>
                  <a:srgbClr val="A78BF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CONNECT EVERYTHING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614363" y="878681"/>
            <a:ext cx="3364706" cy="40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1238" b="1" dirty="0">
                <a:solidFill>
                  <a:srgbClr val="FFFFFF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Live CRM, payments, and logistics — all under one LLM.</a:t>
            </a:r>
            <a:endParaRPr lang="en-US" sz="1238" dirty="0"/>
          </a:p>
        </p:txBody>
      </p:sp>
      <p:sp>
        <p:nvSpPr>
          <p:cNvPr id="11" name="Text 8"/>
          <p:cNvSpPr/>
          <p:nvPr/>
        </p:nvSpPr>
        <p:spPr>
          <a:xfrm>
            <a:off x="614363" y="1327175"/>
            <a:ext cx="3364706" cy="575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FFFFFF">
                    <a:alpha val="85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MassaPro agents act inside your existing tech stack via the AI Marketplace. Two-way CRM sync, webhooks, REST APIs, and MCP — every tool called by </a:t>
            </a:r>
            <a:pPr algn="l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A78BFA">
                    <a:alpha val="85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our proprietary LLM</a:t>
            </a:r>
            <a:pPr algn="l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FFFFFF">
                    <a:alpha val="85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in real time, with no per-token billing.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7901233" y="144361"/>
            <a:ext cx="1065602" cy="325641"/>
          </a:xfrm>
          <a:prstGeom prst="roundRect">
            <a:avLst>
              <a:gd name="adj" fmla="val 2922075"/>
            </a:avLst>
          </a:prstGeom>
          <a:solidFill>
            <a:srgbClr val="FFFFFF">
              <a:alpha val="96000"/>
            </a:srgbClr>
          </a:solidFill>
          <a:ln w="7144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19050" dir="5400000">
              <a:srgbClr val="7C3AED">
                <a:alpha val="1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8245562" y="250031"/>
            <a:ext cx="576969" cy="125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spc="32" kern="0" dirty="0">
                <a:solidFill>
                  <a:srgbClr val="7C3AE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MassaPro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8002674" y="221456"/>
            <a:ext cx="81985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spc="32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7941283" y="4936331"/>
            <a:ext cx="1202717" cy="120701"/>
          </a:xfrm>
          <a:prstGeom prst="rect">
            <a:avLst/>
          </a:prstGeom>
          <a:noFill/>
          <a:ln/>
          <a:effectLst>
            <a:outerShdw sx="100000" sy="100000" kx="0" ky="0" algn="bl" rotWithShape="0" blurRad="28575" dist="9525" dir="5400000">
              <a:srgbClr val="000000">
                <a:alpha val="60000"/>
              </a:srgbClr>
            </a:outerShdw>
          </a:effectLst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spc="124" kern="0" dirty="0">
                <a:solidFill>
                  <a:srgbClr val="FFFFFF">
                    <a:alpha val="5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MASSAPRO · 29 / 30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" name="Image 0" descr="/home/z/my-project/download/connexai_massapro_brand/slides/images/page_3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41283" y="4936331"/>
            <a:ext cx="1202717" cy="120701"/>
          </a:xfrm>
          <a:prstGeom prst="rect">
            <a:avLst/>
          </a:prstGeom>
          <a:noFill/>
          <a:ln/>
          <a:effectLst>
            <a:outerShdw sx="100000" sy="100000" kx="0" ky="0" algn="bl" rotWithShape="0" blurRad="28575" dist="9525" dir="5400000">
              <a:srgbClr val="000000">
                <a:alpha val="60000"/>
              </a:srgbClr>
            </a:outerShdw>
          </a:effectLst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spc="124" kern="0" dirty="0">
                <a:solidFill>
                  <a:srgbClr val="FFFFFF">
                    <a:alpha val="5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MASSAPRO · 30 / 30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2026-09-02T09:44:41Z</dcterms:created>
  <dcterms:modified xsi:type="dcterms:W3CDTF">2026-09-02T09:44:41Z</dcterms:modified>
</cp:coreProperties>
</file>