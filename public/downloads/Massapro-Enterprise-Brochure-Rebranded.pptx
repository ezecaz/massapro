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7.jpg" ContentType="image/jpg"/>
  <Override PartName="/ppt/media/image27.jpg" ContentType="image/jpg"/>
  <Override PartName="/ppt/media/image36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68233"/>
            <a:ext cx="9140825" cy="208915"/>
          </a:xfrm>
          <a:custGeom>
            <a:avLst/>
            <a:gdLst/>
            <a:ahLst/>
            <a:cxnLst/>
            <a:rect l="l" t="t" r="r" b="b"/>
            <a:pathLst>
              <a:path w="9140825" h="208915">
                <a:moveTo>
                  <a:pt x="9140342" y="208483"/>
                </a:moveTo>
                <a:lnTo>
                  <a:pt x="0" y="208483"/>
                </a:lnTo>
                <a:lnTo>
                  <a:pt x="0" y="0"/>
                </a:lnTo>
                <a:lnTo>
                  <a:pt x="9140342" y="0"/>
                </a:lnTo>
                <a:lnTo>
                  <a:pt x="9140342" y="208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40536" y="661891"/>
            <a:ext cx="1662927" cy="384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1674"/>
            <a:ext cx="9144000" cy="124380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7501" y="14632"/>
            <a:ext cx="336499" cy="3658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40096" y="14632"/>
            <a:ext cx="3160166" cy="3658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4632"/>
            <a:ext cx="9144000" cy="365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243" y="1097475"/>
            <a:ext cx="7995513" cy="179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>
                <a:solidFill>
                  <a:srgbClr val="7C3AED"/>
                </a:solidFill>
                <a:latin typeface="Calibri"/>
                <a:cs typeface="Calibri"/>
              </a:rPr>
              <a:t>M</a:t>
            </a:r>
            <a:r>
              <a:rPr dirty="0" sz="2350" spc="310">
                <a:solidFill>
                  <a:srgbClr val="7C3AED"/>
                </a:solidFill>
                <a:latin typeface="Calibri"/>
                <a:cs typeface="Calibri"/>
              </a:rPr>
              <a:t> </a:t>
            </a:r>
            <a:r>
              <a:rPr dirty="0" sz="2350" spc="75">
                <a:solidFill/>
                <a:latin typeface="Calibri"/>
                <a:cs typeface="Calibri"/>
              </a:rPr>
              <a:t>MassaPro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36488"/>
            <a:ext cx="9140825" cy="281940"/>
          </a:xfrm>
          <a:custGeom>
            <a:avLst/>
            <a:gdLst/>
            <a:ahLst/>
            <a:cxnLst/>
            <a:rect l="l" t="t" r="r" b="b"/>
            <a:pathLst>
              <a:path w="9140825" h="281940">
                <a:moveTo>
                  <a:pt x="9140342" y="281635"/>
                </a:moveTo>
                <a:lnTo>
                  <a:pt x="0" y="281635"/>
                </a:lnTo>
                <a:lnTo>
                  <a:pt x="0" y="0"/>
                </a:lnTo>
                <a:lnTo>
                  <a:pt x="9140342" y="0"/>
                </a:lnTo>
                <a:lnTo>
                  <a:pt x="9140342" y="281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26076" y="1138429"/>
            <a:ext cx="59042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4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20">
                <a:solidFill>
                  <a:srgbClr val="FFFFFF"/>
                </a:solidFill>
                <a:latin typeface="Arial MT"/>
                <a:cs typeface="Arial MT"/>
              </a:rPr>
              <a:t>Global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45">
                <a:solidFill>
                  <a:srgbClr val="FFFFFF"/>
                </a:solidFill>
                <a:latin typeface="Arial MT"/>
                <a:cs typeface="Arial MT"/>
              </a:rPr>
              <a:t>Leader</a:t>
            </a:r>
            <a:r>
              <a:rPr dirty="0" sz="24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4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Arial MT"/>
                <a:cs typeface="Arial MT"/>
              </a:rPr>
              <a:t>Conversational</a:t>
            </a:r>
            <a:r>
              <a:rPr dirty="0" sz="2400" spc="-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90">
                <a:solidFill>
                  <a:srgbClr val="FFFFFF"/>
                </a:solidFill>
                <a:latin typeface="Arial MT"/>
                <a:cs typeface="Arial MT"/>
              </a:rPr>
              <a:t>Agentic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4243" y="1097475"/>
            <a:ext cx="3639820" cy="179705"/>
          </a:xfrm>
          <a:prstGeom prst="rect"/>
          <a:solidFill>
            <a:srgbClr val="00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95"/>
              </a:lnSpc>
            </a:pPr>
            <a:r>
              <a:rPr dirty="0">
                <a:solidFill/>
              </a:rPr>
              <a:t>One Platform. A Complete Agentic AI Workforce.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719377"/>
            <a:ext cx="9140825" cy="92075"/>
          </a:xfrm>
          <a:custGeom>
            <a:avLst/>
            <a:gdLst/>
            <a:ahLst/>
            <a:cxnLst/>
            <a:rect l="l" t="t" r="r" b="b"/>
            <a:pathLst>
              <a:path w="9140825" h="92075">
                <a:moveTo>
                  <a:pt x="9140342" y="91440"/>
                </a:moveTo>
                <a:lnTo>
                  <a:pt x="0" y="91440"/>
                </a:lnTo>
                <a:lnTo>
                  <a:pt x="0" y="0"/>
                </a:lnTo>
                <a:lnTo>
                  <a:pt x="9140342" y="0"/>
                </a:lnTo>
                <a:lnTo>
                  <a:pt x="9140342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0" y="1946189"/>
            <a:ext cx="9140825" cy="479425"/>
            <a:chOff x="0" y="1946189"/>
            <a:chExt cx="9140825" cy="479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3443" y="2081543"/>
              <a:ext cx="746150" cy="2890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1542" y="1979113"/>
              <a:ext cx="479145" cy="2451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953" y="1946189"/>
              <a:ext cx="1762963" cy="22315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1946189"/>
              <a:ext cx="9140825" cy="479425"/>
            </a:xfrm>
            <a:custGeom>
              <a:avLst/>
              <a:gdLst/>
              <a:ahLst/>
              <a:cxnLst/>
              <a:rect l="l" t="t" r="r" b="b"/>
              <a:pathLst>
                <a:path w="9140825" h="479425">
                  <a:moveTo>
                    <a:pt x="9140342" y="479145"/>
                  </a:moveTo>
                  <a:lnTo>
                    <a:pt x="0" y="479145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4791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58921" y="1680918"/>
            <a:ext cx="3037840" cy="747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C8C8C8"/>
                </a:solidFill>
                <a:latin typeface="Arial MT"/>
                <a:cs typeface="Arial MT"/>
              </a:rPr>
              <a:t>purpose</a:t>
            </a:r>
            <a:r>
              <a:rPr dirty="0" sz="750" spc="-5">
                <a:solidFill>
                  <a:srgbClr val="C8C8C8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BDBDBD"/>
                </a:solidFill>
                <a:latin typeface="Arial MT"/>
                <a:cs typeface="Arial MT"/>
              </a:rPr>
              <a:t>models,</a:t>
            </a:r>
            <a:r>
              <a:rPr dirty="0" sz="750" spc="-20">
                <a:solidFill>
                  <a:srgbClr val="BDBDBD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BFBFBF"/>
                </a:solidFill>
                <a:latin typeface="Arial MT"/>
                <a:cs typeface="Arial MT"/>
              </a:rPr>
              <a:t>we</a:t>
            </a:r>
            <a:r>
              <a:rPr dirty="0" sz="750" spc="-5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C8C8C8"/>
                </a:solidFill>
                <a:latin typeface="Arial MT"/>
                <a:cs typeface="Arial MT"/>
              </a:rPr>
              <a:t>design </a:t>
            </a:r>
            <a:r>
              <a:rPr dirty="0" sz="750">
                <a:solidFill>
                  <a:srgbClr val="BABABA"/>
                </a:solidFill>
                <a:latin typeface="Arial MT"/>
                <a:cs typeface="Arial MT"/>
              </a:rPr>
              <a:t>and</a:t>
            </a:r>
            <a:r>
              <a:rPr dirty="0" sz="750" spc="-20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C1C1C1"/>
                </a:solidFill>
                <a:latin typeface="Arial MT"/>
                <a:cs typeface="Arial MT"/>
              </a:rPr>
              <a:t>control every</a:t>
            </a:r>
            <a:r>
              <a:rPr dirty="0" sz="750" spc="-10">
                <a:solidFill>
                  <a:srgbClr val="C1C1C1"/>
                </a:solidFill>
                <a:latin typeface="Arial MT"/>
                <a:cs typeface="Arial MT"/>
              </a:rPr>
              <a:t> layer</a:t>
            </a:r>
            <a:r>
              <a:rPr dirty="0" sz="750" spc="-5">
                <a:solidFill>
                  <a:srgbClr val="C1C1C1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C3C3C3"/>
                </a:solidFill>
                <a:latin typeface="Arial MT"/>
                <a:cs typeface="Arial MT"/>
              </a:rPr>
              <a:t>of</a:t>
            </a:r>
            <a:r>
              <a:rPr dirty="0" sz="750" spc="-35">
                <a:solidFill>
                  <a:srgbClr val="C3C3C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BCBCBC"/>
                </a:solidFill>
                <a:latin typeface="Arial MT"/>
                <a:cs typeface="Arial MT"/>
              </a:rPr>
              <a:t>our</a:t>
            </a:r>
            <a:r>
              <a:rPr dirty="0" sz="750" spc="10">
                <a:solidFill>
                  <a:srgbClr val="BCBCBC"/>
                </a:solidFill>
                <a:latin typeface="Arial MT"/>
                <a:cs typeface="Arial MT"/>
              </a:rPr>
              <a:t> </a:t>
            </a:r>
            <a:r>
              <a:rPr dirty="0" sz="750" spc="-30">
                <a:solidFill>
                  <a:srgbClr val="BABABA"/>
                </a:solidFill>
                <a:latin typeface="Arial MT"/>
                <a:cs typeface="Arial MT"/>
              </a:rPr>
              <a:t>AI</a:t>
            </a:r>
            <a:r>
              <a:rPr dirty="0" sz="750" spc="-25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C8C8C8"/>
                </a:solidFill>
                <a:latin typeface="Arial MT"/>
                <a:cs typeface="Arial MT"/>
              </a:rPr>
              <a:t>technology.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750">
              <a:latin typeface="Arial MT"/>
              <a:cs typeface="Arial MT"/>
            </a:endParaRPr>
          </a:p>
          <a:p>
            <a:pPr marL="34925">
              <a:lnSpc>
                <a:spcPct val="100000"/>
              </a:lnSpc>
            </a:pPr>
            <a:r>
              <a:rPr dirty="0" sz="800">
                <a:solidFill>
                  <a:srgbClr val="7C3AED"/>
                </a:solidFill>
                <a:latin typeface="Arial MT"/>
                <a:cs typeface="Arial MT"/>
              </a:rPr>
              <a:t>:.•':</a:t>
            </a:r>
            <a:r>
              <a:rPr dirty="0" sz="800" spc="355">
                <a:solidFill>
                  <a:srgbClr val="7C3AED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 Agentic</a:t>
            </a:r>
            <a:r>
              <a:rPr dirty="0" sz="8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Capability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800">
              <a:latin typeface="Arial MT"/>
              <a:cs typeface="Arial MT"/>
            </a:endParaRPr>
          </a:p>
          <a:p>
            <a:pPr marL="40005">
              <a:lnSpc>
                <a:spcPct val="100000"/>
              </a:lnSpc>
              <a:spcBef>
                <a:spcPts val="5"/>
              </a:spcBef>
            </a:pPr>
            <a:r>
              <a:rPr dirty="0" sz="750">
                <a:solidFill>
                  <a:srgbClr val="EDE9FE"/>
                </a:solidFill>
                <a:latin typeface="Arial MT"/>
                <a:cs typeface="Arial MT"/>
              </a:rPr>
              <a:t>!{!</a:t>
            </a:r>
            <a:r>
              <a:rPr dirty="0" sz="750" spc="285">
                <a:solidFill>
                  <a:srgbClr val="EDE9FE"/>
                </a:solidFill>
                <a:latin typeface="Arial MT"/>
                <a:cs typeface="Arial MT"/>
              </a:rPr>
              <a:t>  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Proprietary</a:t>
            </a:r>
            <a:r>
              <a:rPr dirty="0" sz="7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 Recognition</a:t>
            </a:r>
            <a:r>
              <a:rPr dirty="0" sz="7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2619307"/>
            <a:ext cx="9140825" cy="494030"/>
            <a:chOff x="0" y="2619307"/>
            <a:chExt cx="9140825" cy="49403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0953" y="2915625"/>
              <a:ext cx="654710" cy="1865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18934" y="2633940"/>
              <a:ext cx="797356" cy="2999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0841" y="2677839"/>
              <a:ext cx="603503" cy="23046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2619307"/>
              <a:ext cx="9140825" cy="494030"/>
            </a:xfrm>
            <a:custGeom>
              <a:avLst/>
              <a:gdLst/>
              <a:ahLst/>
              <a:cxnLst/>
              <a:rect l="l" t="t" r="r" b="b"/>
              <a:pathLst>
                <a:path w="9140825" h="494030">
                  <a:moveTo>
                    <a:pt x="9140342" y="493776"/>
                  </a:moveTo>
                  <a:lnTo>
                    <a:pt x="0" y="493776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493776"/>
                  </a:lnTo>
                  <a:close/>
                </a:path>
              </a:pathLst>
            </a:custGeom>
            <a:solidFill>
              <a:srgbClr val="0311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82415" y="2601831"/>
            <a:ext cx="1454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solidFill>
                  <a:srgbClr val="6D28D9"/>
                </a:solidFill>
                <a:latin typeface="Arial MT"/>
                <a:cs typeface="Arial MT"/>
              </a:rPr>
              <a:t>•'I..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2428" y="2601831"/>
            <a:ext cx="176403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Proprietary</a:t>
            </a:r>
            <a:r>
              <a:rPr dirty="0" sz="7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Voice</a:t>
            </a:r>
            <a:r>
              <a:rPr dirty="0" sz="7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Synthesis</a:t>
            </a:r>
            <a:r>
              <a:rPr dirty="0" sz="700" spc="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7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 MT"/>
                <a:cs typeface="Arial MT"/>
              </a:rPr>
              <a:t>Cloning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6947" y="2903739"/>
            <a:ext cx="812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A78BFA"/>
                </a:solidFill>
                <a:latin typeface="Arial MT"/>
                <a:cs typeface="Arial MT"/>
              </a:rPr>
              <a:t>*”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4638" y="2903739"/>
            <a:ext cx="5143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AAAAAA"/>
                </a:solidFill>
                <a:latin typeface="Arial MT"/>
                <a:cs typeface="Arial MT"/>
              </a:rPr>
              <a:t>”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131461"/>
            <a:ext cx="9140825" cy="223520"/>
            <a:chOff x="0" y="3131461"/>
            <a:chExt cx="9140825" cy="22352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16598" y="3135120"/>
              <a:ext cx="782726" cy="21949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0" y="3131461"/>
              <a:ext cx="9140825" cy="223520"/>
            </a:xfrm>
            <a:custGeom>
              <a:avLst/>
              <a:gdLst/>
              <a:ahLst/>
              <a:cxnLst/>
              <a:rect l="l" t="t" r="r" b="b"/>
              <a:pathLst>
                <a:path w="9140825" h="223520">
                  <a:moveTo>
                    <a:pt x="9140342" y="223113"/>
                  </a:moveTo>
                  <a:lnTo>
                    <a:pt x="0" y="223113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223113"/>
                  </a:lnTo>
                  <a:close/>
                </a:path>
              </a:pathLst>
            </a:custGeom>
            <a:solidFill>
              <a:srgbClr val="0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74174" y="2903739"/>
            <a:ext cx="2028189" cy="454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F5F3FF"/>
                </a:solidFill>
                <a:latin typeface="Arial MT"/>
                <a:cs typeface="Arial MT"/>
              </a:rPr>
              <a:t>=••</a:t>
            </a:r>
            <a:r>
              <a:rPr dirty="0" sz="800" spc="434">
                <a:solidFill>
                  <a:srgbClr val="F5F3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Advanced</a:t>
            </a:r>
            <a:r>
              <a:rPr dirty="0" sz="8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Fine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Tuning</a:t>
            </a:r>
            <a:r>
              <a:rPr dirty="0" sz="8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5">
                <a:solidFill>
                  <a:srgbClr val="FFFFFF"/>
                </a:solidFill>
                <a:latin typeface="Arial MT"/>
                <a:cs typeface="Arial MT"/>
              </a:rPr>
              <a:t>DPO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LLM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80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  <a:spcBef>
                <a:spcPts val="5"/>
              </a:spcBef>
              <a:tabLst>
                <a:tab pos="222885" algn="l"/>
              </a:tabLst>
            </a:pPr>
            <a:r>
              <a:rPr dirty="0" sz="800" spc="-50">
                <a:solidFill>
                  <a:srgbClr val="5B21B6"/>
                </a:solidFill>
                <a:latin typeface="Arial MT"/>
                <a:cs typeface="Arial MT"/>
              </a:rPr>
              <a:t>Ø</a:t>
            </a:r>
            <a:r>
              <a:rPr dirty="0" sz="800">
                <a:solidFill>
                  <a:srgbClr val="5B21B6"/>
                </a:solidFill>
                <a:latin typeface="Arial MT"/>
                <a:cs typeface="Arial MT"/>
              </a:rPr>
              <a:t>	</a:t>
            </a:r>
            <a:r>
              <a:rPr dirty="0" sz="800" spc="-70">
                <a:solidFill>
                  <a:srgbClr val="FFFFFF"/>
                </a:solidFill>
                <a:latin typeface="Arial MT"/>
                <a:cs typeface="Arial MT"/>
              </a:rPr>
              <a:t>100%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Owned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Single-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Vendor</a:t>
            </a:r>
            <a:r>
              <a:rPr dirty="0" sz="8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555819"/>
            <a:ext cx="9140825" cy="106680"/>
          </a:xfrm>
          <a:custGeom>
            <a:avLst/>
            <a:gdLst/>
            <a:ahLst/>
            <a:cxnLst/>
            <a:rect l="l" t="t" r="r" b="b"/>
            <a:pathLst>
              <a:path w="9140825" h="106679">
                <a:moveTo>
                  <a:pt x="9140342" y="106070"/>
                </a:moveTo>
                <a:lnTo>
                  <a:pt x="0" y="106070"/>
                </a:lnTo>
                <a:lnTo>
                  <a:pt x="0" y="0"/>
                </a:lnTo>
                <a:lnTo>
                  <a:pt x="9140342" y="0"/>
                </a:lnTo>
                <a:lnTo>
                  <a:pt x="9140342" y="106070"/>
                </a:lnTo>
                <a:close/>
              </a:path>
            </a:pathLst>
          </a:custGeom>
          <a:solidFill>
            <a:srgbClr val="0A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0212" y="3524676"/>
            <a:ext cx="12128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FFFFFF"/>
                </a:solidFill>
                <a:latin typeface="Arial MT"/>
                <a:cs typeface="Arial MT"/>
              </a:rPr>
              <a:t>,/ê'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1752" y="3524676"/>
            <a:ext cx="162179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FFFFFF"/>
                </a:solidFill>
                <a:latin typeface="Arial MT"/>
                <a:cs typeface="Arial MT"/>
              </a:rPr>
              <a:t>Enterprise</a:t>
            </a:r>
            <a:r>
              <a:rPr dirty="0" sz="750" spc="10">
                <a:solidFill>
                  <a:srgbClr val="FFFFFF"/>
                </a:solidFill>
                <a:latin typeface="Arial MT"/>
                <a:cs typeface="Arial MT"/>
              </a:rPr>
              <a:t> Implementation</a:t>
            </a:r>
            <a:r>
              <a:rPr dirty="0" sz="7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Arial MT"/>
                <a:cs typeface="Arial MT"/>
              </a:rPr>
              <a:t>Capability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826530"/>
            <a:ext cx="9144000" cy="142875"/>
            <a:chOff x="0" y="3826530"/>
            <a:chExt cx="9144000" cy="142875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3826530"/>
              <a:ext cx="9144000" cy="2194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3826530"/>
              <a:ext cx="9144000" cy="2194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0" y="3863112"/>
              <a:ext cx="9140825" cy="106680"/>
            </a:xfrm>
            <a:custGeom>
              <a:avLst/>
              <a:gdLst/>
              <a:ahLst/>
              <a:cxnLst/>
              <a:rect l="l" t="t" r="r" b="b"/>
              <a:pathLst>
                <a:path w="9140825" h="106679">
                  <a:moveTo>
                    <a:pt x="9140342" y="106070"/>
                  </a:moveTo>
                  <a:lnTo>
                    <a:pt x="0" y="106070"/>
                  </a:lnTo>
                  <a:lnTo>
                    <a:pt x="0" y="0"/>
                  </a:lnTo>
                  <a:lnTo>
                    <a:pt x="9140342" y="0"/>
                  </a:lnTo>
                  <a:lnTo>
                    <a:pt x="9140342" y="106070"/>
                  </a:lnTo>
                  <a:close/>
                </a:path>
              </a:pathLst>
            </a:custGeom>
            <a:solidFill>
              <a:srgbClr val="0F24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85419" y="3829275"/>
            <a:ext cx="1212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25">
                <a:solidFill>
                  <a:srgbClr val="FFFFFF"/>
                </a:solidFill>
                <a:latin typeface="Arial MT"/>
                <a:cs typeface="Arial MT"/>
              </a:rPr>
              <a:t>žõ'.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1548" y="3829275"/>
            <a:ext cx="22212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Native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Omnichannel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Execution</a:t>
            </a:r>
            <a:r>
              <a:rPr dirty="0" sz="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Layer</a:t>
            </a:r>
            <a:r>
              <a:rPr dirty="0" sz="8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8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Agents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4163088"/>
            <a:ext cx="9140825" cy="121285"/>
          </a:xfrm>
          <a:custGeom>
            <a:avLst/>
            <a:gdLst/>
            <a:ahLst/>
            <a:cxnLst/>
            <a:rect l="l" t="t" r="r" b="b"/>
            <a:pathLst>
              <a:path w="9140825" h="121285">
                <a:moveTo>
                  <a:pt x="9140342" y="120700"/>
                </a:moveTo>
                <a:lnTo>
                  <a:pt x="0" y="120700"/>
                </a:lnTo>
                <a:lnTo>
                  <a:pt x="0" y="0"/>
                </a:lnTo>
                <a:lnTo>
                  <a:pt x="9140342" y="0"/>
                </a:lnTo>
                <a:lnTo>
                  <a:pt x="9140342" y="120700"/>
                </a:lnTo>
                <a:close/>
              </a:path>
            </a:pathLst>
          </a:custGeom>
          <a:solidFill>
            <a:srgbClr val="1A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85297" y="4136568"/>
            <a:ext cx="23018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5">
                <a:solidFill>
                  <a:srgbClr val="FFFFFF"/>
                </a:solidFill>
                <a:latin typeface="Arial MT"/>
                <a:cs typeface="Arial MT"/>
              </a:rPr>
              <a:t>@•.</a:t>
            </a:r>
            <a:r>
              <a:rPr dirty="0" sz="800" spc="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Native</a:t>
            </a:r>
            <a:r>
              <a:rPr dirty="0" sz="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8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Ouality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Arial MT"/>
                <a:cs typeface="Arial MT"/>
              </a:rPr>
              <a:t>Assurance</a:t>
            </a:r>
            <a:r>
              <a:rPr dirty="0" sz="8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</a:rPr>
              <a:t> Tools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632"/>
            <a:ext cx="9144000" cy="36830"/>
            <a:chOff x="0" y="14632"/>
            <a:chExt cx="9144000" cy="36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632"/>
              <a:ext cx="9144000" cy="365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632"/>
              <a:ext cx="9144000" cy="36582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431674"/>
            <a:ext cx="9140825" cy="245110"/>
          </a:xfrm>
          <a:custGeom>
            <a:avLst/>
            <a:gdLst/>
            <a:ahLst/>
            <a:cxnLst/>
            <a:rect l="l" t="t" r="r" b="b"/>
            <a:pathLst>
              <a:path w="9140825" h="245109">
                <a:moveTo>
                  <a:pt x="9140342" y="245059"/>
                </a:moveTo>
                <a:lnTo>
                  <a:pt x="0" y="245059"/>
                </a:lnTo>
                <a:lnTo>
                  <a:pt x="0" y="0"/>
                </a:lnTo>
                <a:lnTo>
                  <a:pt x="9140342" y="0"/>
                </a:lnTo>
                <a:lnTo>
                  <a:pt x="9140342" y="245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23176" y="407287"/>
            <a:ext cx="62738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45">
                <a:solidFill>
                  <a:srgbClr val="FFFFFF"/>
                </a:solidFill>
                <a:latin typeface="Calibri"/>
                <a:cs typeface="Calibri"/>
              </a:rPr>
              <a:t>MassaPro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3759" y="548791"/>
            <a:ext cx="4921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7C3AED"/>
                </a:solidFill>
                <a:latin typeface="Calibri"/>
                <a:cs typeface="Calibri"/>
              </a:rPr>
              <a:t>Con</a:t>
            </a:r>
            <a:r>
              <a:rPr dirty="0" sz="850" spc="155">
                <a:solidFill>
                  <a:srgbClr val="7C3AED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6D28D9"/>
                </a:solidFill>
                <a:latin typeface="Calibri"/>
                <a:cs typeface="Calibri"/>
              </a:rPr>
              <a:t>tents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826764"/>
            <a:ext cx="9140825" cy="194310"/>
          </a:xfrm>
          <a:custGeom>
            <a:avLst/>
            <a:gdLst/>
            <a:ahLst/>
            <a:cxnLst/>
            <a:rect l="l" t="t" r="r" b="b"/>
            <a:pathLst>
              <a:path w="9140825" h="194309">
                <a:moveTo>
                  <a:pt x="9140342" y="193852"/>
                </a:moveTo>
                <a:lnTo>
                  <a:pt x="0" y="193852"/>
                </a:lnTo>
                <a:lnTo>
                  <a:pt x="0" y="0"/>
                </a:lnTo>
                <a:lnTo>
                  <a:pt x="9140342" y="0"/>
                </a:lnTo>
                <a:lnTo>
                  <a:pt x="9140342" y="1938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978373" y="767168"/>
            <a:ext cx="317436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Unrivaled</a:t>
            </a:r>
            <a:r>
              <a:rPr dirty="0" sz="15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FFFFF"/>
                </a:solidFill>
                <a:latin typeface="Arial MT"/>
                <a:cs typeface="Arial MT"/>
              </a:rPr>
              <a:t>Full-</a:t>
            </a:r>
            <a:r>
              <a:rPr dirty="0" sz="1550" spc="-3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r>
              <a:rPr dirty="0" sz="15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 MT"/>
                <a:cs typeface="Arial MT"/>
              </a:rPr>
              <a:t>Agentic</a:t>
            </a:r>
            <a:r>
              <a:rPr dirty="0" sz="15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Offering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504604"/>
            <a:ext cx="9140825" cy="76835"/>
          </a:xfrm>
          <a:custGeom>
            <a:avLst/>
            <a:gdLst/>
            <a:ahLst/>
            <a:cxnLst/>
            <a:rect l="l" t="t" r="r" b="b"/>
            <a:pathLst>
              <a:path w="9140825" h="76835">
                <a:moveTo>
                  <a:pt x="9140342" y="76809"/>
                </a:moveTo>
                <a:lnTo>
                  <a:pt x="0" y="76809"/>
                </a:lnTo>
                <a:lnTo>
                  <a:pt x="0" y="0"/>
                </a:lnTo>
                <a:lnTo>
                  <a:pt x="9140342" y="0"/>
                </a:lnTo>
                <a:lnTo>
                  <a:pt x="9140342" y="7680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0" y="1477933"/>
          <a:ext cx="9217025" cy="2110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3175"/>
                <a:gridCol w="636269"/>
                <a:gridCol w="2116455"/>
                <a:gridCol w="670560"/>
                <a:gridCol w="1845944"/>
                <a:gridCol w="1325245"/>
              </a:tblGrid>
              <a:tr h="127635">
                <a:tc>
                  <a:txBody>
                    <a:bodyPr/>
                    <a:lstStyle/>
                    <a:p>
                      <a:pPr marL="778510">
                        <a:lnSpc>
                          <a:spcPts val="910"/>
                        </a:lnSpc>
                      </a:pPr>
                      <a:r>
                        <a:rPr dirty="0" sz="950">
                          <a:solidFill>
                            <a:srgbClr val="82B3B6"/>
                          </a:solidFill>
                          <a:latin typeface="Arial MT"/>
                          <a:cs typeface="Arial MT"/>
                        </a:rPr>
                        <a:t>°</a:t>
                      </a:r>
                      <a:r>
                        <a:rPr dirty="0" sz="950" spc="-75">
                          <a:solidFill>
                            <a:srgbClr val="82B3B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°</a:t>
                      </a:r>
                      <a:r>
                        <a:rPr dirty="0" sz="950" spc="150">
                          <a:solidFill>
                            <a:srgbClr val="DBDBDB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95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Deep</a:t>
                      </a:r>
                      <a:r>
                        <a:rPr dirty="0" sz="950" spc="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8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</a:t>
                      </a:r>
                      <a:r>
                        <a:rPr dirty="0" sz="95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850"/>
                        </a:lnSpc>
                      </a:pPr>
                      <a:r>
                        <a:rPr dirty="0" sz="800" spc="-5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6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L="162560" marR="218440" indent="-162560">
                        <a:lnSpc>
                          <a:spcPts val="910"/>
                        </a:lnSpc>
                        <a:buClr>
                          <a:srgbClr val="B8E9DF"/>
                        </a:buClr>
                        <a:buChar char="•"/>
                        <a:tabLst>
                          <a:tab pos="162560" algn="l"/>
                        </a:tabLst>
                      </a:pP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Agentic</a:t>
                      </a:r>
                      <a:r>
                        <a:rPr dirty="0" sz="850" spc="2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Application</a:t>
                      </a:r>
                      <a:r>
                        <a:rPr dirty="0" sz="850" spc="1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840"/>
                        </a:lnSpc>
                      </a:pPr>
                      <a:r>
                        <a:rPr dirty="0" sz="75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81635">
                        <a:lnSpc>
                          <a:spcPts val="910"/>
                        </a:lnSpc>
                      </a:pPr>
                      <a:r>
                        <a:rPr dirty="0" sz="900">
                          <a:solidFill>
                            <a:srgbClr val="A0DDCA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r>
                        <a:rPr dirty="0" sz="900" spc="120">
                          <a:solidFill>
                            <a:srgbClr val="A0DD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”</a:t>
                      </a:r>
                      <a:r>
                        <a:rPr dirty="0" sz="900" spc="465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900" spc="-1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Agent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Toolkit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2915">
                        <a:lnSpc>
                          <a:spcPts val="850"/>
                        </a:lnSpc>
                      </a:pPr>
                      <a:r>
                        <a:rPr dirty="0" sz="8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29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1760">
                <a:tc>
                  <a:txBody>
                    <a:bodyPr/>
                    <a:lstStyle/>
                    <a:p>
                      <a:pPr marL="760095">
                        <a:lnSpc>
                          <a:spcPts val="680"/>
                        </a:lnSpc>
                      </a:pP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Voice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Recognition</a:t>
                      </a:r>
                      <a:r>
                        <a:rPr dirty="0" sz="750" spc="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680"/>
                        </a:lnSpc>
                      </a:pPr>
                      <a:r>
                        <a:rPr dirty="0" sz="800" spc="-50">
                          <a:solidFill>
                            <a:srgbClr val="C1C1C1"/>
                          </a:solidFill>
                          <a:latin typeface="Consolas"/>
                          <a:cs typeface="Consolas"/>
                        </a:rPr>
                        <a:t>7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Build</a:t>
                      </a:r>
                      <a:r>
                        <a:rPr dirty="0" sz="700" spc="65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700" spc="7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Al</a:t>
                      </a:r>
                      <a:r>
                        <a:rPr dirty="0" sz="700" spc="20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Workforce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680"/>
                        </a:lnSpc>
                      </a:pPr>
                      <a:r>
                        <a:rPr dirty="0" sz="750" spc="-2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17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1155">
                        <a:lnSpc>
                          <a:spcPts val="680"/>
                        </a:lnSpc>
                      </a:pPr>
                      <a:r>
                        <a:rPr dirty="0" sz="750" spc="-20">
                          <a:solidFill>
                            <a:srgbClr val="BDBDBD"/>
                          </a:solidFill>
                          <a:latin typeface="Arial MT"/>
                          <a:cs typeface="Arial MT"/>
                        </a:rPr>
                        <a:t>Omni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6725">
                        <a:lnSpc>
                          <a:spcPts val="680"/>
                        </a:lnSpc>
                      </a:pPr>
                      <a:r>
                        <a:rPr dirty="0" sz="750" spc="-2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26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3664">
                <a:tc>
                  <a:txBody>
                    <a:bodyPr/>
                    <a:lstStyle/>
                    <a:p>
                      <a:pPr marL="763905">
                        <a:lnSpc>
                          <a:spcPts val="680"/>
                        </a:lnSpc>
                      </a:pP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Voice </a:t>
                      </a:r>
                      <a:r>
                        <a:rPr dirty="0" sz="75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Cloning</a:t>
                      </a:r>
                      <a:r>
                        <a:rPr dirty="0" sz="75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dirty="0" sz="75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Performance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680"/>
                        </a:lnSpc>
                      </a:pPr>
                      <a:r>
                        <a:rPr dirty="0" sz="800" spc="-50">
                          <a:solidFill>
                            <a:srgbClr val="C1C1C1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endParaRPr sz="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ts val="680"/>
                        </a:lnSpc>
                      </a:pPr>
                      <a:r>
                        <a:rPr dirty="0" sz="75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dirty="0" sz="750" spc="-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Agents</a:t>
                      </a:r>
                      <a:r>
                        <a:rPr dirty="0" sz="750" spc="-1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750" spc="-1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Any</a:t>
                      </a:r>
                      <a:r>
                        <a:rPr dirty="0" sz="750" spc="-25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Role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680"/>
                        </a:lnSpc>
                      </a:pPr>
                      <a:r>
                        <a:rPr dirty="0" sz="700" spc="-2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18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ts val="680"/>
                        </a:lnSpc>
                      </a:pPr>
                      <a:r>
                        <a:rPr dirty="0" sz="70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Dash</a:t>
                      </a:r>
                      <a:r>
                        <a:rPr dirty="0" sz="700" spc="-1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boards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4820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ACACA"/>
                          </a:solidFill>
                          <a:latin typeface="Courier New"/>
                          <a:cs typeface="Courier New"/>
                        </a:rPr>
                        <a:t>27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4935">
                <a:tc>
                  <a:txBody>
                    <a:bodyPr/>
                    <a:lstStyle/>
                    <a:p>
                      <a:pPr marL="76073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700" spc="9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Al</a:t>
                      </a:r>
                      <a:r>
                        <a:rPr dirty="0" sz="700" spc="6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Voice</a:t>
                      </a:r>
                      <a:r>
                        <a:rPr dirty="0" sz="700" spc="105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Works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680"/>
                        </a:lnSpc>
                      </a:pPr>
                      <a:r>
                        <a:rPr dirty="0" sz="750" spc="-50">
                          <a:solidFill>
                            <a:srgbClr val="BFBFBF"/>
                          </a:solidFill>
                          <a:latin typeface="Consolas"/>
                          <a:cs typeface="Consolas"/>
                        </a:rPr>
                        <a:t>9</a:t>
                      </a:r>
                      <a:endParaRPr sz="75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ts val="680"/>
                        </a:lnSpc>
                      </a:pPr>
                      <a:r>
                        <a:rPr dirty="0" sz="700" i="1">
                          <a:solidFill>
                            <a:srgbClr val="BDBDBD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700" spc="85" i="1">
                          <a:solidFill>
                            <a:srgbClr val="BDBDB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rchestrate</a:t>
                      </a:r>
                      <a:r>
                        <a:rPr dirty="0" sz="700" spc="15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Agentic</a:t>
                      </a:r>
                      <a:r>
                        <a:rPr dirty="0" sz="700" spc="13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J</a:t>
                      </a:r>
                      <a:r>
                        <a:rPr dirty="0" sz="70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ourneys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680"/>
                        </a:lnSpc>
                      </a:pPr>
                      <a:r>
                        <a:rPr dirty="0" sz="750" spc="-2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19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80"/>
                        </a:lnSpc>
                      </a:pPr>
                      <a:r>
                        <a:rPr dirty="0" sz="700" spc="-20">
                          <a:solidFill>
                            <a:srgbClr val="D3D3D3"/>
                          </a:solidFill>
                          <a:latin typeface="Arial MT"/>
                          <a:cs typeface="Arial MT"/>
                        </a:rPr>
                        <a:t>Flow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BABABA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0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8745">
                <a:tc>
                  <a:txBody>
                    <a:bodyPr/>
                    <a:lstStyle/>
                    <a:p>
                      <a:pPr marL="763270">
                        <a:lnSpc>
                          <a:spcPts val="680"/>
                        </a:lnSpc>
                      </a:pPr>
                      <a:r>
                        <a:rPr dirty="0" sz="7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Clone</a:t>
                      </a:r>
                      <a:r>
                        <a:rPr dirty="0" sz="750" spc="-5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Real</a:t>
                      </a:r>
                      <a:r>
                        <a:rPr dirty="0" sz="750" spc="-15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Voices</a:t>
                      </a:r>
                      <a:r>
                        <a:rPr dirty="0" sz="750" spc="-5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7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750" spc="1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Customise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680"/>
                        </a:lnSpc>
                      </a:pPr>
                      <a:r>
                        <a:rPr dirty="0" sz="700" spc="-25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9050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Th</a:t>
                      </a:r>
                      <a:r>
                        <a:rPr dirty="0" sz="700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dirty="0" sz="700" spc="75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Building</a:t>
                      </a:r>
                      <a:r>
                        <a:rPr dirty="0" sz="700" spc="11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CCCCC"/>
                          </a:solidFill>
                          <a:latin typeface="Arial MT"/>
                          <a:cs typeface="Arial MT"/>
                        </a:rPr>
                        <a:t>Bloc</a:t>
                      </a: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ks</a:t>
                      </a:r>
                      <a:r>
                        <a:rPr dirty="0" sz="700" spc="8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00" spc="7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700" spc="12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Journey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ts val="680"/>
                        </a:lnSpc>
                      </a:pPr>
                      <a:r>
                        <a:rPr dirty="0" sz="850" spc="-25">
                          <a:solidFill>
                            <a:srgbClr val="C6C6C6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endParaRPr sz="8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80"/>
                        </a:lnSpc>
                      </a:pPr>
                      <a:r>
                        <a:rPr dirty="0" sz="750" spc="-2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AI</a:t>
                      </a:r>
                      <a:r>
                        <a:rPr dirty="0" sz="750" spc="-2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Marketplace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ACACA"/>
                          </a:solidFill>
                          <a:latin typeface="Courier New"/>
                          <a:cs typeface="Courier New"/>
                        </a:rPr>
                        <a:t>29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09220">
                <a:tc>
                  <a:txBody>
                    <a:bodyPr/>
                    <a:lstStyle/>
                    <a:p>
                      <a:pPr marL="76200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700" spc="125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Ana</a:t>
                      </a: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my</a:t>
                      </a:r>
                      <a:r>
                        <a:rPr dirty="0" sz="700" spc="7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700" spc="7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700" spc="9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ve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rs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700" spc="-8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tion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Confidence</a:t>
                      </a:r>
                      <a:r>
                        <a:rPr dirty="0" sz="700" spc="14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700" spc="85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700" spc="114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Change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21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000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4935">
                <a:tc>
                  <a:txBody>
                    <a:bodyPr/>
                    <a:lstStyle/>
                    <a:p>
                      <a:pPr marL="760095">
                        <a:lnSpc>
                          <a:spcPts val="680"/>
                        </a:lnSpc>
                      </a:pP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Reporting</a:t>
                      </a:r>
                      <a:r>
                        <a:rPr dirty="0" sz="750" spc="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CCCCC"/>
                          </a:solidFill>
                          <a:latin typeface="Arial MT"/>
                          <a:cs typeface="Arial MT"/>
                        </a:rPr>
                        <a:t>That</a:t>
                      </a:r>
                      <a:r>
                        <a:rPr dirty="0" sz="750" spc="-15">
                          <a:solidFill>
                            <a:srgbClr val="CCCC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2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Turns</a:t>
                      </a:r>
                      <a:r>
                        <a:rPr dirty="0" sz="75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75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75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Action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BCBCBC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Connect</a:t>
                      </a:r>
                      <a:r>
                        <a:rPr dirty="0" sz="700" spc="6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700" spc="60">
                          <a:solidFill>
                            <a:srgbClr val="D1D1D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700" spc="95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Systems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ACACA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00E0F"/>
                    </a:solidFill>
                  </a:tcPr>
                </a:tc>
              </a:tr>
              <a:tr h="105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13664">
                <a:tc>
                  <a:txBody>
                    <a:bodyPr/>
                    <a:lstStyle/>
                    <a:p>
                      <a:pPr marL="761365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Meet</a:t>
                      </a:r>
                      <a:r>
                        <a:rPr dirty="0" sz="700" spc="4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CI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ara,</a:t>
                      </a:r>
                      <a:r>
                        <a:rPr dirty="0" sz="700" spc="3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Your</a:t>
                      </a:r>
                      <a:r>
                        <a:rPr dirty="0" sz="700" spc="3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Analytic</a:t>
                      </a:r>
                      <a:r>
                        <a:rPr dirty="0" sz="700" spc="-90">
                          <a:solidFill>
                            <a:srgbClr val="CFCF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700" spc="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Assistant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ts val="675"/>
                        </a:lnSpc>
                      </a:pPr>
                      <a:r>
                        <a:rPr dirty="0" sz="650" spc="-25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13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 marL="360045">
                        <a:lnSpc>
                          <a:spcPts val="68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700" spc="7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OC</a:t>
                      </a:r>
                      <a:r>
                        <a:rPr dirty="0" sz="700" spc="75">
                          <a:solidFill>
                            <a:srgbClr val="BCBCB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700" spc="65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Strategic</a:t>
                      </a:r>
                      <a:r>
                        <a:rPr dirty="0" sz="700" spc="10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Coach</a:t>
                      </a:r>
                      <a:r>
                        <a:rPr dirty="0" sz="700" spc="-125">
                          <a:solidFill>
                            <a:srgbClr val="D4D4D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700" spc="-25">
                          <a:solidFill>
                            <a:srgbClr val="B8B8B8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680"/>
                        </a:lnSpc>
                      </a:pPr>
                      <a:r>
                        <a:rPr dirty="0" sz="800" spc="-25">
                          <a:solidFill>
                            <a:srgbClr val="C3C3C3"/>
                          </a:solidFill>
                          <a:latin typeface="Courier New"/>
                          <a:cs typeface="Courier New"/>
                        </a:rPr>
                        <a:t>23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1111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07950">
                <a:tc>
                  <a:txBody>
                    <a:bodyPr/>
                    <a:lstStyle/>
                    <a:p>
                      <a:pPr marL="760095">
                        <a:lnSpc>
                          <a:spcPts val="620"/>
                        </a:lnSpc>
                      </a:pPr>
                      <a:r>
                        <a:rPr dirty="0" sz="7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Equip</a:t>
                      </a:r>
                      <a:r>
                        <a:rPr dirty="0" sz="750" spc="-1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Agents</a:t>
                      </a:r>
                      <a:r>
                        <a:rPr dirty="0" sz="750" spc="5">
                          <a:solidFill>
                            <a:srgbClr val="C3C3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750" spc="-2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Knowledge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620"/>
                        </a:lnSpc>
                      </a:pPr>
                      <a:r>
                        <a:rPr dirty="0" sz="750" spc="-25">
                          <a:solidFill>
                            <a:srgbClr val="BDBDBD"/>
                          </a:solidFill>
                          <a:latin typeface="Arial MT"/>
                          <a:cs typeface="Arial MT"/>
                        </a:rPr>
                        <a:t>14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 marL="358775">
                        <a:lnSpc>
                          <a:spcPts val="620"/>
                        </a:lnSpc>
                      </a:pPr>
                      <a:r>
                        <a:rPr dirty="0" sz="750" spc="-1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Generate</a:t>
                      </a:r>
                      <a:r>
                        <a:rPr dirty="0" sz="750">
                          <a:solidFill>
                            <a:srgbClr val="CACAC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Scorecards</a:t>
                      </a:r>
                      <a:r>
                        <a:rPr dirty="0" sz="750" spc="45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750" spc="-15">
                          <a:solidFill>
                            <a:srgbClr val="C8C8C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-10">
                          <a:solidFill>
                            <a:srgbClr val="CDCDCD"/>
                          </a:solidFill>
                          <a:latin typeface="Arial MT"/>
                          <a:cs typeface="Arial MT"/>
                        </a:rPr>
                        <a:t>Clara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620"/>
                        </a:lnSpc>
                      </a:pPr>
                      <a:r>
                        <a:rPr dirty="0" sz="750" spc="-25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24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31618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760730">
                        <a:lnSpc>
                          <a:spcPts val="760"/>
                        </a:lnSpc>
                      </a:pPr>
                      <a:r>
                        <a:rPr dirty="0" sz="700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Foundatio</a:t>
                      </a:r>
                      <a:r>
                        <a:rPr dirty="0" sz="700" spc="-45">
                          <a:solidFill>
                            <a:srgbClr val="C6C6C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>
                          <a:solidFill>
                            <a:srgbClr val="C1C1C1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700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al</a:t>
                      </a:r>
                      <a:r>
                        <a:rPr dirty="0" sz="700" spc="114">
                          <a:solidFill>
                            <a:srgbClr val="BABAB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10">
                          <a:solidFill>
                            <a:srgbClr val="C4C4C4"/>
                          </a:solidFill>
                          <a:latin typeface="Arial MT"/>
                          <a:cs typeface="Arial MT"/>
                        </a:rPr>
                        <a:t>Models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810"/>
                        </a:lnSpc>
                        <a:spcBef>
                          <a:spcPts val="805"/>
                        </a:spcBef>
                      </a:pPr>
                      <a:r>
                        <a:rPr dirty="0" sz="750" spc="-25">
                          <a:solidFill>
                            <a:srgbClr val="BFBFBF"/>
                          </a:solidFill>
                          <a:latin typeface="Arial MT"/>
                          <a:cs typeface="Arial MT"/>
                        </a:rPr>
                        <a:t>15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B="0" marT="1022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543800" y="109728"/>
            <a:ext cx="14630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7C3AED"/>
                </a:solidFill>
                <a:latin typeface="Inter"/>
              </a:rPr>
              <a:t>MassaPro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6952" y="187452"/>
            <a:ext cx="16459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MassaPro Enterprise Brochure (Rebranded)</dc:title>
  <dcterms:created xsi:type="dcterms:W3CDTF">2026-09-01T16:50:11Z</dcterms:created>
  <dcterms:modified xsi:type="dcterms:W3CDTF">2026-09-01T16:50:11Z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2026-09-01T00:00:00Z</vt:filetime>
  </property>
</Properties>
</file>