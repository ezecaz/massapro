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clear positioning statement. MassaPro IVR is not a new product category — it is the video layer of the MassaPro omni-channel platform, designed for real human video agents. The audience should understand in the first 30 seconds that we are talking about a fundamentally different way to deliver in-person service: the customer experiences a face-to-face interaction, but the advisor can be anywhere in the world. Hold the cover for 10–15 seconds while you introduce the team and the purpose of the meeting. Do not advance until the room is settled — this slide sets the tone for the entire conversation. If the audience is engaged with the cover, they will be engaged with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opening section. Do not rush it. The audience needs to recognise their own operation in at least one of the four scenarios before they will be open to a new solution. Walk through each quadrant and pause. Ask the room: which of these is happening in your network right now? You will get nods. The key insight to land is the last line: these failures are silent. They do not show up in CSAT surveys because the customer never formally interacted. They do not show up in call-centre metrics because the customer never called. They show up only in lost revenue and churn — and even then, attribution is impossible. This is why AI alone cannot solve them: AI optimises interactions that already happen. MassaPro IVR creates interactions that would not have happened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bridge between the problem (slide 2) and the opportunity (slide 4). It explains why the four failure modes exist: they are not bugs, they are features of an outdated operating model. Make this point explicitly. The audience needs to hear that throwing AI at the problem will not help, because AI does not move staff between locations in real time. If the audience is from a multi-site operator (bank, retail chain, hotel group), use a concrete number from their own network: how many branches do they have, how many are sub-scale, how much does the fixed cost per location add up to per year. This makes the problem tangible and sets up the ROI slide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establishes that video is not just another channel — it is the best channel for high-value interactions. The numbers matter. CSAT 4.5–5 is exceptional. Most call centres operate at 3.8–4.2. Most digital chat operates even lower. Video is in a different category entirely. Be prepared for the objection: "We already have video — we use Teams / Zoom / Meet." The response is on slide 5. Consumer video conferencing tools are designed for meetings between colleagues. MassaPro IVR is designed for service between an advisor and a customer who has never met the advisor before. The difference shows up in the SPLIT architecture, the metadata capture, the ACD integration, and the security model — all of which we will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you introduce the product by name. Say it clearly: MassaPro IVR. Spell out what IVR stands for in this context — Interactive Video Response — and emphasise that this is not your father's IVR. Traditional IVR is a voice menu that frustrates callers. MassaPro IVR is a video service that resolves customer needs face-to-face, instantly, anywhere. The most important sentence on the slide is the third bullet: the integration with the rest of the MassaPro platform. This is the moat. Standalone telepresence vendors can replicate the kiosk and the SPLIT architecture. They cannot replicate the AI layer. When the audience asks "why MassaPro and not vendor X," the answer is always: because MassaPro IVR is part of a complete AI-powered omni-channel platform, not a point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simplicity of this concept is the point. MassaPro IVR works because the customer does not have to do anything they would not naturally do. They scan a QR code with the phone they are already holding. They speak to a human. They see the human on a screen. The complexity is all on the platform side — and that complexity is invisible to the customer. If the audience pushes back on "customers will not adopt this," point to the CSAT numbers from slide 4. Customers adopt what works. They adopt video service when it resolves their need in one session. They do not adopt video conferencing tools (Teams, Zoom) for service because those tools are not designed for service. The product design matters more than the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the four steps as if they were the customer. Make it visceral. The point is that the entire flow takes less time than standing in a queue, and the customer is in control the whole time — they are using their own phone, they are entering their own data, they can end the session whenever they want. The metadata capture in step 2 is more important than it looks. Because the customer enters their details before connecting, the advisor opens the session with the case already in context. This is what enables "customers never repeat themselves" on slide 13. It is also what enables the MassaPro Flow orchestration — the metadata can be used to route the session by skill, language, or service type before the advisor even picks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heart of the product. Slow down here. The SPLIT architecture is what makes MassaPro IVR deployable in enterprise environments that would reject a standard video conferencing tool. It solves three problems at once: privacy (audio never goes through shared hardware), intelligibility (the customer's phone mic is closer to their mouth than any kiosk mic could be), and firewall traversal (the session passes through corporate NAT and firewalls without IT involvement). If there are CTOs or enterprise architects in the room, they will lean in here. Be ready for detailed questions about RTC protocols, NAT traversal (STUN/TURN), codec selection, and bandwidth requirements. The short answer is: it works on standard corporate networks with standard browser technology, and we have deployed it in banks, hospitals, and government agencies with strict network policies. The longer answer is in the technical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does double duty. It answers the privacy objection — "I do not want my customers' data going through a kiosk speaker" — and it opens up an inclusion story that competitors cannot match. The sign-language interpreter capability alone has won deals in healthcare and government, where accessibility is a legal requirement, not a nice-to-have. If the audience is from a regulated industry — banking, healthcare, government — spend extra time on the confidentiality bullet. The point is not that we encrypt the audio; everyone does. The point is that the audio never touches shared hardware in the first place. That is a structural privacy guarantee that no kiosk-mounted microphone can match, no matter how many layers of encryption you put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deck for differentiation. Slow down. The audience has just spent eight slides understanding what MassaPro IVR does. Now they need to understand why MassaPro IVR is different from every other video service product on the market. The answer is this slide. Walk through each of the four integrations with a concrete scenario. Example: a customer walks up to a kiosk at a bank after hours. MassaPro Flow routes them to the AI Agent first — "I can help with account balance, recent transactions, or branch hours." If the customer says "I want to open an account," the AI Agent escalates to a video advisor. The advisor picks up the session in their browser, sees the customer's metadata, and starts the conversation. AI Guru is running in the advisor's console — when the customer mentions they are worried about fees, AI Guru pushes a coaching prompt with the current fee schedule and a retention script. AI Analytics is transcribing the whole session, detecting sentiment, and flagging it for supervisor review if the customer gets upset. After the session, the transcript is summarised and posted to the CRM. One platform, end to end. Close with the line on the slide: no standalone telepresence vendor can match this. That is the line the audience should remember when they are comparing MassaPro IVR to a point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the felt experience of the customer. The three pillars — human scale, shared viewing, control — are what make MassaPro IVR feel like in-person service rather than a video call. The technology disappears and the interaction is what the customer remembers. If you have a demo video, this is the slide to play it on. A 30-second clip of a real customer using a kiosk to speak with an advisor — seeing the advisor life-size, reviewing a document on screen, confirming with a tap on their phone — is worth a thousand bullet points. If no video is available, the visual recommendation below should be designed to convey the same feeling. Walk the room through a single story: the customer walks up, the advisor appears life-size, they review the document together, the customer taps once on their own phone to confirm. That sequence is the whole promise of MassaPro IVR in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four-channel model is a customer-experience feature, not just a technical feature. Customers do not all want the same channel. Some want the full kiosk experience. Some want to use their own phone. Some want WhatsApp. MassaPro IVR meets the customer where they are, on the channel they prefer, with the same advisor and the same context. The PIN sync is a small detail that matters in multi-point deployments. If you have a bank lobby with three kiosks side by side, you do not want customer A's session showing up on customer B's screen. The four-digit PIN prevents that. Mention this when the audience is from a multi-kiosk environment. Close on the metadata capture point: every session starts with the case already identified, so the advisor opens with the customer's name and reason for visit already on screen — no IVR menu, no "please state your account number," no friction.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every contact-centre leader asks: what happens when the first advisor cannot resolve the issue? The answer is: the session transfers with full context, the customer does not have to repeat themselves, and the video does not drop. This is a fundamental difference from a standard video call, where a transfer means starting over. The native ACD integration is the technical enabler. MassaPro IVR does not replace your existing contact-centre routing — it plugs into it. If you have Genesys, MassaPro IVR routes through Genesys. If you have Cisco, it routes through Cisco. The advisor console is browser-based and works alongside your existing agent desktop, or as a standalone. No migration required. The implication for the customer is simple: the second advisor already knows your name, your reason, and what was just discussed. The session feels continuous — not like a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the operations and IT leaders in the room. The key message is: MassaPro IVR is not a rip-and-replace. It plugs into what you have. If you have invested millions in Genesys or Cisco, that investment is preserved. If you have branch staff who are under-utilised between in-person appointments, they can now take video sessions from their existing desk. The hybrid model is the most common deployment pattern in practice. Pure distributed — only branch staff — does not scale for after-hours. Pure centralised — only contact centre — wastes the branch staff. Hybrid gives you both: branch staff during the day, centralised staff at night, and MassaPro Flow deciding who gets what based on skill, language, and availability. Anchor the close on "no migration required" — that line is what gets the IT director to nod and stop writing objections on the whiteboard.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IT operations question: who runs this thing? The answer is: MassaPro runs it. The customer's IT team does not need to deploy servers, manage upgrades, or maintain kiosks. The advisor console is a browser. The kiosk manager is a web portal. The infrastructure is AWS. This is a managed service, not a software product the customer has to install and operate. For CIOs and CTOs, this is a significant point. The total cost of ownership of MassaPro IVR is the subscription fee plus the cost of the kiosk hardware (if any). There is no hidden infrastructure cost, no dedicated headcount to run the platform, no annual maintenance fee. Compare this to a premise-based video conferencing solution, which requires SBCs, gateways, MCUs, and a team to keep them running. The compliance badges reinforce the story: SOC 2, ISO 27001, GDPR, HIPAA, PCI-DSS — enterprise-grade without enterprise-grade operational overhead.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operational punchline. Three numbers: 24/7, 1:N, +0. Memorise them. They are the headline metrics that will be quoted back to the room. 24/7 availability without extending branch hours. One team serving N locations. Zero staff at the point of service. If the audience is from a multi-site operator, ask them how many of their locations are currently sub-scale — open fewer hours than they would like because they cannot justify a full-time staff member. Every one of those locations is a candidate for MassaPro IVR. The kiosk costs less than one FTE per year, and it never takes a sick day. Close on the scalability line: the same platform that runs your three pilot locations today will run your three hundred locations tomorrow, without re-architecting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side-by-side comparison. Walk through each row. The pattern is the same in every row: the traditional model pays for capacity that is not used; the phygital model pays only for capacity that is used. That is the structural cost advantage. The talent row is often the most resonant with HR leaders. In the traditional model, you can only hire where the point is. If your best mortgage advisor lives in a different city than your branch, you cannot hire them. In the phygital model, you can hire anywhere. You can concentrate your team in one site, move it to another country, or distribute it across home offices. The talent pool is no longer constrained by the location of the service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regulated industries, this slide is the gate. If the audience is from a bank, hospital, insurer, or government agency, they will not move forward until they are satisfied on security. Walk through each certification, each control, and be prepared for detailed questions about data residency, encryption key management, and audit log access. The live identity verification point is worth emphasising. It is a structural advantage of video service over phone or chat. On a phone call, identity verification relies on knowledge-based authentication (date of birth, mother's maiden name) which is compromised by every data breach. On a video call, the advisor can visually compare the customer's face to their ID document. That is the same standard as an in-person branch visit. Deepfakes cannot defeat this because the customer is physically present at the kiosk — the advisor can ask them to turn their head, hold up the ID, or perform a liveness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operations continuity question: what happens when the kiosk breaks? The answer is: the service continues on the customer's phone. The kiosk is a convenience, not a dependency. The session is in the cloud, the customer has their phone, and the QR sticker is printed on the wall. As long as two of those three things are working, the service is working. This is a meaningful operational advantage. In a traditional kiosk deployment, a hardware failure means a service outage until a technician is dispatched. With MassaPro IVR, a hardware failure means the customer uses a slightly smaller screen. The Mean Time To Repair drops from hours (technician dispatch) to zero (the customer never notices). For multi-site operators with remote locations, this is the difference between a service that is up 99% of the time and one that is up 99.99%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menu, not a list. The audience should be able to find their sector on the slide and picture their own operation running on MassaPro IVR. If they are in finance, the banking use case is for them. If they are in retail, the personal shopper use case is for them. Walk through each sector briefly, but spend the most time on the sector that matches the audience. Be ready to discuss sectors not on the slide. The platform is sector-agnostic — the same software that runs a bank kiosk can run a government services kiosk, a university admissions kiosk, or a car dealership kiosk. The configuration is in MassaPro Flow, not in the code. If the audience asks about a sector not listed, the answer is: if you have a service point and a customer who needs to speak with a human, MassaPro IVR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proof-point slide. If the audience is from a bank, this is the slide they will remember. Walk through the four steps as a story. The customer arrives after the branch has closed. They scan the QR code. They pick "open an account." A specialised banker picks up the session — possibly from a contact centre in another city, possibly from their home office. The banker walks the customer through the application, shares the disclosures on screen, verifies their identity by asking them to hold up their driver's licence, and the customer signs on their phone. Total time: under 15 minutes. Total staffing cost: zero on-site. Be prepared to share quantified results if available — CSAT scores, transaction completion rates, cost-per-interaction comparisons with in-branch. If you do not have hard numbers for this specific case, use the industry benchmarks from slide 4 (CSAT 4.5-5) and note that the actual results from deployed customers are tracked in the customer success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CFO cares about. Walk through the four quadrants of value: cost savings, revenue uplift, monetisation, and talent arbitrage. Each one is a separate line on the business case. Together, they typically pay back the deployment within 6-12 months for a multi-site operator. If you have a concrete ROI calculator or a worked example for the customer's sector, this is the slide to show it. A simple table comparing traditional cost per interaction (fully-loaded branch staff cost / interactions per month) vs. MassaPro IVR cost per interaction (subscription + amortised kiosk / interactions per month) is often the most persuasive element of the entire deck. The number for MassaPro IVR is usually 40-70% lower, depending on volume. The advertising monetisation point is often underestimated. A kiosk in a high-traffic location that runs ads 12 hours a day (when not in service) can generate meaningful advertising revenue. In some deployments, the advertising revenue alone covers the subscription cost of the kiosk, making the service effectively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"how long does it take" question. The answer is: 8-12 weeks for a standard deployment, depending on the scope of integrations and the complexity of the workflows. The eight-phase methodology is the same one documented in the MassaPro Technical Manual — point the audience there if they want the full detail. Emphasise that the deployment is managed end-to-end by MassaPro. The customer's team provides subject-matter expertise, access to source systems, and acceptance testing resources. MassaPro provides the project manager, the engineering team, the AI specialists, and the training. This is not a software-licence sale; it is a managed-service deployment with a defined outcome. Be ready to discuss what accelerates or delays the timeline. Accelerators: existing ACD that we have integrated with before (Genesys, Cisco), standard CRM (Salesforce, HubSpot), clear success criteria, available subject-matter experts. Decelerators: custom CRM with poor API documentation, multi-country regulatory approval, complex multi-brand deployment, customer IT team capacity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close. Be specific about what you are asking for. The ask is a 60-90 minute workshop with one specific process from the customer's operation. Not a generic demo, not a capabilities presentation — a working session on their process. This is the lowest-friction next step that produces the highest-quality outcome, because it forces the customer to engage with the product on their own terms rather than yours. End with the line on the slide: no commitment, no cost, no obligation. The workshop is free. The ROI estimate is free. The reference architecture is free. The only thing the customer has to provide is the process and the people who know it. MassaPro provides everything else. If the customer is not ready to commit to a pilot, the workshop still produces value — both sides learn whether there is a fit, and the customer has a concrete artefact (the ROI estimate and the reference architecture) to take to their internal decision-makers. Close the deck by thanking the audience and asking for the workshop date directly. "I have Tuesday next week or Thursday the week after open — which works better for your team?" This is the classic sales close: assume the next step, offer a binary choice. Do not leave the room without a calendar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9.png"/><Relationship Id="rId11" Type="http://schemas.openxmlformats.org/officeDocument/2006/relationships/slideLayout" Target="../slideLayouts/slideLayout1.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pic>
        <p:nvPicPr>
          <p:cNvPr id="4" name="Image 2" descr="preencoded.png">    </p:cNvPr>
          <p:cNvPicPr>
            <a:picLocks noChangeAspect="1"/>
          </p:cNvPicPr>
          <p:nvPr/>
        </p:nvPicPr>
        <p:blipFill>
          <a:blip r:embed="rId3"/>
          <a:stretch>
            <a:fillRect/>
          </a:stretch>
        </p:blipFill>
        <p:spPr>
          <a:xfrm>
            <a:off x="6057900" y="2286000"/>
            <a:ext cx="4000500" cy="4000500"/>
          </a:xfrm>
          <a:prstGeom prst="rect">
            <a:avLst/>
          </a:prstGeom>
        </p:spPr>
      </p:pic>
      <p:sp>
        <p:nvSpPr>
          <p:cNvPr id="5" name="Text 0"/>
          <p:cNvSpPr/>
          <p:nvPr/>
        </p:nvSpPr>
        <p:spPr>
          <a:xfrm>
            <a:off x="6057900" y="2286000"/>
            <a:ext cx="4000500" cy="4000500"/>
          </a:xfrm>
          <a:prstGeom prst="ellipse">
            <a:avLst/>
          </a:prstGeom>
          <a:solidFill>
            <a:srgbClr val="FFFFFF">
              <a:alpha val="0"/>
            </a:srgbClr>
          </a:solidFill>
          <a:ln/>
        </p:spPr>
        <p:txBody>
          <a:bodyPr wrap="square" rtlCol="0" anchor="ctr"/>
          <a:lstStyle/>
          <a:p>
            <a:pPr indent="0" marL="0">
              <a:buNone/>
            </a:pPr>
            <a:endParaRPr lang="en-US" dirty="0"/>
          </a:p>
        </p:txBody>
      </p:sp>
      <p:pic>
        <p:nvPicPr>
          <p:cNvPr id="6" name="Image 3" descr="preencoded.png">    </p:cNvPr>
          <p:cNvPicPr>
            <a:picLocks noChangeAspect="1"/>
          </p:cNvPicPr>
          <p:nvPr/>
        </p:nvPicPr>
        <p:blipFill>
          <a:blip r:embed="rId4"/>
          <a:stretch>
            <a:fillRect/>
          </a:stretch>
        </p:blipFill>
        <p:spPr>
          <a:xfrm>
            <a:off x="-685800" y="-685800"/>
            <a:ext cx="2714625" cy="2714625"/>
          </a:xfrm>
          <a:prstGeom prst="rect">
            <a:avLst/>
          </a:prstGeom>
        </p:spPr>
      </p:pic>
      <p:sp>
        <p:nvSpPr>
          <p:cNvPr id="7" name="Text 1"/>
          <p:cNvSpPr/>
          <p:nvPr/>
        </p:nvSpPr>
        <p:spPr>
          <a:xfrm>
            <a:off x="-685800" y="-685800"/>
            <a:ext cx="2714625" cy="2714625"/>
          </a:xfrm>
          <a:prstGeom prst="ellipse">
            <a:avLst/>
          </a:prstGeom>
          <a:solidFill>
            <a:srgbClr val="FFFFFF">
              <a:alpha val="0"/>
            </a:srgbClr>
          </a:solidFill>
          <a:ln/>
        </p:spPr>
        <p:txBody>
          <a:bodyPr wrap="square" rtlCol="0" anchor="ctr"/>
          <a:lstStyle/>
          <a:p>
            <a:pPr indent="0" marL="0">
              <a:buNone/>
            </a:pPr>
            <a:endParaRPr lang="en-US" dirty="0"/>
          </a:p>
        </p:txBody>
      </p:sp>
      <p:sp>
        <p:nvSpPr>
          <p:cNvPr id="8" name="Text 2"/>
          <p:cNvSpPr/>
          <p:nvPr/>
        </p:nvSpPr>
        <p:spPr>
          <a:xfrm>
            <a:off x="0" y="3186113"/>
            <a:ext cx="5379908" cy="1957388"/>
          </a:xfrm>
          <a:prstGeom prst="rect">
            <a:avLst/>
          </a:prstGeom>
          <a:noFill/>
          <a:ln/>
        </p:spPr>
        <p:txBody>
          <a:bodyPr wrap="square" lIns="0" tIns="0" rIns="0" bIns="0" rtlCol="0" anchor="t"/>
          <a:lstStyle/>
          <a:p>
            <a:pPr algn="l" indent="0" marL="0">
              <a:lnSpc>
                <a:spcPts val="21600"/>
              </a:lnSpc>
              <a:buNone/>
            </a:pPr>
            <a:r>
              <a:rPr lang="en-US" sz="27000" b="1" spc="-1620" kern="0" dirty="0">
                <a:solidFill>
                  <a:srgbClr val="A78BFA">
                    <a:alpha val="6000"/>
                  </a:srgbClr>
                </a:solidFill>
                <a:latin typeface="Liberation Sans Narrow" pitchFamily="34" charset="0"/>
                <a:ea typeface="Liberation Sans Narrow" pitchFamily="34" charset="-122"/>
                <a:cs typeface="Liberation Sans Narrow" pitchFamily="34" charset="-120"/>
              </a:rPr>
              <a:t>01</a:t>
            </a:r>
            <a:endParaRPr lang="en-US" sz="27000" dirty="0"/>
          </a:p>
        </p:txBody>
      </p:sp>
      <p:pic>
        <p:nvPicPr>
          <p:cNvPr id="9" name="Image 4" descr="/tmp/h2p-fit-1786522334864-4uctz9.png">    </p:cNvPr>
          <p:cNvPicPr>
            <a:picLocks noChangeAspect="1"/>
          </p:cNvPicPr>
          <p:nvPr/>
        </p:nvPicPr>
        <p:blipFill>
          <a:blip r:embed="rId5"/>
          <a:stretch>
            <a:fillRect/>
          </a:stretch>
        </p:blipFill>
        <p:spPr>
          <a:xfrm>
            <a:off x="5669347" y="0"/>
            <a:ext cx="3474653" cy="5143500"/>
          </a:xfrm>
          <a:prstGeom prst="rect">
            <a:avLst/>
          </a:prstGeom>
        </p:spPr>
      </p:pic>
      <p:pic>
        <p:nvPicPr>
          <p:cNvPr id="10" name="Image 5" descr="preencoded.png">    </p:cNvPr>
          <p:cNvPicPr>
            <a:picLocks noChangeAspect="1"/>
          </p:cNvPicPr>
          <p:nvPr/>
        </p:nvPicPr>
        <p:blipFill>
          <a:blip r:embed="rId6"/>
          <a:stretch>
            <a:fillRect/>
          </a:stretch>
        </p:blipFill>
        <p:spPr>
          <a:xfrm>
            <a:off x="5669347" y="0"/>
            <a:ext cx="3474653" cy="5143500"/>
          </a:xfrm>
          <a:prstGeom prst="rect">
            <a:avLst/>
          </a:prstGeom>
        </p:spPr>
      </p:pic>
      <p:pic>
        <p:nvPicPr>
          <p:cNvPr id="11" name="Image 6" descr="preencoded.png">    </p:cNvPr>
          <p:cNvPicPr>
            <a:picLocks noChangeAspect="1"/>
          </p:cNvPicPr>
          <p:nvPr/>
        </p:nvPicPr>
        <p:blipFill>
          <a:blip r:embed="rId7"/>
          <a:stretch>
            <a:fillRect/>
          </a:stretch>
        </p:blipFill>
        <p:spPr>
          <a:xfrm>
            <a:off x="5669347" y="0"/>
            <a:ext cx="3474653" cy="5143500"/>
          </a:xfrm>
          <a:prstGeom prst="rect">
            <a:avLst/>
          </a:prstGeom>
        </p:spPr>
      </p:pic>
      <p:pic>
        <p:nvPicPr>
          <p:cNvPr id="12" name="Image 7" descr="preencoded.png">    </p:cNvPr>
          <p:cNvPicPr>
            <a:picLocks noChangeAspect="1"/>
          </p:cNvPicPr>
          <p:nvPr/>
        </p:nvPicPr>
        <p:blipFill>
          <a:blip r:embed="rId8">
            <a:alphaModFix amt="70000"/>
          </a:blip>
          <a:stretch>
            <a:fillRect/>
          </a:stretch>
        </p:blipFill>
        <p:spPr>
          <a:xfrm>
            <a:off x="5669347" y="685800"/>
            <a:ext cx="14288" cy="3771900"/>
          </a:xfrm>
          <a:prstGeom prst="rect">
            <a:avLst/>
          </a:prstGeom>
        </p:spPr>
      </p:pic>
      <p:sp>
        <p:nvSpPr>
          <p:cNvPr id="13" name="Text 3"/>
          <p:cNvSpPr/>
          <p:nvPr/>
        </p:nvSpPr>
        <p:spPr>
          <a:xfrm>
            <a:off x="460772" y="1149809"/>
            <a:ext cx="2083408" cy="210741"/>
          </a:xfrm>
          <a:prstGeom prst="roundRect">
            <a:avLst>
              <a:gd name="adj" fmla="val 4515246"/>
            </a:avLst>
          </a:prstGeom>
          <a:solidFill>
            <a:srgbClr val="A78BFA">
              <a:alpha val="10000"/>
            </a:srgbClr>
          </a:solidFill>
          <a:ln w="7144">
            <a:solidFill>
              <a:srgbClr val="A78BFA"/>
            </a:solidFill>
            <a:prstDash val="solid"/>
          </a:ln>
        </p:spPr>
        <p:txBody>
          <a:bodyPr wrap="square" rtlCol="0" anchor="ctr"/>
          <a:lstStyle/>
          <a:p>
            <a:pPr indent="0" marL="0">
              <a:buNone/>
            </a:pPr>
            <a:endParaRPr lang="en-US" dirty="0"/>
          </a:p>
        </p:txBody>
      </p:sp>
      <p:sp>
        <p:nvSpPr>
          <p:cNvPr id="14" name="Text 4"/>
          <p:cNvSpPr/>
          <p:nvPr/>
        </p:nvSpPr>
        <p:spPr>
          <a:xfrm>
            <a:off x="457200" y="1146237"/>
            <a:ext cx="2090551" cy="304246"/>
          </a:xfrm>
          <a:prstGeom prst="rect">
            <a:avLst/>
          </a:prstGeom>
          <a:noFill/>
          <a:ln/>
        </p:spPr>
        <p:txBody>
          <a:bodyPr wrap="none" lIns="85725" tIns="42863" rIns="85725" bIns="42863" rtlCol="0" anchor="t"/>
          <a:lstStyle/>
          <a:p>
            <a:pPr algn="l" indent="0" marL="0">
              <a:lnSpc>
                <a:spcPts val="928"/>
              </a:lnSpc>
              <a:buNone/>
            </a:pPr>
            <a:r>
              <a:rPr lang="en-US" sz="800" b="1" spc="111" kern="0" dirty="0">
                <a:solidFill>
                  <a:srgbClr val="A78BFA"/>
                </a:solidFill>
                <a:latin typeface="Liberation Sans Narrow" pitchFamily="34" charset="0"/>
                <a:ea typeface="Liberation Sans Narrow" pitchFamily="34" charset="-122"/>
                <a:cs typeface="Liberation Sans Narrow" pitchFamily="34" charset="-120"/>
              </a:rPr>
              <a:t>CHAPTER 01 — THE OPPORTUNITY</a:t>
            </a:r>
            <a:endParaRPr lang="en-US" sz="800" dirty="0"/>
          </a:p>
        </p:txBody>
      </p:sp>
      <p:sp>
        <p:nvSpPr>
          <p:cNvPr id="15" name="Text 5"/>
          <p:cNvSpPr/>
          <p:nvPr/>
        </p:nvSpPr>
        <p:spPr>
          <a:xfrm>
            <a:off x="457200" y="1564146"/>
            <a:ext cx="5639647" cy="709803"/>
          </a:xfrm>
          <a:prstGeom prst="rect">
            <a:avLst/>
          </a:prstGeom>
          <a:noFill/>
          <a:ln/>
        </p:spPr>
        <p:txBody>
          <a:bodyPr wrap="none" lIns="0" tIns="0" rIns="0" bIns="0" rtlCol="0" anchor="t"/>
          <a:lstStyle/>
          <a:p>
            <a:pPr algn="l" indent="0" marL="0">
              <a:lnSpc>
                <a:spcPts val="5175"/>
              </a:lnSpc>
              <a:buNone/>
            </a:pPr>
            <a:r>
              <a:rPr lang="en-US" sz="5175" b="1" spc="-104" kern="0" dirty="0">
                <a:solidFill>
                  <a:srgbClr val="FFFFFF"/>
                </a:solidFill>
                <a:latin typeface="Tinos" pitchFamily="34" charset="0"/>
                <a:ea typeface="Tinos" pitchFamily="34" charset="-122"/>
                <a:cs typeface="Tinos" pitchFamily="34" charset="-120"/>
              </a:rPr>
              <a:t>MassaPro IVR</a:t>
            </a:r>
            <a:endParaRPr lang="en-US" sz="5175" dirty="0"/>
          </a:p>
        </p:txBody>
      </p:sp>
      <p:sp>
        <p:nvSpPr>
          <p:cNvPr id="16" name="Text 6"/>
          <p:cNvSpPr/>
          <p:nvPr/>
        </p:nvSpPr>
        <p:spPr>
          <a:xfrm>
            <a:off x="457200" y="2392821"/>
            <a:ext cx="571500" cy="21431"/>
          </a:xfrm>
          <a:prstGeom prst="roundRect">
            <a:avLst>
              <a:gd name="adj" fmla="val 88890"/>
            </a:avLst>
          </a:prstGeom>
          <a:solidFill>
            <a:srgbClr val="A78BFA"/>
          </a:solidFill>
          <a:ln/>
        </p:spPr>
        <p:txBody>
          <a:bodyPr wrap="square" rtlCol="0" anchor="ctr"/>
          <a:lstStyle/>
          <a:p>
            <a:pPr indent="0" marL="0">
              <a:buNone/>
            </a:pPr>
            <a:endParaRPr lang="en-US" dirty="0"/>
          </a:p>
        </p:txBody>
      </p:sp>
      <p:sp>
        <p:nvSpPr>
          <p:cNvPr id="17" name="Text 7"/>
          <p:cNvSpPr/>
          <p:nvPr/>
        </p:nvSpPr>
        <p:spPr>
          <a:xfrm>
            <a:off x="457200" y="2557128"/>
            <a:ext cx="5196944" cy="270034"/>
          </a:xfrm>
          <a:prstGeom prst="rect">
            <a:avLst/>
          </a:prstGeom>
          <a:noFill/>
          <a:ln/>
        </p:spPr>
        <p:txBody>
          <a:bodyPr wrap="square" lIns="0" tIns="0" rIns="0" bIns="0" rtlCol="0" anchor="t"/>
          <a:lstStyle/>
          <a:p>
            <a:pPr algn="l" indent="0" marL="0">
              <a:lnSpc>
                <a:spcPts val="1969"/>
              </a:lnSpc>
              <a:buNone/>
            </a:pPr>
            <a:r>
              <a:rPr lang="en-US" sz="1575" spc="-8" kern="0" dirty="0">
                <a:solidFill>
                  <a:srgbClr val="FFFFFF"/>
                </a:solidFill>
                <a:latin typeface="Carlito" pitchFamily="34" charset="0"/>
                <a:ea typeface="Carlito" pitchFamily="34" charset="-122"/>
                <a:cs typeface="Carlito" pitchFamily="34" charset="-120"/>
              </a:rPr>
              <a:t>Face-to-Face Service Over Video</a:t>
            </a:r>
            <a:endParaRPr lang="en-US" sz="1575" dirty="0"/>
          </a:p>
        </p:txBody>
      </p:sp>
      <p:sp>
        <p:nvSpPr>
          <p:cNvPr id="18" name="Text 8"/>
          <p:cNvSpPr/>
          <p:nvPr/>
        </p:nvSpPr>
        <p:spPr>
          <a:xfrm>
            <a:off x="457200" y="2935746"/>
            <a:ext cx="3857625" cy="409006"/>
          </a:xfrm>
          <a:prstGeom prst="rect">
            <a:avLst/>
          </a:prstGeom>
          <a:noFill/>
          <a:ln/>
        </p:spPr>
        <p:txBody>
          <a:bodyPr wrap="square" lIns="0" tIns="0" rIns="0" bIns="0" rtlCol="0" anchor="t">
            <a:normAutofit/>
          </a:bodyPr>
          <a:lstStyle/>
          <a:p>
            <a:pPr algn="l" indent="0" marL="0">
              <a:lnSpc>
                <a:spcPts val="1550"/>
              </a:lnSpc>
              <a:buNone/>
            </a:pPr>
            <a:r>
              <a:rPr lang="en-US" sz="1069" i="1" dirty="0">
                <a:solidFill>
                  <a:srgbClr val="A78BFA"/>
                </a:solidFill>
                <a:latin typeface="Carlito" pitchFamily="34" charset="0"/>
                <a:ea typeface="Carlito" pitchFamily="34" charset="-122"/>
                <a:cs typeface="Carlito" pitchFamily="34" charset="-120"/>
              </a:rPr>
              <a:t>Face-to-face service over video, without staff at the service point</a:t>
            </a:r>
            <a:endParaRPr lang="en-US" sz="1069" dirty="0"/>
          </a:p>
        </p:txBody>
      </p:sp>
      <p:sp>
        <p:nvSpPr>
          <p:cNvPr id="19" name="Text 9"/>
          <p:cNvSpPr/>
          <p:nvPr/>
        </p:nvSpPr>
        <p:spPr>
          <a:xfrm>
            <a:off x="457200" y="3372185"/>
            <a:ext cx="3857625" cy="196739"/>
          </a:xfrm>
          <a:prstGeom prst="rect">
            <a:avLst/>
          </a:prstGeom>
          <a:noFill/>
          <a:ln/>
        </p:spPr>
        <p:txBody>
          <a:bodyPr wrap="square" lIns="0" tIns="0" rIns="0" bIns="0" rtlCol="0" anchor="t"/>
          <a:lstStyle/>
          <a:p>
            <a:pPr algn="l" indent="0" marL="0">
              <a:lnSpc>
                <a:spcPts val="1434"/>
              </a:lnSpc>
              <a:buNone/>
            </a:pPr>
            <a:r>
              <a:rPr lang="en-US" sz="956" dirty="0">
                <a:solidFill>
                  <a:srgbClr val="FFFFFF">
                    <a:alpha val="72000"/>
                  </a:srgbClr>
                </a:solidFill>
                <a:latin typeface="Carlito" pitchFamily="34" charset="0"/>
                <a:ea typeface="Carlito" pitchFamily="34" charset="-122"/>
                <a:cs typeface="Carlito" pitchFamily="34" charset="-120"/>
              </a:rPr>
              <a:t>One expert team serves the entire physical and digital network</a:t>
            </a:r>
            <a:endParaRPr lang="en-US" sz="956" dirty="0"/>
          </a:p>
        </p:txBody>
      </p:sp>
      <p:pic>
        <p:nvPicPr>
          <p:cNvPr id="20" name="Image 8" descr="/home/z/my-project/download/slides/massapro-logo.png">    </p:cNvPr>
          <p:cNvPicPr>
            <a:picLocks noChangeAspect="1"/>
          </p:cNvPicPr>
          <p:nvPr/>
        </p:nvPicPr>
        <p:blipFill>
          <a:blip r:embed="rId9">
            <a:alphaModFix amt="90000"/>
          </a:blip>
          <a:stretch>
            <a:fillRect/>
          </a:stretch>
        </p:blipFill>
        <p:spPr>
          <a:xfrm>
            <a:off x="457200" y="3840100"/>
            <a:ext cx="157163" cy="157163"/>
          </a:xfrm>
          <a:prstGeom prst="rect">
            <a:avLst/>
          </a:prstGeom>
        </p:spPr>
      </p:pic>
      <p:sp>
        <p:nvSpPr>
          <p:cNvPr id="21" name="Text 10"/>
          <p:cNvSpPr/>
          <p:nvPr/>
        </p:nvSpPr>
        <p:spPr>
          <a:xfrm>
            <a:off x="728663" y="3868675"/>
            <a:ext cx="7144" cy="100013"/>
          </a:xfrm>
          <a:prstGeom prst="rect">
            <a:avLst/>
          </a:prstGeom>
          <a:solidFill>
            <a:srgbClr val="FFFFFF">
              <a:alpha val="25000"/>
            </a:srgbClr>
          </a:solidFill>
          <a:ln/>
        </p:spPr>
        <p:txBody>
          <a:bodyPr wrap="square" rtlCol="0" anchor="ctr"/>
          <a:lstStyle/>
          <a:p>
            <a:pPr indent="0" marL="0">
              <a:buNone/>
            </a:pPr>
            <a:endParaRPr lang="en-US" dirty="0"/>
          </a:p>
        </p:txBody>
      </p:sp>
      <p:sp>
        <p:nvSpPr>
          <p:cNvPr id="22" name="Text 11"/>
          <p:cNvSpPr/>
          <p:nvPr/>
        </p:nvSpPr>
        <p:spPr>
          <a:xfrm>
            <a:off x="850106" y="3859746"/>
            <a:ext cx="2207831"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FFFFFF">
                    <a:alpha val="55000"/>
                  </a:srgbClr>
                </a:solidFill>
                <a:latin typeface="Carlito" pitchFamily="34" charset="0"/>
                <a:ea typeface="Carlito" pitchFamily="34" charset="-122"/>
                <a:cs typeface="Carlito" pitchFamily="34" charset="-120"/>
              </a:rPr>
              <a:t>MASSAPRO IVR — SALES DECK</a:t>
            </a:r>
            <a:endParaRPr lang="en-US" sz="800" dirty="0"/>
          </a:p>
        </p:txBody>
      </p:sp>
      <p:sp>
        <p:nvSpPr>
          <p:cNvPr id="23" name="Text 12"/>
          <p:cNvSpPr/>
          <p:nvPr/>
        </p:nvSpPr>
        <p:spPr>
          <a:xfrm>
            <a:off x="2553667" y="3868675"/>
            <a:ext cx="7144" cy="100013"/>
          </a:xfrm>
          <a:prstGeom prst="rect">
            <a:avLst/>
          </a:prstGeom>
          <a:solidFill>
            <a:srgbClr val="FFFFFF">
              <a:alpha val="25000"/>
            </a:srgbClr>
          </a:solidFill>
          <a:ln/>
        </p:spPr>
        <p:txBody>
          <a:bodyPr wrap="square" rtlCol="0" anchor="ctr"/>
          <a:lstStyle/>
          <a:p>
            <a:pPr indent="0" marL="0">
              <a:buNone/>
            </a:pPr>
            <a:endParaRPr lang="en-US" dirty="0"/>
          </a:p>
        </p:txBody>
      </p:sp>
      <p:sp>
        <p:nvSpPr>
          <p:cNvPr id="24" name="Text 13"/>
          <p:cNvSpPr/>
          <p:nvPr/>
        </p:nvSpPr>
        <p:spPr>
          <a:xfrm>
            <a:off x="2675111" y="3859746"/>
            <a:ext cx="2594074" cy="164592"/>
          </a:xfrm>
          <a:prstGeom prst="rect">
            <a:avLst/>
          </a:prstGeom>
          <a:noFill/>
          <a:ln/>
        </p:spPr>
        <p:txBody>
          <a:bodyPr wrap="none" lIns="0" tIns="0" rIns="0" bIns="0" rtlCol="0" anchor="t"/>
          <a:lstStyle/>
          <a:p>
            <a:pPr algn="l" indent="0" marL="0">
              <a:lnSpc>
                <a:spcPts val="928"/>
              </a:lnSpc>
              <a:buNone/>
            </a:pPr>
            <a:r>
              <a:rPr lang="en-US" sz="800" spc="111" kern="0" dirty="0">
                <a:solidFill>
                  <a:srgbClr val="FFFFFF">
                    <a:alpha val="55000"/>
                  </a:srgbClr>
                </a:solidFill>
                <a:latin typeface="Carlito" pitchFamily="34" charset="0"/>
                <a:ea typeface="Carlito" pitchFamily="34" charset="-122"/>
                <a:cs typeface="Carlito" pitchFamily="34" charset="-120"/>
              </a:rPr>
              <a:t>CONFIDENTIAL</a:t>
            </a:r>
            <a:endParaRPr lang="en-US" sz="800" dirty="0"/>
          </a:p>
        </p:txBody>
      </p:sp>
      <p:pic>
        <p:nvPicPr>
          <p:cNvPr id="25" name="Image 9" descr="/home/z/my-project/download/slides/massapro-logo.png">    </p:cNvPr>
          <p:cNvPicPr>
            <a:picLocks noChangeAspect="1"/>
          </p:cNvPicPr>
          <p:nvPr/>
        </p:nvPicPr>
        <p:blipFill>
          <a:blip r:embed="rId10"/>
          <a:stretch>
            <a:fillRect/>
          </a:stretch>
        </p:blipFill>
        <p:spPr>
          <a:xfrm>
            <a:off x="400050" y="257175"/>
            <a:ext cx="242888" cy="242888"/>
          </a:xfrm>
          <a:prstGeom prst="rect">
            <a:avLst/>
          </a:prstGeom>
        </p:spPr>
      </p:pic>
      <p:sp>
        <p:nvSpPr>
          <p:cNvPr id="26" name="Text 14"/>
          <p:cNvSpPr/>
          <p:nvPr/>
        </p:nvSpPr>
        <p:spPr>
          <a:xfrm>
            <a:off x="742950" y="319683"/>
            <a:ext cx="1396856" cy="164592"/>
          </a:xfrm>
          <a:prstGeom prst="rect">
            <a:avLst/>
          </a:prstGeom>
          <a:noFill/>
          <a:ln/>
        </p:spPr>
        <p:txBody>
          <a:bodyPr wrap="none" lIns="0" tIns="0" rIns="0" bIns="0" rtlCol="0" anchor="t"/>
          <a:lstStyle/>
          <a:p>
            <a:pPr algn="l" indent="0" marL="0">
              <a:lnSpc>
                <a:spcPts val="928"/>
              </a:lnSpc>
              <a:buNone/>
            </a:pPr>
            <a:r>
              <a:rPr lang="en-US" sz="800" b="1" spc="136" kern="0" dirty="0">
                <a:solidFill>
                  <a:srgbClr val="A78BFA"/>
                </a:solidFill>
                <a:latin typeface="Carlito" pitchFamily="34" charset="0"/>
                <a:ea typeface="Carlito" pitchFamily="34" charset="-122"/>
                <a:cs typeface="Carlito" pitchFamily="34" charset="-120"/>
              </a:rPr>
              <a:t>SALES PITCH DECK</a:t>
            </a:r>
            <a:endParaRPr lang="en-US" sz="800" dirty="0"/>
          </a:p>
        </p:txBody>
      </p:sp>
      <p:sp>
        <p:nvSpPr>
          <p:cNvPr id="27" name="Text 15"/>
          <p:cNvSpPr/>
          <p:nvPr/>
        </p:nvSpPr>
        <p:spPr>
          <a:xfrm>
            <a:off x="7068278" y="285750"/>
            <a:ext cx="1675672" cy="119015"/>
          </a:xfrm>
          <a:prstGeom prst="rect">
            <a:avLst/>
          </a:prstGeom>
          <a:noFill/>
          <a:ln/>
        </p:spPr>
        <p:txBody>
          <a:bodyPr wrap="none" lIns="0" tIns="0" rIns="0" bIns="0" rtlCol="0" anchor="t">
            <a:normAutofit/>
          </a:bodyPr>
          <a:lstStyle/>
          <a:p>
            <a:pPr algn="r" indent="0" marL="0">
              <a:lnSpc>
                <a:spcPts val="928"/>
              </a:lnSpc>
              <a:buNone/>
            </a:pPr>
            <a:r>
              <a:rPr lang="en-US" sz="800" spc="111" kern="0" dirty="0">
                <a:solidFill>
                  <a:srgbClr val="FFFFFF">
                    <a:alpha val="55000"/>
                  </a:srgbClr>
                </a:solidFill>
                <a:latin typeface="Carlito" pitchFamily="34" charset="0"/>
                <a:ea typeface="Carlito" pitchFamily="34" charset="-122"/>
                <a:cs typeface="Carlito" pitchFamily="34" charset="-120"/>
              </a:rPr>
              <a:t>CONFIDENTIAL BRIEFING</a:t>
            </a:r>
            <a:endParaRPr lang="en-US" sz="800" dirty="0"/>
          </a:p>
        </p:txBody>
      </p:sp>
      <p:sp>
        <p:nvSpPr>
          <p:cNvPr id="28" name="Text 16"/>
          <p:cNvSpPr/>
          <p:nvPr/>
        </p:nvSpPr>
        <p:spPr>
          <a:xfrm>
            <a:off x="7068278" y="432197"/>
            <a:ext cx="1675672" cy="164592"/>
          </a:xfrm>
          <a:prstGeom prst="rect">
            <a:avLst/>
          </a:prstGeom>
          <a:noFill/>
          <a:ln/>
        </p:spPr>
        <p:txBody>
          <a:bodyPr wrap="none" lIns="0" tIns="0" rIns="0" bIns="0" rtlCol="0" anchor="t"/>
          <a:lstStyle/>
          <a:p>
            <a:pPr algn="r" indent="0" marL="0">
              <a:lnSpc>
                <a:spcPts val="928"/>
              </a:lnSpc>
              <a:buNone/>
            </a:pPr>
            <a:r>
              <a:rPr lang="en-US" sz="800" spc="111" kern="0" dirty="0">
                <a:solidFill>
                  <a:srgbClr val="FFFFFF">
                    <a:alpha val="45000"/>
                  </a:srgbClr>
                </a:solidFill>
                <a:latin typeface="Liberation Sans Narrow" pitchFamily="34" charset="0"/>
                <a:ea typeface="Liberation Sans Narrow" pitchFamily="34" charset="-122"/>
                <a:cs typeface="Liberation Sans Narrow" pitchFamily="34" charset="-120"/>
              </a:rPr>
              <a:t>SLIDE 1 / 24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tmp/h2p-fit-1786522335051-1fgvb8.png">    </p:cNvPr>
          <p:cNvPicPr>
            <a:picLocks noChangeAspect="1"/>
          </p:cNvPicPr>
          <p:nvPr/>
        </p:nvPicPr>
        <p:blipFill>
          <a:blip r:embed="rId1"/>
          <a:stretch>
            <a:fillRect/>
          </a:stretch>
        </p:blipFill>
        <p:spPr>
          <a:xfrm>
            <a:off x="7715250" y="0"/>
            <a:ext cx="1428750" cy="5143500"/>
          </a:xfrm>
          <a:prstGeom prst="rect">
            <a:avLst/>
          </a:prstGeom>
        </p:spPr>
      </p:pic>
      <p:pic>
        <p:nvPicPr>
          <p:cNvPr id="3" name="Image 1" descr="preencoded.png">    </p:cNvPr>
          <p:cNvPicPr>
            <a:picLocks noChangeAspect="1"/>
          </p:cNvPicPr>
          <p:nvPr/>
        </p:nvPicPr>
        <p:blipFill>
          <a:blip r:embed="rId2"/>
          <a:stretch>
            <a:fillRect/>
          </a:stretch>
        </p:blipFill>
        <p:spPr>
          <a:xfrm>
            <a:off x="7715250" y="0"/>
            <a:ext cx="1428750" cy="5143500"/>
          </a:xfrm>
          <a:prstGeom prst="rect">
            <a:avLst/>
          </a:prstGeom>
        </p:spPr>
      </p:pic>
      <p:pic>
        <p:nvPicPr>
          <p:cNvPr id="4" name="Image 2" descr="preencoded.png">    </p:cNvPr>
          <p:cNvPicPr>
            <a:picLocks noChangeAspect="1"/>
          </p:cNvPicPr>
          <p:nvPr/>
        </p:nvPicPr>
        <p:blipFill>
          <a:blip r:embed="rId3"/>
          <a:stretch>
            <a:fillRect/>
          </a:stretch>
        </p:blipFill>
        <p:spPr>
          <a:xfrm>
            <a:off x="7715250" y="0"/>
            <a:ext cx="1428750" cy="5143500"/>
          </a:xfrm>
          <a:prstGeom prst="rect">
            <a:avLst/>
          </a:prstGeom>
        </p:spPr>
      </p:pic>
      <p:sp>
        <p:nvSpPr>
          <p:cNvPr id="5" name="Text 0"/>
          <p:cNvSpPr/>
          <p:nvPr/>
        </p:nvSpPr>
        <p:spPr>
          <a:xfrm rot="16200000">
            <a:off x="8257338" y="3742488"/>
            <a:ext cx="1408993" cy="164592"/>
          </a:xfrm>
          <a:prstGeom prst="rect">
            <a:avLst/>
          </a:prstGeom>
          <a:noFill/>
          <a:ln/>
        </p:spPr>
        <p:txBody>
          <a:bodyPr wrap="none" lIns="0" tIns="0" rIns="0" bIns="0" rtlCol="0" anchor="t"/>
          <a:lstStyle/>
          <a:p>
            <a:pPr algn="l" indent="0" marL="0">
              <a:lnSpc>
                <a:spcPts val="844"/>
              </a:lnSpc>
              <a:buNone/>
            </a:pPr>
            <a:r>
              <a:rPr lang="en-US" sz="600" b="1" spc="124" kern="0" dirty="0">
                <a:solidFill>
                  <a:srgbClr val="FFFFFF">
                    <a:alpha val="75000"/>
                  </a:srgbClr>
                </a:solidFill>
                <a:latin typeface="Carlito" pitchFamily="34" charset="0"/>
                <a:ea typeface="Carlito" pitchFamily="34" charset="-122"/>
                <a:cs typeface="Carlito" pitchFamily="34" charset="-120"/>
              </a:rPr>
              <a:t>SILENT FAILURE · NO TRACE</a:t>
            </a:r>
            <a:endParaRPr lang="en-US" sz="600" dirty="0"/>
          </a:p>
        </p:txBody>
      </p:sp>
      <p:sp>
        <p:nvSpPr>
          <p:cNvPr id="6" name="Text 1"/>
          <p:cNvSpPr/>
          <p:nvPr/>
        </p:nvSpPr>
        <p:spPr>
          <a:xfrm>
            <a:off x="434340" y="558698"/>
            <a:ext cx="1164275" cy="243488"/>
          </a:xfrm>
          <a:prstGeom prst="roundRect">
            <a:avLst>
              <a:gd name="adj" fmla="val 3907985"/>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7" name="Text 2"/>
          <p:cNvSpPr/>
          <p:nvPr/>
        </p:nvSpPr>
        <p:spPr>
          <a:xfrm>
            <a:off x="685270" y="628650"/>
            <a:ext cx="812434" cy="129679"/>
          </a:xfrm>
          <a:prstGeom prst="rect">
            <a:avLst/>
          </a:prstGeom>
          <a:noFill/>
          <a:ln/>
        </p:spPr>
        <p:txBody>
          <a:bodyPr wrap="none" lIns="0" tIns="0" rIns="0" bIns="0" rtlCol="0" anchor="t"/>
          <a:lstStyle/>
          <a:p>
            <a:pPr algn="l" indent="0" marL="0">
              <a:lnSpc>
                <a:spcPts val="928"/>
              </a:lnSpc>
              <a:buNone/>
            </a:pPr>
            <a:r>
              <a:rPr lang="en-US" sz="800" b="1" spc="111" kern="0" dirty="0">
                <a:solidFill>
                  <a:srgbClr val="7C3AED"/>
                </a:solidFill>
                <a:latin typeface="Carlito" pitchFamily="34" charset="0"/>
                <a:ea typeface="Carlito" pitchFamily="34" charset="-122"/>
                <a:cs typeface="Carlito" pitchFamily="34" charset="-120"/>
              </a:rPr>
              <a:t>THE PROBLEM</a:t>
            </a:r>
            <a:endParaRPr lang="en-US" sz="800" dirty="0"/>
          </a:p>
        </p:txBody>
      </p:sp>
      <p:sp>
        <p:nvSpPr>
          <p:cNvPr id="8" name="Text 3"/>
          <p:cNvSpPr/>
          <p:nvPr/>
        </p:nvSpPr>
        <p:spPr>
          <a:xfrm>
            <a:off x="550069" y="634008"/>
            <a:ext cx="92869" cy="92869"/>
          </a:xfrm>
          <a:prstGeom prst="rect">
            <a:avLst/>
          </a:prstGeom>
          <a:noFill/>
          <a:ln/>
        </p:spPr>
        <p:txBody>
          <a:bodyPr wrap="none" lIns="0" tIns="0" rIns="0" bIns="0" rtlCol="0" anchor="ctr"/>
          <a:lstStyle/>
          <a:p>
            <a:pPr algn="ctr" indent="0" marL="0">
              <a:buNone/>
            </a:pPr>
            <a:r>
              <a:rPr lang="en-US" sz="914" dirty="0">
                <a:solidFill>
                  <a:srgbClr val="7C3AED"/>
                </a:solidFill>
                <a:latin typeface="Segoe UI Symbol" pitchFamily="34" charset="0"/>
                <a:ea typeface="Segoe UI Symbol" pitchFamily="34" charset="-122"/>
                <a:cs typeface="Segoe UI Symbol" pitchFamily="34" charset="-120"/>
              </a:rPr>
              <a:t>⊗</a:t>
            </a:r>
            <a:endParaRPr lang="en-US" sz="914" dirty="0"/>
          </a:p>
        </p:txBody>
      </p:sp>
      <p:sp>
        <p:nvSpPr>
          <p:cNvPr id="9" name="Text 4"/>
          <p:cNvSpPr/>
          <p:nvPr/>
        </p:nvSpPr>
        <p:spPr>
          <a:xfrm>
            <a:off x="457200" y="889397"/>
            <a:ext cx="7983855" cy="319339"/>
          </a:xfrm>
          <a:prstGeom prst="rect">
            <a:avLst/>
          </a:prstGeom>
          <a:noFill/>
          <a:ln/>
        </p:spPr>
        <p:txBody>
          <a:bodyPr wrap="square" lIns="0" tIns="0" rIns="0" bIns="0" rtlCol="0" anchor="t"/>
          <a:lstStyle/>
          <a:p>
            <a:pPr algn="l" indent="0" marL="0">
              <a:lnSpc>
                <a:spcPts val="2329"/>
              </a:lnSpc>
              <a:buNone/>
            </a:pPr>
            <a:r>
              <a:rPr lang="en-US" sz="2025" b="1" spc="-30" kern="0" dirty="0">
                <a:solidFill>
                  <a:srgbClr val="1F2937"/>
                </a:solidFill>
                <a:latin typeface="Carlito" pitchFamily="34" charset="0"/>
                <a:ea typeface="Carlito" pitchFamily="34" charset="-122"/>
                <a:cs typeface="Carlito" pitchFamily="34" charset="-120"/>
              </a:rPr>
              <a:t>Multi-Sector Pain Points at the Point of Contact</a:t>
            </a:r>
            <a:endParaRPr lang="en-US" sz="2025" dirty="0"/>
          </a:p>
        </p:txBody>
      </p:sp>
      <p:sp>
        <p:nvSpPr>
          <p:cNvPr id="10" name="Text 5"/>
          <p:cNvSpPr/>
          <p:nvPr/>
        </p:nvSpPr>
        <p:spPr>
          <a:xfrm>
            <a:off x="457200" y="1285094"/>
            <a:ext cx="400050" cy="21431"/>
          </a:xfrm>
          <a:prstGeom prst="roundRect">
            <a:avLst>
              <a:gd name="adj" fmla="val 88890"/>
            </a:avLst>
          </a:prstGeom>
          <a:solidFill>
            <a:srgbClr val="7C3AED"/>
          </a:solidFill>
          <a:ln/>
        </p:spPr>
        <p:txBody>
          <a:bodyPr wrap="square" rtlCol="0" anchor="ctr"/>
          <a:lstStyle/>
          <a:p>
            <a:pPr indent="0" marL="0">
              <a:buNone/>
            </a:pPr>
            <a:endParaRPr lang="en-US" dirty="0"/>
          </a:p>
        </p:txBody>
      </p:sp>
      <p:sp>
        <p:nvSpPr>
          <p:cNvPr id="11" name="Text 6"/>
          <p:cNvSpPr/>
          <p:nvPr/>
        </p:nvSpPr>
        <p:spPr>
          <a:xfrm>
            <a:off x="460772" y="1589484"/>
            <a:ext cx="3557588" cy="1307306"/>
          </a:xfrm>
          <a:prstGeom prst="roundRect">
            <a:avLst>
              <a:gd name="adj" fmla="val 10200"/>
            </a:avLst>
          </a:prstGeom>
          <a:solidFill>
            <a:srgbClr val="FFFFFF"/>
          </a:solidFill>
          <a:ln w="7144">
            <a:solidFill>
              <a:srgbClr val="E5E7EB"/>
            </a:solidFill>
            <a:prstDash val="solid"/>
          </a:ln>
          <a:effectLst>
            <a:outerShdw sx="100000" sy="100000" kx="0" ky="0" algn="bl" rotWithShape="0" blurRad="28575" dist="9525" dir="5400000">
              <a:srgbClr val="7C3AED">
                <a:alpha val="5000"/>
              </a:srgbClr>
            </a:outerShdw>
          </a:effectLst>
        </p:spPr>
        <p:txBody>
          <a:bodyPr wrap="square" rtlCol="0" anchor="ctr"/>
          <a:lstStyle/>
          <a:p>
            <a:pPr indent="0" marL="0">
              <a:buNone/>
            </a:pPr>
            <a:endParaRPr lang="en-US" dirty="0"/>
          </a:p>
        </p:txBody>
      </p:sp>
      <p:sp>
        <p:nvSpPr>
          <p:cNvPr id="12" name="Text 7"/>
          <p:cNvSpPr/>
          <p:nvPr/>
        </p:nvSpPr>
        <p:spPr>
          <a:xfrm>
            <a:off x="3843338" y="1721644"/>
            <a:ext cx="42863" cy="42863"/>
          </a:xfrm>
          <a:prstGeom prst="ellipse">
            <a:avLst/>
          </a:prstGeom>
          <a:solidFill>
            <a:srgbClr val="C4B5FD"/>
          </a:solidFill>
          <a:ln/>
        </p:spPr>
        <p:txBody>
          <a:bodyPr wrap="square" rtlCol="0" anchor="ctr"/>
          <a:lstStyle/>
          <a:p>
            <a:pPr indent="0" marL="0">
              <a:buNone/>
            </a:pPr>
            <a:endParaRPr lang="en-US" dirty="0"/>
          </a:p>
        </p:txBody>
      </p:sp>
      <p:sp>
        <p:nvSpPr>
          <p:cNvPr id="13" name="Text 8"/>
          <p:cNvSpPr/>
          <p:nvPr/>
        </p:nvSpPr>
        <p:spPr>
          <a:xfrm>
            <a:off x="621506" y="1735931"/>
            <a:ext cx="285750" cy="285750"/>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14" name="Text 9"/>
          <p:cNvSpPr/>
          <p:nvPr/>
        </p:nvSpPr>
        <p:spPr>
          <a:xfrm>
            <a:off x="650438" y="1764863"/>
            <a:ext cx="227886" cy="227886"/>
          </a:xfrm>
          <a:prstGeom prst="rect">
            <a:avLst/>
          </a:prstGeom>
          <a:noFill/>
          <a:ln/>
        </p:spPr>
        <p:txBody>
          <a:bodyPr wrap="none" lIns="0" tIns="0" rIns="0" bIns="0" rtlCol="0" anchor="ctr"/>
          <a:lstStyle/>
          <a:p>
            <a:pPr algn="ctr" indent="0" marL="0">
              <a:buNone/>
            </a:pPr>
            <a:r>
              <a:rPr lang="en-US" sz="1547" dirty="0">
                <a:solidFill>
                  <a:srgbClr val="7C3AED"/>
                </a:solidFill>
                <a:latin typeface="Segoe UI Symbol" pitchFamily="34" charset="0"/>
                <a:ea typeface="Segoe UI Symbol" pitchFamily="34" charset="-122"/>
                <a:cs typeface="Segoe UI Symbol" pitchFamily="34" charset="-120"/>
              </a:rPr>
              <a:t>◔</a:t>
            </a:r>
            <a:endParaRPr lang="en-US" sz="1547" dirty="0"/>
          </a:p>
        </p:txBody>
      </p:sp>
      <p:sp>
        <p:nvSpPr>
          <p:cNvPr id="15" name="Text 10"/>
          <p:cNvSpPr/>
          <p:nvPr/>
        </p:nvSpPr>
        <p:spPr>
          <a:xfrm>
            <a:off x="992981" y="1825228"/>
            <a:ext cx="2864644" cy="164592"/>
          </a:xfrm>
          <a:prstGeom prst="rect">
            <a:avLst/>
          </a:prstGeom>
          <a:noFill/>
          <a:ln/>
        </p:spPr>
        <p:txBody>
          <a:bodyPr wrap="none" lIns="0" tIns="0" rIns="0" bIns="0" rtlCol="0" anchor="t"/>
          <a:lstStyle/>
          <a:p>
            <a:pPr algn="l" indent="0" marL="0">
              <a:lnSpc>
                <a:spcPts val="844"/>
              </a:lnSpc>
              <a:buNone/>
            </a:pPr>
            <a:r>
              <a:rPr lang="en-US" sz="800" b="1" spc="101" kern="0" dirty="0">
                <a:solidFill>
                  <a:srgbClr val="6B7280"/>
                </a:solidFill>
                <a:latin typeface="Liberation Sans Narrow" pitchFamily="34" charset="0"/>
                <a:ea typeface="Liberation Sans Narrow" pitchFamily="34" charset="-122"/>
                <a:cs typeface="Liberation Sans Narrow" pitchFamily="34" charset="-120"/>
              </a:rPr>
              <a:t>PAIN 01</a:t>
            </a:r>
            <a:endParaRPr lang="en-US" sz="800" dirty="0"/>
          </a:p>
        </p:txBody>
      </p:sp>
      <p:sp>
        <p:nvSpPr>
          <p:cNvPr id="16" name="Text 11"/>
          <p:cNvSpPr/>
          <p:nvPr/>
        </p:nvSpPr>
        <p:spPr>
          <a:xfrm>
            <a:off x="621506" y="2078831"/>
            <a:ext cx="3236119" cy="183237"/>
          </a:xfrm>
          <a:prstGeom prst="rect">
            <a:avLst/>
          </a:prstGeom>
          <a:noFill/>
          <a:ln/>
        </p:spPr>
        <p:txBody>
          <a:bodyPr wrap="none" lIns="0" tIns="0" rIns="0" bIns="0" rtlCol="0" anchor="t"/>
          <a:lstStyle/>
          <a:p>
            <a:pPr algn="l" indent="0" marL="0">
              <a:lnSpc>
                <a:spcPts val="1336"/>
              </a:lnSpc>
              <a:buNone/>
            </a:pPr>
            <a:r>
              <a:rPr lang="en-US" sz="1069" b="1" spc="-5" kern="0" dirty="0">
                <a:solidFill>
                  <a:srgbClr val="6D28D9"/>
                </a:solidFill>
                <a:latin typeface="Carlito" pitchFamily="34" charset="0"/>
                <a:ea typeface="Carlito" pitchFamily="34" charset="-122"/>
                <a:cs typeface="Carlito" pitchFamily="34" charset="-120"/>
              </a:rPr>
              <a:t>Waiting and abandonment</a:t>
            </a:r>
            <a:endParaRPr lang="en-US" sz="1069" dirty="0"/>
          </a:p>
        </p:txBody>
      </p:sp>
      <p:sp>
        <p:nvSpPr>
          <p:cNvPr id="17" name="Text 12"/>
          <p:cNvSpPr/>
          <p:nvPr/>
        </p:nvSpPr>
        <p:spPr>
          <a:xfrm>
            <a:off x="621506" y="2291358"/>
            <a:ext cx="3236119" cy="473273"/>
          </a:xfrm>
          <a:prstGeom prst="rect">
            <a:avLst/>
          </a:prstGeom>
          <a:noFill/>
          <a:ln/>
        </p:spPr>
        <p:txBody>
          <a:bodyPr wrap="square" lIns="0" tIns="0" rIns="0" bIns="0" rtlCol="0" anchor="t"/>
          <a:lstStyle/>
          <a:p>
            <a:pPr algn="l" indent="0" marL="0">
              <a:lnSpc>
                <a:spcPts val="1223"/>
              </a:lnSpc>
              <a:buNone/>
            </a:pPr>
            <a:r>
              <a:rPr lang="en-US" sz="816" dirty="0">
                <a:solidFill>
                  <a:srgbClr val="374151"/>
                </a:solidFill>
                <a:latin typeface="Carlito" pitchFamily="34" charset="0"/>
                <a:ea typeface="Carlito" pitchFamily="34" charset="-122"/>
                <a:cs typeface="Carlito" pitchFamily="34" charset="-120"/>
              </a:rPr>
              <a:t>The customer sizes up the queue on arrival and decides within seconds. The loss happens before any interaction takes place and leaves no trace in any system.</a:t>
            </a:r>
            <a:endParaRPr lang="en-US" sz="816" dirty="0"/>
          </a:p>
        </p:txBody>
      </p:sp>
      <p:sp>
        <p:nvSpPr>
          <p:cNvPr id="18" name="Text 13"/>
          <p:cNvSpPr/>
          <p:nvPr/>
        </p:nvSpPr>
        <p:spPr>
          <a:xfrm>
            <a:off x="4154091" y="1589484"/>
            <a:ext cx="3557588" cy="1307306"/>
          </a:xfrm>
          <a:prstGeom prst="roundRect">
            <a:avLst>
              <a:gd name="adj" fmla="val 10200"/>
            </a:avLst>
          </a:prstGeom>
          <a:solidFill>
            <a:srgbClr val="FFFFFF"/>
          </a:solidFill>
          <a:ln w="7144">
            <a:solidFill>
              <a:srgbClr val="E5E7EB"/>
            </a:solidFill>
            <a:prstDash val="solid"/>
          </a:ln>
          <a:effectLst>
            <a:outerShdw sx="100000" sy="100000" kx="0" ky="0" algn="bl" rotWithShape="0" blurRad="28575" dist="9525" dir="5400000">
              <a:srgbClr val="7C3AED">
                <a:alpha val="5000"/>
              </a:srgbClr>
            </a:outerShdw>
          </a:effectLst>
        </p:spPr>
        <p:txBody>
          <a:bodyPr wrap="square" rtlCol="0" anchor="ctr"/>
          <a:lstStyle/>
          <a:p>
            <a:pPr indent="0" marL="0">
              <a:buNone/>
            </a:pPr>
            <a:endParaRPr lang="en-US" dirty="0"/>
          </a:p>
        </p:txBody>
      </p:sp>
      <p:sp>
        <p:nvSpPr>
          <p:cNvPr id="19" name="Text 14"/>
          <p:cNvSpPr/>
          <p:nvPr/>
        </p:nvSpPr>
        <p:spPr>
          <a:xfrm>
            <a:off x="7536656" y="1721644"/>
            <a:ext cx="42863" cy="42863"/>
          </a:xfrm>
          <a:prstGeom prst="ellipse">
            <a:avLst/>
          </a:prstGeom>
          <a:solidFill>
            <a:srgbClr val="C4B5FD"/>
          </a:solidFill>
          <a:ln/>
        </p:spPr>
        <p:txBody>
          <a:bodyPr wrap="square" rtlCol="0" anchor="ctr"/>
          <a:lstStyle/>
          <a:p>
            <a:pPr indent="0" marL="0">
              <a:buNone/>
            </a:pPr>
            <a:endParaRPr lang="en-US" dirty="0"/>
          </a:p>
        </p:txBody>
      </p:sp>
      <p:sp>
        <p:nvSpPr>
          <p:cNvPr id="20" name="Text 15"/>
          <p:cNvSpPr/>
          <p:nvPr/>
        </p:nvSpPr>
        <p:spPr>
          <a:xfrm>
            <a:off x="4314825" y="1735931"/>
            <a:ext cx="285750" cy="285750"/>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21" name="Text 16"/>
          <p:cNvSpPr/>
          <p:nvPr/>
        </p:nvSpPr>
        <p:spPr>
          <a:xfrm>
            <a:off x="4343757" y="1764863"/>
            <a:ext cx="227886" cy="227886"/>
          </a:xfrm>
          <a:prstGeom prst="rect">
            <a:avLst/>
          </a:prstGeom>
          <a:noFill/>
          <a:ln/>
        </p:spPr>
        <p:txBody>
          <a:bodyPr wrap="none" lIns="0" tIns="0" rIns="0" bIns="0" rtlCol="0" anchor="ctr"/>
          <a:lstStyle/>
          <a:p>
            <a:pPr algn="ctr" indent="0" marL="0">
              <a:buNone/>
            </a:pPr>
            <a:r>
              <a:rPr lang="en-US" sz="1547" dirty="0">
                <a:solidFill>
                  <a:srgbClr val="7C3AED"/>
                </a:solidFill>
                <a:latin typeface="Segoe UI Symbol" pitchFamily="34" charset="0"/>
                <a:ea typeface="Segoe UI Symbol" pitchFamily="34" charset="-122"/>
                <a:cs typeface="Segoe UI Symbol" pitchFamily="34" charset="-120"/>
              </a:rPr>
              <a:t>▦</a:t>
            </a:r>
            <a:endParaRPr lang="en-US" sz="1547" dirty="0"/>
          </a:p>
        </p:txBody>
      </p:sp>
      <p:sp>
        <p:nvSpPr>
          <p:cNvPr id="22" name="Text 17"/>
          <p:cNvSpPr/>
          <p:nvPr/>
        </p:nvSpPr>
        <p:spPr>
          <a:xfrm>
            <a:off x="4686300" y="1825228"/>
            <a:ext cx="2864644" cy="164592"/>
          </a:xfrm>
          <a:prstGeom prst="rect">
            <a:avLst/>
          </a:prstGeom>
          <a:noFill/>
          <a:ln/>
        </p:spPr>
        <p:txBody>
          <a:bodyPr wrap="none" lIns="0" tIns="0" rIns="0" bIns="0" rtlCol="0" anchor="t"/>
          <a:lstStyle/>
          <a:p>
            <a:pPr algn="l" indent="0" marL="0">
              <a:lnSpc>
                <a:spcPts val="844"/>
              </a:lnSpc>
              <a:buNone/>
            </a:pPr>
            <a:r>
              <a:rPr lang="en-US" sz="800" b="1" spc="101" kern="0" dirty="0">
                <a:solidFill>
                  <a:srgbClr val="6B7280"/>
                </a:solidFill>
                <a:latin typeface="Liberation Sans Narrow" pitchFamily="34" charset="0"/>
                <a:ea typeface="Liberation Sans Narrow" pitchFamily="34" charset="-122"/>
                <a:cs typeface="Liberation Sans Narrow" pitchFamily="34" charset="-120"/>
              </a:rPr>
              <a:t>PAIN 02</a:t>
            </a:r>
            <a:endParaRPr lang="en-US" sz="800" dirty="0"/>
          </a:p>
        </p:txBody>
      </p:sp>
      <p:sp>
        <p:nvSpPr>
          <p:cNvPr id="23" name="Text 18"/>
          <p:cNvSpPr/>
          <p:nvPr/>
        </p:nvSpPr>
        <p:spPr>
          <a:xfrm>
            <a:off x="4314825" y="2078831"/>
            <a:ext cx="3236119" cy="183237"/>
          </a:xfrm>
          <a:prstGeom prst="rect">
            <a:avLst/>
          </a:prstGeom>
          <a:noFill/>
          <a:ln/>
        </p:spPr>
        <p:txBody>
          <a:bodyPr wrap="none" lIns="0" tIns="0" rIns="0" bIns="0" rtlCol="0" anchor="t"/>
          <a:lstStyle/>
          <a:p>
            <a:pPr algn="l" indent="0" marL="0">
              <a:lnSpc>
                <a:spcPts val="1336"/>
              </a:lnSpc>
              <a:buNone/>
            </a:pPr>
            <a:r>
              <a:rPr lang="en-US" sz="1069" b="1" spc="-5" kern="0" dirty="0">
                <a:solidFill>
                  <a:srgbClr val="6D28D9"/>
                </a:solidFill>
                <a:latin typeface="Carlito" pitchFamily="34" charset="0"/>
                <a:ea typeface="Carlito" pitchFamily="34" charset="-122"/>
                <a:cs typeface="Carlito" pitchFamily="34" charset="-120"/>
              </a:rPr>
              <a:t>Deferred advice</a:t>
            </a:r>
            <a:endParaRPr lang="en-US" sz="1069" dirty="0"/>
          </a:p>
        </p:txBody>
      </p:sp>
      <p:sp>
        <p:nvSpPr>
          <p:cNvPr id="24" name="Text 19"/>
          <p:cNvSpPr/>
          <p:nvPr/>
        </p:nvSpPr>
        <p:spPr>
          <a:xfrm>
            <a:off x="4314825" y="2291358"/>
            <a:ext cx="3236119" cy="473273"/>
          </a:xfrm>
          <a:prstGeom prst="rect">
            <a:avLst/>
          </a:prstGeom>
          <a:noFill/>
          <a:ln/>
        </p:spPr>
        <p:txBody>
          <a:bodyPr wrap="square" lIns="0" tIns="0" rIns="0" bIns="0" rtlCol="0" anchor="t"/>
          <a:lstStyle/>
          <a:p>
            <a:pPr algn="l" indent="0" marL="0">
              <a:lnSpc>
                <a:spcPts val="1223"/>
              </a:lnSpc>
              <a:buNone/>
            </a:pPr>
            <a:r>
              <a:rPr lang="en-US" sz="816" dirty="0">
                <a:solidFill>
                  <a:srgbClr val="374151"/>
                </a:solidFill>
                <a:latin typeface="Carlito" pitchFamily="34" charset="0"/>
                <a:ea typeface="Carlito" pitchFamily="34" charset="-122"/>
                <a:cs typeface="Carlito" pitchFamily="34" charset="-120"/>
              </a:rPr>
              <a:t>The customer comes in hoping for guidance, gets a referral to the call centre or an appointment for another day. The need is unresolved and the revenue is delayed.</a:t>
            </a:r>
            <a:endParaRPr lang="en-US" sz="816" dirty="0"/>
          </a:p>
        </p:txBody>
      </p:sp>
      <p:sp>
        <p:nvSpPr>
          <p:cNvPr id="25" name="Text 20"/>
          <p:cNvSpPr/>
          <p:nvPr/>
        </p:nvSpPr>
        <p:spPr>
          <a:xfrm>
            <a:off x="460772" y="3032522"/>
            <a:ext cx="3557588" cy="1307306"/>
          </a:xfrm>
          <a:prstGeom prst="roundRect">
            <a:avLst>
              <a:gd name="adj" fmla="val 10200"/>
            </a:avLst>
          </a:prstGeom>
          <a:solidFill>
            <a:srgbClr val="FFFFFF"/>
          </a:solidFill>
          <a:ln w="7144">
            <a:solidFill>
              <a:srgbClr val="E5E7EB"/>
            </a:solidFill>
            <a:prstDash val="solid"/>
          </a:ln>
          <a:effectLst>
            <a:outerShdw sx="100000" sy="100000" kx="0" ky="0" algn="bl" rotWithShape="0" blurRad="28575" dist="9525" dir="5400000">
              <a:srgbClr val="7C3AED">
                <a:alpha val="5000"/>
              </a:srgbClr>
            </a:outerShdw>
          </a:effectLst>
        </p:spPr>
        <p:txBody>
          <a:bodyPr wrap="square" rtlCol="0" anchor="ctr"/>
          <a:lstStyle/>
          <a:p>
            <a:pPr indent="0" marL="0">
              <a:buNone/>
            </a:pPr>
            <a:endParaRPr lang="en-US" dirty="0"/>
          </a:p>
        </p:txBody>
      </p:sp>
      <p:sp>
        <p:nvSpPr>
          <p:cNvPr id="26" name="Text 21"/>
          <p:cNvSpPr/>
          <p:nvPr/>
        </p:nvSpPr>
        <p:spPr>
          <a:xfrm>
            <a:off x="3843338" y="3164681"/>
            <a:ext cx="42863" cy="42863"/>
          </a:xfrm>
          <a:prstGeom prst="ellipse">
            <a:avLst/>
          </a:prstGeom>
          <a:solidFill>
            <a:srgbClr val="C4B5FD"/>
          </a:solidFill>
          <a:ln/>
        </p:spPr>
        <p:txBody>
          <a:bodyPr wrap="square" rtlCol="0" anchor="ctr"/>
          <a:lstStyle/>
          <a:p>
            <a:pPr indent="0" marL="0">
              <a:buNone/>
            </a:pPr>
            <a:endParaRPr lang="en-US" dirty="0"/>
          </a:p>
        </p:txBody>
      </p:sp>
      <p:sp>
        <p:nvSpPr>
          <p:cNvPr id="27" name="Text 22"/>
          <p:cNvSpPr/>
          <p:nvPr/>
        </p:nvSpPr>
        <p:spPr>
          <a:xfrm>
            <a:off x="621506" y="3178969"/>
            <a:ext cx="285750" cy="285750"/>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28" name="Text 23"/>
          <p:cNvSpPr/>
          <p:nvPr/>
        </p:nvSpPr>
        <p:spPr>
          <a:xfrm>
            <a:off x="650438" y="3207901"/>
            <a:ext cx="227886" cy="227886"/>
          </a:xfrm>
          <a:prstGeom prst="rect">
            <a:avLst/>
          </a:prstGeom>
          <a:noFill/>
          <a:ln/>
        </p:spPr>
        <p:txBody>
          <a:bodyPr wrap="none" lIns="0" tIns="0" rIns="0" bIns="0" rtlCol="0" anchor="ctr"/>
          <a:lstStyle/>
          <a:p>
            <a:pPr algn="ctr" indent="0" marL="0">
              <a:buNone/>
            </a:pPr>
            <a:r>
              <a:rPr lang="en-US" sz="1547" dirty="0">
                <a:solidFill>
                  <a:srgbClr val="7C3AED"/>
                </a:solidFill>
                <a:latin typeface="Segoe UI Symbol" pitchFamily="34" charset="0"/>
                <a:ea typeface="Segoe UI Symbol" pitchFamily="34" charset="-122"/>
                <a:cs typeface="Segoe UI Symbol" pitchFamily="34" charset="-120"/>
              </a:rPr>
              <a:t>✦</a:t>
            </a:r>
            <a:endParaRPr lang="en-US" sz="1547" dirty="0"/>
          </a:p>
        </p:txBody>
      </p:sp>
      <p:sp>
        <p:nvSpPr>
          <p:cNvPr id="29" name="Text 24"/>
          <p:cNvSpPr/>
          <p:nvPr/>
        </p:nvSpPr>
        <p:spPr>
          <a:xfrm>
            <a:off x="992981" y="3268266"/>
            <a:ext cx="2864644" cy="164592"/>
          </a:xfrm>
          <a:prstGeom prst="rect">
            <a:avLst/>
          </a:prstGeom>
          <a:noFill/>
          <a:ln/>
        </p:spPr>
        <p:txBody>
          <a:bodyPr wrap="none" lIns="0" tIns="0" rIns="0" bIns="0" rtlCol="0" anchor="t"/>
          <a:lstStyle/>
          <a:p>
            <a:pPr algn="l" indent="0" marL="0">
              <a:lnSpc>
                <a:spcPts val="844"/>
              </a:lnSpc>
              <a:buNone/>
            </a:pPr>
            <a:r>
              <a:rPr lang="en-US" sz="800" b="1" spc="101" kern="0" dirty="0">
                <a:solidFill>
                  <a:srgbClr val="6B7280"/>
                </a:solidFill>
                <a:latin typeface="Liberation Sans Narrow" pitchFamily="34" charset="0"/>
                <a:ea typeface="Liberation Sans Narrow" pitchFamily="34" charset="-122"/>
                <a:cs typeface="Liberation Sans Narrow" pitchFamily="34" charset="-120"/>
              </a:rPr>
              <a:t>PAIN 03</a:t>
            </a:r>
            <a:endParaRPr lang="en-US" sz="800" dirty="0"/>
          </a:p>
        </p:txBody>
      </p:sp>
      <p:sp>
        <p:nvSpPr>
          <p:cNvPr id="30" name="Text 25"/>
          <p:cNvSpPr/>
          <p:nvPr/>
        </p:nvSpPr>
        <p:spPr>
          <a:xfrm>
            <a:off x="621506" y="3521869"/>
            <a:ext cx="3345847" cy="183237"/>
          </a:xfrm>
          <a:prstGeom prst="rect">
            <a:avLst/>
          </a:prstGeom>
          <a:noFill/>
          <a:ln/>
        </p:spPr>
        <p:txBody>
          <a:bodyPr wrap="square" lIns="0" tIns="0" rIns="0" bIns="0" rtlCol="0" anchor="t"/>
          <a:lstStyle/>
          <a:p>
            <a:pPr algn="l" indent="0" marL="0">
              <a:lnSpc>
                <a:spcPts val="1336"/>
              </a:lnSpc>
              <a:buNone/>
            </a:pPr>
            <a:r>
              <a:rPr lang="en-US" sz="1069" b="1" spc="-5" kern="0" dirty="0">
                <a:solidFill>
                  <a:srgbClr val="6D28D9"/>
                </a:solidFill>
                <a:latin typeface="Carlito" pitchFamily="34" charset="0"/>
                <a:ea typeface="Carlito" pitchFamily="34" charset="-122"/>
                <a:cs typeface="Carlito" pitchFamily="34" charset="-120"/>
              </a:rPr>
              <a:t>Self-service with no way out</a:t>
            </a:r>
            <a:endParaRPr lang="en-US" sz="1069" dirty="0"/>
          </a:p>
        </p:txBody>
      </p:sp>
      <p:sp>
        <p:nvSpPr>
          <p:cNvPr id="31" name="Text 26"/>
          <p:cNvSpPr/>
          <p:nvPr/>
        </p:nvSpPr>
        <p:spPr>
          <a:xfrm>
            <a:off x="621506" y="3734395"/>
            <a:ext cx="3236119" cy="473273"/>
          </a:xfrm>
          <a:prstGeom prst="rect">
            <a:avLst/>
          </a:prstGeom>
          <a:noFill/>
          <a:ln/>
        </p:spPr>
        <p:txBody>
          <a:bodyPr wrap="square" lIns="0" tIns="0" rIns="0" bIns="0" rtlCol="0" anchor="t"/>
          <a:lstStyle/>
          <a:p>
            <a:pPr algn="l" indent="0" marL="0">
              <a:lnSpc>
                <a:spcPts val="1223"/>
              </a:lnSpc>
              <a:buNone/>
            </a:pPr>
            <a:r>
              <a:rPr lang="en-US" sz="816" dirty="0">
                <a:solidFill>
                  <a:srgbClr val="374151"/>
                </a:solidFill>
                <a:latin typeface="Carlito" pitchFamily="34" charset="0"/>
                <a:ea typeface="Carlito" pitchFamily="34" charset="-122"/>
                <a:cs typeface="Carlito" pitchFamily="34" charset="-120"/>
              </a:rPr>
              <a:t>Digital handles the simple cases, but abandons the customer the moment a doubt or exception appears. That is exactly the moment the decision is made.</a:t>
            </a:r>
            <a:endParaRPr lang="en-US" sz="816" dirty="0"/>
          </a:p>
        </p:txBody>
      </p:sp>
      <p:sp>
        <p:nvSpPr>
          <p:cNvPr id="32" name="Text 27"/>
          <p:cNvSpPr/>
          <p:nvPr/>
        </p:nvSpPr>
        <p:spPr>
          <a:xfrm>
            <a:off x="4154091" y="3032522"/>
            <a:ext cx="3557588" cy="1307306"/>
          </a:xfrm>
          <a:prstGeom prst="roundRect">
            <a:avLst>
              <a:gd name="adj" fmla="val 10200"/>
            </a:avLst>
          </a:prstGeom>
          <a:solidFill>
            <a:srgbClr val="FFFFFF"/>
          </a:solidFill>
          <a:ln w="7144">
            <a:solidFill>
              <a:srgbClr val="E5E7EB"/>
            </a:solidFill>
            <a:prstDash val="solid"/>
          </a:ln>
          <a:effectLst>
            <a:outerShdw sx="100000" sy="100000" kx="0" ky="0" algn="bl" rotWithShape="0" blurRad="28575" dist="9525" dir="5400000">
              <a:srgbClr val="7C3AED">
                <a:alpha val="5000"/>
              </a:srgbClr>
            </a:outerShdw>
          </a:effectLst>
        </p:spPr>
        <p:txBody>
          <a:bodyPr wrap="square" rtlCol="0" anchor="ctr"/>
          <a:lstStyle/>
          <a:p>
            <a:pPr indent="0" marL="0">
              <a:buNone/>
            </a:pPr>
            <a:endParaRPr lang="en-US" dirty="0"/>
          </a:p>
        </p:txBody>
      </p:sp>
      <p:sp>
        <p:nvSpPr>
          <p:cNvPr id="33" name="Text 28"/>
          <p:cNvSpPr/>
          <p:nvPr/>
        </p:nvSpPr>
        <p:spPr>
          <a:xfrm>
            <a:off x="7536656" y="3164681"/>
            <a:ext cx="42863" cy="42863"/>
          </a:xfrm>
          <a:prstGeom prst="ellipse">
            <a:avLst/>
          </a:prstGeom>
          <a:solidFill>
            <a:srgbClr val="C4B5FD"/>
          </a:solidFill>
          <a:ln/>
        </p:spPr>
        <p:txBody>
          <a:bodyPr wrap="square" rtlCol="0" anchor="ctr"/>
          <a:lstStyle/>
          <a:p>
            <a:pPr indent="0" marL="0">
              <a:buNone/>
            </a:pPr>
            <a:endParaRPr lang="en-US" dirty="0"/>
          </a:p>
        </p:txBody>
      </p:sp>
      <p:sp>
        <p:nvSpPr>
          <p:cNvPr id="34" name="Text 29"/>
          <p:cNvSpPr/>
          <p:nvPr/>
        </p:nvSpPr>
        <p:spPr>
          <a:xfrm>
            <a:off x="4314825" y="3178969"/>
            <a:ext cx="285750" cy="285750"/>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35" name="Text 30"/>
          <p:cNvSpPr/>
          <p:nvPr/>
        </p:nvSpPr>
        <p:spPr>
          <a:xfrm>
            <a:off x="4343757" y="3207901"/>
            <a:ext cx="227886" cy="227886"/>
          </a:xfrm>
          <a:prstGeom prst="rect">
            <a:avLst/>
          </a:prstGeom>
          <a:noFill/>
          <a:ln/>
        </p:spPr>
        <p:txBody>
          <a:bodyPr wrap="none" lIns="0" tIns="0" rIns="0" bIns="0" rtlCol="0" anchor="ctr"/>
          <a:lstStyle/>
          <a:p>
            <a:pPr algn="ctr" indent="0" marL="0">
              <a:buNone/>
            </a:pPr>
            <a:r>
              <a:rPr lang="en-US" sz="1547" dirty="0">
                <a:solidFill>
                  <a:srgbClr val="7C3AED"/>
                </a:solidFill>
                <a:latin typeface="Segoe UI Symbol" pitchFamily="34" charset="0"/>
                <a:ea typeface="Segoe UI Symbol" pitchFamily="34" charset="-122"/>
                <a:cs typeface="Segoe UI Symbol" pitchFamily="34" charset="-120"/>
              </a:rPr>
              <a:t>⊘</a:t>
            </a:r>
            <a:endParaRPr lang="en-US" sz="1547" dirty="0"/>
          </a:p>
        </p:txBody>
      </p:sp>
      <p:sp>
        <p:nvSpPr>
          <p:cNvPr id="36" name="Text 31"/>
          <p:cNvSpPr/>
          <p:nvPr/>
        </p:nvSpPr>
        <p:spPr>
          <a:xfrm>
            <a:off x="4686300" y="3268266"/>
            <a:ext cx="2864644" cy="164592"/>
          </a:xfrm>
          <a:prstGeom prst="rect">
            <a:avLst/>
          </a:prstGeom>
          <a:noFill/>
          <a:ln/>
        </p:spPr>
        <p:txBody>
          <a:bodyPr wrap="none" lIns="0" tIns="0" rIns="0" bIns="0" rtlCol="0" anchor="t"/>
          <a:lstStyle/>
          <a:p>
            <a:pPr algn="l" indent="0" marL="0">
              <a:lnSpc>
                <a:spcPts val="844"/>
              </a:lnSpc>
              <a:buNone/>
            </a:pPr>
            <a:r>
              <a:rPr lang="en-US" sz="800" b="1" spc="101" kern="0" dirty="0">
                <a:solidFill>
                  <a:srgbClr val="6B7280"/>
                </a:solidFill>
                <a:latin typeface="Liberation Sans Narrow" pitchFamily="34" charset="0"/>
                <a:ea typeface="Liberation Sans Narrow" pitchFamily="34" charset="-122"/>
                <a:cs typeface="Liberation Sans Narrow" pitchFamily="34" charset="-120"/>
              </a:rPr>
              <a:t>PAIN 04</a:t>
            </a:r>
            <a:endParaRPr lang="en-US" sz="800" dirty="0"/>
          </a:p>
        </p:txBody>
      </p:sp>
      <p:sp>
        <p:nvSpPr>
          <p:cNvPr id="37" name="Text 32"/>
          <p:cNvSpPr/>
          <p:nvPr/>
        </p:nvSpPr>
        <p:spPr>
          <a:xfrm>
            <a:off x="4314825" y="3521869"/>
            <a:ext cx="3345847" cy="183237"/>
          </a:xfrm>
          <a:prstGeom prst="rect">
            <a:avLst/>
          </a:prstGeom>
          <a:noFill/>
          <a:ln/>
        </p:spPr>
        <p:txBody>
          <a:bodyPr wrap="square" lIns="0" tIns="0" rIns="0" bIns="0" rtlCol="0" anchor="t"/>
          <a:lstStyle/>
          <a:p>
            <a:pPr algn="l" indent="0" marL="0">
              <a:lnSpc>
                <a:spcPts val="1336"/>
              </a:lnSpc>
              <a:buNone/>
            </a:pPr>
            <a:r>
              <a:rPr lang="en-US" sz="1069" b="1" spc="-5" kern="0" dirty="0">
                <a:solidFill>
                  <a:srgbClr val="6D28D9"/>
                </a:solidFill>
                <a:latin typeface="Carlito" pitchFamily="34" charset="0"/>
                <a:ea typeface="Carlito" pitchFamily="34" charset="-122"/>
                <a:cs typeface="Carlito" pitchFamily="34" charset="-120"/>
              </a:rPr>
              <a:t>Incomplete remote channel</a:t>
            </a:r>
            <a:endParaRPr lang="en-US" sz="1069" dirty="0"/>
          </a:p>
        </p:txBody>
      </p:sp>
      <p:sp>
        <p:nvSpPr>
          <p:cNvPr id="38" name="Text 33"/>
          <p:cNvSpPr/>
          <p:nvPr/>
        </p:nvSpPr>
        <p:spPr>
          <a:xfrm>
            <a:off x="4314825" y="3734395"/>
            <a:ext cx="3236119" cy="473273"/>
          </a:xfrm>
          <a:prstGeom prst="rect">
            <a:avLst/>
          </a:prstGeom>
          <a:noFill/>
          <a:ln/>
        </p:spPr>
        <p:txBody>
          <a:bodyPr wrap="square" lIns="0" tIns="0" rIns="0" bIns="0" rtlCol="0" anchor="t"/>
          <a:lstStyle/>
          <a:p>
            <a:pPr algn="l" indent="0" marL="0">
              <a:lnSpc>
                <a:spcPts val="1223"/>
              </a:lnSpc>
              <a:buNone/>
            </a:pPr>
            <a:r>
              <a:rPr lang="en-US" sz="816" dirty="0">
                <a:solidFill>
                  <a:srgbClr val="374151"/>
                </a:solidFill>
                <a:latin typeface="Carlito" pitchFamily="34" charset="0"/>
                <a:ea typeface="Carlito" pitchFamily="34" charset="-122"/>
                <a:cs typeface="Carlito" pitchFamily="34" charset="-120"/>
              </a:rPr>
              <a:t>Phone and chat connect, but cannot share a document, verify identity, or complete a complex transaction. The customer gives up or comes back in person.</a:t>
            </a:r>
            <a:endParaRPr lang="en-US" sz="816" dirty="0"/>
          </a:p>
        </p:txBody>
      </p:sp>
      <p:pic>
        <p:nvPicPr>
          <p:cNvPr id="39" name="Image 3" descr="preencoded.png">    </p:cNvPr>
          <p:cNvPicPr>
            <a:picLocks noChangeAspect="1"/>
          </p:cNvPicPr>
          <p:nvPr/>
        </p:nvPicPr>
        <p:blipFill>
          <a:blip r:embed="rId4"/>
          <a:stretch>
            <a:fillRect/>
          </a:stretch>
        </p:blipFill>
        <p:spPr>
          <a:xfrm>
            <a:off x="457200" y="4196283"/>
            <a:ext cx="7258050" cy="490017"/>
          </a:xfrm>
          <a:prstGeom prst="rect">
            <a:avLst/>
          </a:prstGeom>
        </p:spPr>
      </p:pic>
      <p:sp>
        <p:nvSpPr>
          <p:cNvPr id="40" name="Text 34"/>
          <p:cNvSpPr/>
          <p:nvPr/>
        </p:nvSpPr>
        <p:spPr>
          <a:xfrm>
            <a:off x="614363" y="4362710"/>
            <a:ext cx="157163" cy="157163"/>
          </a:xfrm>
          <a:prstGeom prst="rect">
            <a:avLst/>
          </a:prstGeom>
          <a:noFill/>
          <a:ln/>
        </p:spPr>
        <p:txBody>
          <a:bodyPr wrap="none" lIns="0" tIns="0" rIns="0" bIns="0" rtlCol="0" anchor="ctr"/>
          <a:lstStyle/>
          <a:p>
            <a:pPr algn="ctr" indent="0" marL="0">
              <a:buNone/>
            </a:pPr>
            <a:r>
              <a:rPr lang="en-US" sz="1547" dirty="0">
                <a:solidFill>
                  <a:srgbClr val="A78BFA"/>
                </a:solidFill>
                <a:latin typeface="Segoe UI Symbol" pitchFamily="34" charset="0"/>
                <a:ea typeface="Segoe UI Symbol" pitchFamily="34" charset="-122"/>
                <a:cs typeface="Segoe UI Symbol" pitchFamily="34" charset="-120"/>
              </a:rPr>
              <a:t>↘</a:t>
            </a:r>
            <a:endParaRPr lang="en-US" sz="1547" dirty="0"/>
          </a:p>
        </p:txBody>
      </p:sp>
      <p:sp>
        <p:nvSpPr>
          <p:cNvPr id="41" name="Text 35"/>
          <p:cNvSpPr/>
          <p:nvPr/>
        </p:nvSpPr>
        <p:spPr>
          <a:xfrm>
            <a:off x="871538" y="4296296"/>
            <a:ext cx="6686550" cy="289992"/>
          </a:xfrm>
          <a:prstGeom prst="rect">
            <a:avLst/>
          </a:prstGeom>
          <a:noFill/>
          <a:ln/>
        </p:spPr>
        <p:txBody>
          <a:bodyPr wrap="square" lIns="0" tIns="0" rIns="0" bIns="0" rtlCol="0" anchor="t"/>
          <a:lstStyle/>
          <a:p>
            <a:pPr algn="l" indent="0" marL="0">
              <a:lnSpc>
                <a:spcPts val="1142"/>
              </a:lnSpc>
              <a:buNone/>
            </a:pPr>
            <a:r>
              <a:rPr lang="en-US" sz="816" dirty="0">
                <a:solidFill>
                  <a:srgbClr val="FFFFFF"/>
                </a:solidFill>
                <a:latin typeface="Carlito" pitchFamily="34" charset="0"/>
                <a:ea typeface="Carlito" pitchFamily="34" charset="-122"/>
                <a:cs typeface="Carlito" pitchFamily="34" charset="-120"/>
              </a:rPr>
              <a:t>In all four cases, the company pays for the capacity without generating revenue, and the customer walks away quietly with an unresolved need.</a:t>
            </a:r>
            <a:endParaRPr lang="en-US" sz="816" dirty="0"/>
          </a:p>
        </p:txBody>
      </p:sp>
      <p:sp>
        <p:nvSpPr>
          <p:cNvPr id="42" name="Text 36"/>
          <p:cNvSpPr/>
          <p:nvPr/>
        </p:nvSpPr>
        <p:spPr>
          <a:xfrm>
            <a:off x="342900" y="4854178"/>
            <a:ext cx="4294175"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43" name="Text 37"/>
          <p:cNvSpPr/>
          <p:nvPr/>
        </p:nvSpPr>
        <p:spPr>
          <a:xfrm>
            <a:off x="4651363" y="4854178"/>
            <a:ext cx="3619314"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a:t>
            </a:r>
            <a:endParaRPr lang="en-US" sz="800" dirty="0"/>
          </a:p>
        </p:txBody>
      </p:sp>
      <p:sp>
        <p:nvSpPr>
          <p:cNvPr id="44" name="Text 38"/>
          <p:cNvSpPr/>
          <p:nvPr/>
        </p:nvSpPr>
        <p:spPr>
          <a:xfrm>
            <a:off x="8284964" y="4854178"/>
            <a:ext cx="620879" cy="164592"/>
          </a:xfrm>
          <a:prstGeom prst="rect">
            <a:avLst/>
          </a:prstGeom>
          <a:noFill/>
          <a:ln/>
        </p:spPr>
        <p:txBody>
          <a:bodyPr wrap="none" lIns="0" tIns="0" rIns="0" bIns="0" rtlCol="0" anchor="t"/>
          <a:lstStyle/>
          <a:p>
            <a:pPr algn="l" indent="0" marL="0">
              <a:lnSpc>
                <a:spcPts val="928"/>
              </a:lnSpc>
              <a:buNone/>
            </a:pPr>
            <a:r>
              <a:rPr lang="en-US" sz="619" spc="25" kern="0" dirty="0">
                <a:solidFill>
                  <a:srgbClr val="6B7280"/>
                </a:solidFill>
                <a:latin typeface="Liberation Sans Narrow" pitchFamily="34" charset="0"/>
                <a:ea typeface="Liberation Sans Narrow" pitchFamily="34" charset="-122"/>
                <a:cs typeface="Liberation Sans Narrow" pitchFamily="34" charset="-120"/>
              </a:rPr>
              <a:t>SLIDE 2 / 24</a:t>
            </a:r>
            <a:endParaRPr lang="en-US" sz="619" dirty="0"/>
          </a:p>
        </p:txBody>
      </p:sp>
      <p:pic>
        <p:nvPicPr>
          <p:cNvPr id="45" name="Image 4" descr="/home/z/my-project/download/slides/massapro-logo.png">    </p:cNvPr>
          <p:cNvPicPr>
            <a:picLocks noChangeAspect="1"/>
          </p:cNvPicPr>
          <p:nvPr/>
        </p:nvPicPr>
        <p:blipFill>
          <a:blip r:embed="rId5"/>
          <a:stretch>
            <a:fillRect/>
          </a:stretch>
        </p:blipFill>
        <p:spPr>
          <a:xfrm>
            <a:off x="342900" y="200025"/>
            <a:ext cx="200025" cy="200025"/>
          </a:xfrm>
          <a:prstGeom prst="rect">
            <a:avLst/>
          </a:prstGeom>
        </p:spPr>
      </p:pic>
      <p:sp>
        <p:nvSpPr>
          <p:cNvPr id="46" name="Text 39"/>
          <p:cNvSpPr/>
          <p:nvPr/>
        </p:nvSpPr>
        <p:spPr>
          <a:xfrm>
            <a:off x="614363" y="219670"/>
            <a:ext cx="998810"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6D28D9"/>
                </a:solidFill>
                <a:latin typeface="Carlito" pitchFamily="34" charset="0"/>
                <a:ea typeface="Carlito" pitchFamily="34" charset="-122"/>
                <a:cs typeface="Carlito" pitchFamily="34" charset="-120"/>
              </a:rPr>
              <a:t>MassaPro IVR</a:t>
            </a:r>
            <a:endParaRPr lang="en-US" sz="84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FF"/>
        </a:solidFill>
      </p:bgPr>
    </p:bg>
    <p:spTree>
      <p:nvGrpSpPr>
        <p:cNvPr id="1" name=""/>
        <p:cNvGrpSpPr/>
        <p:nvPr/>
      </p:nvGrpSpPr>
      <p:grpSpPr>
        <a:xfrm>
          <a:off x="0" y="0"/>
          <a:ext cx="0" cy="0"/>
          <a:chOff x="0" y="0"/>
          <a:chExt cx="0" cy="0"/>
        </a:xfrm>
      </p:grpSpPr>
      <p:sp>
        <p:nvSpPr>
          <p:cNvPr id="2" name="Text 0"/>
          <p:cNvSpPr/>
          <p:nvPr/>
        </p:nvSpPr>
        <p:spPr>
          <a:xfrm>
            <a:off x="434340" y="558698"/>
            <a:ext cx="1164275" cy="243488"/>
          </a:xfrm>
          <a:prstGeom prst="roundRect">
            <a:avLst>
              <a:gd name="adj" fmla="val 3907985"/>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3" name="Text 1"/>
          <p:cNvSpPr/>
          <p:nvPr/>
        </p:nvSpPr>
        <p:spPr>
          <a:xfrm>
            <a:off x="685270" y="628650"/>
            <a:ext cx="812434" cy="129679"/>
          </a:xfrm>
          <a:prstGeom prst="rect">
            <a:avLst/>
          </a:prstGeom>
          <a:noFill/>
          <a:ln/>
        </p:spPr>
        <p:txBody>
          <a:bodyPr wrap="none" lIns="0" tIns="0" rIns="0" bIns="0" rtlCol="0" anchor="t"/>
          <a:lstStyle/>
          <a:p>
            <a:pPr algn="l" indent="0" marL="0">
              <a:lnSpc>
                <a:spcPts val="928"/>
              </a:lnSpc>
              <a:buNone/>
            </a:pPr>
            <a:r>
              <a:rPr lang="en-US" sz="800" b="1" spc="111" kern="0" dirty="0">
                <a:solidFill>
                  <a:srgbClr val="7C3AED"/>
                </a:solidFill>
                <a:latin typeface="Carlito" pitchFamily="34" charset="0"/>
                <a:ea typeface="Carlito" pitchFamily="34" charset="-122"/>
                <a:cs typeface="Carlito" pitchFamily="34" charset="-120"/>
              </a:rPr>
              <a:t>THE PROBLEM</a:t>
            </a:r>
            <a:endParaRPr lang="en-US" sz="800" dirty="0"/>
          </a:p>
        </p:txBody>
      </p:sp>
      <p:sp>
        <p:nvSpPr>
          <p:cNvPr id="4" name="Text 2"/>
          <p:cNvSpPr/>
          <p:nvPr/>
        </p:nvSpPr>
        <p:spPr>
          <a:xfrm>
            <a:off x="550069" y="634008"/>
            <a:ext cx="92869" cy="92869"/>
          </a:xfrm>
          <a:prstGeom prst="rect">
            <a:avLst/>
          </a:prstGeom>
          <a:noFill/>
          <a:ln/>
        </p:spPr>
        <p:txBody>
          <a:bodyPr wrap="none" lIns="0" tIns="0" rIns="0" bIns="0" rtlCol="0" anchor="ctr"/>
          <a:lstStyle/>
          <a:p>
            <a:pPr algn="ctr" indent="0" marL="0">
              <a:buNone/>
            </a:pPr>
            <a:r>
              <a:rPr lang="en-US" sz="914" dirty="0">
                <a:solidFill>
                  <a:srgbClr val="7C3AED"/>
                </a:solidFill>
                <a:latin typeface="Segoe UI Symbol" pitchFamily="34" charset="0"/>
                <a:ea typeface="Segoe UI Symbol" pitchFamily="34" charset="-122"/>
                <a:cs typeface="Segoe UI Symbol" pitchFamily="34" charset="-120"/>
              </a:rPr>
              <a:t>↗</a:t>
            </a:r>
            <a:endParaRPr lang="en-US" sz="914" dirty="0"/>
          </a:p>
        </p:txBody>
      </p:sp>
      <p:sp>
        <p:nvSpPr>
          <p:cNvPr id="5" name="Text 3"/>
          <p:cNvSpPr/>
          <p:nvPr/>
        </p:nvSpPr>
        <p:spPr>
          <a:xfrm>
            <a:off x="457200" y="889397"/>
            <a:ext cx="4857750" cy="582501"/>
          </a:xfrm>
          <a:prstGeom prst="rect">
            <a:avLst/>
          </a:prstGeom>
          <a:noFill/>
          <a:ln/>
        </p:spPr>
        <p:txBody>
          <a:bodyPr wrap="square" lIns="0" tIns="0" rIns="0" bIns="0" rtlCol="0" anchor="t"/>
          <a:lstStyle/>
          <a:p>
            <a:pPr algn="l" indent="0" marL="0">
              <a:lnSpc>
                <a:spcPts val="2124"/>
              </a:lnSpc>
              <a:buNone/>
            </a:pPr>
            <a:r>
              <a:rPr lang="en-US" sz="1800" b="1" spc="-27" kern="0" dirty="0">
                <a:solidFill>
                  <a:srgbClr val="1F2937"/>
                </a:solidFill>
                <a:latin typeface="Carlito" pitchFamily="34" charset="0"/>
                <a:ea typeface="Carlito" pitchFamily="34" charset="-122"/>
                <a:cs typeface="Carlito" pitchFamily="34" charset="-120"/>
              </a:rPr>
              <a:t>Why In-Person Service Doesn't Scale with the Business</a:t>
            </a:r>
            <a:endParaRPr lang="en-US" sz="1800" dirty="0"/>
          </a:p>
        </p:txBody>
      </p:sp>
      <p:sp>
        <p:nvSpPr>
          <p:cNvPr id="6" name="Text 4"/>
          <p:cNvSpPr/>
          <p:nvPr/>
        </p:nvSpPr>
        <p:spPr>
          <a:xfrm>
            <a:off x="457200" y="1528763"/>
            <a:ext cx="400050" cy="21431"/>
          </a:xfrm>
          <a:prstGeom prst="roundRect">
            <a:avLst>
              <a:gd name="adj" fmla="val 88890"/>
            </a:avLst>
          </a:prstGeom>
          <a:solidFill>
            <a:srgbClr val="7C3AED"/>
          </a:solidFill>
          <a:ln/>
        </p:spPr>
        <p:txBody>
          <a:bodyPr wrap="square" rtlCol="0" anchor="ctr"/>
          <a:lstStyle/>
          <a:p>
            <a:pPr indent="0" marL="0">
              <a:buNone/>
            </a:pPr>
            <a:endParaRPr lang="en-US" dirty="0"/>
          </a:p>
        </p:txBody>
      </p:sp>
      <p:sp>
        <p:nvSpPr>
          <p:cNvPr id="7" name="Text 5"/>
          <p:cNvSpPr/>
          <p:nvPr/>
        </p:nvSpPr>
        <p:spPr>
          <a:xfrm>
            <a:off x="457200" y="1557338"/>
            <a:ext cx="4857750" cy="723305"/>
          </a:xfrm>
          <a:prstGeom prst="roundRect">
            <a:avLst>
              <a:gd name="adj" fmla="val 13169"/>
            </a:avLst>
          </a:prstGeom>
          <a:solidFill>
            <a:srgbClr val="FFFFFF"/>
          </a:solidFill>
          <a:ln/>
          <a:effectLst>
            <a:outerShdw sx="100000" sy="100000" kx="0" ky="0" algn="bl" rotWithShape="0" blurRad="19050" dist="9525" dir="5400000">
              <a:srgbClr val="7C3AED">
                <a:alpha val="4000"/>
              </a:srgbClr>
            </a:outerShdw>
          </a:effectLst>
        </p:spPr>
        <p:txBody>
          <a:bodyPr wrap="square" rtlCol="0" anchor="ctr"/>
          <a:lstStyle/>
          <a:p>
            <a:pPr indent="0" marL="0">
              <a:buNone/>
            </a:pPr>
            <a:endParaRPr lang="en-US" dirty="0"/>
          </a:p>
        </p:txBody>
      </p:sp>
      <p:sp>
        <p:nvSpPr>
          <p:cNvPr id="8" name="Shape 6"/>
          <p:cNvSpPr/>
          <p:nvPr/>
        </p:nvSpPr>
        <p:spPr>
          <a:xfrm>
            <a:off x="457200" y="1560909"/>
            <a:ext cx="4857750" cy="0"/>
          </a:xfrm>
          <a:prstGeom prst="line">
            <a:avLst/>
          </a:prstGeom>
          <a:noFill/>
          <a:ln w="7144">
            <a:solidFill>
              <a:srgbClr val="E5E7EB"/>
            </a:solidFill>
            <a:prstDash val="solid"/>
          </a:ln>
        </p:spPr>
      </p:sp>
      <p:sp>
        <p:nvSpPr>
          <p:cNvPr id="9" name="Shape 7"/>
          <p:cNvSpPr/>
          <p:nvPr/>
        </p:nvSpPr>
        <p:spPr>
          <a:xfrm>
            <a:off x="5311378" y="1557338"/>
            <a:ext cx="0" cy="723305"/>
          </a:xfrm>
          <a:prstGeom prst="line">
            <a:avLst/>
          </a:prstGeom>
          <a:noFill/>
          <a:ln w="7144">
            <a:solidFill>
              <a:srgbClr val="E5E7EB"/>
            </a:solidFill>
            <a:prstDash val="solid"/>
          </a:ln>
        </p:spPr>
      </p:sp>
      <p:sp>
        <p:nvSpPr>
          <p:cNvPr id="10" name="Shape 8"/>
          <p:cNvSpPr/>
          <p:nvPr/>
        </p:nvSpPr>
        <p:spPr>
          <a:xfrm>
            <a:off x="457200" y="2277070"/>
            <a:ext cx="4857750" cy="0"/>
          </a:xfrm>
          <a:prstGeom prst="line">
            <a:avLst/>
          </a:prstGeom>
          <a:noFill/>
          <a:ln w="7144">
            <a:solidFill>
              <a:srgbClr val="E5E7EB"/>
            </a:solidFill>
            <a:prstDash val="solid"/>
          </a:ln>
        </p:spPr>
      </p:sp>
      <p:sp>
        <p:nvSpPr>
          <p:cNvPr id="11" name="Shape 9"/>
          <p:cNvSpPr/>
          <p:nvPr/>
        </p:nvSpPr>
        <p:spPr>
          <a:xfrm>
            <a:off x="471488" y="1557338"/>
            <a:ext cx="0" cy="723305"/>
          </a:xfrm>
          <a:prstGeom prst="line">
            <a:avLst/>
          </a:prstGeom>
          <a:noFill/>
          <a:ln w="28575">
            <a:solidFill>
              <a:srgbClr val="7C3AED"/>
            </a:solidFill>
            <a:prstDash val="solid"/>
          </a:ln>
        </p:spPr>
      </p:sp>
      <p:pic>
        <p:nvPicPr>
          <p:cNvPr id="12" name="Image 0" descr="preencoded.png">    </p:cNvPr>
          <p:cNvPicPr>
            <a:picLocks noChangeAspect="1"/>
          </p:cNvPicPr>
          <p:nvPr/>
        </p:nvPicPr>
        <p:blipFill>
          <a:blip r:embed="rId1"/>
          <a:stretch>
            <a:fillRect/>
          </a:stretch>
        </p:blipFill>
        <p:spPr>
          <a:xfrm>
            <a:off x="628650" y="1678781"/>
            <a:ext cx="271463" cy="271463"/>
          </a:xfrm>
          <a:prstGeom prst="rect">
            <a:avLst/>
          </a:prstGeom>
        </p:spPr>
      </p:pic>
      <p:sp>
        <p:nvSpPr>
          <p:cNvPr id="13" name="Text 10"/>
          <p:cNvSpPr/>
          <p:nvPr/>
        </p:nvSpPr>
        <p:spPr>
          <a:xfrm>
            <a:off x="628650" y="1678781"/>
            <a:ext cx="328613" cy="271463"/>
          </a:xfrm>
          <a:prstGeom prst="rect">
            <a:avLst/>
          </a:prstGeom>
          <a:noFill/>
          <a:ln/>
        </p:spPr>
        <p:txBody>
          <a:bodyPr wrap="none" lIns="0" tIns="0" rIns="0" bIns="0" rtlCol="0" anchor="ctr"/>
          <a:lstStyle/>
          <a:p>
            <a:pPr algn="ctr" indent="0" marL="0">
              <a:lnSpc>
                <a:spcPts val="1519"/>
              </a:lnSpc>
              <a:buNone/>
            </a:pPr>
            <a:r>
              <a:rPr lang="en-US" sz="1013" b="1" spc="-10" kern="0" dirty="0">
                <a:solidFill>
                  <a:srgbClr val="FFFFFF"/>
                </a:solidFill>
                <a:latin typeface="Liberation Sans Narrow" pitchFamily="34" charset="0"/>
                <a:ea typeface="Liberation Sans Narrow" pitchFamily="34" charset="-122"/>
                <a:cs typeface="Liberation Sans Narrow" pitchFamily="34" charset="-120"/>
              </a:rPr>
              <a:t>1</a:t>
            </a:r>
            <a:endParaRPr lang="en-US" sz="1013" dirty="0"/>
          </a:p>
        </p:txBody>
      </p:sp>
      <p:sp>
        <p:nvSpPr>
          <p:cNvPr id="14" name="Text 11"/>
          <p:cNvSpPr/>
          <p:nvPr/>
        </p:nvSpPr>
        <p:spPr>
          <a:xfrm>
            <a:off x="1014413" y="1678781"/>
            <a:ext cx="4150519" cy="152948"/>
          </a:xfrm>
          <a:prstGeom prst="rect">
            <a:avLst/>
          </a:prstGeom>
          <a:noFill/>
          <a:ln/>
        </p:spPr>
        <p:txBody>
          <a:bodyPr wrap="none" lIns="0" tIns="0" rIns="0" bIns="0" rtlCol="0" anchor="t">
            <a:normAutofit/>
          </a:bodyPr>
          <a:lstStyle/>
          <a:p>
            <a:pPr algn="l" indent="0" marL="0">
              <a:lnSpc>
                <a:spcPts val="1195"/>
              </a:lnSpc>
              <a:buNone/>
            </a:pPr>
            <a:r>
              <a:rPr lang="en-US" sz="956" b="1" spc="-5" kern="0" dirty="0">
                <a:solidFill>
                  <a:srgbClr val="6D28D9"/>
                </a:solidFill>
                <a:latin typeface="Carlito" pitchFamily="34" charset="0"/>
                <a:ea typeface="Carlito" pitchFamily="34" charset="-122"/>
                <a:cs typeface="Carlito" pitchFamily="34" charset="-120"/>
              </a:rPr>
              <a:t>Fixed cost per location</a:t>
            </a:r>
            <a:endParaRPr lang="en-US" sz="956" dirty="0"/>
          </a:p>
        </p:txBody>
      </p:sp>
      <p:sp>
        <p:nvSpPr>
          <p:cNvPr id="15" name="Text 12"/>
          <p:cNvSpPr/>
          <p:nvPr/>
        </p:nvSpPr>
        <p:spPr>
          <a:xfrm>
            <a:off x="1014413" y="1859161"/>
            <a:ext cx="4150519" cy="300038"/>
          </a:xfrm>
          <a:prstGeom prst="rect">
            <a:avLst/>
          </a:prstGeom>
          <a:noFill/>
          <a:ln/>
        </p:spPr>
        <p:txBody>
          <a:bodyPr wrap="square" lIns="0" tIns="0" rIns="0" bIns="0" rtlCol="0" anchor="t"/>
          <a:lstStyle/>
          <a:p>
            <a:pPr algn="l" indent="0" marL="0">
              <a:lnSpc>
                <a:spcPts val="1181"/>
              </a:lnSpc>
              <a:buNone/>
            </a:pPr>
            <a:r>
              <a:rPr lang="en-US" sz="800" dirty="0">
                <a:solidFill>
                  <a:srgbClr val="374151"/>
                </a:solidFill>
                <a:latin typeface="Carlito" pitchFamily="34" charset="0"/>
                <a:ea typeface="Carlito" pitchFamily="34" charset="-122"/>
                <a:cs typeface="Carlito" pitchFamily="34" charset="-120"/>
              </a:rPr>
              <a:t>Every service point requires its own staff, space, and hours. Costs grow linearly with the network. Open 100 new branches, hire 100 new teams.</a:t>
            </a:r>
            <a:endParaRPr lang="en-US" sz="800" dirty="0"/>
          </a:p>
        </p:txBody>
      </p:sp>
      <p:sp>
        <p:nvSpPr>
          <p:cNvPr id="16" name="Text 13"/>
          <p:cNvSpPr/>
          <p:nvPr/>
        </p:nvSpPr>
        <p:spPr>
          <a:xfrm>
            <a:off x="457200" y="2366367"/>
            <a:ext cx="4857750" cy="723305"/>
          </a:xfrm>
          <a:prstGeom prst="roundRect">
            <a:avLst>
              <a:gd name="adj" fmla="val 13169"/>
            </a:avLst>
          </a:prstGeom>
          <a:solidFill>
            <a:srgbClr val="FFFFFF"/>
          </a:solidFill>
          <a:ln/>
          <a:effectLst>
            <a:outerShdw sx="100000" sy="100000" kx="0" ky="0" algn="bl" rotWithShape="0" blurRad="19050" dist="9525" dir="5400000">
              <a:srgbClr val="7C3AED">
                <a:alpha val="4000"/>
              </a:srgbClr>
            </a:outerShdw>
          </a:effectLst>
        </p:spPr>
        <p:txBody>
          <a:bodyPr wrap="square" rtlCol="0" anchor="ctr"/>
          <a:lstStyle/>
          <a:p>
            <a:pPr indent="0" marL="0">
              <a:buNone/>
            </a:pPr>
            <a:endParaRPr lang="en-US" dirty="0"/>
          </a:p>
        </p:txBody>
      </p:sp>
      <p:sp>
        <p:nvSpPr>
          <p:cNvPr id="17" name="Shape 14"/>
          <p:cNvSpPr/>
          <p:nvPr/>
        </p:nvSpPr>
        <p:spPr>
          <a:xfrm>
            <a:off x="457200" y="2369939"/>
            <a:ext cx="4857750" cy="0"/>
          </a:xfrm>
          <a:prstGeom prst="line">
            <a:avLst/>
          </a:prstGeom>
          <a:noFill/>
          <a:ln w="7144">
            <a:solidFill>
              <a:srgbClr val="E5E7EB"/>
            </a:solidFill>
            <a:prstDash val="solid"/>
          </a:ln>
        </p:spPr>
      </p:sp>
      <p:sp>
        <p:nvSpPr>
          <p:cNvPr id="18" name="Shape 15"/>
          <p:cNvSpPr/>
          <p:nvPr/>
        </p:nvSpPr>
        <p:spPr>
          <a:xfrm>
            <a:off x="5311378" y="2366367"/>
            <a:ext cx="0" cy="723305"/>
          </a:xfrm>
          <a:prstGeom prst="line">
            <a:avLst/>
          </a:prstGeom>
          <a:noFill/>
          <a:ln w="7144">
            <a:solidFill>
              <a:srgbClr val="E5E7EB"/>
            </a:solidFill>
            <a:prstDash val="solid"/>
          </a:ln>
        </p:spPr>
      </p:sp>
      <p:sp>
        <p:nvSpPr>
          <p:cNvPr id="19" name="Shape 16"/>
          <p:cNvSpPr/>
          <p:nvPr/>
        </p:nvSpPr>
        <p:spPr>
          <a:xfrm>
            <a:off x="457200" y="3086100"/>
            <a:ext cx="4857750" cy="0"/>
          </a:xfrm>
          <a:prstGeom prst="line">
            <a:avLst/>
          </a:prstGeom>
          <a:noFill/>
          <a:ln w="7144">
            <a:solidFill>
              <a:srgbClr val="E5E7EB"/>
            </a:solidFill>
            <a:prstDash val="solid"/>
          </a:ln>
        </p:spPr>
      </p:sp>
      <p:sp>
        <p:nvSpPr>
          <p:cNvPr id="20" name="Shape 17"/>
          <p:cNvSpPr/>
          <p:nvPr/>
        </p:nvSpPr>
        <p:spPr>
          <a:xfrm>
            <a:off x="471488" y="2366367"/>
            <a:ext cx="0" cy="723305"/>
          </a:xfrm>
          <a:prstGeom prst="line">
            <a:avLst/>
          </a:prstGeom>
          <a:noFill/>
          <a:ln w="28575">
            <a:solidFill>
              <a:srgbClr val="7C3AED"/>
            </a:solidFill>
            <a:prstDash val="solid"/>
          </a:ln>
        </p:spPr>
      </p:sp>
      <p:pic>
        <p:nvPicPr>
          <p:cNvPr id="21" name="Image 1" descr="preencoded.png">    </p:cNvPr>
          <p:cNvPicPr>
            <a:picLocks noChangeAspect="1"/>
          </p:cNvPicPr>
          <p:nvPr/>
        </p:nvPicPr>
        <p:blipFill>
          <a:blip r:embed="rId2"/>
          <a:stretch>
            <a:fillRect/>
          </a:stretch>
        </p:blipFill>
        <p:spPr>
          <a:xfrm>
            <a:off x="628650" y="2487811"/>
            <a:ext cx="271463" cy="271463"/>
          </a:xfrm>
          <a:prstGeom prst="rect">
            <a:avLst/>
          </a:prstGeom>
        </p:spPr>
      </p:pic>
      <p:sp>
        <p:nvSpPr>
          <p:cNvPr id="22" name="Text 18"/>
          <p:cNvSpPr/>
          <p:nvPr/>
        </p:nvSpPr>
        <p:spPr>
          <a:xfrm>
            <a:off x="628650" y="2487811"/>
            <a:ext cx="328613" cy="271463"/>
          </a:xfrm>
          <a:prstGeom prst="rect">
            <a:avLst/>
          </a:prstGeom>
          <a:noFill/>
          <a:ln/>
        </p:spPr>
        <p:txBody>
          <a:bodyPr wrap="none" lIns="0" tIns="0" rIns="0" bIns="0" rtlCol="0" anchor="ctr"/>
          <a:lstStyle/>
          <a:p>
            <a:pPr algn="ctr" indent="0" marL="0">
              <a:lnSpc>
                <a:spcPts val="1519"/>
              </a:lnSpc>
              <a:buNone/>
            </a:pPr>
            <a:r>
              <a:rPr lang="en-US" sz="1013" b="1" spc="-10" kern="0" dirty="0">
                <a:solidFill>
                  <a:srgbClr val="FFFFFF"/>
                </a:solidFill>
                <a:latin typeface="Liberation Sans Narrow" pitchFamily="34" charset="0"/>
                <a:ea typeface="Liberation Sans Narrow" pitchFamily="34" charset="-122"/>
                <a:cs typeface="Liberation Sans Narrow" pitchFamily="34" charset="-120"/>
              </a:rPr>
              <a:t>2</a:t>
            </a:r>
            <a:endParaRPr lang="en-US" sz="1013" dirty="0"/>
          </a:p>
        </p:txBody>
      </p:sp>
      <p:sp>
        <p:nvSpPr>
          <p:cNvPr id="23" name="Text 19"/>
          <p:cNvSpPr/>
          <p:nvPr/>
        </p:nvSpPr>
        <p:spPr>
          <a:xfrm>
            <a:off x="1014413" y="2487811"/>
            <a:ext cx="4150519" cy="152948"/>
          </a:xfrm>
          <a:prstGeom prst="rect">
            <a:avLst/>
          </a:prstGeom>
          <a:noFill/>
          <a:ln/>
        </p:spPr>
        <p:txBody>
          <a:bodyPr wrap="none" lIns="0" tIns="0" rIns="0" bIns="0" rtlCol="0" anchor="t">
            <a:normAutofit/>
          </a:bodyPr>
          <a:lstStyle/>
          <a:p>
            <a:pPr algn="l" indent="0" marL="0">
              <a:lnSpc>
                <a:spcPts val="1195"/>
              </a:lnSpc>
              <a:buNone/>
            </a:pPr>
            <a:r>
              <a:rPr lang="en-US" sz="956" b="1" spc="-5" kern="0" dirty="0">
                <a:solidFill>
                  <a:srgbClr val="6D28D9"/>
                </a:solidFill>
                <a:latin typeface="Carlito" pitchFamily="34" charset="0"/>
                <a:ea typeface="Carlito" pitchFamily="34" charset="-122"/>
                <a:cs typeface="Carlito" pitchFamily="34" charset="-120"/>
              </a:rPr>
              <a:t>Uneven coverage</a:t>
            </a:r>
            <a:endParaRPr lang="en-US" sz="956" dirty="0"/>
          </a:p>
        </p:txBody>
      </p:sp>
      <p:sp>
        <p:nvSpPr>
          <p:cNvPr id="24" name="Text 20"/>
          <p:cNvSpPr/>
          <p:nvPr/>
        </p:nvSpPr>
        <p:spPr>
          <a:xfrm>
            <a:off x="1014413" y="2668191"/>
            <a:ext cx="4150519" cy="300038"/>
          </a:xfrm>
          <a:prstGeom prst="rect">
            <a:avLst/>
          </a:prstGeom>
          <a:noFill/>
          <a:ln/>
        </p:spPr>
        <p:txBody>
          <a:bodyPr wrap="square" lIns="0" tIns="0" rIns="0" bIns="0" rtlCol="0" anchor="t"/>
          <a:lstStyle/>
          <a:p>
            <a:pPr algn="l" indent="0" marL="0">
              <a:lnSpc>
                <a:spcPts val="1181"/>
              </a:lnSpc>
              <a:buNone/>
            </a:pPr>
            <a:r>
              <a:rPr lang="en-US" sz="800" dirty="0">
                <a:solidFill>
                  <a:srgbClr val="374151"/>
                </a:solidFill>
                <a:latin typeface="Carlito" pitchFamily="34" charset="0"/>
                <a:ea typeface="Carlito" pitchFamily="34" charset="-122"/>
                <a:cs typeface="Carlito" pitchFamily="34" charset="-120"/>
              </a:rPr>
              <a:t>Lower-traffic locations cannot justify a dedicated specialist, so customers at those locations get a lesser service. The network's average quality is dragged down by its long tail.</a:t>
            </a:r>
            <a:endParaRPr lang="en-US" sz="800" dirty="0"/>
          </a:p>
        </p:txBody>
      </p:sp>
      <p:sp>
        <p:nvSpPr>
          <p:cNvPr id="25" name="Text 21"/>
          <p:cNvSpPr/>
          <p:nvPr/>
        </p:nvSpPr>
        <p:spPr>
          <a:xfrm>
            <a:off x="457200" y="3175397"/>
            <a:ext cx="4857750" cy="723305"/>
          </a:xfrm>
          <a:prstGeom prst="roundRect">
            <a:avLst>
              <a:gd name="adj" fmla="val 13169"/>
            </a:avLst>
          </a:prstGeom>
          <a:solidFill>
            <a:srgbClr val="FFFFFF"/>
          </a:solidFill>
          <a:ln/>
          <a:effectLst>
            <a:outerShdw sx="100000" sy="100000" kx="0" ky="0" algn="bl" rotWithShape="0" blurRad="19050" dist="9525" dir="5400000">
              <a:srgbClr val="7C3AED">
                <a:alpha val="4000"/>
              </a:srgbClr>
            </a:outerShdw>
          </a:effectLst>
        </p:spPr>
        <p:txBody>
          <a:bodyPr wrap="square" rtlCol="0" anchor="ctr"/>
          <a:lstStyle/>
          <a:p>
            <a:pPr indent="0" marL="0">
              <a:buNone/>
            </a:pPr>
            <a:endParaRPr lang="en-US" dirty="0"/>
          </a:p>
        </p:txBody>
      </p:sp>
      <p:sp>
        <p:nvSpPr>
          <p:cNvPr id="26" name="Shape 22"/>
          <p:cNvSpPr/>
          <p:nvPr/>
        </p:nvSpPr>
        <p:spPr>
          <a:xfrm>
            <a:off x="457200" y="3178969"/>
            <a:ext cx="4857750" cy="0"/>
          </a:xfrm>
          <a:prstGeom prst="line">
            <a:avLst/>
          </a:prstGeom>
          <a:noFill/>
          <a:ln w="7144">
            <a:solidFill>
              <a:srgbClr val="E5E7EB"/>
            </a:solidFill>
            <a:prstDash val="solid"/>
          </a:ln>
        </p:spPr>
      </p:sp>
      <p:sp>
        <p:nvSpPr>
          <p:cNvPr id="27" name="Shape 23"/>
          <p:cNvSpPr/>
          <p:nvPr/>
        </p:nvSpPr>
        <p:spPr>
          <a:xfrm>
            <a:off x="5311378" y="3175397"/>
            <a:ext cx="0" cy="723305"/>
          </a:xfrm>
          <a:prstGeom prst="line">
            <a:avLst/>
          </a:prstGeom>
          <a:noFill/>
          <a:ln w="7144">
            <a:solidFill>
              <a:srgbClr val="E5E7EB"/>
            </a:solidFill>
            <a:prstDash val="solid"/>
          </a:ln>
        </p:spPr>
      </p:sp>
      <p:sp>
        <p:nvSpPr>
          <p:cNvPr id="28" name="Shape 24"/>
          <p:cNvSpPr/>
          <p:nvPr/>
        </p:nvSpPr>
        <p:spPr>
          <a:xfrm>
            <a:off x="457200" y="3895130"/>
            <a:ext cx="4857750" cy="0"/>
          </a:xfrm>
          <a:prstGeom prst="line">
            <a:avLst/>
          </a:prstGeom>
          <a:noFill/>
          <a:ln w="7144">
            <a:solidFill>
              <a:srgbClr val="E5E7EB"/>
            </a:solidFill>
            <a:prstDash val="solid"/>
          </a:ln>
        </p:spPr>
      </p:sp>
      <p:sp>
        <p:nvSpPr>
          <p:cNvPr id="29" name="Shape 25"/>
          <p:cNvSpPr/>
          <p:nvPr/>
        </p:nvSpPr>
        <p:spPr>
          <a:xfrm>
            <a:off x="471488" y="3175397"/>
            <a:ext cx="0" cy="723305"/>
          </a:xfrm>
          <a:prstGeom prst="line">
            <a:avLst/>
          </a:prstGeom>
          <a:noFill/>
          <a:ln w="28575">
            <a:solidFill>
              <a:srgbClr val="7C3AED"/>
            </a:solidFill>
            <a:prstDash val="solid"/>
          </a:ln>
        </p:spPr>
      </p:sp>
      <p:pic>
        <p:nvPicPr>
          <p:cNvPr id="30" name="Image 2" descr="preencoded.png">    </p:cNvPr>
          <p:cNvPicPr>
            <a:picLocks noChangeAspect="1"/>
          </p:cNvPicPr>
          <p:nvPr/>
        </p:nvPicPr>
        <p:blipFill>
          <a:blip r:embed="rId3"/>
          <a:stretch>
            <a:fillRect/>
          </a:stretch>
        </p:blipFill>
        <p:spPr>
          <a:xfrm>
            <a:off x="628650" y="3296841"/>
            <a:ext cx="271463" cy="271463"/>
          </a:xfrm>
          <a:prstGeom prst="rect">
            <a:avLst/>
          </a:prstGeom>
        </p:spPr>
      </p:pic>
      <p:sp>
        <p:nvSpPr>
          <p:cNvPr id="31" name="Text 26"/>
          <p:cNvSpPr/>
          <p:nvPr/>
        </p:nvSpPr>
        <p:spPr>
          <a:xfrm>
            <a:off x="628650" y="3296841"/>
            <a:ext cx="328613" cy="271463"/>
          </a:xfrm>
          <a:prstGeom prst="rect">
            <a:avLst/>
          </a:prstGeom>
          <a:noFill/>
          <a:ln/>
        </p:spPr>
        <p:txBody>
          <a:bodyPr wrap="none" lIns="0" tIns="0" rIns="0" bIns="0" rtlCol="0" anchor="ctr"/>
          <a:lstStyle/>
          <a:p>
            <a:pPr algn="ctr" indent="0" marL="0">
              <a:lnSpc>
                <a:spcPts val="1519"/>
              </a:lnSpc>
              <a:buNone/>
            </a:pPr>
            <a:r>
              <a:rPr lang="en-US" sz="1013" b="1" spc="-10" kern="0" dirty="0">
                <a:solidFill>
                  <a:srgbClr val="FFFFFF"/>
                </a:solidFill>
                <a:latin typeface="Liberation Sans Narrow" pitchFamily="34" charset="0"/>
                <a:ea typeface="Liberation Sans Narrow" pitchFamily="34" charset="-122"/>
                <a:cs typeface="Liberation Sans Narrow" pitchFamily="34" charset="-120"/>
              </a:rPr>
              <a:t>3</a:t>
            </a:r>
            <a:endParaRPr lang="en-US" sz="1013" dirty="0"/>
          </a:p>
        </p:txBody>
      </p:sp>
      <p:sp>
        <p:nvSpPr>
          <p:cNvPr id="32" name="Text 27"/>
          <p:cNvSpPr/>
          <p:nvPr/>
        </p:nvSpPr>
        <p:spPr>
          <a:xfrm>
            <a:off x="1014413" y="3296841"/>
            <a:ext cx="4150519" cy="152948"/>
          </a:xfrm>
          <a:prstGeom prst="rect">
            <a:avLst/>
          </a:prstGeom>
          <a:noFill/>
          <a:ln/>
        </p:spPr>
        <p:txBody>
          <a:bodyPr wrap="none" lIns="0" tIns="0" rIns="0" bIns="0" rtlCol="0" anchor="t">
            <a:normAutofit/>
          </a:bodyPr>
          <a:lstStyle/>
          <a:p>
            <a:pPr algn="l" indent="0" marL="0">
              <a:lnSpc>
                <a:spcPts val="1195"/>
              </a:lnSpc>
              <a:buNone/>
            </a:pPr>
            <a:r>
              <a:rPr lang="en-US" sz="956" b="1" spc="-5" kern="0" dirty="0">
                <a:solidFill>
                  <a:srgbClr val="6D28D9"/>
                </a:solidFill>
                <a:latin typeface="Carlito" pitchFamily="34" charset="0"/>
                <a:ea typeface="Carlito" pitchFamily="34" charset="-122"/>
                <a:cs typeface="Carlito" pitchFamily="34" charset="-120"/>
              </a:rPr>
              <a:t>Rigid capacity</a:t>
            </a:r>
            <a:endParaRPr lang="en-US" sz="956" dirty="0"/>
          </a:p>
        </p:txBody>
      </p:sp>
      <p:sp>
        <p:nvSpPr>
          <p:cNvPr id="33" name="Text 28"/>
          <p:cNvSpPr/>
          <p:nvPr/>
        </p:nvSpPr>
        <p:spPr>
          <a:xfrm>
            <a:off x="1014413" y="3477220"/>
            <a:ext cx="4150519" cy="300038"/>
          </a:xfrm>
          <a:prstGeom prst="rect">
            <a:avLst/>
          </a:prstGeom>
          <a:noFill/>
          <a:ln/>
        </p:spPr>
        <p:txBody>
          <a:bodyPr wrap="square" lIns="0" tIns="0" rIns="0" bIns="0" rtlCol="0" anchor="t"/>
          <a:lstStyle/>
          <a:p>
            <a:pPr algn="l" indent="0" marL="0">
              <a:lnSpc>
                <a:spcPts val="1181"/>
              </a:lnSpc>
              <a:buNone/>
            </a:pPr>
            <a:r>
              <a:rPr lang="en-US" sz="800" dirty="0">
                <a:solidFill>
                  <a:srgbClr val="374151"/>
                </a:solidFill>
                <a:latin typeface="Carlito" pitchFamily="34" charset="0"/>
                <a:ea typeface="Carlito" pitchFamily="34" charset="-122"/>
                <a:cs typeface="Carlito" pitchFamily="34" charset="-120"/>
              </a:rPr>
              <a:t>Demand spikes cannot be absorbed. On-site staff cannot be redistributed in real time. Monday morning queues grow while Friday afternoons sit idle.</a:t>
            </a:r>
            <a:endParaRPr lang="en-US" sz="800" dirty="0"/>
          </a:p>
        </p:txBody>
      </p:sp>
      <p:pic>
        <p:nvPicPr>
          <p:cNvPr id="34" name="Image 3" descr="preencoded.png">    </p:cNvPr>
          <p:cNvPicPr>
            <a:picLocks noChangeAspect="1"/>
          </p:cNvPicPr>
          <p:nvPr/>
        </p:nvPicPr>
        <p:blipFill>
          <a:blip r:embed="rId4"/>
          <a:stretch>
            <a:fillRect/>
          </a:stretch>
        </p:blipFill>
        <p:spPr>
          <a:xfrm>
            <a:off x="457200" y="4027289"/>
            <a:ext cx="4857750" cy="500063"/>
          </a:xfrm>
          <a:prstGeom prst="rect">
            <a:avLst/>
          </a:prstGeom>
        </p:spPr>
      </p:pic>
      <p:sp>
        <p:nvSpPr>
          <p:cNvPr id="35" name="Text 29"/>
          <p:cNvSpPr/>
          <p:nvPr/>
        </p:nvSpPr>
        <p:spPr>
          <a:xfrm>
            <a:off x="585788" y="4134445"/>
            <a:ext cx="142875" cy="142875"/>
          </a:xfrm>
          <a:prstGeom prst="rect">
            <a:avLst/>
          </a:prstGeom>
          <a:noFill/>
          <a:ln/>
        </p:spPr>
        <p:txBody>
          <a:bodyPr wrap="none" lIns="0" tIns="0" rIns="0" bIns="0" rtlCol="0" anchor="ctr"/>
          <a:lstStyle/>
          <a:p>
            <a:pPr algn="ctr" indent="0" marL="0">
              <a:buNone/>
            </a:pPr>
            <a:r>
              <a:rPr lang="en-US" sz="1406" dirty="0">
                <a:solidFill>
                  <a:srgbClr val="A78BFA"/>
                </a:solidFill>
                <a:latin typeface="Segoe UI Symbol" pitchFamily="34" charset="0"/>
                <a:ea typeface="Segoe UI Symbol" pitchFamily="34" charset="-122"/>
                <a:cs typeface="Segoe UI Symbol" pitchFamily="34" charset="-120"/>
              </a:rPr>
              <a:t>!</a:t>
            </a:r>
            <a:endParaRPr lang="en-US" sz="1406" dirty="0"/>
          </a:p>
        </p:txBody>
      </p:sp>
      <p:sp>
        <p:nvSpPr>
          <p:cNvPr id="36" name="Text 30"/>
          <p:cNvSpPr/>
          <p:nvPr/>
        </p:nvSpPr>
        <p:spPr>
          <a:xfrm>
            <a:off x="814388" y="4127302"/>
            <a:ext cx="4371975" cy="300038"/>
          </a:xfrm>
          <a:prstGeom prst="rect">
            <a:avLst/>
          </a:prstGeom>
          <a:noFill/>
          <a:ln/>
        </p:spPr>
        <p:txBody>
          <a:bodyPr wrap="square" lIns="0" tIns="0" rIns="0" bIns="0" rtlCol="0" anchor="t"/>
          <a:lstStyle/>
          <a:p>
            <a:pPr algn="l" indent="0" marL="0">
              <a:lnSpc>
                <a:spcPts val="1181"/>
              </a:lnSpc>
              <a:buNone/>
            </a:pPr>
            <a:r>
              <a:rPr lang="en-US" sz="800" i="1" dirty="0">
                <a:solidFill>
                  <a:srgbClr val="FFFFFF"/>
                </a:solidFill>
                <a:latin typeface="Carlito" pitchFamily="34" charset="0"/>
                <a:ea typeface="Carlito" pitchFamily="34" charset="-122"/>
                <a:cs typeface="Carlito" pitchFamily="34" charset="-120"/>
              </a:rPr>
              <a:t>These are not execution failures — they are the predictable result of tying service capacity to a place and a schedule while demand isn't.</a:t>
            </a:r>
            <a:endParaRPr lang="en-US" sz="800" dirty="0"/>
          </a:p>
        </p:txBody>
      </p:sp>
      <p:sp>
        <p:nvSpPr>
          <p:cNvPr id="37" name="Text 31"/>
          <p:cNvSpPr/>
          <p:nvPr/>
        </p:nvSpPr>
        <p:spPr>
          <a:xfrm>
            <a:off x="5325666" y="582216"/>
            <a:ext cx="3350419" cy="3979069"/>
          </a:xfrm>
          <a:prstGeom prst="roundRect">
            <a:avLst>
              <a:gd name="adj" fmla="val 5117"/>
            </a:avLst>
          </a:prstGeom>
          <a:noFill/>
          <a:ln w="21431">
            <a:solidFill>
              <a:srgbClr val="7C3AED"/>
            </a:solidFill>
            <a:prstDash val="solid"/>
          </a:ln>
          <a:effectLst>
            <a:outerShdw sx="100000" sy="100000" kx="0" ky="0" algn="bl" rotWithShape="0" blurRad="304800" dist="114300" dir="5400000">
              <a:srgbClr val="7C3AED">
                <a:alpha val="18000"/>
              </a:srgbClr>
            </a:outerShdw>
          </a:effectLst>
        </p:spPr>
        <p:txBody>
          <a:bodyPr wrap="square" rtlCol="0" anchor="ctr"/>
          <a:lstStyle/>
          <a:p>
            <a:pPr indent="0" marL="0">
              <a:buNone/>
            </a:pPr>
            <a:endParaRPr lang="en-US" dirty="0"/>
          </a:p>
        </p:txBody>
      </p:sp>
      <p:pic>
        <p:nvPicPr>
          <p:cNvPr id="38" name="Image 4" descr="/tmp/h2p-fit-1786522335177-v5vkji.png">    </p:cNvPr>
          <p:cNvPicPr>
            <a:picLocks noChangeAspect="1"/>
          </p:cNvPicPr>
          <p:nvPr/>
        </p:nvPicPr>
        <p:blipFill>
          <a:blip r:embed="rId5"/>
          <a:stretch>
            <a:fillRect/>
          </a:stretch>
        </p:blipFill>
        <p:spPr>
          <a:xfrm>
            <a:off x="5336381" y="592931"/>
            <a:ext cx="3328988" cy="3957638"/>
          </a:xfrm>
          <a:prstGeom prst="rect">
            <a:avLst/>
          </a:prstGeom>
        </p:spPr>
      </p:pic>
      <p:pic>
        <p:nvPicPr>
          <p:cNvPr id="39" name="Image 5" descr="preencoded.png">    </p:cNvPr>
          <p:cNvPicPr>
            <a:picLocks noChangeAspect="1"/>
          </p:cNvPicPr>
          <p:nvPr/>
        </p:nvPicPr>
        <p:blipFill>
          <a:blip r:embed="rId6"/>
          <a:stretch>
            <a:fillRect/>
          </a:stretch>
        </p:blipFill>
        <p:spPr>
          <a:xfrm>
            <a:off x="5336381" y="592931"/>
            <a:ext cx="3328988" cy="3957638"/>
          </a:xfrm>
          <a:prstGeom prst="rect">
            <a:avLst/>
          </a:prstGeom>
        </p:spPr>
      </p:pic>
      <p:sp>
        <p:nvSpPr>
          <p:cNvPr id="40" name="Text 32"/>
          <p:cNvSpPr/>
          <p:nvPr/>
        </p:nvSpPr>
        <p:spPr>
          <a:xfrm>
            <a:off x="5442109" y="709303"/>
            <a:ext cx="1427924" cy="228029"/>
          </a:xfrm>
          <a:prstGeom prst="roundRect">
            <a:avLst>
              <a:gd name="adj" fmla="val 4172923"/>
            </a:avLst>
          </a:prstGeom>
          <a:solidFill>
            <a:srgbClr val="FFFFFF">
              <a:alpha val="92000"/>
            </a:srgbClr>
          </a:solidFill>
          <a:ln/>
        </p:spPr>
        <p:txBody>
          <a:bodyPr wrap="square" rtlCol="0" anchor="ctr"/>
          <a:lstStyle/>
          <a:p>
            <a:pPr indent="0" marL="0">
              <a:buNone/>
            </a:pPr>
            <a:endParaRPr lang="en-US" dirty="0"/>
          </a:p>
        </p:txBody>
      </p:sp>
      <p:sp>
        <p:nvSpPr>
          <p:cNvPr id="41" name="Text 33"/>
          <p:cNvSpPr/>
          <p:nvPr/>
        </p:nvSpPr>
        <p:spPr>
          <a:xfrm>
            <a:off x="5550694" y="773311"/>
            <a:ext cx="100013" cy="100013"/>
          </a:xfrm>
          <a:prstGeom prst="rect">
            <a:avLst/>
          </a:prstGeom>
          <a:noFill/>
          <a:ln/>
        </p:spPr>
        <p:txBody>
          <a:bodyPr wrap="none" lIns="0" tIns="0" rIns="0" bIns="0" rtlCol="0" anchor="ctr"/>
          <a:lstStyle/>
          <a:p>
            <a:pPr algn="ctr" indent="0" marL="0">
              <a:buNone/>
            </a:pPr>
            <a:r>
              <a:rPr lang="en-US" sz="984" dirty="0">
                <a:solidFill>
                  <a:srgbClr val="7C3AED"/>
                </a:solidFill>
                <a:latin typeface="Segoe UI Symbol" pitchFamily="34" charset="0"/>
                <a:ea typeface="Segoe UI Symbol" pitchFamily="34" charset="-122"/>
                <a:cs typeface="Segoe UI Symbol" pitchFamily="34" charset="-120"/>
              </a:rPr>
              <a:t>🏪</a:t>
            </a:r>
            <a:endParaRPr lang="en-US" sz="984" dirty="0"/>
          </a:p>
        </p:txBody>
      </p:sp>
      <p:sp>
        <p:nvSpPr>
          <p:cNvPr id="42" name="Text 34"/>
          <p:cNvSpPr/>
          <p:nvPr/>
        </p:nvSpPr>
        <p:spPr>
          <a:xfrm>
            <a:off x="5693569" y="764381"/>
            <a:ext cx="1067879" cy="117872"/>
          </a:xfrm>
          <a:prstGeom prst="rect">
            <a:avLst/>
          </a:prstGeom>
          <a:noFill/>
          <a:ln/>
        </p:spPr>
        <p:txBody>
          <a:bodyPr wrap="none" lIns="0" tIns="0" rIns="0" bIns="0" rtlCol="0" anchor="t"/>
          <a:lstStyle/>
          <a:p>
            <a:pPr algn="l" indent="0" marL="0">
              <a:lnSpc>
                <a:spcPts val="928"/>
              </a:lnSpc>
              <a:buNone/>
            </a:pPr>
            <a:r>
              <a:rPr lang="en-US" sz="619" b="1" spc="87" kern="0" dirty="0">
                <a:solidFill>
                  <a:srgbClr val="6D28D9"/>
                </a:solidFill>
                <a:latin typeface="Carlito" pitchFamily="34" charset="0"/>
                <a:ea typeface="Carlito" pitchFamily="34" charset="-122"/>
                <a:cs typeface="Carlito" pitchFamily="34" charset="-120"/>
              </a:rPr>
              <a:t>FIXED SERVICE POINT</a:t>
            </a:r>
            <a:endParaRPr lang="en-US" sz="619" dirty="0"/>
          </a:p>
        </p:txBody>
      </p:sp>
      <p:sp>
        <p:nvSpPr>
          <p:cNvPr id="43" name="Text 35"/>
          <p:cNvSpPr/>
          <p:nvPr/>
        </p:nvSpPr>
        <p:spPr>
          <a:xfrm>
            <a:off x="5493544" y="4056311"/>
            <a:ext cx="3165396" cy="179737"/>
          </a:xfrm>
          <a:prstGeom prst="rect">
            <a:avLst/>
          </a:prstGeom>
          <a:noFill/>
          <a:ln/>
        </p:spPr>
        <p:txBody>
          <a:bodyPr wrap="none" lIns="0" tIns="0" rIns="0" bIns="0" rtlCol="0" anchor="t">
            <a:normAutofit/>
          </a:bodyPr>
          <a:lstStyle/>
          <a:p>
            <a:pPr algn="l" indent="0" marL="0">
              <a:lnSpc>
                <a:spcPts val="1406"/>
              </a:lnSpc>
              <a:buNone/>
            </a:pPr>
            <a:r>
              <a:rPr lang="en-US" sz="1125" b="1" spc="-11" kern="0" dirty="0">
                <a:solidFill>
                  <a:srgbClr val="FFFFFF"/>
                </a:solidFill>
                <a:latin typeface="Tinos" pitchFamily="34" charset="0"/>
                <a:ea typeface="Tinos" pitchFamily="34" charset="-122"/>
                <a:cs typeface="Tinos" pitchFamily="34" charset="-120"/>
              </a:rPr>
              <a:t>Capacity tied to a place.</a:t>
            </a:r>
            <a:endParaRPr lang="en-US" sz="1125" dirty="0"/>
          </a:p>
        </p:txBody>
      </p:sp>
      <p:sp>
        <p:nvSpPr>
          <p:cNvPr id="44" name="Text 36"/>
          <p:cNvSpPr/>
          <p:nvPr/>
        </p:nvSpPr>
        <p:spPr>
          <a:xfrm>
            <a:off x="5493544" y="4263479"/>
            <a:ext cx="3014663" cy="153514"/>
          </a:xfrm>
          <a:prstGeom prst="rect">
            <a:avLst/>
          </a:prstGeom>
          <a:noFill/>
          <a:ln/>
        </p:spPr>
        <p:txBody>
          <a:bodyPr wrap="square" lIns="0" tIns="0" rIns="0" bIns="0" rtlCol="0" anchor="t"/>
          <a:lstStyle/>
          <a:p>
            <a:pPr algn="l" indent="0" marL="0">
              <a:lnSpc>
                <a:spcPts val="1024"/>
              </a:lnSpc>
              <a:buNone/>
            </a:pPr>
            <a:r>
              <a:rPr lang="en-US" sz="731" dirty="0">
                <a:solidFill>
                  <a:srgbClr val="C4B5FD"/>
                </a:solidFill>
                <a:latin typeface="Carlito" pitchFamily="34" charset="0"/>
                <a:ea typeface="Carlito" pitchFamily="34" charset="-122"/>
                <a:cs typeface="Carlito" pitchFamily="34" charset="-120"/>
              </a:rPr>
              <a:t>Every counter costs the same — even when no one is there.</a:t>
            </a:r>
            <a:endParaRPr lang="en-US" sz="731" dirty="0"/>
          </a:p>
        </p:txBody>
      </p:sp>
      <p:sp>
        <p:nvSpPr>
          <p:cNvPr id="45" name="Text 37"/>
          <p:cNvSpPr/>
          <p:nvPr/>
        </p:nvSpPr>
        <p:spPr>
          <a:xfrm>
            <a:off x="342900" y="4854178"/>
            <a:ext cx="4294175"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46" name="Text 38"/>
          <p:cNvSpPr/>
          <p:nvPr/>
        </p:nvSpPr>
        <p:spPr>
          <a:xfrm>
            <a:off x="4651363" y="4854178"/>
            <a:ext cx="3619314"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a:t>
            </a:r>
            <a:endParaRPr lang="en-US" sz="800" dirty="0"/>
          </a:p>
        </p:txBody>
      </p:sp>
      <p:sp>
        <p:nvSpPr>
          <p:cNvPr id="47" name="Text 39"/>
          <p:cNvSpPr/>
          <p:nvPr/>
        </p:nvSpPr>
        <p:spPr>
          <a:xfrm>
            <a:off x="8284964" y="4854178"/>
            <a:ext cx="620879" cy="164592"/>
          </a:xfrm>
          <a:prstGeom prst="rect">
            <a:avLst/>
          </a:prstGeom>
          <a:noFill/>
          <a:ln/>
        </p:spPr>
        <p:txBody>
          <a:bodyPr wrap="none" lIns="0" tIns="0" rIns="0" bIns="0" rtlCol="0" anchor="t"/>
          <a:lstStyle/>
          <a:p>
            <a:pPr algn="l" indent="0" marL="0">
              <a:lnSpc>
                <a:spcPts val="928"/>
              </a:lnSpc>
              <a:buNone/>
            </a:pPr>
            <a:r>
              <a:rPr lang="en-US" sz="619" spc="25" kern="0" dirty="0">
                <a:solidFill>
                  <a:srgbClr val="6B7280"/>
                </a:solidFill>
                <a:latin typeface="Liberation Sans Narrow" pitchFamily="34" charset="0"/>
                <a:ea typeface="Liberation Sans Narrow" pitchFamily="34" charset="-122"/>
                <a:cs typeface="Liberation Sans Narrow" pitchFamily="34" charset="-120"/>
              </a:rPr>
              <a:t>SLIDE 3 / 24</a:t>
            </a:r>
            <a:endParaRPr lang="en-US" sz="619" dirty="0"/>
          </a:p>
        </p:txBody>
      </p:sp>
      <p:pic>
        <p:nvPicPr>
          <p:cNvPr id="48" name="Image 6" descr="/home/z/my-project/download/slides/massapro-logo.png">    </p:cNvPr>
          <p:cNvPicPr>
            <a:picLocks noChangeAspect="1"/>
          </p:cNvPicPr>
          <p:nvPr/>
        </p:nvPicPr>
        <p:blipFill>
          <a:blip r:embed="rId7"/>
          <a:stretch>
            <a:fillRect/>
          </a:stretch>
        </p:blipFill>
        <p:spPr>
          <a:xfrm>
            <a:off x="342900" y="200025"/>
            <a:ext cx="200025" cy="200025"/>
          </a:xfrm>
          <a:prstGeom prst="rect">
            <a:avLst/>
          </a:prstGeom>
        </p:spPr>
      </p:pic>
      <p:sp>
        <p:nvSpPr>
          <p:cNvPr id="49" name="Text 40"/>
          <p:cNvSpPr/>
          <p:nvPr/>
        </p:nvSpPr>
        <p:spPr>
          <a:xfrm>
            <a:off x="614363" y="219670"/>
            <a:ext cx="998810"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6D28D9"/>
                </a:solidFill>
                <a:latin typeface="Carlito" pitchFamily="34" charset="0"/>
                <a:ea typeface="Carlito" pitchFamily="34" charset="-122"/>
                <a:cs typeface="Carlito" pitchFamily="34" charset="-120"/>
              </a:rPr>
              <a:t>MassaPro IVR</a:t>
            </a:r>
            <a:endParaRPr lang="en-US" sz="84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4340" y="558698"/>
            <a:ext cx="1422789" cy="243488"/>
          </a:xfrm>
          <a:prstGeom prst="roundRect">
            <a:avLst>
              <a:gd name="adj" fmla="val 3907985"/>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3" name="Text 1"/>
          <p:cNvSpPr/>
          <p:nvPr/>
        </p:nvSpPr>
        <p:spPr>
          <a:xfrm>
            <a:off x="700088" y="628650"/>
            <a:ext cx="1041313" cy="129679"/>
          </a:xfrm>
          <a:prstGeom prst="rect">
            <a:avLst/>
          </a:prstGeom>
          <a:noFill/>
          <a:ln/>
        </p:spPr>
        <p:txBody>
          <a:bodyPr wrap="none" lIns="0" tIns="0" rIns="0" bIns="0" rtlCol="0" anchor="t"/>
          <a:lstStyle/>
          <a:p>
            <a:pPr algn="l" indent="0" marL="0">
              <a:lnSpc>
                <a:spcPts val="928"/>
              </a:lnSpc>
              <a:buNone/>
            </a:pPr>
            <a:r>
              <a:rPr lang="en-US" sz="800" b="1" spc="111" kern="0" dirty="0">
                <a:solidFill>
                  <a:srgbClr val="7C3AED"/>
                </a:solidFill>
                <a:latin typeface="Carlito" pitchFamily="34" charset="0"/>
                <a:ea typeface="Carlito" pitchFamily="34" charset="-122"/>
                <a:cs typeface="Carlito" pitchFamily="34" charset="-120"/>
              </a:rPr>
              <a:t>THE OPPORTUNITY</a:t>
            </a:r>
            <a:endParaRPr lang="en-US" sz="800" dirty="0"/>
          </a:p>
        </p:txBody>
      </p:sp>
      <p:sp>
        <p:nvSpPr>
          <p:cNvPr id="4" name="Text 2"/>
          <p:cNvSpPr/>
          <p:nvPr/>
        </p:nvSpPr>
        <p:spPr>
          <a:xfrm>
            <a:off x="550069" y="634008"/>
            <a:ext cx="92869" cy="92869"/>
          </a:xfrm>
          <a:prstGeom prst="rect">
            <a:avLst/>
          </a:prstGeom>
          <a:noFill/>
          <a:ln/>
        </p:spPr>
        <p:txBody>
          <a:bodyPr wrap="none" lIns="0" tIns="0" rIns="0" bIns="0" rtlCol="0" anchor="ctr"/>
          <a:lstStyle/>
          <a:p>
            <a:pPr algn="ctr" indent="0" marL="0">
              <a:buNone/>
            </a:pPr>
            <a:r>
              <a:rPr lang="en-US" sz="914" dirty="0">
                <a:solidFill>
                  <a:srgbClr val="7C3AED"/>
                </a:solidFill>
                <a:latin typeface="Segoe UI Symbol" pitchFamily="34" charset="0"/>
                <a:ea typeface="Segoe UI Symbol" pitchFamily="34" charset="-122"/>
                <a:cs typeface="Segoe UI Symbol" pitchFamily="34" charset="-120"/>
              </a:rPr>
              <a:t>▶</a:t>
            </a:r>
            <a:endParaRPr lang="en-US" sz="914" dirty="0"/>
          </a:p>
        </p:txBody>
      </p:sp>
      <p:sp>
        <p:nvSpPr>
          <p:cNvPr id="5" name="Text 3"/>
          <p:cNvSpPr/>
          <p:nvPr/>
        </p:nvSpPr>
        <p:spPr>
          <a:xfrm>
            <a:off x="457200" y="889397"/>
            <a:ext cx="6129338" cy="546095"/>
          </a:xfrm>
          <a:prstGeom prst="rect">
            <a:avLst/>
          </a:prstGeom>
          <a:noFill/>
          <a:ln/>
        </p:spPr>
        <p:txBody>
          <a:bodyPr wrap="square" lIns="0" tIns="0" rIns="0" bIns="0" rtlCol="0" anchor="t"/>
          <a:lstStyle/>
          <a:p>
            <a:pPr algn="l" indent="0" marL="0">
              <a:lnSpc>
                <a:spcPts val="1991"/>
              </a:lnSpc>
              <a:buNone/>
            </a:pPr>
            <a:r>
              <a:rPr lang="en-US" sz="1688" b="1" spc="-25" kern="0" dirty="0">
                <a:solidFill>
                  <a:srgbClr val="1F2937"/>
                </a:solidFill>
                <a:latin typeface="Carlito" pitchFamily="34" charset="0"/>
                <a:ea typeface="Carlito" pitchFamily="34" charset="-122"/>
                <a:cs typeface="Carlito" pitchFamily="34" charset="-120"/>
              </a:rPr>
              <a:t>Video is the Superior Channel for Remote Human Service</a:t>
            </a:r>
            <a:endParaRPr lang="en-US" sz="1688" dirty="0"/>
          </a:p>
        </p:txBody>
      </p:sp>
      <p:sp>
        <p:nvSpPr>
          <p:cNvPr id="6" name="Text 4"/>
          <p:cNvSpPr/>
          <p:nvPr/>
        </p:nvSpPr>
        <p:spPr>
          <a:xfrm>
            <a:off x="457200" y="1495053"/>
            <a:ext cx="400050" cy="21431"/>
          </a:xfrm>
          <a:prstGeom prst="roundRect">
            <a:avLst>
              <a:gd name="adj" fmla="val 88890"/>
            </a:avLst>
          </a:prstGeom>
          <a:solidFill>
            <a:srgbClr val="7C3AED"/>
          </a:solidFill>
          <a:ln/>
        </p:spPr>
        <p:txBody>
          <a:bodyPr wrap="square" rtlCol="0" anchor="ctr"/>
          <a:lstStyle/>
          <a:p>
            <a:pPr indent="0" marL="0">
              <a:buNone/>
            </a:pPr>
            <a:endParaRPr lang="en-US" dirty="0"/>
          </a:p>
        </p:txBody>
      </p:sp>
      <p:sp>
        <p:nvSpPr>
          <p:cNvPr id="7" name="Text 5"/>
          <p:cNvSpPr/>
          <p:nvPr/>
        </p:nvSpPr>
        <p:spPr>
          <a:xfrm>
            <a:off x="460772" y="1560909"/>
            <a:ext cx="2714625" cy="1233301"/>
          </a:xfrm>
          <a:prstGeom prst="roundRect">
            <a:avLst>
              <a:gd name="adj" fmla="val 10812"/>
            </a:avLst>
          </a:prstGeom>
          <a:solidFill>
            <a:srgbClr val="FFFFFF"/>
          </a:solidFill>
          <a:ln w="7144">
            <a:solidFill>
              <a:srgbClr val="E5E7EB"/>
            </a:solidFill>
            <a:prstDash val="solid"/>
          </a:ln>
          <a:effectLst>
            <a:outerShdw sx="100000" sy="100000" kx="0" ky="0" algn="bl" rotWithShape="0" blurRad="57150" dist="19050" dir="5400000">
              <a:srgbClr val="7C3AED">
                <a:alpha val="6000"/>
              </a:srgbClr>
            </a:outerShdw>
          </a:effectLst>
        </p:spPr>
        <p:txBody>
          <a:bodyPr wrap="square" rtlCol="0" anchor="ctr"/>
          <a:lstStyle/>
          <a:p>
            <a:pPr indent="0" marL="0">
              <a:buNone/>
            </a:pPr>
            <a:endParaRPr lang="en-US" dirty="0"/>
          </a:p>
        </p:txBody>
      </p:sp>
      <p:sp>
        <p:nvSpPr>
          <p:cNvPr id="8" name="Text 6"/>
          <p:cNvSpPr/>
          <p:nvPr/>
        </p:nvSpPr>
        <p:spPr>
          <a:xfrm>
            <a:off x="621506" y="1693069"/>
            <a:ext cx="2393156" cy="108299"/>
          </a:xfrm>
          <a:prstGeom prst="rect">
            <a:avLst/>
          </a:prstGeom>
          <a:noFill/>
          <a:ln/>
        </p:spPr>
        <p:txBody>
          <a:bodyPr wrap="none" lIns="0" tIns="0" rIns="0" bIns="0" rtlCol="0" anchor="t">
            <a:normAutofit/>
          </a:bodyPr>
          <a:lstStyle/>
          <a:p>
            <a:pPr algn="l" indent="0" marL="0">
              <a:lnSpc>
                <a:spcPts val="844"/>
              </a:lnSpc>
              <a:buNone/>
            </a:pPr>
            <a:r>
              <a:rPr lang="en-US" sz="800" b="1" spc="101" kern="0" dirty="0">
                <a:solidFill>
                  <a:srgbClr val="6B7280"/>
                </a:solidFill>
                <a:latin typeface="Carlito" pitchFamily="34" charset="0"/>
                <a:ea typeface="Carlito" pitchFamily="34" charset="-122"/>
                <a:cs typeface="Carlito" pitchFamily="34" charset="-120"/>
              </a:rPr>
              <a:t>CSAT SCORE</a:t>
            </a:r>
            <a:endParaRPr lang="en-US" sz="800" dirty="0"/>
          </a:p>
        </p:txBody>
      </p:sp>
      <p:sp>
        <p:nvSpPr>
          <p:cNvPr id="9" name="Text 7"/>
          <p:cNvSpPr/>
          <p:nvPr/>
        </p:nvSpPr>
        <p:spPr>
          <a:xfrm>
            <a:off x="621506" y="1828800"/>
            <a:ext cx="2393156" cy="429768"/>
          </a:xfrm>
          <a:prstGeom prst="rect">
            <a:avLst/>
          </a:prstGeom>
          <a:noFill/>
          <a:ln/>
        </p:spPr>
        <p:txBody>
          <a:bodyPr wrap="none" lIns="0" tIns="0" rIns="0" bIns="0" rtlCol="0" anchor="t">
            <a:normAutofit/>
          </a:bodyPr>
          <a:lstStyle/>
          <a:p>
            <a:pPr algn="l" indent="0" marL="0">
              <a:lnSpc>
                <a:spcPts val="3150"/>
              </a:lnSpc>
              <a:buNone/>
            </a:pPr>
            <a:r>
              <a:rPr lang="en-US" sz="3150" b="1" spc="-94" kern="0" dirty="0">
                <a:solidFill>
                  <a:srgbClr val="7C3AED"/>
                </a:solidFill>
                <a:latin typeface="Liberation Sans Narrow" pitchFamily="34" charset="0"/>
                <a:ea typeface="Liberation Sans Narrow" pitchFamily="34" charset="-122"/>
                <a:cs typeface="Liberation Sans Narrow" pitchFamily="34" charset="-120"/>
              </a:rPr>
              <a:t>4.5 – 5.0</a:t>
            </a:r>
            <a:endParaRPr lang="en-US" sz="3150" dirty="0"/>
          </a:p>
        </p:txBody>
      </p:sp>
      <p:sp>
        <p:nvSpPr>
          <p:cNvPr id="10" name="Text 8"/>
          <p:cNvSpPr/>
          <p:nvPr/>
        </p:nvSpPr>
        <p:spPr>
          <a:xfrm>
            <a:off x="621506" y="2286000"/>
            <a:ext cx="2393156" cy="376051"/>
          </a:xfrm>
          <a:prstGeom prst="rect">
            <a:avLst/>
          </a:prstGeom>
          <a:noFill/>
          <a:ln/>
        </p:spPr>
        <p:txBody>
          <a:bodyPr wrap="square" lIns="0" tIns="0" rIns="0" bIns="0" rtlCol="0" anchor="t"/>
          <a:lstStyle/>
          <a:p>
            <a:pPr algn="l" indent="0" marL="0">
              <a:lnSpc>
                <a:spcPts val="987"/>
              </a:lnSpc>
              <a:buNone/>
            </a:pPr>
            <a:r>
              <a:rPr lang="en-US" sz="800" dirty="0">
                <a:solidFill>
                  <a:srgbClr val="1F2937"/>
                </a:solidFill>
                <a:latin typeface="Carlito" pitchFamily="34" charset="0"/>
                <a:ea typeface="Carlito" pitchFamily="34" charset="-122"/>
                <a:cs typeface="Carlito" pitchFamily="34" charset="-120"/>
              </a:rPr>
              <a:t>Typical customer satisfaction for video-assisted service, especially when customers compare it with other remote channels.</a:t>
            </a:r>
            <a:endParaRPr lang="en-US" sz="800" dirty="0"/>
          </a:p>
        </p:txBody>
      </p:sp>
      <p:sp>
        <p:nvSpPr>
          <p:cNvPr id="11" name="Text 9"/>
          <p:cNvSpPr/>
          <p:nvPr/>
        </p:nvSpPr>
        <p:spPr>
          <a:xfrm>
            <a:off x="3311128" y="1560909"/>
            <a:ext cx="2714625" cy="1233301"/>
          </a:xfrm>
          <a:prstGeom prst="roundRect">
            <a:avLst>
              <a:gd name="adj" fmla="val 10812"/>
            </a:avLst>
          </a:prstGeom>
          <a:solidFill>
            <a:srgbClr val="FFFFFF"/>
          </a:solidFill>
          <a:ln w="7144">
            <a:solidFill>
              <a:srgbClr val="E5E7EB"/>
            </a:solidFill>
            <a:prstDash val="solid"/>
          </a:ln>
          <a:effectLst>
            <a:outerShdw sx="100000" sy="100000" kx="0" ky="0" algn="bl" rotWithShape="0" blurRad="57150" dist="19050" dir="5400000">
              <a:srgbClr val="7C3AED">
                <a:alpha val="6000"/>
              </a:srgbClr>
            </a:outerShdw>
          </a:effectLst>
        </p:spPr>
        <p:txBody>
          <a:bodyPr wrap="square" rtlCol="0" anchor="ctr"/>
          <a:lstStyle/>
          <a:p>
            <a:pPr indent="0" marL="0">
              <a:buNone/>
            </a:pPr>
            <a:endParaRPr lang="en-US" dirty="0"/>
          </a:p>
        </p:txBody>
      </p:sp>
      <p:sp>
        <p:nvSpPr>
          <p:cNvPr id="12" name="Text 10"/>
          <p:cNvSpPr/>
          <p:nvPr/>
        </p:nvSpPr>
        <p:spPr>
          <a:xfrm>
            <a:off x="3471863" y="1693069"/>
            <a:ext cx="2502884" cy="108299"/>
          </a:xfrm>
          <a:prstGeom prst="rect">
            <a:avLst/>
          </a:prstGeom>
          <a:noFill/>
          <a:ln/>
        </p:spPr>
        <p:txBody>
          <a:bodyPr wrap="square" lIns="0" tIns="0" rIns="0" bIns="0" rtlCol="0" anchor="t">
            <a:normAutofit/>
          </a:bodyPr>
          <a:lstStyle/>
          <a:p>
            <a:pPr algn="l" indent="0" marL="0">
              <a:lnSpc>
                <a:spcPts val="844"/>
              </a:lnSpc>
              <a:buNone/>
            </a:pPr>
            <a:r>
              <a:rPr lang="en-US" sz="800" b="1" spc="101" kern="0" dirty="0">
                <a:solidFill>
                  <a:srgbClr val="6B7280"/>
                </a:solidFill>
                <a:latin typeface="Carlito" pitchFamily="34" charset="0"/>
                <a:ea typeface="Carlito" pitchFamily="34" charset="-122"/>
                <a:cs typeface="Carlito" pitchFamily="34" charset="-120"/>
              </a:rPr>
              <a:t>FIRST-CONTACT RESOLUTION</a:t>
            </a:r>
            <a:endParaRPr lang="en-US" sz="800" dirty="0"/>
          </a:p>
        </p:txBody>
      </p:sp>
      <p:sp>
        <p:nvSpPr>
          <p:cNvPr id="13" name="Text 11"/>
          <p:cNvSpPr/>
          <p:nvPr/>
        </p:nvSpPr>
        <p:spPr>
          <a:xfrm>
            <a:off x="3471863" y="1828800"/>
            <a:ext cx="2393156" cy="385763"/>
          </a:xfrm>
          <a:prstGeom prst="rect">
            <a:avLst/>
          </a:prstGeom>
          <a:noFill/>
          <a:ln/>
        </p:spPr>
        <p:txBody>
          <a:bodyPr wrap="none" lIns="0" tIns="0" rIns="0" bIns="0" rtlCol="0" anchor="t"/>
          <a:lstStyle/>
          <a:p>
            <a:pPr algn="l" indent="0" marL="0">
              <a:lnSpc>
                <a:spcPts val="2813"/>
              </a:lnSpc>
              <a:buNone/>
            </a:pPr>
            <a:r>
              <a:rPr lang="en-US" sz="2813" b="1" spc="-84" kern="0" dirty="0">
                <a:solidFill>
                  <a:srgbClr val="7C3AED"/>
                </a:solidFill>
                <a:latin typeface="Carlito" pitchFamily="34" charset="0"/>
                <a:ea typeface="Carlito" pitchFamily="34" charset="-122"/>
                <a:cs typeface="Carlito" pitchFamily="34" charset="-120"/>
              </a:rPr>
              <a:t>Highest</a:t>
            </a:r>
            <a:endParaRPr lang="en-US" sz="2813" dirty="0"/>
          </a:p>
        </p:txBody>
      </p:sp>
      <p:sp>
        <p:nvSpPr>
          <p:cNvPr id="14" name="Text 12"/>
          <p:cNvSpPr/>
          <p:nvPr/>
        </p:nvSpPr>
        <p:spPr>
          <a:xfrm>
            <a:off x="3471863" y="2243138"/>
            <a:ext cx="2393156" cy="418914"/>
          </a:xfrm>
          <a:prstGeom prst="rect">
            <a:avLst/>
          </a:prstGeom>
          <a:noFill/>
          <a:ln/>
        </p:spPr>
        <p:txBody>
          <a:bodyPr wrap="square" lIns="0" tIns="0" rIns="0" bIns="0" rtlCol="0" anchor="t"/>
          <a:lstStyle/>
          <a:p>
            <a:pPr algn="l" indent="0" marL="0">
              <a:lnSpc>
                <a:spcPts val="987"/>
              </a:lnSpc>
              <a:buNone/>
            </a:pPr>
            <a:r>
              <a:rPr lang="en-US" sz="800" dirty="0">
                <a:solidFill>
                  <a:srgbClr val="1F2937"/>
                </a:solidFill>
                <a:latin typeface="Carlito" pitchFamily="34" charset="0"/>
                <a:ea typeface="Carlito" pitchFamily="34" charset="-122"/>
                <a:cs typeface="Carlito" pitchFamily="34" charset="-120"/>
              </a:rPr>
              <a:t>FCR rates with video calls outperform any other digital channel or phone. The customer's problem is solved in a single session.</a:t>
            </a:r>
            <a:endParaRPr lang="en-US" sz="800" dirty="0"/>
          </a:p>
        </p:txBody>
      </p:sp>
      <p:sp>
        <p:nvSpPr>
          <p:cNvPr id="15" name="Text 13"/>
          <p:cNvSpPr/>
          <p:nvPr/>
        </p:nvSpPr>
        <p:spPr>
          <a:xfrm>
            <a:off x="460772" y="2929942"/>
            <a:ext cx="5564981" cy="1025128"/>
          </a:xfrm>
          <a:prstGeom prst="roundRect">
            <a:avLst>
              <a:gd name="adj" fmla="val 13008"/>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16" name="Text 14"/>
          <p:cNvSpPr/>
          <p:nvPr/>
        </p:nvSpPr>
        <p:spPr>
          <a:xfrm>
            <a:off x="621506" y="3072817"/>
            <a:ext cx="128588" cy="128588"/>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17" name="Text 15"/>
          <p:cNvSpPr/>
          <p:nvPr/>
        </p:nvSpPr>
        <p:spPr>
          <a:xfrm>
            <a:off x="821531" y="3062101"/>
            <a:ext cx="5043488" cy="164592"/>
          </a:xfrm>
          <a:prstGeom prst="rect">
            <a:avLst/>
          </a:prstGeom>
          <a:noFill/>
          <a:ln/>
        </p:spPr>
        <p:txBody>
          <a:bodyPr wrap="none" lIns="0" tIns="0" rIns="0" bIns="0" rtlCol="0" anchor="t"/>
          <a:lstStyle/>
          <a:p>
            <a:pPr algn="l" indent="0" marL="0">
              <a:lnSpc>
                <a:spcPts val="1181"/>
              </a:lnSpc>
              <a:buNone/>
            </a:pPr>
            <a:r>
              <a:rPr lang="en-US" sz="800" b="1" spc="32" kern="0" dirty="0">
                <a:solidFill>
                  <a:srgbClr val="6D28D9"/>
                </a:solidFill>
                <a:latin typeface="Carlito" pitchFamily="34" charset="0"/>
                <a:ea typeface="Carlito" pitchFamily="34" charset="-122"/>
                <a:cs typeface="Carlito" pitchFamily="34" charset="-120"/>
              </a:rPr>
              <a:t>WHY IT WORKS</a:t>
            </a:r>
            <a:endParaRPr lang="en-US" sz="800" dirty="0"/>
          </a:p>
        </p:txBody>
      </p:sp>
      <p:sp>
        <p:nvSpPr>
          <p:cNvPr id="18" name="Text 16"/>
          <p:cNvSpPr/>
          <p:nvPr/>
        </p:nvSpPr>
        <p:spPr>
          <a:xfrm>
            <a:off x="621506" y="3283558"/>
            <a:ext cx="5243513" cy="329184"/>
          </a:xfrm>
          <a:prstGeom prst="rect">
            <a:avLst/>
          </a:prstGeom>
          <a:noFill/>
          <a:ln/>
        </p:spPr>
        <p:txBody>
          <a:bodyPr wrap="square" lIns="0" tIns="0" rIns="0" bIns="0" rtlCol="0" anchor="t"/>
          <a:lstStyle/>
          <a:p>
            <a:pPr algn="l" indent="0" marL="0">
              <a:lnSpc>
                <a:spcPts val="1181"/>
              </a:lnSpc>
              <a:buNone/>
            </a:pPr>
            <a:r>
              <a:rPr lang="en-US" sz="800" dirty="0">
                <a:solidFill>
                  <a:srgbClr val="374151"/>
                </a:solidFill>
                <a:latin typeface="Carlito" pitchFamily="34" charset="0"/>
                <a:ea typeface="Carlito" pitchFamily="34" charset="-122"/>
                <a:cs typeface="Carlito" pitchFamily="34" charset="-120"/>
              </a:rPr>
              <a:t>Video combines the trust and clarity of in-person service with the efficiency of digital. The advisor can see the customer, share documents, verify identity, and walk through complex forms in real time.</a:t>
            </a:r>
            <a:endParaRPr lang="en-US" sz="800" dirty="0"/>
          </a:p>
        </p:txBody>
      </p:sp>
      <p:sp>
        <p:nvSpPr>
          <p:cNvPr id="19" name="Text 17"/>
          <p:cNvSpPr/>
          <p:nvPr/>
        </p:nvSpPr>
        <p:spPr>
          <a:xfrm>
            <a:off x="807244" y="3697895"/>
            <a:ext cx="363438" cy="125016"/>
          </a:xfrm>
          <a:prstGeom prst="rect">
            <a:avLst/>
          </a:prstGeom>
          <a:noFill/>
          <a:ln/>
        </p:spPr>
        <p:txBody>
          <a:bodyPr wrap="none" lIns="0" tIns="0" rIns="0" bIns="0" rtlCol="0" anchor="t"/>
          <a:lstStyle/>
          <a:p>
            <a:pPr algn="l" indent="0" marL="0">
              <a:lnSpc>
                <a:spcPts val="1097"/>
              </a:lnSpc>
              <a:buNone/>
            </a:pPr>
            <a:r>
              <a:rPr lang="en-US" sz="800" dirty="0">
                <a:solidFill>
                  <a:srgbClr val="6D28D9"/>
                </a:solidFill>
                <a:latin typeface="Carlito" pitchFamily="34" charset="0"/>
                <a:ea typeface="Carlito" pitchFamily="34" charset="-122"/>
                <a:cs typeface="Carlito" pitchFamily="34" charset="-120"/>
              </a:rPr>
              <a:t>Trust</a:t>
            </a:r>
            <a:endParaRPr lang="en-US" sz="800" dirty="0"/>
          </a:p>
        </p:txBody>
      </p:sp>
      <p:sp>
        <p:nvSpPr>
          <p:cNvPr id="20" name="Text 18"/>
          <p:cNvSpPr/>
          <p:nvPr/>
        </p:nvSpPr>
        <p:spPr>
          <a:xfrm>
            <a:off x="621506" y="3696109"/>
            <a:ext cx="114300" cy="114300"/>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21" name="Text 19"/>
          <p:cNvSpPr/>
          <p:nvPr/>
        </p:nvSpPr>
        <p:spPr>
          <a:xfrm>
            <a:off x="2121511" y="3697895"/>
            <a:ext cx="442352" cy="125016"/>
          </a:xfrm>
          <a:prstGeom prst="rect">
            <a:avLst/>
          </a:prstGeom>
          <a:noFill/>
          <a:ln/>
        </p:spPr>
        <p:txBody>
          <a:bodyPr wrap="none" lIns="0" tIns="0" rIns="0" bIns="0" rtlCol="0" anchor="t"/>
          <a:lstStyle/>
          <a:p>
            <a:pPr algn="l" indent="0" marL="0">
              <a:lnSpc>
                <a:spcPts val="1097"/>
              </a:lnSpc>
              <a:buNone/>
            </a:pPr>
            <a:r>
              <a:rPr lang="en-US" sz="731" dirty="0">
                <a:solidFill>
                  <a:srgbClr val="6D28D9"/>
                </a:solidFill>
                <a:latin typeface="Carlito" pitchFamily="34" charset="0"/>
                <a:ea typeface="Carlito" pitchFamily="34" charset="-122"/>
                <a:cs typeface="Carlito" pitchFamily="34" charset="-120"/>
              </a:rPr>
              <a:t>Clarity</a:t>
            </a:r>
            <a:endParaRPr lang="en-US" sz="731" dirty="0"/>
          </a:p>
        </p:txBody>
      </p:sp>
      <p:sp>
        <p:nvSpPr>
          <p:cNvPr id="22" name="Text 20"/>
          <p:cNvSpPr/>
          <p:nvPr/>
        </p:nvSpPr>
        <p:spPr>
          <a:xfrm>
            <a:off x="1950244" y="3696109"/>
            <a:ext cx="114300" cy="114300"/>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23" name="Text 21"/>
          <p:cNvSpPr/>
          <p:nvPr/>
        </p:nvSpPr>
        <p:spPr>
          <a:xfrm>
            <a:off x="3451205" y="3697895"/>
            <a:ext cx="499337" cy="125016"/>
          </a:xfrm>
          <a:prstGeom prst="rect">
            <a:avLst/>
          </a:prstGeom>
          <a:noFill/>
          <a:ln/>
        </p:spPr>
        <p:txBody>
          <a:bodyPr wrap="none" lIns="0" tIns="0" rIns="0" bIns="0" rtlCol="0" anchor="t"/>
          <a:lstStyle/>
          <a:p>
            <a:pPr algn="l" indent="0" marL="0">
              <a:lnSpc>
                <a:spcPts val="1097"/>
              </a:lnSpc>
              <a:buNone/>
            </a:pPr>
            <a:r>
              <a:rPr lang="en-US" sz="731" dirty="0">
                <a:solidFill>
                  <a:srgbClr val="6D28D9"/>
                </a:solidFill>
                <a:latin typeface="Carlito" pitchFamily="34" charset="0"/>
                <a:ea typeface="Carlito" pitchFamily="34" charset="-122"/>
                <a:cs typeface="Carlito" pitchFamily="34" charset="-120"/>
              </a:rPr>
              <a:t>Identity</a:t>
            </a:r>
            <a:endParaRPr lang="en-US" sz="731" dirty="0"/>
          </a:p>
        </p:txBody>
      </p:sp>
      <p:sp>
        <p:nvSpPr>
          <p:cNvPr id="24" name="Text 22"/>
          <p:cNvSpPr/>
          <p:nvPr/>
        </p:nvSpPr>
        <p:spPr>
          <a:xfrm>
            <a:off x="3278981" y="3696109"/>
            <a:ext cx="114300" cy="114300"/>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25" name="Text 23"/>
          <p:cNvSpPr/>
          <p:nvPr/>
        </p:nvSpPr>
        <p:spPr>
          <a:xfrm>
            <a:off x="4770861" y="3697895"/>
            <a:ext cx="670966" cy="125016"/>
          </a:xfrm>
          <a:prstGeom prst="rect">
            <a:avLst/>
          </a:prstGeom>
          <a:noFill/>
          <a:ln/>
        </p:spPr>
        <p:txBody>
          <a:bodyPr wrap="none" lIns="0" tIns="0" rIns="0" bIns="0" rtlCol="0" anchor="t"/>
          <a:lstStyle/>
          <a:p>
            <a:pPr algn="l" indent="0" marL="0">
              <a:lnSpc>
                <a:spcPts val="1097"/>
              </a:lnSpc>
              <a:buNone/>
            </a:pPr>
            <a:r>
              <a:rPr lang="en-US" sz="800" dirty="0">
                <a:solidFill>
                  <a:srgbClr val="6D28D9"/>
                </a:solidFill>
                <a:latin typeface="Carlito" pitchFamily="34" charset="0"/>
                <a:ea typeface="Carlito" pitchFamily="34" charset="-122"/>
                <a:cs typeface="Carlito" pitchFamily="34" charset="-120"/>
              </a:rPr>
              <a:t>Complexity</a:t>
            </a:r>
            <a:endParaRPr lang="en-US" sz="800" dirty="0"/>
          </a:p>
        </p:txBody>
      </p:sp>
      <p:sp>
        <p:nvSpPr>
          <p:cNvPr id="26" name="Text 24"/>
          <p:cNvSpPr/>
          <p:nvPr/>
        </p:nvSpPr>
        <p:spPr>
          <a:xfrm>
            <a:off x="4607719" y="3696109"/>
            <a:ext cx="114300" cy="114300"/>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27" name="Text 25"/>
          <p:cNvSpPr/>
          <p:nvPr/>
        </p:nvSpPr>
        <p:spPr>
          <a:xfrm>
            <a:off x="457200" y="4065798"/>
            <a:ext cx="92869" cy="92869"/>
          </a:xfrm>
          <a:prstGeom prst="rect">
            <a:avLst/>
          </a:prstGeom>
          <a:noFill/>
          <a:ln/>
        </p:spPr>
        <p:txBody>
          <a:bodyPr wrap="none" lIns="0" tIns="0" rIns="0" bIns="0" rtlCol="0" anchor="ctr"/>
          <a:lstStyle/>
          <a:p>
            <a:pPr algn="ctr" indent="0" marL="0">
              <a:buNone/>
            </a:pPr>
            <a:r>
              <a:rPr lang="en-US" sz="914" dirty="0">
                <a:solidFill>
                  <a:srgbClr val="6B7280"/>
                </a:solidFill>
                <a:latin typeface="Segoe UI Symbol" pitchFamily="34" charset="0"/>
                <a:ea typeface="Segoe UI Symbol" pitchFamily="34" charset="-122"/>
                <a:cs typeface="Segoe UI Symbol" pitchFamily="34" charset="-120"/>
              </a:rPr>
              <a:t>ⓘ</a:t>
            </a:r>
            <a:endParaRPr lang="en-US" sz="914" dirty="0"/>
          </a:p>
        </p:txBody>
      </p:sp>
      <p:sp>
        <p:nvSpPr>
          <p:cNvPr id="28" name="Text 26"/>
          <p:cNvSpPr/>
          <p:nvPr/>
        </p:nvSpPr>
        <p:spPr>
          <a:xfrm>
            <a:off x="607219" y="4058655"/>
            <a:ext cx="5422106" cy="158981"/>
          </a:xfrm>
          <a:prstGeom prst="rect">
            <a:avLst/>
          </a:prstGeom>
          <a:noFill/>
          <a:ln/>
        </p:spPr>
        <p:txBody>
          <a:bodyPr wrap="square" lIns="0" tIns="0" rIns="0" bIns="0" rtlCol="0" anchor="t"/>
          <a:lstStyle/>
          <a:p>
            <a:pPr algn="l" indent="0" marL="0">
              <a:lnSpc>
                <a:spcPts val="897"/>
              </a:lnSpc>
              <a:buNone/>
            </a:pPr>
            <a:r>
              <a:rPr lang="en-US" sz="619" i="1" dirty="0">
                <a:solidFill>
                  <a:srgbClr val="6B7280"/>
                </a:solidFill>
                <a:latin typeface="Carlito" pitchFamily="34" charset="0"/>
                <a:ea typeface="Carlito" pitchFamily="34" charset="-122"/>
                <a:cs typeface="Carlito" pitchFamily="34" charset="-120"/>
              </a:rPr>
              <a:t>Source: consolidated industry averages and trends for 2025–2026, drawn from multiple client reports and cross-checked against independent studies.</a:t>
            </a:r>
            <a:endParaRPr lang="en-US" sz="619" dirty="0"/>
          </a:p>
        </p:txBody>
      </p:sp>
      <p:pic>
        <p:nvPicPr>
          <p:cNvPr id="29" name="Image 0" descr="/tmp/h2p-fit-1786522334864-wpe2pl.png">    </p:cNvPr>
          <p:cNvPicPr>
            <a:picLocks noChangeAspect="1"/>
          </p:cNvPicPr>
          <p:nvPr/>
        </p:nvPicPr>
        <p:blipFill>
          <a:blip r:embed="rId1"/>
          <a:stretch>
            <a:fillRect/>
          </a:stretch>
        </p:blipFill>
        <p:spPr>
          <a:xfrm>
            <a:off x="6029325" y="571500"/>
            <a:ext cx="2657475" cy="4000500"/>
          </a:xfrm>
          <a:prstGeom prst="rect">
            <a:avLst/>
          </a:prstGeom>
        </p:spPr>
      </p:pic>
      <p:pic>
        <p:nvPicPr>
          <p:cNvPr id="30" name="Image 1" descr="preencoded.png">    </p:cNvPr>
          <p:cNvPicPr>
            <a:picLocks noChangeAspect="1"/>
          </p:cNvPicPr>
          <p:nvPr/>
        </p:nvPicPr>
        <p:blipFill>
          <a:blip r:embed="rId2"/>
          <a:stretch>
            <a:fillRect/>
          </a:stretch>
        </p:blipFill>
        <p:spPr>
          <a:xfrm>
            <a:off x="6029325" y="571500"/>
            <a:ext cx="2657475" cy="4000500"/>
          </a:xfrm>
          <a:prstGeom prst="rect">
            <a:avLst/>
          </a:prstGeom>
        </p:spPr>
      </p:pic>
      <p:sp>
        <p:nvSpPr>
          <p:cNvPr id="31" name="Text 27"/>
          <p:cNvSpPr/>
          <p:nvPr/>
        </p:nvSpPr>
        <p:spPr>
          <a:xfrm>
            <a:off x="7379516" y="687872"/>
            <a:ext cx="1201556" cy="228029"/>
          </a:xfrm>
          <a:prstGeom prst="roundRect">
            <a:avLst>
              <a:gd name="adj" fmla="val 4172923"/>
            </a:avLst>
          </a:prstGeom>
          <a:solidFill>
            <a:srgbClr val="FFFFFF">
              <a:alpha val="95000"/>
            </a:srgbClr>
          </a:solidFill>
          <a:ln/>
        </p:spPr>
        <p:txBody>
          <a:bodyPr wrap="square" rtlCol="0" anchor="ctr"/>
          <a:lstStyle/>
          <a:p>
            <a:pPr indent="0" marL="0">
              <a:buNone/>
            </a:pPr>
            <a:endParaRPr lang="en-US" dirty="0"/>
          </a:p>
        </p:txBody>
      </p:sp>
      <p:sp>
        <p:nvSpPr>
          <p:cNvPr id="32" name="Text 28"/>
          <p:cNvSpPr/>
          <p:nvPr/>
        </p:nvSpPr>
        <p:spPr>
          <a:xfrm>
            <a:off x="7488101" y="751880"/>
            <a:ext cx="100013" cy="100013"/>
          </a:xfrm>
          <a:prstGeom prst="rect">
            <a:avLst/>
          </a:prstGeom>
          <a:noFill/>
          <a:ln/>
        </p:spPr>
        <p:txBody>
          <a:bodyPr wrap="none" lIns="0" tIns="0" rIns="0" bIns="0" rtlCol="0" anchor="ctr"/>
          <a:lstStyle/>
          <a:p>
            <a:pPr algn="ctr" indent="0" marL="0">
              <a:buNone/>
            </a:pPr>
            <a:r>
              <a:rPr lang="en-US" sz="984" dirty="0">
                <a:solidFill>
                  <a:srgbClr val="7C3AED"/>
                </a:solidFill>
                <a:latin typeface="Segoe UI Symbol" pitchFamily="34" charset="0"/>
                <a:ea typeface="Segoe UI Symbol" pitchFamily="34" charset="-122"/>
                <a:cs typeface="Segoe UI Symbol" pitchFamily="34" charset="-120"/>
              </a:rPr>
              <a:t>★</a:t>
            </a:r>
            <a:endParaRPr lang="en-US" sz="984" dirty="0"/>
          </a:p>
        </p:txBody>
      </p:sp>
      <p:sp>
        <p:nvSpPr>
          <p:cNvPr id="33" name="Text 29"/>
          <p:cNvSpPr/>
          <p:nvPr/>
        </p:nvSpPr>
        <p:spPr>
          <a:xfrm>
            <a:off x="7630976" y="742950"/>
            <a:ext cx="841511" cy="117872"/>
          </a:xfrm>
          <a:prstGeom prst="rect">
            <a:avLst/>
          </a:prstGeom>
          <a:noFill/>
          <a:ln/>
        </p:spPr>
        <p:txBody>
          <a:bodyPr wrap="none" lIns="0" tIns="0" rIns="0" bIns="0" rtlCol="0" anchor="t"/>
          <a:lstStyle/>
          <a:p>
            <a:pPr algn="l" indent="0" marL="0">
              <a:lnSpc>
                <a:spcPts val="928"/>
              </a:lnSpc>
              <a:buNone/>
            </a:pPr>
            <a:r>
              <a:rPr lang="en-US" sz="619" b="1" spc="87" kern="0" dirty="0">
                <a:solidFill>
                  <a:srgbClr val="6D28D9"/>
                </a:solidFill>
                <a:latin typeface="Carlito" pitchFamily="34" charset="0"/>
                <a:ea typeface="Carlito" pitchFamily="34" charset="-122"/>
                <a:cs typeface="Carlito" pitchFamily="34" charset="-120"/>
              </a:rPr>
              <a:t>OUTPERFORMING</a:t>
            </a:r>
            <a:endParaRPr lang="en-US" sz="619" dirty="0"/>
          </a:p>
        </p:txBody>
      </p:sp>
      <p:sp>
        <p:nvSpPr>
          <p:cNvPr id="34" name="Text 30"/>
          <p:cNvSpPr/>
          <p:nvPr/>
        </p:nvSpPr>
        <p:spPr>
          <a:xfrm>
            <a:off x="6186488" y="3906403"/>
            <a:ext cx="2530602" cy="221148"/>
          </a:xfrm>
          <a:prstGeom prst="rect">
            <a:avLst/>
          </a:prstGeom>
          <a:noFill/>
          <a:ln/>
        </p:spPr>
        <p:txBody>
          <a:bodyPr wrap="square" lIns="0" tIns="0" rIns="0" bIns="0" rtlCol="0" anchor="t">
            <a:normAutofit/>
          </a:bodyPr>
          <a:lstStyle/>
          <a:p>
            <a:pPr algn="l" indent="0" marL="0">
              <a:lnSpc>
                <a:spcPts val="1620"/>
              </a:lnSpc>
              <a:buNone/>
            </a:pPr>
            <a:r>
              <a:rPr lang="en-US" sz="1350" b="1" spc="-13" kern="0" dirty="0">
                <a:solidFill>
                  <a:srgbClr val="FFFFFF"/>
                </a:solidFill>
                <a:latin typeface="Tinos" pitchFamily="34" charset="0"/>
                <a:ea typeface="Tinos" pitchFamily="34" charset="-122"/>
                <a:cs typeface="Tinos" pitchFamily="34" charset="-120"/>
              </a:rPr>
              <a:t>A different category of CSAT.</a:t>
            </a:r>
            <a:endParaRPr lang="en-US" sz="1350" dirty="0"/>
          </a:p>
        </p:txBody>
      </p:sp>
      <p:sp>
        <p:nvSpPr>
          <p:cNvPr id="35" name="Text 31"/>
          <p:cNvSpPr/>
          <p:nvPr/>
        </p:nvSpPr>
        <p:spPr>
          <a:xfrm>
            <a:off x="6186488" y="4154984"/>
            <a:ext cx="2343150" cy="307027"/>
          </a:xfrm>
          <a:prstGeom prst="rect">
            <a:avLst/>
          </a:prstGeom>
          <a:noFill/>
          <a:ln/>
        </p:spPr>
        <p:txBody>
          <a:bodyPr wrap="square" lIns="0" tIns="0" rIns="0" bIns="0" rtlCol="0" anchor="t"/>
          <a:lstStyle/>
          <a:p>
            <a:pPr algn="l" indent="0" marL="0">
              <a:lnSpc>
                <a:spcPts val="1024"/>
              </a:lnSpc>
              <a:buNone/>
            </a:pPr>
            <a:r>
              <a:rPr lang="en-US" sz="800" dirty="0">
                <a:solidFill>
                  <a:srgbClr val="C4B5FD"/>
                </a:solidFill>
                <a:latin typeface="Carlito" pitchFamily="34" charset="0"/>
                <a:ea typeface="Carlito" pitchFamily="34" charset="-122"/>
                <a:cs typeface="Carlito" pitchFamily="34" charset="-120"/>
              </a:rPr>
              <a:t>Most call centres operate at 3.8–4.2. Video service lives at 4.5–5.0.</a:t>
            </a:r>
            <a:endParaRPr lang="en-US" sz="800" dirty="0"/>
          </a:p>
        </p:txBody>
      </p:sp>
      <p:sp>
        <p:nvSpPr>
          <p:cNvPr id="36" name="Text 32"/>
          <p:cNvSpPr/>
          <p:nvPr/>
        </p:nvSpPr>
        <p:spPr>
          <a:xfrm>
            <a:off x="342900" y="4854178"/>
            <a:ext cx="4294175"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37" name="Text 33"/>
          <p:cNvSpPr/>
          <p:nvPr/>
        </p:nvSpPr>
        <p:spPr>
          <a:xfrm>
            <a:off x="4651363" y="4854178"/>
            <a:ext cx="3619314"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a:t>
            </a:r>
            <a:endParaRPr lang="en-US" sz="800" dirty="0"/>
          </a:p>
        </p:txBody>
      </p:sp>
      <p:sp>
        <p:nvSpPr>
          <p:cNvPr id="38" name="Text 34"/>
          <p:cNvSpPr/>
          <p:nvPr/>
        </p:nvSpPr>
        <p:spPr>
          <a:xfrm>
            <a:off x="8284964" y="4854178"/>
            <a:ext cx="620879" cy="164592"/>
          </a:xfrm>
          <a:prstGeom prst="rect">
            <a:avLst/>
          </a:prstGeom>
          <a:noFill/>
          <a:ln/>
        </p:spPr>
        <p:txBody>
          <a:bodyPr wrap="none" lIns="0" tIns="0" rIns="0" bIns="0" rtlCol="0" anchor="t"/>
          <a:lstStyle/>
          <a:p>
            <a:pPr algn="l" indent="0" marL="0">
              <a:lnSpc>
                <a:spcPts val="928"/>
              </a:lnSpc>
              <a:buNone/>
            </a:pPr>
            <a:r>
              <a:rPr lang="en-US" sz="619" spc="25" kern="0" dirty="0">
                <a:solidFill>
                  <a:srgbClr val="6B7280"/>
                </a:solidFill>
                <a:latin typeface="Liberation Sans Narrow" pitchFamily="34" charset="0"/>
                <a:ea typeface="Liberation Sans Narrow" pitchFamily="34" charset="-122"/>
                <a:cs typeface="Liberation Sans Narrow" pitchFamily="34" charset="-120"/>
              </a:rPr>
              <a:t>SLIDE 4 / 24</a:t>
            </a:r>
            <a:endParaRPr lang="en-US" sz="619" dirty="0"/>
          </a:p>
        </p:txBody>
      </p:sp>
      <p:pic>
        <p:nvPicPr>
          <p:cNvPr id="39" name="Image 2" descr="/home/z/my-project/download/slides/massapro-logo.png">    </p:cNvPr>
          <p:cNvPicPr>
            <a:picLocks noChangeAspect="1"/>
          </p:cNvPicPr>
          <p:nvPr/>
        </p:nvPicPr>
        <p:blipFill>
          <a:blip r:embed="rId3"/>
          <a:stretch>
            <a:fillRect/>
          </a:stretch>
        </p:blipFill>
        <p:spPr>
          <a:xfrm>
            <a:off x="342900" y="200025"/>
            <a:ext cx="200025" cy="200025"/>
          </a:xfrm>
          <a:prstGeom prst="rect">
            <a:avLst/>
          </a:prstGeom>
        </p:spPr>
      </p:pic>
      <p:sp>
        <p:nvSpPr>
          <p:cNvPr id="40" name="Text 35"/>
          <p:cNvSpPr/>
          <p:nvPr/>
        </p:nvSpPr>
        <p:spPr>
          <a:xfrm>
            <a:off x="614363" y="219670"/>
            <a:ext cx="998810"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6D28D9"/>
                </a:solidFill>
                <a:latin typeface="Carlito" pitchFamily="34" charset="0"/>
                <a:ea typeface="Carlito" pitchFamily="34" charset="-122"/>
                <a:cs typeface="Carlito" pitchFamily="34" charset="-120"/>
              </a:rPr>
              <a:t>MassaPro IVR</a:t>
            </a:r>
            <a:endParaRPr lang="en-US" sz="84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tmp/h2p-fit-1786522334863-nkm2bh.png">    </p:cNvPr>
          <p:cNvPicPr>
            <a:picLocks noChangeAspect="1"/>
          </p:cNvPicPr>
          <p:nvPr/>
        </p:nvPicPr>
        <p:blipFill>
          <a:blip r:embed="rId1"/>
          <a:stretch>
            <a:fillRect/>
          </a:stretch>
        </p:blipFill>
        <p:spPr>
          <a:xfrm>
            <a:off x="0" y="0"/>
            <a:ext cx="40005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4000500" cy="1000125"/>
          </a:xfrm>
          <a:prstGeom prst="rect">
            <a:avLst/>
          </a:prstGeom>
        </p:spPr>
      </p:pic>
      <p:pic>
        <p:nvPicPr>
          <p:cNvPr id="4" name="Image 2" descr="preencoded.png">    </p:cNvPr>
          <p:cNvPicPr>
            <a:picLocks noChangeAspect="1"/>
          </p:cNvPicPr>
          <p:nvPr/>
        </p:nvPicPr>
        <p:blipFill>
          <a:blip r:embed="rId3"/>
          <a:stretch>
            <a:fillRect/>
          </a:stretch>
        </p:blipFill>
        <p:spPr>
          <a:xfrm>
            <a:off x="0" y="3000375"/>
            <a:ext cx="4000500" cy="2143125"/>
          </a:xfrm>
          <a:prstGeom prst="rect">
            <a:avLst/>
          </a:prstGeom>
        </p:spPr>
      </p:pic>
      <p:pic>
        <p:nvPicPr>
          <p:cNvPr id="5" name="Image 3" descr="preencoded.png">    </p:cNvPr>
          <p:cNvPicPr>
            <a:picLocks noChangeAspect="1"/>
          </p:cNvPicPr>
          <p:nvPr/>
        </p:nvPicPr>
        <p:blipFill>
          <a:blip r:embed="rId4"/>
          <a:stretch>
            <a:fillRect/>
          </a:stretch>
        </p:blipFill>
        <p:spPr>
          <a:xfrm>
            <a:off x="3429000" y="0"/>
            <a:ext cx="571500" cy="5143500"/>
          </a:xfrm>
          <a:prstGeom prst="rect">
            <a:avLst/>
          </a:prstGeom>
        </p:spPr>
      </p:pic>
      <p:pic>
        <p:nvPicPr>
          <p:cNvPr id="6" name="Image 4" descr="preencoded.png">    </p:cNvPr>
          <p:cNvPicPr>
            <a:picLocks noChangeAspect="1"/>
          </p:cNvPicPr>
          <p:nvPr/>
        </p:nvPicPr>
        <p:blipFill>
          <a:blip r:embed="rId5"/>
          <a:stretch>
            <a:fillRect/>
          </a:stretch>
        </p:blipFill>
        <p:spPr>
          <a:xfrm>
            <a:off x="0" y="0"/>
            <a:ext cx="4000500" cy="5143500"/>
          </a:xfrm>
          <a:prstGeom prst="rect">
            <a:avLst/>
          </a:prstGeom>
        </p:spPr>
      </p:pic>
      <p:sp>
        <p:nvSpPr>
          <p:cNvPr id="7" name="Text 0"/>
          <p:cNvSpPr/>
          <p:nvPr/>
        </p:nvSpPr>
        <p:spPr>
          <a:xfrm>
            <a:off x="228600" y="4045595"/>
            <a:ext cx="4435481" cy="133302"/>
          </a:xfrm>
          <a:prstGeom prst="rect">
            <a:avLst/>
          </a:prstGeom>
          <a:noFill/>
          <a:ln/>
        </p:spPr>
        <p:txBody>
          <a:bodyPr wrap="none" lIns="0" tIns="0" rIns="0" bIns="0" rtlCol="0" anchor="t">
            <a:normAutofit/>
          </a:bodyPr>
          <a:lstStyle/>
          <a:p>
            <a:pPr algn="l" indent="0" marL="0">
              <a:lnSpc>
                <a:spcPts val="928"/>
              </a:lnSpc>
              <a:buNone/>
            </a:pPr>
            <a:r>
              <a:rPr lang="en-US" sz="800" b="1" spc="124" kern="0" dirty="0">
                <a:solidFill>
                  <a:srgbClr val="A78BFA"/>
                </a:solidFill>
                <a:latin typeface="Carlito" pitchFamily="34" charset="0"/>
                <a:ea typeface="Carlito" pitchFamily="34" charset="-122"/>
                <a:cs typeface="Carlito" pitchFamily="34" charset="-120"/>
              </a:rPr>
              <a:t>THE VIDEO LAYER</a:t>
            </a:r>
            <a:endParaRPr lang="en-US" sz="800" dirty="0"/>
          </a:p>
        </p:txBody>
      </p:sp>
      <p:sp>
        <p:nvSpPr>
          <p:cNvPr id="8" name="Text 1"/>
          <p:cNvSpPr/>
          <p:nvPr/>
        </p:nvSpPr>
        <p:spPr>
          <a:xfrm>
            <a:off x="228600" y="4206329"/>
            <a:ext cx="3343275" cy="522637"/>
          </a:xfrm>
          <a:prstGeom prst="rect">
            <a:avLst/>
          </a:prstGeom>
          <a:noFill/>
          <a:ln/>
        </p:spPr>
        <p:txBody>
          <a:bodyPr wrap="square" lIns="0" tIns="0" rIns="0" bIns="0" rtlCol="0" anchor="t">
            <a:normAutofit/>
          </a:bodyPr>
          <a:lstStyle/>
          <a:p>
            <a:pPr algn="l" indent="0" marL="0">
              <a:lnSpc>
                <a:spcPts val="1941"/>
              </a:lnSpc>
              <a:buNone/>
            </a:pPr>
            <a:r>
              <a:rPr lang="en-US" sz="1688" b="1" spc="-17" kern="0" dirty="0">
                <a:solidFill>
                  <a:srgbClr val="FFFFFF"/>
                </a:solidFill>
                <a:latin typeface="Tinos" pitchFamily="34" charset="0"/>
                <a:ea typeface="Tinos" pitchFamily="34" charset="-122"/>
                <a:cs typeface="Tinos" pitchFamily="34" charset="-120"/>
              </a:rPr>
              <a:t>Real human advisors.</a:t>
            </a:r>
            <a:endParaRPr lang="en-US" sz="1688" dirty="0"/>
          </a:p>
          <a:p>
            <a:pPr algn="l" indent="0" marL="0">
              <a:lnSpc>
                <a:spcPts val="1941"/>
              </a:lnSpc>
              <a:buNone/>
            </a:pPr>
            <a:r>
              <a:rPr lang="en-US" sz="1688" b="1" spc="-17" kern="0" dirty="0">
                <a:solidFill>
                  <a:srgbClr val="FFFFFF"/>
                </a:solidFill>
                <a:latin typeface="Tinos" pitchFamily="34" charset="0"/>
                <a:ea typeface="Tinos" pitchFamily="34" charset="-122"/>
                <a:cs typeface="Tinos" pitchFamily="34" charset="-120"/>
              </a:rPr>
              <a:t>Life-size on every screen.</a:t>
            </a:r>
            <a:endParaRPr lang="en-US" sz="1688" dirty="0"/>
          </a:p>
        </p:txBody>
      </p:sp>
      <p:sp>
        <p:nvSpPr>
          <p:cNvPr id="9" name="Text 2"/>
          <p:cNvSpPr/>
          <p:nvPr/>
        </p:nvSpPr>
        <p:spPr>
          <a:xfrm>
            <a:off x="228600" y="4756398"/>
            <a:ext cx="3343275" cy="153514"/>
          </a:xfrm>
          <a:prstGeom prst="rect">
            <a:avLst/>
          </a:prstGeom>
          <a:noFill/>
          <a:ln/>
        </p:spPr>
        <p:txBody>
          <a:bodyPr wrap="square" lIns="0" tIns="0" rIns="0" bIns="0" rtlCol="0" anchor="t"/>
          <a:lstStyle/>
          <a:p>
            <a:pPr algn="l" indent="0" marL="0">
              <a:lnSpc>
                <a:spcPts val="1024"/>
              </a:lnSpc>
              <a:buNone/>
            </a:pPr>
            <a:r>
              <a:rPr lang="en-US" sz="731" dirty="0">
                <a:solidFill>
                  <a:srgbClr val="FFFFFF">
                    <a:alpha val="78000"/>
                  </a:srgbClr>
                </a:solidFill>
                <a:latin typeface="Carlito" pitchFamily="34" charset="0"/>
                <a:ea typeface="Carlito" pitchFamily="34" charset="-122"/>
                <a:cs typeface="Carlito" pitchFamily="34" charset="-120"/>
              </a:rPr>
              <a:t>One expert team serves the entire physical and digital network.</a:t>
            </a:r>
            <a:endParaRPr lang="en-US" sz="731" dirty="0"/>
          </a:p>
        </p:txBody>
      </p:sp>
      <p:sp>
        <p:nvSpPr>
          <p:cNvPr id="10" name="Text 3"/>
          <p:cNvSpPr/>
          <p:nvPr/>
        </p:nvSpPr>
        <p:spPr>
          <a:xfrm>
            <a:off x="4263390" y="558698"/>
            <a:ext cx="1159252" cy="243488"/>
          </a:xfrm>
          <a:prstGeom prst="roundRect">
            <a:avLst>
              <a:gd name="adj" fmla="val 3907985"/>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11" name="Text 4"/>
          <p:cNvSpPr/>
          <p:nvPr/>
        </p:nvSpPr>
        <p:spPr>
          <a:xfrm>
            <a:off x="4491427" y="628650"/>
            <a:ext cx="853196" cy="129679"/>
          </a:xfrm>
          <a:prstGeom prst="rect">
            <a:avLst/>
          </a:prstGeom>
          <a:noFill/>
          <a:ln/>
        </p:spPr>
        <p:txBody>
          <a:bodyPr wrap="none" lIns="0" tIns="0" rIns="0" bIns="0" rtlCol="0" anchor="t"/>
          <a:lstStyle/>
          <a:p>
            <a:pPr algn="l" indent="0" marL="0">
              <a:lnSpc>
                <a:spcPts val="928"/>
              </a:lnSpc>
              <a:buNone/>
            </a:pPr>
            <a:r>
              <a:rPr lang="en-US" sz="800" b="1" spc="111" kern="0" dirty="0">
                <a:solidFill>
                  <a:srgbClr val="7C3AED"/>
                </a:solidFill>
                <a:latin typeface="Carlito" pitchFamily="34" charset="0"/>
                <a:ea typeface="Carlito" pitchFamily="34" charset="-122"/>
                <a:cs typeface="Carlito" pitchFamily="34" charset="-120"/>
              </a:rPr>
              <a:t>INTRODUCING</a:t>
            </a:r>
            <a:endParaRPr lang="en-US" sz="800" dirty="0"/>
          </a:p>
        </p:txBody>
      </p:sp>
      <p:sp>
        <p:nvSpPr>
          <p:cNvPr id="12" name="Text 5"/>
          <p:cNvSpPr/>
          <p:nvPr/>
        </p:nvSpPr>
        <p:spPr>
          <a:xfrm>
            <a:off x="4379119" y="634008"/>
            <a:ext cx="92869" cy="92869"/>
          </a:xfrm>
          <a:prstGeom prst="rect">
            <a:avLst/>
          </a:prstGeom>
          <a:noFill/>
          <a:ln/>
        </p:spPr>
        <p:txBody>
          <a:bodyPr wrap="none" lIns="0" tIns="0" rIns="0" bIns="0" rtlCol="0" anchor="ctr"/>
          <a:lstStyle/>
          <a:p>
            <a:pPr algn="ctr" indent="0" marL="0">
              <a:buNone/>
            </a:pPr>
            <a:r>
              <a:rPr lang="en-US" sz="914" dirty="0">
                <a:solidFill>
                  <a:srgbClr val="7C3AED"/>
                </a:solidFill>
                <a:latin typeface="Segoe UI Symbol" pitchFamily="34" charset="0"/>
                <a:ea typeface="Segoe UI Symbol" pitchFamily="34" charset="-122"/>
                <a:cs typeface="Segoe UI Symbol" pitchFamily="34" charset="-120"/>
              </a:rPr>
              <a:t>▶</a:t>
            </a:r>
            <a:endParaRPr lang="en-US" sz="914" dirty="0"/>
          </a:p>
        </p:txBody>
      </p:sp>
      <p:sp>
        <p:nvSpPr>
          <p:cNvPr id="13" name="Text 6"/>
          <p:cNvSpPr/>
          <p:nvPr/>
        </p:nvSpPr>
        <p:spPr>
          <a:xfrm>
            <a:off x="4286250" y="875109"/>
            <a:ext cx="4840605" cy="254844"/>
          </a:xfrm>
          <a:prstGeom prst="rect">
            <a:avLst/>
          </a:prstGeom>
          <a:noFill/>
          <a:ln/>
        </p:spPr>
        <p:txBody>
          <a:bodyPr wrap="square" lIns="0" tIns="0" rIns="0" bIns="0" rtlCol="0" anchor="t"/>
          <a:lstStyle/>
          <a:p>
            <a:pPr algn="l" indent="0" marL="0">
              <a:lnSpc>
                <a:spcPts val="1859"/>
              </a:lnSpc>
              <a:buNone/>
            </a:pPr>
            <a:r>
              <a:rPr lang="en-US" sz="1575" b="1" spc="-24" kern="0" dirty="0">
                <a:solidFill>
                  <a:srgbClr val="1F2937"/>
                </a:solidFill>
                <a:latin typeface="Carlito" pitchFamily="34" charset="0"/>
                <a:ea typeface="Carlito" pitchFamily="34" charset="-122"/>
                <a:cs typeface="Carlito" pitchFamily="34" charset="-120"/>
              </a:rPr>
              <a:t>The Video Capability of the MassaPro Platform</a:t>
            </a:r>
            <a:endParaRPr lang="en-US" sz="1575" dirty="0"/>
          </a:p>
        </p:txBody>
      </p:sp>
      <p:sp>
        <p:nvSpPr>
          <p:cNvPr id="14" name="Text 7"/>
          <p:cNvSpPr/>
          <p:nvPr/>
        </p:nvSpPr>
        <p:spPr>
          <a:xfrm>
            <a:off x="4286250" y="1196801"/>
            <a:ext cx="400050" cy="21431"/>
          </a:xfrm>
          <a:prstGeom prst="roundRect">
            <a:avLst>
              <a:gd name="adj" fmla="val 88890"/>
            </a:avLst>
          </a:prstGeom>
          <a:solidFill>
            <a:srgbClr val="7C3AED"/>
          </a:solidFill>
          <a:ln/>
        </p:spPr>
        <p:txBody>
          <a:bodyPr wrap="square" rtlCol="0" anchor="ctr"/>
          <a:lstStyle/>
          <a:p>
            <a:pPr indent="0" marL="0">
              <a:buNone/>
            </a:pPr>
            <a:endParaRPr lang="en-US" dirty="0"/>
          </a:p>
        </p:txBody>
      </p:sp>
      <p:sp>
        <p:nvSpPr>
          <p:cNvPr id="15" name="Text 8"/>
          <p:cNvSpPr/>
          <p:nvPr/>
        </p:nvSpPr>
        <p:spPr>
          <a:xfrm>
            <a:off x="4289822" y="1350392"/>
            <a:ext cx="4393406" cy="783134"/>
          </a:xfrm>
          <a:prstGeom prst="roundRect">
            <a:avLst>
              <a:gd name="adj" fmla="val 14595"/>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16" name="Text 9"/>
          <p:cNvSpPr/>
          <p:nvPr/>
        </p:nvSpPr>
        <p:spPr>
          <a:xfrm>
            <a:off x="4421981" y="1453976"/>
            <a:ext cx="257175" cy="257175"/>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17" name="Text 10"/>
          <p:cNvSpPr/>
          <p:nvPr/>
        </p:nvSpPr>
        <p:spPr>
          <a:xfrm>
            <a:off x="4446984" y="1478979"/>
            <a:ext cx="207169" cy="207169"/>
          </a:xfrm>
          <a:prstGeom prst="rect">
            <a:avLst/>
          </a:prstGeom>
          <a:noFill/>
          <a:ln/>
        </p:spPr>
        <p:txBody>
          <a:bodyPr wrap="none" lIns="0" tIns="0" rIns="0" bIns="0" rtlCol="0" anchor="ctr"/>
          <a:lstStyle/>
          <a:p>
            <a:pPr algn="ctr" indent="0" marL="0">
              <a:buNone/>
            </a:pPr>
            <a:r>
              <a:rPr lang="en-US" sz="1406" dirty="0">
                <a:solidFill>
                  <a:srgbClr val="7C3AED"/>
                </a:solidFill>
                <a:latin typeface="Segoe UI Symbol" pitchFamily="34" charset="0"/>
                <a:ea typeface="Segoe UI Symbol" pitchFamily="34" charset="-122"/>
                <a:cs typeface="Segoe UI Symbol" pitchFamily="34" charset="-120"/>
              </a:rPr>
              <a:t>▶</a:t>
            </a:r>
            <a:endParaRPr lang="en-US" sz="1406" dirty="0"/>
          </a:p>
        </p:txBody>
      </p:sp>
      <p:sp>
        <p:nvSpPr>
          <p:cNvPr id="18" name="Text 11"/>
          <p:cNvSpPr/>
          <p:nvPr/>
        </p:nvSpPr>
        <p:spPr>
          <a:xfrm>
            <a:off x="4779169" y="1453976"/>
            <a:ext cx="3771900" cy="130623"/>
          </a:xfrm>
          <a:prstGeom prst="rect">
            <a:avLst/>
          </a:prstGeom>
          <a:noFill/>
          <a:ln/>
        </p:spPr>
        <p:txBody>
          <a:bodyPr wrap="none" lIns="0" tIns="0" rIns="0" bIns="0" rtlCol="0" anchor="t">
            <a:normAutofit/>
          </a:bodyPr>
          <a:lstStyle/>
          <a:p>
            <a:pPr algn="l" indent="0" marL="0">
              <a:lnSpc>
                <a:spcPts val="1020"/>
              </a:lnSpc>
              <a:buNone/>
            </a:pPr>
            <a:r>
              <a:rPr lang="en-US" sz="816" b="1" spc="-2" kern="0" dirty="0">
                <a:solidFill>
                  <a:srgbClr val="6D28D9"/>
                </a:solidFill>
                <a:latin typeface="Carlito" pitchFamily="34" charset="0"/>
                <a:ea typeface="Carlito" pitchFamily="34" charset="-122"/>
                <a:cs typeface="Carlito" pitchFamily="34" charset="-120"/>
              </a:rPr>
              <a:t>What it is</a:t>
            </a:r>
            <a:endParaRPr lang="en-US" sz="816" dirty="0"/>
          </a:p>
        </p:txBody>
      </p:sp>
      <p:sp>
        <p:nvSpPr>
          <p:cNvPr id="19" name="Text 12"/>
          <p:cNvSpPr/>
          <p:nvPr/>
        </p:nvSpPr>
        <p:spPr>
          <a:xfrm>
            <a:off x="4779169" y="1612032"/>
            <a:ext cx="3771900" cy="417909"/>
          </a:xfrm>
          <a:prstGeom prst="rect">
            <a:avLst/>
          </a:prstGeom>
          <a:noFill/>
          <a:ln/>
        </p:spPr>
        <p:txBody>
          <a:bodyPr wrap="square" lIns="0" tIns="0" rIns="0" bIns="0" rtlCol="0" anchor="t"/>
          <a:lstStyle/>
          <a:p>
            <a:pPr algn="l" indent="0" marL="0">
              <a:lnSpc>
                <a:spcPts val="1097"/>
              </a:lnSpc>
              <a:buNone/>
            </a:pPr>
            <a:r>
              <a:rPr lang="en-US" sz="800" dirty="0">
                <a:solidFill>
                  <a:srgbClr val="374151"/>
                </a:solidFill>
                <a:latin typeface="Carlito" pitchFamily="34" charset="0"/>
                <a:ea typeface="Carlito" pitchFamily="34" charset="-122"/>
                <a:cs typeface="Carlito" pitchFamily="34" charset="-120"/>
              </a:rPr>
              <a:t>MassaPro IVR is the video channel of the MassaPro omni-channel AI platform. It connects a customer at a physical service point (or on their own device) to a human advisor over high-definition video, in under 30 seconds.</a:t>
            </a:r>
            <a:endParaRPr lang="en-US" sz="800" dirty="0"/>
          </a:p>
        </p:txBody>
      </p:sp>
      <p:sp>
        <p:nvSpPr>
          <p:cNvPr id="20" name="Text 13"/>
          <p:cNvSpPr/>
          <p:nvPr/>
        </p:nvSpPr>
        <p:spPr>
          <a:xfrm>
            <a:off x="4289822" y="2212107"/>
            <a:ext cx="4393406" cy="783134"/>
          </a:xfrm>
          <a:prstGeom prst="roundRect">
            <a:avLst>
              <a:gd name="adj" fmla="val 14595"/>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21" name="Text 14"/>
          <p:cNvSpPr/>
          <p:nvPr/>
        </p:nvSpPr>
        <p:spPr>
          <a:xfrm>
            <a:off x="4421981" y="2315691"/>
            <a:ext cx="257175" cy="257175"/>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22" name="Text 15"/>
          <p:cNvSpPr/>
          <p:nvPr/>
        </p:nvSpPr>
        <p:spPr>
          <a:xfrm>
            <a:off x="4446984" y="2340694"/>
            <a:ext cx="207169" cy="207169"/>
          </a:xfrm>
          <a:prstGeom prst="rect">
            <a:avLst/>
          </a:prstGeom>
          <a:noFill/>
          <a:ln/>
        </p:spPr>
        <p:txBody>
          <a:bodyPr wrap="none" lIns="0" tIns="0" rIns="0" bIns="0" rtlCol="0" anchor="ctr"/>
          <a:lstStyle/>
          <a:p>
            <a:pPr algn="ctr" indent="0" marL="0">
              <a:buNone/>
            </a:pPr>
            <a:r>
              <a:rPr lang="en-US" sz="1406" dirty="0">
                <a:solidFill>
                  <a:srgbClr val="7C3AED"/>
                </a:solidFill>
                <a:latin typeface="Segoe UI Symbol" pitchFamily="34" charset="0"/>
                <a:ea typeface="Segoe UI Symbol" pitchFamily="34" charset="-122"/>
                <a:cs typeface="Segoe UI Symbol" pitchFamily="34" charset="-120"/>
              </a:rPr>
              <a:t>✦</a:t>
            </a:r>
            <a:endParaRPr lang="en-US" sz="1406" dirty="0"/>
          </a:p>
        </p:txBody>
      </p:sp>
      <p:sp>
        <p:nvSpPr>
          <p:cNvPr id="23" name="Text 16"/>
          <p:cNvSpPr/>
          <p:nvPr/>
        </p:nvSpPr>
        <p:spPr>
          <a:xfrm>
            <a:off x="4779169" y="2315691"/>
            <a:ext cx="3771900" cy="130623"/>
          </a:xfrm>
          <a:prstGeom prst="rect">
            <a:avLst/>
          </a:prstGeom>
          <a:noFill/>
          <a:ln/>
        </p:spPr>
        <p:txBody>
          <a:bodyPr wrap="none" lIns="0" tIns="0" rIns="0" bIns="0" rtlCol="0" anchor="t">
            <a:normAutofit/>
          </a:bodyPr>
          <a:lstStyle/>
          <a:p>
            <a:pPr algn="l" indent="0" marL="0">
              <a:lnSpc>
                <a:spcPts val="1020"/>
              </a:lnSpc>
              <a:buNone/>
            </a:pPr>
            <a:r>
              <a:rPr lang="en-US" sz="816" b="1" spc="-2" kern="0" dirty="0">
                <a:solidFill>
                  <a:srgbClr val="6D28D9"/>
                </a:solidFill>
                <a:latin typeface="Carlito" pitchFamily="34" charset="0"/>
                <a:ea typeface="Carlito" pitchFamily="34" charset="-122"/>
                <a:cs typeface="Carlito" pitchFamily="34" charset="-120"/>
              </a:rPr>
              <a:t>Who it serves</a:t>
            </a:r>
            <a:endParaRPr lang="en-US" sz="816" dirty="0"/>
          </a:p>
        </p:txBody>
      </p:sp>
      <p:sp>
        <p:nvSpPr>
          <p:cNvPr id="24" name="Text 17"/>
          <p:cNvSpPr/>
          <p:nvPr/>
        </p:nvSpPr>
        <p:spPr>
          <a:xfrm>
            <a:off x="4779169" y="2473747"/>
            <a:ext cx="3771900" cy="417909"/>
          </a:xfrm>
          <a:prstGeom prst="rect">
            <a:avLst/>
          </a:prstGeom>
          <a:noFill/>
          <a:ln/>
        </p:spPr>
        <p:txBody>
          <a:bodyPr wrap="square" lIns="0" tIns="0" rIns="0" bIns="0" rtlCol="0" anchor="t"/>
          <a:lstStyle/>
          <a:p>
            <a:pPr algn="l" indent="0" marL="0">
              <a:lnSpc>
                <a:spcPts val="1097"/>
              </a:lnSpc>
              <a:buNone/>
            </a:pPr>
            <a:r>
              <a:rPr lang="en-US" sz="800" dirty="0">
                <a:solidFill>
                  <a:srgbClr val="374151"/>
                </a:solidFill>
                <a:latin typeface="Carlito" pitchFamily="34" charset="0"/>
                <a:ea typeface="Carlito" pitchFamily="34" charset="-122"/>
                <a:cs typeface="Carlito" pitchFamily="34" charset="-120"/>
              </a:rPr>
              <a:t>Real human video agents, based at any contact centre in the world. The advisor appears life-size on the service point's screen and looks straight at the camera. The customer experiences a face-to-face interaction.</a:t>
            </a:r>
            <a:endParaRPr lang="en-US" sz="800" dirty="0"/>
          </a:p>
        </p:txBody>
      </p:sp>
      <p:sp>
        <p:nvSpPr>
          <p:cNvPr id="25" name="Text 18"/>
          <p:cNvSpPr/>
          <p:nvPr/>
        </p:nvSpPr>
        <p:spPr>
          <a:xfrm>
            <a:off x="4289822" y="3073822"/>
            <a:ext cx="4393406" cy="783134"/>
          </a:xfrm>
          <a:prstGeom prst="roundRect">
            <a:avLst>
              <a:gd name="adj" fmla="val 14595"/>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26" name="Text 19"/>
          <p:cNvSpPr/>
          <p:nvPr/>
        </p:nvSpPr>
        <p:spPr>
          <a:xfrm>
            <a:off x="4421981" y="3177406"/>
            <a:ext cx="257175" cy="257175"/>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27" name="Text 20"/>
          <p:cNvSpPr/>
          <p:nvPr/>
        </p:nvSpPr>
        <p:spPr>
          <a:xfrm>
            <a:off x="4446984" y="3202409"/>
            <a:ext cx="207169" cy="207169"/>
          </a:xfrm>
          <a:prstGeom prst="rect">
            <a:avLst/>
          </a:prstGeom>
          <a:noFill/>
          <a:ln/>
        </p:spPr>
        <p:txBody>
          <a:bodyPr wrap="none" lIns="0" tIns="0" rIns="0" bIns="0" rtlCol="0" anchor="ctr"/>
          <a:lstStyle/>
          <a:p>
            <a:pPr algn="ctr" indent="0" marL="0">
              <a:buNone/>
            </a:pPr>
            <a:r>
              <a:rPr lang="en-US" sz="1406" dirty="0">
                <a:solidFill>
                  <a:srgbClr val="7C3AED"/>
                </a:solidFill>
                <a:latin typeface="Segoe UI Symbol" pitchFamily="34" charset="0"/>
                <a:ea typeface="Segoe UI Symbol" pitchFamily="34" charset="-122"/>
                <a:cs typeface="Segoe UI Symbol" pitchFamily="34" charset="-120"/>
              </a:rPr>
              <a:t>✦</a:t>
            </a:r>
            <a:endParaRPr lang="en-US" sz="1406" dirty="0"/>
          </a:p>
        </p:txBody>
      </p:sp>
      <p:sp>
        <p:nvSpPr>
          <p:cNvPr id="28" name="Text 21"/>
          <p:cNvSpPr/>
          <p:nvPr/>
        </p:nvSpPr>
        <p:spPr>
          <a:xfrm>
            <a:off x="4779169" y="3177406"/>
            <a:ext cx="3771900" cy="130623"/>
          </a:xfrm>
          <a:prstGeom prst="rect">
            <a:avLst/>
          </a:prstGeom>
          <a:noFill/>
          <a:ln/>
        </p:spPr>
        <p:txBody>
          <a:bodyPr wrap="none" lIns="0" tIns="0" rIns="0" bIns="0" rtlCol="0" anchor="t">
            <a:normAutofit/>
          </a:bodyPr>
          <a:lstStyle/>
          <a:p>
            <a:pPr algn="l" indent="0" marL="0">
              <a:lnSpc>
                <a:spcPts val="1020"/>
              </a:lnSpc>
              <a:buNone/>
            </a:pPr>
            <a:r>
              <a:rPr lang="en-US" sz="816" b="1" spc="-2" kern="0" dirty="0">
                <a:solidFill>
                  <a:srgbClr val="6D28D9"/>
                </a:solidFill>
                <a:latin typeface="Carlito" pitchFamily="34" charset="0"/>
                <a:ea typeface="Carlito" pitchFamily="34" charset="-122"/>
                <a:cs typeface="Carlito" pitchFamily="34" charset="-120"/>
              </a:rPr>
              <a:t>What makes it different</a:t>
            </a:r>
            <a:endParaRPr lang="en-US" sz="816" dirty="0"/>
          </a:p>
        </p:txBody>
      </p:sp>
      <p:sp>
        <p:nvSpPr>
          <p:cNvPr id="29" name="Text 22"/>
          <p:cNvSpPr/>
          <p:nvPr/>
        </p:nvSpPr>
        <p:spPr>
          <a:xfrm>
            <a:off x="4779169" y="3335462"/>
            <a:ext cx="3771900" cy="417909"/>
          </a:xfrm>
          <a:prstGeom prst="rect">
            <a:avLst/>
          </a:prstGeom>
          <a:noFill/>
          <a:ln/>
        </p:spPr>
        <p:txBody>
          <a:bodyPr wrap="square" lIns="0" tIns="0" rIns="0" bIns="0" rtlCol="0" anchor="t"/>
          <a:lstStyle/>
          <a:p>
            <a:pPr algn="l" indent="0" marL="0">
              <a:lnSpc>
                <a:spcPts val="1097"/>
              </a:lnSpc>
              <a:buNone/>
            </a:pPr>
            <a:r>
              <a:rPr lang="en-US" sz="800" dirty="0">
                <a:solidFill>
                  <a:srgbClr val="374151"/>
                </a:solidFill>
                <a:latin typeface="Carlito" pitchFamily="34" charset="0"/>
                <a:ea typeface="Carlito" pitchFamily="34" charset="-122"/>
                <a:cs typeface="Carlito" pitchFamily="34" charset="-120"/>
              </a:rPr>
              <a:t>Natively integrated with </a:t>
            </a:r>
            <a:pPr algn="l" indent="0" marL="0">
              <a:lnSpc>
                <a:spcPts val="1097"/>
              </a:lnSpc>
              <a:buNone/>
            </a:pPr>
            <a:r>
              <a:rPr lang="en-US" sz="800" dirty="0">
                <a:solidFill>
                  <a:srgbClr val="6D28D9"/>
                </a:solidFill>
                <a:latin typeface="Carlito" pitchFamily="34" charset="0"/>
                <a:ea typeface="Carlito" pitchFamily="34" charset="-122"/>
                <a:cs typeface="Carlito" pitchFamily="34" charset="-120"/>
              </a:rPr>
              <a:t>MassaPro AI Agent</a:t>
            </a:r>
            <a:pPr algn="l" indent="0" marL="0">
              <a:lnSpc>
                <a:spcPts val="1097"/>
              </a:lnSpc>
              <a:buNone/>
            </a:pPr>
            <a:r>
              <a:rPr lang="en-US" sz="800" dirty="0">
                <a:solidFill>
                  <a:srgbClr val="374151"/>
                </a:solidFill>
                <a:latin typeface="Carlito" pitchFamily="34" charset="0"/>
                <a:ea typeface="Carlito" pitchFamily="34" charset="-122"/>
                <a:cs typeface="Carlito" pitchFamily="34" charset="-120"/>
              </a:rPr>
              <a:t> (autonomous chat and voice), </a:t>
            </a:r>
            <a:pPr algn="l" indent="0" marL="0">
              <a:lnSpc>
                <a:spcPts val="1097"/>
              </a:lnSpc>
              <a:buNone/>
            </a:pPr>
            <a:r>
              <a:rPr lang="en-US" sz="800" dirty="0">
                <a:solidFill>
                  <a:srgbClr val="6D28D9"/>
                </a:solidFill>
                <a:latin typeface="Carlito" pitchFamily="34" charset="0"/>
                <a:ea typeface="Carlito" pitchFamily="34" charset="-122"/>
                <a:cs typeface="Carlito" pitchFamily="34" charset="-120"/>
              </a:rPr>
              <a:t>AI Guru</a:t>
            </a:r>
            <a:pPr algn="l" indent="0" marL="0">
              <a:lnSpc>
                <a:spcPts val="1097"/>
              </a:lnSpc>
              <a:buNone/>
            </a:pPr>
            <a:r>
              <a:rPr lang="en-US" sz="800" dirty="0">
                <a:solidFill>
                  <a:srgbClr val="374151"/>
                </a:solidFill>
                <a:latin typeface="Carlito" pitchFamily="34" charset="0"/>
                <a:ea typeface="Carlito" pitchFamily="34" charset="-122"/>
                <a:cs typeface="Carlito" pitchFamily="34" charset="-120"/>
              </a:rPr>
              <a:t> (real-time coaching), </a:t>
            </a:r>
            <a:pPr algn="l" indent="0" marL="0">
              <a:lnSpc>
                <a:spcPts val="1097"/>
              </a:lnSpc>
              <a:buNone/>
            </a:pPr>
            <a:r>
              <a:rPr lang="en-US" sz="800" dirty="0">
                <a:solidFill>
                  <a:srgbClr val="6D28D9"/>
                </a:solidFill>
                <a:latin typeface="Carlito" pitchFamily="34" charset="0"/>
                <a:ea typeface="Carlito" pitchFamily="34" charset="-122"/>
                <a:cs typeface="Carlito" pitchFamily="34" charset="-120"/>
              </a:rPr>
              <a:t>AI Analytics</a:t>
            </a:r>
            <a:pPr algn="l" indent="0" marL="0">
              <a:lnSpc>
                <a:spcPts val="1097"/>
              </a:lnSpc>
              <a:buNone/>
            </a:pPr>
            <a:r>
              <a:rPr lang="en-US" sz="800" dirty="0">
                <a:solidFill>
                  <a:srgbClr val="374151"/>
                </a:solidFill>
                <a:latin typeface="Carlito" pitchFamily="34" charset="0"/>
                <a:ea typeface="Carlito" pitchFamily="34" charset="-122"/>
                <a:cs typeface="Carlito" pitchFamily="34" charset="-120"/>
              </a:rPr>
              <a:t> (sentiment and quality), and </a:t>
            </a:r>
            <a:pPr algn="l" indent="0" marL="0">
              <a:lnSpc>
                <a:spcPts val="1097"/>
              </a:lnSpc>
              <a:buNone/>
            </a:pPr>
            <a:r>
              <a:rPr lang="en-US" sz="800" dirty="0">
                <a:solidFill>
                  <a:srgbClr val="6D28D9"/>
                </a:solidFill>
                <a:latin typeface="Carlito" pitchFamily="34" charset="0"/>
                <a:ea typeface="Carlito" pitchFamily="34" charset="-122"/>
                <a:cs typeface="Carlito" pitchFamily="34" charset="-120"/>
              </a:rPr>
              <a:t>MassaPro Flow</a:t>
            </a:r>
            <a:pPr algn="l" indent="0" marL="0">
              <a:lnSpc>
                <a:spcPts val="1097"/>
              </a:lnSpc>
              <a:buNone/>
            </a:pPr>
            <a:r>
              <a:rPr lang="en-US" sz="800" dirty="0">
                <a:solidFill>
                  <a:srgbClr val="374151"/>
                </a:solidFill>
                <a:latin typeface="Carlito" pitchFamily="34" charset="0"/>
                <a:ea typeface="Carlito" pitchFamily="34" charset="-122"/>
                <a:cs typeface="Carlito" pitchFamily="34" charset="-120"/>
              </a:rPr>
              <a:t> (orchestration). One platform, every channel, AI and human together.</a:t>
            </a:r>
            <a:endParaRPr lang="en-US" sz="800" dirty="0"/>
          </a:p>
        </p:txBody>
      </p:sp>
      <p:pic>
        <p:nvPicPr>
          <p:cNvPr id="30" name="Image 5" descr="preencoded.png">    </p:cNvPr>
          <p:cNvPicPr>
            <a:picLocks noChangeAspect="1"/>
          </p:cNvPicPr>
          <p:nvPr/>
        </p:nvPicPr>
        <p:blipFill>
          <a:blip r:embed="rId6"/>
          <a:stretch>
            <a:fillRect/>
          </a:stretch>
        </p:blipFill>
        <p:spPr>
          <a:xfrm>
            <a:off x="4286250" y="3960540"/>
            <a:ext cx="4400550" cy="305395"/>
          </a:xfrm>
          <a:prstGeom prst="rect">
            <a:avLst/>
          </a:prstGeom>
        </p:spPr>
      </p:pic>
      <p:sp>
        <p:nvSpPr>
          <p:cNvPr id="31" name="Text 23"/>
          <p:cNvSpPr/>
          <p:nvPr/>
        </p:nvSpPr>
        <p:spPr>
          <a:xfrm>
            <a:off x="4586288" y="4060552"/>
            <a:ext cx="1121569" cy="119658"/>
          </a:xfrm>
          <a:prstGeom prst="rect">
            <a:avLst/>
          </a:prstGeom>
          <a:noFill/>
          <a:ln/>
        </p:spPr>
        <p:txBody>
          <a:bodyPr wrap="none" lIns="0" tIns="0" rIns="0" bIns="0" rtlCol="0" anchor="t"/>
          <a:lstStyle/>
          <a:p>
            <a:pPr algn="l" indent="0" marL="0">
              <a:lnSpc>
                <a:spcPts val="1055"/>
              </a:lnSpc>
              <a:buNone/>
            </a:pPr>
            <a:r>
              <a:rPr lang="en-US" sz="800" b="1" spc="7" kern="0" dirty="0">
                <a:solidFill>
                  <a:srgbClr val="FFFFFF"/>
                </a:solidFill>
                <a:latin typeface="Carlito" pitchFamily="34" charset="0"/>
                <a:ea typeface="Carlito" pitchFamily="34" charset="-122"/>
                <a:cs typeface="Carlito" pitchFamily="34" charset="-120"/>
              </a:rPr>
              <a:t>No app to install</a:t>
            </a:r>
            <a:endParaRPr lang="en-US" sz="800" dirty="0"/>
          </a:p>
        </p:txBody>
      </p:sp>
      <p:sp>
        <p:nvSpPr>
          <p:cNvPr id="32" name="Text 24"/>
          <p:cNvSpPr/>
          <p:nvPr/>
        </p:nvSpPr>
        <p:spPr>
          <a:xfrm>
            <a:off x="4414838" y="4056087"/>
            <a:ext cx="114300" cy="114300"/>
          </a:xfrm>
          <a:prstGeom prst="rect">
            <a:avLst/>
          </a:prstGeom>
          <a:noFill/>
          <a:ln/>
        </p:spPr>
        <p:txBody>
          <a:bodyPr wrap="none" lIns="0" tIns="0" rIns="0" bIns="0" rtlCol="0" anchor="ctr"/>
          <a:lstStyle/>
          <a:p>
            <a:pPr algn="ctr" indent="0" marL="0">
              <a:buNone/>
            </a:pPr>
            <a:r>
              <a:rPr lang="en-US" sz="1125" dirty="0">
                <a:solidFill>
                  <a:srgbClr val="C4B5FD"/>
                </a:solidFill>
                <a:latin typeface="Segoe UI Symbol" pitchFamily="34" charset="0"/>
                <a:ea typeface="Segoe UI Symbol" pitchFamily="34" charset="-122"/>
                <a:cs typeface="Segoe UI Symbol" pitchFamily="34" charset="-120"/>
              </a:rPr>
              <a:t>⊘</a:t>
            </a:r>
            <a:endParaRPr lang="en-US" sz="1125" dirty="0"/>
          </a:p>
        </p:txBody>
      </p:sp>
      <p:sp>
        <p:nvSpPr>
          <p:cNvPr id="33" name="Text 25"/>
          <p:cNvSpPr/>
          <p:nvPr/>
        </p:nvSpPr>
        <p:spPr>
          <a:xfrm>
            <a:off x="5757863" y="4048944"/>
            <a:ext cx="7144" cy="128588"/>
          </a:xfrm>
          <a:prstGeom prst="rect">
            <a:avLst/>
          </a:prstGeom>
          <a:solidFill>
            <a:srgbClr val="FFFFFF">
              <a:alpha val="25000"/>
            </a:srgbClr>
          </a:solidFill>
          <a:ln/>
        </p:spPr>
        <p:txBody>
          <a:bodyPr wrap="square" rtlCol="0" anchor="ctr"/>
          <a:lstStyle/>
          <a:p>
            <a:pPr indent="0" marL="0">
              <a:buNone/>
            </a:pPr>
            <a:endParaRPr lang="en-US" dirty="0"/>
          </a:p>
        </p:txBody>
      </p:sp>
      <p:sp>
        <p:nvSpPr>
          <p:cNvPr id="34" name="Text 26"/>
          <p:cNvSpPr/>
          <p:nvPr/>
        </p:nvSpPr>
        <p:spPr>
          <a:xfrm>
            <a:off x="6036469" y="4060552"/>
            <a:ext cx="1294805" cy="119658"/>
          </a:xfrm>
          <a:prstGeom prst="rect">
            <a:avLst/>
          </a:prstGeom>
          <a:noFill/>
          <a:ln/>
        </p:spPr>
        <p:txBody>
          <a:bodyPr wrap="none" lIns="0" tIns="0" rIns="0" bIns="0" rtlCol="0" anchor="t"/>
          <a:lstStyle/>
          <a:p>
            <a:pPr algn="l" indent="0" marL="0">
              <a:lnSpc>
                <a:spcPts val="1055"/>
              </a:lnSpc>
              <a:buNone/>
            </a:pPr>
            <a:r>
              <a:rPr lang="en-US" sz="800" b="1" spc="7" kern="0" dirty="0">
                <a:solidFill>
                  <a:srgbClr val="FFFFFF"/>
                </a:solidFill>
                <a:latin typeface="Carlito" pitchFamily="34" charset="0"/>
                <a:ea typeface="Carlito" pitchFamily="34" charset="-122"/>
                <a:cs typeface="Carlito" pitchFamily="34" charset="-120"/>
              </a:rPr>
              <a:t>No appointment needed</a:t>
            </a:r>
            <a:endParaRPr lang="en-US" sz="800" dirty="0"/>
          </a:p>
        </p:txBody>
      </p:sp>
      <p:sp>
        <p:nvSpPr>
          <p:cNvPr id="35" name="Text 27"/>
          <p:cNvSpPr/>
          <p:nvPr/>
        </p:nvSpPr>
        <p:spPr>
          <a:xfrm>
            <a:off x="5865019" y="4056087"/>
            <a:ext cx="114300" cy="114300"/>
          </a:xfrm>
          <a:prstGeom prst="rect">
            <a:avLst/>
          </a:prstGeom>
          <a:noFill/>
          <a:ln/>
        </p:spPr>
        <p:txBody>
          <a:bodyPr wrap="none" lIns="0" tIns="0" rIns="0" bIns="0" rtlCol="0" anchor="ctr"/>
          <a:lstStyle/>
          <a:p>
            <a:pPr algn="ctr" indent="0" marL="0">
              <a:buNone/>
            </a:pPr>
            <a:r>
              <a:rPr lang="en-US" sz="1125" dirty="0">
                <a:solidFill>
                  <a:srgbClr val="C4B5FD"/>
                </a:solidFill>
                <a:latin typeface="Segoe UI Symbol" pitchFamily="34" charset="0"/>
                <a:ea typeface="Segoe UI Symbol" pitchFamily="34" charset="-122"/>
                <a:cs typeface="Segoe UI Symbol" pitchFamily="34" charset="-120"/>
              </a:rPr>
              <a:t>▦</a:t>
            </a:r>
            <a:endParaRPr lang="en-US" sz="1125" dirty="0"/>
          </a:p>
        </p:txBody>
      </p:sp>
      <p:sp>
        <p:nvSpPr>
          <p:cNvPr id="36" name="Text 28"/>
          <p:cNvSpPr/>
          <p:nvPr/>
        </p:nvSpPr>
        <p:spPr>
          <a:xfrm>
            <a:off x="7208044" y="4048944"/>
            <a:ext cx="7144" cy="128588"/>
          </a:xfrm>
          <a:prstGeom prst="rect">
            <a:avLst/>
          </a:prstGeom>
          <a:solidFill>
            <a:srgbClr val="FFFFFF">
              <a:alpha val="25000"/>
            </a:srgbClr>
          </a:solidFill>
          <a:ln/>
        </p:spPr>
        <p:txBody>
          <a:bodyPr wrap="square" rtlCol="0" anchor="ctr"/>
          <a:lstStyle/>
          <a:p>
            <a:pPr indent="0" marL="0">
              <a:buNone/>
            </a:pPr>
            <a:endParaRPr lang="en-US" dirty="0"/>
          </a:p>
        </p:txBody>
      </p:sp>
      <p:sp>
        <p:nvSpPr>
          <p:cNvPr id="37" name="Text 29"/>
          <p:cNvSpPr/>
          <p:nvPr/>
        </p:nvSpPr>
        <p:spPr>
          <a:xfrm>
            <a:off x="7486650" y="4060552"/>
            <a:ext cx="1071563" cy="119658"/>
          </a:xfrm>
          <a:prstGeom prst="rect">
            <a:avLst/>
          </a:prstGeom>
          <a:noFill/>
          <a:ln/>
        </p:spPr>
        <p:txBody>
          <a:bodyPr wrap="none" lIns="0" tIns="0" rIns="0" bIns="0" rtlCol="0" anchor="t"/>
          <a:lstStyle/>
          <a:p>
            <a:pPr algn="l" indent="0" marL="0">
              <a:lnSpc>
                <a:spcPts val="1055"/>
              </a:lnSpc>
              <a:buNone/>
            </a:pPr>
            <a:r>
              <a:rPr lang="en-US" sz="703" b="1" spc="7" kern="0" dirty="0">
                <a:solidFill>
                  <a:srgbClr val="FFFFFF"/>
                </a:solidFill>
                <a:latin typeface="Carlito" pitchFamily="34" charset="0"/>
                <a:ea typeface="Carlito" pitchFamily="34" charset="-122"/>
                <a:cs typeface="Carlito" pitchFamily="34" charset="-120"/>
              </a:rPr>
              <a:t>No on-site staff required</a:t>
            </a:r>
            <a:endParaRPr lang="en-US" sz="703" dirty="0"/>
          </a:p>
        </p:txBody>
      </p:sp>
      <p:sp>
        <p:nvSpPr>
          <p:cNvPr id="38" name="Text 30"/>
          <p:cNvSpPr/>
          <p:nvPr/>
        </p:nvSpPr>
        <p:spPr>
          <a:xfrm>
            <a:off x="7315200" y="4056087"/>
            <a:ext cx="114300" cy="114300"/>
          </a:xfrm>
          <a:prstGeom prst="rect">
            <a:avLst/>
          </a:prstGeom>
          <a:noFill/>
          <a:ln/>
        </p:spPr>
        <p:txBody>
          <a:bodyPr wrap="none" lIns="0" tIns="0" rIns="0" bIns="0" rtlCol="0" anchor="ctr"/>
          <a:lstStyle/>
          <a:p>
            <a:pPr algn="ctr" indent="0" marL="0">
              <a:buNone/>
            </a:pPr>
            <a:r>
              <a:rPr lang="en-US" sz="1125" dirty="0">
                <a:solidFill>
                  <a:srgbClr val="C4B5FD"/>
                </a:solidFill>
                <a:latin typeface="Segoe UI Symbol" pitchFamily="34" charset="0"/>
                <a:ea typeface="Segoe UI Symbol" pitchFamily="34" charset="-122"/>
                <a:cs typeface="Segoe UI Symbol" pitchFamily="34" charset="-120"/>
              </a:rPr>
              <a:t>☻</a:t>
            </a:r>
            <a:endParaRPr lang="en-US" sz="1125" dirty="0"/>
          </a:p>
        </p:txBody>
      </p:sp>
      <p:sp>
        <p:nvSpPr>
          <p:cNvPr id="39" name="Text 31"/>
          <p:cNvSpPr/>
          <p:nvPr/>
        </p:nvSpPr>
        <p:spPr>
          <a:xfrm>
            <a:off x="342900" y="4854178"/>
            <a:ext cx="4294175"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40" name="Text 32"/>
          <p:cNvSpPr/>
          <p:nvPr/>
        </p:nvSpPr>
        <p:spPr>
          <a:xfrm>
            <a:off x="4651363" y="4854178"/>
            <a:ext cx="3619314"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a:t>
            </a:r>
            <a:endParaRPr lang="en-US" sz="800" dirty="0"/>
          </a:p>
        </p:txBody>
      </p:sp>
      <p:sp>
        <p:nvSpPr>
          <p:cNvPr id="41" name="Text 33"/>
          <p:cNvSpPr/>
          <p:nvPr/>
        </p:nvSpPr>
        <p:spPr>
          <a:xfrm>
            <a:off x="8284964" y="4854178"/>
            <a:ext cx="620879" cy="164592"/>
          </a:xfrm>
          <a:prstGeom prst="rect">
            <a:avLst/>
          </a:prstGeom>
          <a:noFill/>
          <a:ln/>
        </p:spPr>
        <p:txBody>
          <a:bodyPr wrap="none" lIns="0" tIns="0" rIns="0" bIns="0" rtlCol="0" anchor="t"/>
          <a:lstStyle/>
          <a:p>
            <a:pPr algn="l" indent="0" marL="0">
              <a:lnSpc>
                <a:spcPts val="928"/>
              </a:lnSpc>
              <a:buNone/>
            </a:pPr>
            <a:r>
              <a:rPr lang="en-US" sz="619" spc="25" kern="0" dirty="0">
                <a:solidFill>
                  <a:srgbClr val="6B7280"/>
                </a:solidFill>
                <a:latin typeface="Liberation Sans Narrow" pitchFamily="34" charset="0"/>
                <a:ea typeface="Liberation Sans Narrow" pitchFamily="34" charset="-122"/>
                <a:cs typeface="Liberation Sans Narrow" pitchFamily="34" charset="-120"/>
              </a:rPr>
              <a:t>SLIDE 5 / 24</a:t>
            </a:r>
            <a:endParaRPr lang="en-US" sz="619" dirty="0"/>
          </a:p>
        </p:txBody>
      </p:sp>
      <p:pic>
        <p:nvPicPr>
          <p:cNvPr id="42" name="Image 6" descr="/home/z/my-project/download/slides/massapro-logo.png">    </p:cNvPr>
          <p:cNvPicPr>
            <a:picLocks noChangeAspect="1"/>
          </p:cNvPicPr>
          <p:nvPr/>
        </p:nvPicPr>
        <p:blipFill>
          <a:blip r:embed="rId7"/>
          <a:stretch>
            <a:fillRect/>
          </a:stretch>
        </p:blipFill>
        <p:spPr>
          <a:xfrm>
            <a:off x="228600" y="200025"/>
            <a:ext cx="200025" cy="200025"/>
          </a:xfrm>
          <a:prstGeom prst="rect">
            <a:avLst/>
          </a:prstGeom>
        </p:spPr>
      </p:pic>
      <p:sp>
        <p:nvSpPr>
          <p:cNvPr id="43" name="Text 34"/>
          <p:cNvSpPr/>
          <p:nvPr/>
        </p:nvSpPr>
        <p:spPr>
          <a:xfrm>
            <a:off x="497600" y="225028"/>
            <a:ext cx="814832"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A78BFA"/>
                </a:solidFill>
                <a:latin typeface="Carlito" pitchFamily="34" charset="0"/>
                <a:ea typeface="Carlito" pitchFamily="34" charset="-122"/>
                <a:cs typeface="Carlito" pitchFamily="34" charset="-120"/>
              </a:rPr>
              <a:t>MassaPro IVR</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FF"/>
        </a:solidFill>
      </p:bgPr>
    </p:bg>
    <p:spTree>
      <p:nvGrpSpPr>
        <p:cNvPr id="1" name=""/>
        <p:cNvGrpSpPr/>
        <p:nvPr/>
      </p:nvGrpSpPr>
      <p:grpSpPr>
        <a:xfrm>
          <a:off x="0" y="0"/>
          <a:ext cx="0" cy="0"/>
          <a:chOff x="0" y="0"/>
          <a:chExt cx="0" cy="0"/>
        </a:xfrm>
      </p:grpSpPr>
      <p:sp>
        <p:nvSpPr>
          <p:cNvPr id="2" name="Text 0"/>
          <p:cNvSpPr/>
          <p:nvPr/>
        </p:nvSpPr>
        <p:spPr>
          <a:xfrm>
            <a:off x="460772" y="575072"/>
            <a:ext cx="2050256" cy="210741"/>
          </a:xfrm>
          <a:prstGeom prst="roundRect">
            <a:avLst>
              <a:gd name="adj" fmla="val 4515246"/>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3" name="Text 1"/>
          <p:cNvSpPr/>
          <p:nvPr/>
        </p:nvSpPr>
        <p:spPr>
          <a:xfrm>
            <a:off x="700088" y="628650"/>
            <a:ext cx="1721644" cy="129679"/>
          </a:xfrm>
          <a:prstGeom prst="rect">
            <a:avLst/>
          </a:prstGeom>
          <a:noFill/>
          <a:ln/>
        </p:spPr>
        <p:txBody>
          <a:bodyPr wrap="none" lIns="85725" tIns="42863" rIns="85725" bIns="42863" rtlCol="0" anchor="t"/>
          <a:lstStyle/>
          <a:p>
            <a:pPr algn="l" indent="0" marL="0">
              <a:lnSpc>
                <a:spcPts val="928"/>
              </a:lnSpc>
              <a:buNone/>
            </a:pPr>
            <a:r>
              <a:rPr lang="en-US" sz="800" b="1" spc="111" kern="0" dirty="0">
                <a:solidFill>
                  <a:srgbClr val="7C3AED"/>
                </a:solidFill>
                <a:latin typeface="Liberation Sans Narrow" pitchFamily="34" charset="0"/>
                <a:ea typeface="Liberation Sans Narrow" pitchFamily="34" charset="-122"/>
                <a:cs typeface="Liberation Sans Narrow" pitchFamily="34" charset="-120"/>
              </a:rPr>
              <a:t>CHAPTER 02 — HOW IT WORKS</a:t>
            </a:r>
            <a:endParaRPr lang="en-US" sz="800" dirty="0"/>
          </a:p>
        </p:txBody>
      </p:sp>
      <p:sp>
        <p:nvSpPr>
          <p:cNvPr id="4" name="Text 2"/>
          <p:cNvSpPr/>
          <p:nvPr/>
        </p:nvSpPr>
        <p:spPr>
          <a:xfrm>
            <a:off x="550069" y="634008"/>
            <a:ext cx="92869" cy="92869"/>
          </a:xfrm>
          <a:prstGeom prst="rect">
            <a:avLst/>
          </a:prstGeom>
          <a:noFill/>
          <a:ln/>
        </p:spPr>
        <p:txBody>
          <a:bodyPr wrap="none" lIns="0" tIns="0" rIns="0" bIns="0" rtlCol="0" anchor="ctr"/>
          <a:lstStyle/>
          <a:p>
            <a:pPr algn="ctr" indent="0" marL="0">
              <a:buNone/>
            </a:pPr>
            <a:r>
              <a:rPr lang="en-US" sz="914" dirty="0">
                <a:solidFill>
                  <a:srgbClr val="7C3AED"/>
                </a:solidFill>
                <a:latin typeface="Segoe UI Symbol" pitchFamily="34" charset="0"/>
                <a:ea typeface="Segoe UI Symbol" pitchFamily="34" charset="-122"/>
                <a:cs typeface="Segoe UI Symbol" pitchFamily="34" charset="-120"/>
              </a:rPr>
              <a:t>◆</a:t>
            </a:r>
            <a:endParaRPr lang="en-US" sz="914" dirty="0"/>
          </a:p>
        </p:txBody>
      </p:sp>
      <p:sp>
        <p:nvSpPr>
          <p:cNvPr id="5" name="Text 3"/>
          <p:cNvSpPr/>
          <p:nvPr/>
        </p:nvSpPr>
        <p:spPr>
          <a:xfrm>
            <a:off x="457200" y="875109"/>
            <a:ext cx="5343525" cy="546095"/>
          </a:xfrm>
          <a:prstGeom prst="rect">
            <a:avLst/>
          </a:prstGeom>
          <a:noFill/>
          <a:ln/>
        </p:spPr>
        <p:txBody>
          <a:bodyPr wrap="square" lIns="0" tIns="0" rIns="0" bIns="0" rtlCol="0" anchor="t"/>
          <a:lstStyle/>
          <a:p>
            <a:pPr algn="l" indent="0" marL="0">
              <a:lnSpc>
                <a:spcPts val="1991"/>
              </a:lnSpc>
              <a:buNone/>
            </a:pPr>
            <a:r>
              <a:rPr lang="en-US" sz="1688" b="1" spc="-25" kern="0" dirty="0">
                <a:solidFill>
                  <a:srgbClr val="1F2937"/>
                </a:solidFill>
                <a:latin typeface="Carlito" pitchFamily="34" charset="0"/>
                <a:ea typeface="Carlito" pitchFamily="34" charset="-122"/>
                <a:cs typeface="Carlito" pitchFamily="34" charset="-120"/>
              </a:rPr>
              <a:t>The Concept — Physical Presence, Remote Operation</a:t>
            </a:r>
            <a:endParaRPr lang="en-US" sz="1688" dirty="0"/>
          </a:p>
        </p:txBody>
      </p:sp>
      <p:sp>
        <p:nvSpPr>
          <p:cNvPr id="6" name="Text 4"/>
          <p:cNvSpPr/>
          <p:nvPr/>
        </p:nvSpPr>
        <p:spPr>
          <a:xfrm>
            <a:off x="457200" y="1466478"/>
            <a:ext cx="400050" cy="21431"/>
          </a:xfrm>
          <a:prstGeom prst="roundRect">
            <a:avLst>
              <a:gd name="adj" fmla="val 88890"/>
            </a:avLst>
          </a:prstGeom>
          <a:solidFill>
            <a:srgbClr val="7C3AED"/>
          </a:solidFill>
          <a:ln/>
        </p:spPr>
        <p:txBody>
          <a:bodyPr wrap="square" rtlCol="0" anchor="ctr"/>
          <a:lstStyle/>
          <a:p>
            <a:pPr indent="0" marL="0">
              <a:buNone/>
            </a:pPr>
            <a:endParaRPr lang="en-US" dirty="0"/>
          </a:p>
        </p:txBody>
      </p:sp>
      <p:sp>
        <p:nvSpPr>
          <p:cNvPr id="7" name="Text 5"/>
          <p:cNvSpPr/>
          <p:nvPr/>
        </p:nvSpPr>
        <p:spPr>
          <a:xfrm>
            <a:off x="460772" y="1560909"/>
            <a:ext cx="4850606" cy="633115"/>
          </a:xfrm>
          <a:prstGeom prst="roundRect">
            <a:avLst>
              <a:gd name="adj" fmla="val 18054"/>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8" name="Text 6"/>
          <p:cNvSpPr/>
          <p:nvPr/>
        </p:nvSpPr>
        <p:spPr>
          <a:xfrm>
            <a:off x="592931" y="1664494"/>
            <a:ext cx="257175" cy="257175"/>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9" name="Text 7"/>
          <p:cNvSpPr/>
          <p:nvPr/>
        </p:nvSpPr>
        <p:spPr>
          <a:xfrm>
            <a:off x="617934" y="1689497"/>
            <a:ext cx="207169" cy="207169"/>
          </a:xfrm>
          <a:prstGeom prst="rect">
            <a:avLst/>
          </a:prstGeom>
          <a:noFill/>
          <a:ln/>
        </p:spPr>
        <p:txBody>
          <a:bodyPr wrap="none" lIns="0" tIns="0" rIns="0" bIns="0" rtlCol="0" anchor="ctr"/>
          <a:lstStyle/>
          <a:p>
            <a:pPr algn="ctr" indent="0" marL="0">
              <a:buNone/>
            </a:pPr>
            <a:r>
              <a:rPr lang="en-US" sz="1406" dirty="0">
                <a:solidFill>
                  <a:srgbClr val="7C3AED"/>
                </a:solidFill>
                <a:latin typeface="Segoe UI Symbol" pitchFamily="34" charset="0"/>
                <a:ea typeface="Segoe UI Symbol" pitchFamily="34" charset="-122"/>
                <a:cs typeface="Segoe UI Symbol" pitchFamily="34" charset="-120"/>
              </a:rPr>
              <a:t>✦</a:t>
            </a:r>
            <a:endParaRPr lang="en-US" sz="1406" dirty="0"/>
          </a:p>
        </p:txBody>
      </p:sp>
      <p:sp>
        <p:nvSpPr>
          <p:cNvPr id="10" name="Text 8"/>
          <p:cNvSpPr/>
          <p:nvPr/>
        </p:nvSpPr>
        <p:spPr>
          <a:xfrm>
            <a:off x="950119" y="1664494"/>
            <a:ext cx="4229100" cy="130623"/>
          </a:xfrm>
          <a:prstGeom prst="rect">
            <a:avLst/>
          </a:prstGeom>
          <a:noFill/>
          <a:ln/>
        </p:spPr>
        <p:txBody>
          <a:bodyPr wrap="none" lIns="0" tIns="0" rIns="0" bIns="0" rtlCol="0" anchor="t">
            <a:normAutofit/>
          </a:bodyPr>
          <a:lstStyle/>
          <a:p>
            <a:pPr algn="l" indent="0" marL="0">
              <a:lnSpc>
                <a:spcPts val="1020"/>
              </a:lnSpc>
              <a:buNone/>
            </a:pPr>
            <a:r>
              <a:rPr lang="en-US" sz="816" b="1" spc="-2" kern="0" dirty="0">
                <a:solidFill>
                  <a:srgbClr val="6D28D9"/>
                </a:solidFill>
                <a:latin typeface="Carlito" pitchFamily="34" charset="0"/>
                <a:ea typeface="Carlito" pitchFamily="34" charset="-122"/>
                <a:cs typeface="Carlito" pitchFamily="34" charset="-120"/>
              </a:rPr>
              <a:t>The physical point</a:t>
            </a:r>
            <a:endParaRPr lang="en-US" sz="816" dirty="0"/>
          </a:p>
        </p:txBody>
      </p:sp>
      <p:sp>
        <p:nvSpPr>
          <p:cNvPr id="11" name="Text 9"/>
          <p:cNvSpPr/>
          <p:nvPr/>
        </p:nvSpPr>
        <p:spPr>
          <a:xfrm>
            <a:off x="950119" y="1822549"/>
            <a:ext cx="4229100" cy="267891"/>
          </a:xfrm>
          <a:prstGeom prst="rect">
            <a:avLst/>
          </a:prstGeom>
          <a:noFill/>
          <a:ln/>
        </p:spPr>
        <p:txBody>
          <a:bodyPr wrap="square" lIns="0" tIns="0" rIns="0" bIns="0" rtlCol="0" anchor="t"/>
          <a:lstStyle/>
          <a:p>
            <a:pPr algn="l" indent="0" marL="0">
              <a:lnSpc>
                <a:spcPts val="1055"/>
              </a:lnSpc>
              <a:buNone/>
            </a:pPr>
            <a:r>
              <a:rPr lang="en-US" sz="800" dirty="0">
                <a:solidFill>
                  <a:srgbClr val="374151"/>
                </a:solidFill>
                <a:latin typeface="Carlito" pitchFamily="34" charset="0"/>
                <a:ea typeface="Carlito" pitchFamily="34" charset="-122"/>
                <a:cs typeface="Carlito" pitchFamily="34" charset="-120"/>
              </a:rPr>
              <a:t>Kiosk, tablet, or simply a QR sticker on a wall. The customer uses their own phone to start the session. The point itself requires no on-site staff and no specialised hardware beyond a screen.</a:t>
            </a:r>
            <a:endParaRPr lang="en-US" sz="800" dirty="0"/>
          </a:p>
        </p:txBody>
      </p:sp>
      <p:sp>
        <p:nvSpPr>
          <p:cNvPr id="12" name="Text 10"/>
          <p:cNvSpPr/>
          <p:nvPr/>
        </p:nvSpPr>
        <p:spPr>
          <a:xfrm>
            <a:off x="460772" y="2272605"/>
            <a:ext cx="4850606" cy="767060"/>
          </a:xfrm>
          <a:prstGeom prst="roundRect">
            <a:avLst>
              <a:gd name="adj" fmla="val 14901"/>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13" name="Text 11"/>
          <p:cNvSpPr/>
          <p:nvPr/>
        </p:nvSpPr>
        <p:spPr>
          <a:xfrm>
            <a:off x="592931" y="2376190"/>
            <a:ext cx="257175" cy="257175"/>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14" name="Text 12"/>
          <p:cNvSpPr/>
          <p:nvPr/>
        </p:nvSpPr>
        <p:spPr>
          <a:xfrm>
            <a:off x="617934" y="2401193"/>
            <a:ext cx="207169" cy="207169"/>
          </a:xfrm>
          <a:prstGeom prst="rect">
            <a:avLst/>
          </a:prstGeom>
          <a:noFill/>
          <a:ln/>
        </p:spPr>
        <p:txBody>
          <a:bodyPr wrap="none" lIns="0" tIns="0" rIns="0" bIns="0" rtlCol="0" anchor="ctr"/>
          <a:lstStyle/>
          <a:p>
            <a:pPr algn="ctr" indent="0" marL="0">
              <a:buNone/>
            </a:pPr>
            <a:r>
              <a:rPr lang="en-US" sz="1406" dirty="0">
                <a:solidFill>
                  <a:srgbClr val="7C3AED"/>
                </a:solidFill>
                <a:latin typeface="Segoe UI Symbol" pitchFamily="34" charset="0"/>
                <a:ea typeface="Segoe UI Symbol" pitchFamily="34" charset="-122"/>
                <a:cs typeface="Segoe UI Symbol" pitchFamily="34" charset="-120"/>
              </a:rPr>
              <a:t>▢</a:t>
            </a:r>
            <a:endParaRPr lang="en-US" sz="1406" dirty="0"/>
          </a:p>
        </p:txBody>
      </p:sp>
      <p:sp>
        <p:nvSpPr>
          <p:cNvPr id="15" name="Text 13"/>
          <p:cNvSpPr/>
          <p:nvPr/>
        </p:nvSpPr>
        <p:spPr>
          <a:xfrm>
            <a:off x="950119" y="2376190"/>
            <a:ext cx="4229100" cy="130623"/>
          </a:xfrm>
          <a:prstGeom prst="rect">
            <a:avLst/>
          </a:prstGeom>
          <a:noFill/>
          <a:ln/>
        </p:spPr>
        <p:txBody>
          <a:bodyPr wrap="none" lIns="0" tIns="0" rIns="0" bIns="0" rtlCol="0" anchor="t">
            <a:normAutofit/>
          </a:bodyPr>
          <a:lstStyle/>
          <a:p>
            <a:pPr algn="l" indent="0" marL="0">
              <a:lnSpc>
                <a:spcPts val="1020"/>
              </a:lnSpc>
              <a:buNone/>
            </a:pPr>
            <a:r>
              <a:rPr lang="en-US" sz="816" b="1" spc="-2" kern="0" dirty="0">
                <a:solidFill>
                  <a:srgbClr val="6D28D9"/>
                </a:solidFill>
                <a:latin typeface="Carlito" pitchFamily="34" charset="0"/>
                <a:ea typeface="Carlito" pitchFamily="34" charset="-122"/>
                <a:cs typeface="Carlito" pitchFamily="34" charset="-120"/>
              </a:rPr>
              <a:t>The remote advisor</a:t>
            </a:r>
            <a:endParaRPr lang="en-US" sz="816" dirty="0"/>
          </a:p>
        </p:txBody>
      </p:sp>
      <p:sp>
        <p:nvSpPr>
          <p:cNvPr id="16" name="Text 14"/>
          <p:cNvSpPr/>
          <p:nvPr/>
        </p:nvSpPr>
        <p:spPr>
          <a:xfrm>
            <a:off x="950119" y="2534245"/>
            <a:ext cx="4229100" cy="401836"/>
          </a:xfrm>
          <a:prstGeom prst="rect">
            <a:avLst/>
          </a:prstGeom>
          <a:noFill/>
          <a:ln/>
        </p:spPr>
        <p:txBody>
          <a:bodyPr wrap="square" lIns="0" tIns="0" rIns="0" bIns="0" rtlCol="0" anchor="t"/>
          <a:lstStyle/>
          <a:p>
            <a:pPr algn="l" indent="0" marL="0">
              <a:lnSpc>
                <a:spcPts val="1055"/>
              </a:lnSpc>
              <a:buNone/>
            </a:pPr>
            <a:r>
              <a:rPr lang="en-US" sz="800" dirty="0">
                <a:solidFill>
                  <a:srgbClr val="374151"/>
                </a:solidFill>
                <a:latin typeface="Carlito" pitchFamily="34" charset="0"/>
                <a:ea typeface="Carlito" pitchFamily="34" charset="-122"/>
                <a:cs typeface="Carlito" pitchFamily="34" charset="-120"/>
              </a:rPr>
              <a:t>A human video agent, working from a laptop or PC with a web browser and internet access. No heavy client, no proprietary headsets, no dedicated workstation. The advisor can be in a contact centre, at home, or anywhere on the corporate network.</a:t>
            </a:r>
            <a:endParaRPr lang="en-US" sz="800" dirty="0"/>
          </a:p>
        </p:txBody>
      </p:sp>
      <p:sp>
        <p:nvSpPr>
          <p:cNvPr id="17" name="Text 15"/>
          <p:cNvSpPr/>
          <p:nvPr/>
        </p:nvSpPr>
        <p:spPr>
          <a:xfrm>
            <a:off x="460772" y="3118247"/>
            <a:ext cx="4850606" cy="633115"/>
          </a:xfrm>
          <a:prstGeom prst="roundRect">
            <a:avLst>
              <a:gd name="adj" fmla="val 18054"/>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18" name="Text 16"/>
          <p:cNvSpPr/>
          <p:nvPr/>
        </p:nvSpPr>
        <p:spPr>
          <a:xfrm>
            <a:off x="592931" y="3221831"/>
            <a:ext cx="257175" cy="257175"/>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19" name="Text 17"/>
          <p:cNvSpPr/>
          <p:nvPr/>
        </p:nvSpPr>
        <p:spPr>
          <a:xfrm>
            <a:off x="617934" y="3246834"/>
            <a:ext cx="207169" cy="207169"/>
          </a:xfrm>
          <a:prstGeom prst="rect">
            <a:avLst/>
          </a:prstGeom>
          <a:noFill/>
          <a:ln/>
        </p:spPr>
        <p:txBody>
          <a:bodyPr wrap="none" lIns="0" tIns="0" rIns="0" bIns="0" rtlCol="0" anchor="ctr"/>
          <a:lstStyle/>
          <a:p>
            <a:pPr algn="ctr" indent="0" marL="0">
              <a:buNone/>
            </a:pPr>
            <a:r>
              <a:rPr lang="en-US" sz="1406" dirty="0">
                <a:solidFill>
                  <a:srgbClr val="7C3AED"/>
                </a:solidFill>
                <a:latin typeface="Segoe UI Symbol" pitchFamily="34" charset="0"/>
                <a:ea typeface="Segoe UI Symbol" pitchFamily="34" charset="-122"/>
                <a:cs typeface="Segoe UI Symbol" pitchFamily="34" charset="-120"/>
              </a:rPr>
              <a:t>✦</a:t>
            </a:r>
            <a:endParaRPr lang="en-US" sz="1406" dirty="0"/>
          </a:p>
        </p:txBody>
      </p:sp>
      <p:sp>
        <p:nvSpPr>
          <p:cNvPr id="20" name="Text 18"/>
          <p:cNvSpPr/>
          <p:nvPr/>
        </p:nvSpPr>
        <p:spPr>
          <a:xfrm>
            <a:off x="950119" y="3221831"/>
            <a:ext cx="4229100" cy="130623"/>
          </a:xfrm>
          <a:prstGeom prst="rect">
            <a:avLst/>
          </a:prstGeom>
          <a:noFill/>
          <a:ln/>
        </p:spPr>
        <p:txBody>
          <a:bodyPr wrap="none" lIns="0" tIns="0" rIns="0" bIns="0" rtlCol="0" anchor="t">
            <a:normAutofit/>
          </a:bodyPr>
          <a:lstStyle/>
          <a:p>
            <a:pPr algn="l" indent="0" marL="0">
              <a:lnSpc>
                <a:spcPts val="1020"/>
              </a:lnSpc>
              <a:buNone/>
            </a:pPr>
            <a:r>
              <a:rPr lang="en-US" sz="816" b="1" spc="-2" kern="0" dirty="0">
                <a:solidFill>
                  <a:srgbClr val="6D28D9"/>
                </a:solidFill>
                <a:latin typeface="Carlito" pitchFamily="34" charset="0"/>
                <a:ea typeface="Carlito" pitchFamily="34" charset="-122"/>
                <a:cs typeface="Carlito" pitchFamily="34" charset="-120"/>
              </a:rPr>
              <a:t>The interaction</a:t>
            </a:r>
            <a:endParaRPr lang="en-US" sz="816" dirty="0"/>
          </a:p>
        </p:txBody>
      </p:sp>
      <p:sp>
        <p:nvSpPr>
          <p:cNvPr id="21" name="Text 19"/>
          <p:cNvSpPr/>
          <p:nvPr/>
        </p:nvSpPr>
        <p:spPr>
          <a:xfrm>
            <a:off x="950119" y="3379887"/>
            <a:ext cx="4229100" cy="267891"/>
          </a:xfrm>
          <a:prstGeom prst="rect">
            <a:avLst/>
          </a:prstGeom>
          <a:noFill/>
          <a:ln/>
        </p:spPr>
        <p:txBody>
          <a:bodyPr wrap="square" lIns="0" tIns="0" rIns="0" bIns="0" rtlCol="0" anchor="t"/>
          <a:lstStyle/>
          <a:p>
            <a:pPr algn="l" indent="0" marL="0">
              <a:lnSpc>
                <a:spcPts val="1055"/>
              </a:lnSpc>
              <a:buNone/>
            </a:pPr>
            <a:r>
              <a:rPr lang="en-US" sz="800" dirty="0">
                <a:solidFill>
                  <a:srgbClr val="374151"/>
                </a:solidFill>
                <a:latin typeface="Carlito" pitchFamily="34" charset="0"/>
                <a:ea typeface="Carlito" pitchFamily="34" charset="-122"/>
                <a:cs typeface="Carlito" pitchFamily="34" charset="-120"/>
              </a:rPr>
              <a:t>The advisor appears life-size on the service point's screen, looking straight at the camera. The customer experiences a face-to-face conversation that matches the perceived service and trust of a staffed counter.</a:t>
            </a:r>
            <a:endParaRPr lang="en-US" sz="800" dirty="0"/>
          </a:p>
        </p:txBody>
      </p:sp>
      <p:pic>
        <p:nvPicPr>
          <p:cNvPr id="22" name="Image 0" descr="preencoded.png">    </p:cNvPr>
          <p:cNvPicPr>
            <a:picLocks noChangeAspect="1"/>
          </p:cNvPicPr>
          <p:nvPr/>
        </p:nvPicPr>
        <p:blipFill>
          <a:blip r:embed="rId1"/>
          <a:stretch>
            <a:fillRect/>
          </a:stretch>
        </p:blipFill>
        <p:spPr>
          <a:xfrm>
            <a:off x="457200" y="3869234"/>
            <a:ext cx="4857750" cy="469702"/>
          </a:xfrm>
          <a:prstGeom prst="rect">
            <a:avLst/>
          </a:prstGeom>
        </p:spPr>
      </p:pic>
      <p:sp>
        <p:nvSpPr>
          <p:cNvPr id="23" name="Text 20"/>
          <p:cNvSpPr/>
          <p:nvPr/>
        </p:nvSpPr>
        <p:spPr>
          <a:xfrm>
            <a:off x="585788" y="3954959"/>
            <a:ext cx="4710303" cy="136874"/>
          </a:xfrm>
          <a:prstGeom prst="rect">
            <a:avLst/>
          </a:prstGeom>
          <a:noFill/>
          <a:ln/>
        </p:spPr>
        <p:txBody>
          <a:bodyPr wrap="square" lIns="0" tIns="0" rIns="0" bIns="0" rtlCol="0" anchor="t">
            <a:normAutofit/>
          </a:bodyPr>
          <a:lstStyle/>
          <a:p>
            <a:pPr algn="l" indent="0" marL="0">
              <a:lnSpc>
                <a:spcPts val="844"/>
              </a:lnSpc>
              <a:buNone/>
            </a:pPr>
            <a:r>
              <a:rPr lang="en-US" sz="800" b="1" spc="113" kern="0" dirty="0">
                <a:solidFill>
                  <a:srgbClr val="A78BFA"/>
                </a:solidFill>
                <a:latin typeface="Carlito" pitchFamily="34" charset="0"/>
                <a:ea typeface="Carlito" pitchFamily="34" charset="-122"/>
                <a:cs typeface="Carlito" pitchFamily="34" charset="-120"/>
              </a:rPr>
              <a:t>THREE THINGS THE CUSTOMER NEVER HAS TO DO</a:t>
            </a:r>
            <a:endParaRPr lang="en-US" sz="800" dirty="0"/>
          </a:p>
        </p:txBody>
      </p:sp>
      <p:sp>
        <p:nvSpPr>
          <p:cNvPr id="24" name="Text 21"/>
          <p:cNvSpPr/>
          <p:nvPr/>
        </p:nvSpPr>
        <p:spPr>
          <a:xfrm>
            <a:off x="734782" y="4133552"/>
            <a:ext cx="758309" cy="119658"/>
          </a:xfrm>
          <a:prstGeom prst="rect">
            <a:avLst/>
          </a:prstGeom>
          <a:noFill/>
          <a:ln/>
        </p:spPr>
        <p:txBody>
          <a:bodyPr wrap="none" lIns="0" tIns="0" rIns="0" bIns="0" rtlCol="0" anchor="t"/>
          <a:lstStyle/>
          <a:p>
            <a:pPr algn="l" indent="0" marL="0">
              <a:lnSpc>
                <a:spcPts val="1055"/>
              </a:lnSpc>
              <a:buNone/>
            </a:pPr>
            <a:r>
              <a:rPr lang="en-US" sz="703" b="1" dirty="0">
                <a:solidFill>
                  <a:srgbClr val="FFFFFF"/>
                </a:solidFill>
                <a:latin typeface="Carlito" pitchFamily="34" charset="0"/>
                <a:ea typeface="Carlito" pitchFamily="34" charset="-122"/>
                <a:cs typeface="Carlito" pitchFamily="34" charset="-120"/>
              </a:rPr>
              <a:t>Install an app</a:t>
            </a:r>
            <a:endParaRPr lang="en-US" sz="703" dirty="0"/>
          </a:p>
        </p:txBody>
      </p:sp>
      <p:sp>
        <p:nvSpPr>
          <p:cNvPr id="25" name="Text 22"/>
          <p:cNvSpPr/>
          <p:nvPr/>
        </p:nvSpPr>
        <p:spPr>
          <a:xfrm>
            <a:off x="585788" y="4129088"/>
            <a:ext cx="114300" cy="114300"/>
          </a:xfrm>
          <a:prstGeom prst="rect">
            <a:avLst/>
          </a:prstGeom>
          <a:noFill/>
          <a:ln/>
        </p:spPr>
        <p:txBody>
          <a:bodyPr wrap="none" lIns="0" tIns="0" rIns="0" bIns="0" rtlCol="0" anchor="ctr"/>
          <a:lstStyle/>
          <a:p>
            <a:pPr algn="ctr" indent="0" marL="0">
              <a:buNone/>
            </a:pPr>
            <a:r>
              <a:rPr lang="en-US" sz="1125" dirty="0">
                <a:solidFill>
                  <a:srgbClr val="C4B5FD"/>
                </a:solidFill>
                <a:latin typeface="Segoe UI Symbol" pitchFamily="34" charset="0"/>
                <a:ea typeface="Segoe UI Symbol" pitchFamily="34" charset="-122"/>
                <a:cs typeface="Segoe UI Symbol" pitchFamily="34" charset="-120"/>
              </a:rPr>
              <a:t>⊘</a:t>
            </a:r>
            <a:endParaRPr lang="en-US" sz="1125" dirty="0"/>
          </a:p>
        </p:txBody>
      </p:sp>
      <p:sp>
        <p:nvSpPr>
          <p:cNvPr id="26" name="Text 23"/>
          <p:cNvSpPr/>
          <p:nvPr/>
        </p:nvSpPr>
        <p:spPr>
          <a:xfrm>
            <a:off x="1456544" y="4129088"/>
            <a:ext cx="7144" cy="114300"/>
          </a:xfrm>
          <a:prstGeom prst="rect">
            <a:avLst/>
          </a:prstGeom>
          <a:solidFill>
            <a:srgbClr val="FFFFFF">
              <a:alpha val="25000"/>
            </a:srgbClr>
          </a:solidFill>
          <a:ln/>
        </p:spPr>
        <p:txBody>
          <a:bodyPr wrap="square" rtlCol="0" anchor="ctr"/>
          <a:lstStyle/>
          <a:p>
            <a:pPr indent="0" marL="0">
              <a:buNone/>
            </a:pPr>
            <a:endParaRPr lang="en-US" dirty="0"/>
          </a:p>
        </p:txBody>
      </p:sp>
      <p:sp>
        <p:nvSpPr>
          <p:cNvPr id="27" name="Text 24"/>
          <p:cNvSpPr/>
          <p:nvPr/>
        </p:nvSpPr>
        <p:spPr>
          <a:xfrm>
            <a:off x="1763725" y="4133552"/>
            <a:ext cx="1141047" cy="119658"/>
          </a:xfrm>
          <a:prstGeom prst="rect">
            <a:avLst/>
          </a:prstGeom>
          <a:noFill/>
          <a:ln/>
        </p:spPr>
        <p:txBody>
          <a:bodyPr wrap="none" lIns="0" tIns="0" rIns="0" bIns="0" rtlCol="0" anchor="t"/>
          <a:lstStyle/>
          <a:p>
            <a:pPr algn="l" indent="0" marL="0">
              <a:lnSpc>
                <a:spcPts val="1055"/>
              </a:lnSpc>
              <a:buNone/>
            </a:pPr>
            <a:r>
              <a:rPr lang="en-US" sz="800" b="1" dirty="0">
                <a:solidFill>
                  <a:srgbClr val="FFFFFF"/>
                </a:solidFill>
                <a:latin typeface="Carlito" pitchFamily="34" charset="0"/>
                <a:ea typeface="Carlito" pitchFamily="34" charset="-122"/>
                <a:cs typeface="Carlito" pitchFamily="34" charset="-120"/>
              </a:rPr>
              <a:t>Book an appointment</a:t>
            </a:r>
            <a:endParaRPr lang="en-US" sz="800" dirty="0"/>
          </a:p>
        </p:txBody>
      </p:sp>
      <p:sp>
        <p:nvSpPr>
          <p:cNvPr id="28" name="Text 25"/>
          <p:cNvSpPr/>
          <p:nvPr/>
        </p:nvSpPr>
        <p:spPr>
          <a:xfrm>
            <a:off x="1592275" y="4129088"/>
            <a:ext cx="114300" cy="114300"/>
          </a:xfrm>
          <a:prstGeom prst="rect">
            <a:avLst/>
          </a:prstGeom>
          <a:noFill/>
          <a:ln/>
        </p:spPr>
        <p:txBody>
          <a:bodyPr wrap="none" lIns="0" tIns="0" rIns="0" bIns="0" rtlCol="0" anchor="ctr"/>
          <a:lstStyle/>
          <a:p>
            <a:pPr algn="ctr" indent="0" marL="0">
              <a:buNone/>
            </a:pPr>
            <a:r>
              <a:rPr lang="en-US" sz="1125" dirty="0">
                <a:solidFill>
                  <a:srgbClr val="C4B5FD"/>
                </a:solidFill>
                <a:latin typeface="Segoe UI Symbol" pitchFamily="34" charset="0"/>
                <a:ea typeface="Segoe UI Symbol" pitchFamily="34" charset="-122"/>
                <a:cs typeface="Segoe UI Symbol" pitchFamily="34" charset="-120"/>
              </a:rPr>
              <a:t>▦</a:t>
            </a:r>
            <a:endParaRPr lang="en-US" sz="1125" dirty="0"/>
          </a:p>
        </p:txBody>
      </p:sp>
      <p:sp>
        <p:nvSpPr>
          <p:cNvPr id="29" name="Text 26"/>
          <p:cNvSpPr/>
          <p:nvPr/>
        </p:nvSpPr>
        <p:spPr>
          <a:xfrm>
            <a:off x="2805150" y="4129088"/>
            <a:ext cx="7144" cy="114300"/>
          </a:xfrm>
          <a:prstGeom prst="rect">
            <a:avLst/>
          </a:prstGeom>
          <a:solidFill>
            <a:srgbClr val="FFFFFF">
              <a:alpha val="25000"/>
            </a:srgbClr>
          </a:solidFill>
          <a:ln/>
        </p:spPr>
        <p:txBody>
          <a:bodyPr wrap="square" rtlCol="0" anchor="ctr"/>
          <a:lstStyle/>
          <a:p>
            <a:pPr indent="0" marL="0">
              <a:buNone/>
            </a:pPr>
            <a:endParaRPr lang="en-US" dirty="0"/>
          </a:p>
        </p:txBody>
      </p:sp>
      <p:sp>
        <p:nvSpPr>
          <p:cNvPr id="30" name="Text 27"/>
          <p:cNvSpPr/>
          <p:nvPr/>
        </p:nvSpPr>
        <p:spPr>
          <a:xfrm>
            <a:off x="3112331" y="4133552"/>
            <a:ext cx="2074032" cy="119658"/>
          </a:xfrm>
          <a:prstGeom prst="rect">
            <a:avLst/>
          </a:prstGeom>
          <a:noFill/>
          <a:ln/>
        </p:spPr>
        <p:txBody>
          <a:bodyPr wrap="none" lIns="0" tIns="0" rIns="0" bIns="0" rtlCol="0" anchor="t"/>
          <a:lstStyle/>
          <a:p>
            <a:pPr algn="l" indent="0" marL="0">
              <a:lnSpc>
                <a:spcPts val="1055"/>
              </a:lnSpc>
              <a:buNone/>
            </a:pPr>
            <a:r>
              <a:rPr lang="en-US" sz="800" b="1" dirty="0">
                <a:solidFill>
                  <a:srgbClr val="FFFFFF"/>
                </a:solidFill>
                <a:latin typeface="Carlito" pitchFamily="34" charset="0"/>
                <a:ea typeface="Carlito" pitchFamily="34" charset="-122"/>
                <a:cs typeface="Carlito" pitchFamily="34" charset="-120"/>
              </a:rPr>
              <a:t>Wait for on-site staff</a:t>
            </a:r>
            <a:endParaRPr lang="en-US" sz="800" dirty="0"/>
          </a:p>
        </p:txBody>
      </p:sp>
      <p:sp>
        <p:nvSpPr>
          <p:cNvPr id="31" name="Text 28"/>
          <p:cNvSpPr/>
          <p:nvPr/>
        </p:nvSpPr>
        <p:spPr>
          <a:xfrm>
            <a:off x="2940881" y="4129088"/>
            <a:ext cx="114300" cy="114300"/>
          </a:xfrm>
          <a:prstGeom prst="rect">
            <a:avLst/>
          </a:prstGeom>
          <a:noFill/>
          <a:ln/>
        </p:spPr>
        <p:txBody>
          <a:bodyPr wrap="none" lIns="0" tIns="0" rIns="0" bIns="0" rtlCol="0" anchor="ctr"/>
          <a:lstStyle/>
          <a:p>
            <a:pPr algn="ctr" indent="0" marL="0">
              <a:buNone/>
            </a:pPr>
            <a:r>
              <a:rPr lang="en-US" sz="1125" dirty="0">
                <a:solidFill>
                  <a:srgbClr val="C4B5FD"/>
                </a:solidFill>
                <a:latin typeface="Segoe UI Symbol" pitchFamily="34" charset="0"/>
                <a:ea typeface="Segoe UI Symbol" pitchFamily="34" charset="-122"/>
                <a:cs typeface="Segoe UI Symbol" pitchFamily="34" charset="-120"/>
              </a:rPr>
              <a:t>☻</a:t>
            </a:r>
            <a:endParaRPr lang="en-US" sz="1125" dirty="0"/>
          </a:p>
        </p:txBody>
      </p:sp>
      <p:pic>
        <p:nvPicPr>
          <p:cNvPr id="32" name="Image 1" descr="/tmp/h2p-fit-1786522333968-u6w81i.png">    </p:cNvPr>
          <p:cNvPicPr>
            <a:picLocks noChangeAspect="1"/>
          </p:cNvPicPr>
          <p:nvPr/>
        </p:nvPicPr>
        <p:blipFill>
          <a:blip r:embed="rId2"/>
          <a:stretch>
            <a:fillRect/>
          </a:stretch>
        </p:blipFill>
        <p:spPr>
          <a:xfrm>
            <a:off x="5314950" y="571500"/>
            <a:ext cx="3371850" cy="4000500"/>
          </a:xfrm>
          <a:prstGeom prst="rect">
            <a:avLst/>
          </a:prstGeom>
        </p:spPr>
      </p:pic>
      <p:pic>
        <p:nvPicPr>
          <p:cNvPr id="33" name="Image 2" descr="preencoded.png">    </p:cNvPr>
          <p:cNvPicPr>
            <a:picLocks noChangeAspect="1"/>
          </p:cNvPicPr>
          <p:nvPr/>
        </p:nvPicPr>
        <p:blipFill>
          <a:blip r:embed="rId3"/>
          <a:stretch>
            <a:fillRect/>
          </a:stretch>
        </p:blipFill>
        <p:spPr>
          <a:xfrm>
            <a:off x="5314950" y="571500"/>
            <a:ext cx="3371850" cy="4000500"/>
          </a:xfrm>
          <a:prstGeom prst="rect">
            <a:avLst/>
          </a:prstGeom>
        </p:spPr>
      </p:pic>
      <p:pic>
        <p:nvPicPr>
          <p:cNvPr id="34" name="Image 3" descr="preencoded.png">    </p:cNvPr>
          <p:cNvPicPr>
            <a:picLocks noChangeAspect="1"/>
          </p:cNvPicPr>
          <p:nvPr/>
        </p:nvPicPr>
        <p:blipFill>
          <a:blip r:embed="rId4"/>
          <a:stretch>
            <a:fillRect/>
          </a:stretch>
        </p:blipFill>
        <p:spPr>
          <a:xfrm>
            <a:off x="5314950" y="571500"/>
            <a:ext cx="3371850" cy="4000500"/>
          </a:xfrm>
          <a:prstGeom prst="rect">
            <a:avLst/>
          </a:prstGeom>
        </p:spPr>
      </p:pic>
      <p:sp>
        <p:nvSpPr>
          <p:cNvPr id="35" name="Text 29"/>
          <p:cNvSpPr/>
          <p:nvPr/>
        </p:nvSpPr>
        <p:spPr>
          <a:xfrm>
            <a:off x="5420678" y="687872"/>
            <a:ext cx="1162601" cy="228029"/>
          </a:xfrm>
          <a:prstGeom prst="roundRect">
            <a:avLst>
              <a:gd name="adj" fmla="val 4172923"/>
            </a:avLst>
          </a:prstGeom>
          <a:solidFill>
            <a:srgbClr val="FFFFFF">
              <a:alpha val="95000"/>
            </a:srgbClr>
          </a:solidFill>
          <a:ln/>
        </p:spPr>
        <p:txBody>
          <a:bodyPr wrap="square" rtlCol="0" anchor="ctr"/>
          <a:lstStyle/>
          <a:p>
            <a:pPr indent="0" marL="0">
              <a:buNone/>
            </a:pPr>
            <a:endParaRPr lang="en-US" dirty="0"/>
          </a:p>
        </p:txBody>
      </p:sp>
      <p:sp>
        <p:nvSpPr>
          <p:cNvPr id="36" name="Text 30"/>
          <p:cNvSpPr/>
          <p:nvPr/>
        </p:nvSpPr>
        <p:spPr>
          <a:xfrm>
            <a:off x="5529263" y="751880"/>
            <a:ext cx="100013" cy="100013"/>
          </a:xfrm>
          <a:prstGeom prst="rect">
            <a:avLst/>
          </a:prstGeom>
          <a:noFill/>
          <a:ln/>
        </p:spPr>
        <p:txBody>
          <a:bodyPr wrap="none" lIns="0" tIns="0" rIns="0" bIns="0" rtlCol="0" anchor="ctr"/>
          <a:lstStyle/>
          <a:p>
            <a:pPr algn="ctr" indent="0" marL="0">
              <a:buNone/>
            </a:pPr>
            <a:r>
              <a:rPr lang="en-US" sz="984" dirty="0">
                <a:solidFill>
                  <a:srgbClr val="7C3AED"/>
                </a:solidFill>
                <a:latin typeface="Segoe UI Symbol" pitchFamily="34" charset="0"/>
                <a:ea typeface="Segoe UI Symbol" pitchFamily="34" charset="-122"/>
                <a:cs typeface="Segoe UI Symbol" pitchFamily="34" charset="-120"/>
              </a:rPr>
              <a:t>▶</a:t>
            </a:r>
            <a:endParaRPr lang="en-US" sz="984" dirty="0"/>
          </a:p>
        </p:txBody>
      </p:sp>
      <p:sp>
        <p:nvSpPr>
          <p:cNvPr id="37" name="Text 31"/>
          <p:cNvSpPr/>
          <p:nvPr/>
        </p:nvSpPr>
        <p:spPr>
          <a:xfrm>
            <a:off x="5672138" y="742950"/>
            <a:ext cx="802556" cy="117872"/>
          </a:xfrm>
          <a:prstGeom prst="rect">
            <a:avLst/>
          </a:prstGeom>
          <a:noFill/>
          <a:ln/>
        </p:spPr>
        <p:txBody>
          <a:bodyPr wrap="none" lIns="0" tIns="0" rIns="0" bIns="0" rtlCol="0" anchor="t"/>
          <a:lstStyle/>
          <a:p>
            <a:pPr algn="l" indent="0" marL="0">
              <a:lnSpc>
                <a:spcPts val="928"/>
              </a:lnSpc>
              <a:buNone/>
            </a:pPr>
            <a:r>
              <a:rPr lang="en-US" sz="619" b="1" spc="87" kern="0" dirty="0">
                <a:solidFill>
                  <a:srgbClr val="6D28D9"/>
                </a:solidFill>
                <a:latin typeface="Carlito" pitchFamily="34" charset="0"/>
                <a:ea typeface="Carlito" pitchFamily="34" charset="-122"/>
                <a:cs typeface="Carlito" pitchFamily="34" charset="-120"/>
              </a:rPr>
              <a:t>LIFE-SIZE VIDEO</a:t>
            </a:r>
            <a:endParaRPr lang="en-US" sz="619" dirty="0"/>
          </a:p>
        </p:txBody>
      </p:sp>
      <p:sp>
        <p:nvSpPr>
          <p:cNvPr id="38" name="Text 32"/>
          <p:cNvSpPr/>
          <p:nvPr/>
        </p:nvSpPr>
        <p:spPr>
          <a:xfrm>
            <a:off x="5443538" y="3246834"/>
            <a:ext cx="895313" cy="396478"/>
          </a:xfrm>
          <a:prstGeom prst="roundRect">
            <a:avLst>
              <a:gd name="adj" fmla="val 19219"/>
            </a:avLst>
          </a:prstGeom>
          <a:solidFill>
            <a:srgbClr val="FFFFFF">
              <a:alpha val="95000"/>
            </a:srgbClr>
          </a:solidFill>
          <a:ln/>
        </p:spPr>
        <p:txBody>
          <a:bodyPr wrap="square" rtlCol="0" anchor="ctr"/>
          <a:lstStyle/>
          <a:p>
            <a:pPr indent="0" marL="0">
              <a:buNone/>
            </a:pPr>
            <a:endParaRPr lang="en-US" dirty="0"/>
          </a:p>
        </p:txBody>
      </p:sp>
      <p:sp>
        <p:nvSpPr>
          <p:cNvPr id="39" name="Text 33"/>
          <p:cNvSpPr/>
          <p:nvPr/>
        </p:nvSpPr>
        <p:spPr>
          <a:xfrm>
            <a:off x="5826844" y="3328988"/>
            <a:ext cx="128588" cy="128588"/>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40" name="Text 34"/>
          <p:cNvSpPr/>
          <p:nvPr/>
        </p:nvSpPr>
        <p:spPr>
          <a:xfrm>
            <a:off x="5514975" y="3489722"/>
            <a:ext cx="752438" cy="96441"/>
          </a:xfrm>
          <a:prstGeom prst="rect">
            <a:avLst/>
          </a:prstGeom>
          <a:noFill/>
          <a:ln/>
        </p:spPr>
        <p:txBody>
          <a:bodyPr wrap="none" lIns="0" tIns="0" rIns="0" bIns="0" rtlCol="0" anchor="t"/>
          <a:lstStyle/>
          <a:p>
            <a:pPr algn="ctr" indent="0" marL="0">
              <a:lnSpc>
                <a:spcPts val="759"/>
              </a:lnSpc>
              <a:buNone/>
            </a:pPr>
            <a:r>
              <a:rPr lang="en-US" sz="800" b="1" spc="61" kern="0" dirty="0">
                <a:solidFill>
                  <a:srgbClr val="6D28D9"/>
                </a:solidFill>
                <a:latin typeface="Carlito" pitchFamily="34" charset="0"/>
                <a:ea typeface="Carlito" pitchFamily="34" charset="-122"/>
                <a:cs typeface="Carlito" pitchFamily="34" charset="-120"/>
              </a:rPr>
              <a:t>SCAN</a:t>
            </a:r>
            <a:endParaRPr lang="en-US" sz="800" dirty="0"/>
          </a:p>
        </p:txBody>
      </p:sp>
      <p:sp>
        <p:nvSpPr>
          <p:cNvPr id="41" name="Text 35"/>
          <p:cNvSpPr/>
          <p:nvPr/>
        </p:nvSpPr>
        <p:spPr>
          <a:xfrm>
            <a:off x="6396000" y="3395067"/>
            <a:ext cx="100013" cy="100013"/>
          </a:xfrm>
          <a:prstGeom prst="rect">
            <a:avLst/>
          </a:prstGeom>
          <a:noFill/>
          <a:ln/>
        </p:spPr>
        <p:txBody>
          <a:bodyPr wrap="none" lIns="0" tIns="0" rIns="0" bIns="0" rtlCol="0" anchor="ctr"/>
          <a:lstStyle/>
          <a:p>
            <a:pPr algn="ctr" indent="0" marL="0">
              <a:buNone/>
            </a:pPr>
            <a:r>
              <a:rPr lang="en-US" sz="984" dirty="0">
                <a:solidFill>
                  <a:srgbClr val="C4B5FD"/>
                </a:solidFill>
                <a:latin typeface="Segoe UI Symbol" pitchFamily="34" charset="0"/>
                <a:ea typeface="Segoe UI Symbol" pitchFamily="34" charset="-122"/>
                <a:cs typeface="Segoe UI Symbol" pitchFamily="34" charset="-120"/>
              </a:rPr>
              <a:t>→</a:t>
            </a:r>
            <a:endParaRPr lang="en-US" sz="984" dirty="0"/>
          </a:p>
        </p:txBody>
      </p:sp>
      <p:sp>
        <p:nvSpPr>
          <p:cNvPr id="42" name="Text 36"/>
          <p:cNvSpPr/>
          <p:nvPr/>
        </p:nvSpPr>
        <p:spPr>
          <a:xfrm>
            <a:off x="6553163" y="3246834"/>
            <a:ext cx="895424" cy="396478"/>
          </a:xfrm>
          <a:prstGeom prst="roundRect">
            <a:avLst>
              <a:gd name="adj" fmla="val 19219"/>
            </a:avLst>
          </a:prstGeom>
          <a:solidFill>
            <a:srgbClr val="FFFFFF">
              <a:alpha val="95000"/>
            </a:srgbClr>
          </a:solidFill>
          <a:ln/>
        </p:spPr>
        <p:txBody>
          <a:bodyPr wrap="square" rtlCol="0" anchor="ctr"/>
          <a:lstStyle/>
          <a:p>
            <a:pPr indent="0" marL="0">
              <a:buNone/>
            </a:pPr>
            <a:endParaRPr lang="en-US" dirty="0"/>
          </a:p>
        </p:txBody>
      </p:sp>
      <p:sp>
        <p:nvSpPr>
          <p:cNvPr id="43" name="Text 37"/>
          <p:cNvSpPr/>
          <p:nvPr/>
        </p:nvSpPr>
        <p:spPr>
          <a:xfrm>
            <a:off x="6936581" y="3328988"/>
            <a:ext cx="128588" cy="128588"/>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44" name="Text 38"/>
          <p:cNvSpPr/>
          <p:nvPr/>
        </p:nvSpPr>
        <p:spPr>
          <a:xfrm>
            <a:off x="6624600" y="3489722"/>
            <a:ext cx="752549" cy="96441"/>
          </a:xfrm>
          <a:prstGeom prst="rect">
            <a:avLst/>
          </a:prstGeom>
          <a:noFill/>
          <a:ln/>
        </p:spPr>
        <p:txBody>
          <a:bodyPr wrap="none" lIns="0" tIns="0" rIns="0" bIns="0" rtlCol="0" anchor="t"/>
          <a:lstStyle/>
          <a:p>
            <a:pPr algn="ctr" indent="0" marL="0">
              <a:lnSpc>
                <a:spcPts val="759"/>
              </a:lnSpc>
              <a:buNone/>
            </a:pPr>
            <a:r>
              <a:rPr lang="en-US" sz="800" b="1" spc="61" kern="0" dirty="0">
                <a:solidFill>
                  <a:srgbClr val="6D28D9"/>
                </a:solidFill>
                <a:latin typeface="Carlito" pitchFamily="34" charset="0"/>
                <a:ea typeface="Carlito" pitchFamily="34" charset="-122"/>
                <a:cs typeface="Carlito" pitchFamily="34" charset="-120"/>
              </a:rPr>
              <a:t>ADVISE</a:t>
            </a:r>
            <a:endParaRPr lang="en-US" sz="800" dirty="0"/>
          </a:p>
        </p:txBody>
      </p:sp>
      <p:sp>
        <p:nvSpPr>
          <p:cNvPr id="45" name="Text 39"/>
          <p:cNvSpPr/>
          <p:nvPr/>
        </p:nvSpPr>
        <p:spPr>
          <a:xfrm>
            <a:off x="7505737" y="3395067"/>
            <a:ext cx="100013" cy="100013"/>
          </a:xfrm>
          <a:prstGeom prst="rect">
            <a:avLst/>
          </a:prstGeom>
          <a:noFill/>
          <a:ln/>
        </p:spPr>
        <p:txBody>
          <a:bodyPr wrap="none" lIns="0" tIns="0" rIns="0" bIns="0" rtlCol="0" anchor="ctr"/>
          <a:lstStyle/>
          <a:p>
            <a:pPr algn="ctr" indent="0" marL="0">
              <a:buNone/>
            </a:pPr>
            <a:r>
              <a:rPr lang="en-US" sz="984" dirty="0">
                <a:solidFill>
                  <a:srgbClr val="C4B5FD"/>
                </a:solidFill>
                <a:latin typeface="Segoe UI Symbol" pitchFamily="34" charset="0"/>
                <a:ea typeface="Segoe UI Symbol" pitchFamily="34" charset="-122"/>
                <a:cs typeface="Segoe UI Symbol" pitchFamily="34" charset="-120"/>
              </a:rPr>
              <a:t>→</a:t>
            </a:r>
            <a:endParaRPr lang="en-US" sz="984" dirty="0"/>
          </a:p>
        </p:txBody>
      </p:sp>
      <p:sp>
        <p:nvSpPr>
          <p:cNvPr id="46" name="Text 40"/>
          <p:cNvSpPr/>
          <p:nvPr/>
        </p:nvSpPr>
        <p:spPr>
          <a:xfrm>
            <a:off x="7662900" y="3246834"/>
            <a:ext cx="895313" cy="396478"/>
          </a:xfrm>
          <a:prstGeom prst="roundRect">
            <a:avLst>
              <a:gd name="adj" fmla="val 19219"/>
            </a:avLst>
          </a:prstGeom>
          <a:solidFill>
            <a:srgbClr val="FFFFFF">
              <a:alpha val="95000"/>
            </a:srgbClr>
          </a:solidFill>
          <a:ln/>
        </p:spPr>
        <p:txBody>
          <a:bodyPr wrap="square" rtlCol="0" anchor="ctr"/>
          <a:lstStyle/>
          <a:p>
            <a:pPr indent="0" marL="0">
              <a:buNone/>
            </a:pPr>
            <a:endParaRPr lang="en-US" dirty="0"/>
          </a:p>
        </p:txBody>
      </p:sp>
      <p:sp>
        <p:nvSpPr>
          <p:cNvPr id="47" name="Text 41"/>
          <p:cNvSpPr/>
          <p:nvPr/>
        </p:nvSpPr>
        <p:spPr>
          <a:xfrm>
            <a:off x="8046207" y="3328988"/>
            <a:ext cx="128588" cy="128588"/>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48" name="Text 42"/>
          <p:cNvSpPr/>
          <p:nvPr/>
        </p:nvSpPr>
        <p:spPr>
          <a:xfrm>
            <a:off x="7734337" y="3489722"/>
            <a:ext cx="752438" cy="96441"/>
          </a:xfrm>
          <a:prstGeom prst="rect">
            <a:avLst/>
          </a:prstGeom>
          <a:noFill/>
          <a:ln/>
        </p:spPr>
        <p:txBody>
          <a:bodyPr wrap="none" lIns="0" tIns="0" rIns="0" bIns="0" rtlCol="0" anchor="t"/>
          <a:lstStyle/>
          <a:p>
            <a:pPr algn="ctr" indent="0" marL="0">
              <a:lnSpc>
                <a:spcPts val="759"/>
              </a:lnSpc>
              <a:buNone/>
            </a:pPr>
            <a:r>
              <a:rPr lang="en-US" sz="800" b="1" spc="61" kern="0" dirty="0">
                <a:solidFill>
                  <a:srgbClr val="6D28D9"/>
                </a:solidFill>
                <a:latin typeface="Carlito" pitchFamily="34" charset="0"/>
                <a:ea typeface="Carlito" pitchFamily="34" charset="-122"/>
                <a:cs typeface="Carlito" pitchFamily="34" charset="-120"/>
              </a:rPr>
              <a:t>CONNECT</a:t>
            </a:r>
            <a:endParaRPr lang="en-US" sz="800" dirty="0"/>
          </a:p>
        </p:txBody>
      </p:sp>
      <p:sp>
        <p:nvSpPr>
          <p:cNvPr id="49" name="Text 43"/>
          <p:cNvSpPr/>
          <p:nvPr/>
        </p:nvSpPr>
        <p:spPr>
          <a:xfrm>
            <a:off x="5472113" y="3744888"/>
            <a:ext cx="3057525" cy="392487"/>
          </a:xfrm>
          <a:prstGeom prst="rect">
            <a:avLst/>
          </a:prstGeom>
          <a:noFill/>
          <a:ln/>
        </p:spPr>
        <p:txBody>
          <a:bodyPr wrap="square" lIns="0" tIns="0" rIns="0" bIns="0" rtlCol="0" anchor="t">
            <a:normAutofit/>
          </a:bodyPr>
          <a:lstStyle/>
          <a:p>
            <a:pPr algn="l" indent="0" marL="0">
              <a:lnSpc>
                <a:spcPts val="1485"/>
              </a:lnSpc>
              <a:buNone/>
            </a:pPr>
            <a:r>
              <a:rPr lang="en-US" sz="1238" b="1" spc="-12" kern="0" dirty="0">
                <a:solidFill>
                  <a:srgbClr val="FFFFFF"/>
                </a:solidFill>
                <a:latin typeface="Tinos" pitchFamily="34" charset="0"/>
                <a:ea typeface="Tinos" pitchFamily="34" charset="-122"/>
                <a:cs typeface="Tinos" pitchFamily="34" charset="-120"/>
              </a:rPr>
              <a:t>Physical presence.</a:t>
            </a:r>
            <a:endParaRPr lang="en-US" sz="1238" dirty="0"/>
          </a:p>
          <a:p>
            <a:pPr algn="l" indent="0" marL="0">
              <a:lnSpc>
                <a:spcPts val="1485"/>
              </a:lnSpc>
              <a:buNone/>
            </a:pPr>
            <a:r>
              <a:rPr lang="en-US" sz="1238" b="1" spc="-12" kern="0" dirty="0">
                <a:solidFill>
                  <a:srgbClr val="FFFFFF"/>
                </a:solidFill>
                <a:latin typeface="Tinos" pitchFamily="34" charset="0"/>
                <a:ea typeface="Tinos" pitchFamily="34" charset="-122"/>
                <a:cs typeface="Tinos" pitchFamily="34" charset="-120"/>
              </a:rPr>
              <a:t>Remote operation.</a:t>
            </a:r>
            <a:endParaRPr lang="en-US" sz="1238" dirty="0"/>
          </a:p>
        </p:txBody>
      </p:sp>
      <p:sp>
        <p:nvSpPr>
          <p:cNvPr id="50" name="Text 44"/>
          <p:cNvSpPr/>
          <p:nvPr/>
        </p:nvSpPr>
        <p:spPr>
          <a:xfrm>
            <a:off x="5472113" y="4164806"/>
            <a:ext cx="3057525" cy="307238"/>
          </a:xfrm>
          <a:prstGeom prst="rect">
            <a:avLst/>
          </a:prstGeom>
          <a:noFill/>
          <a:ln/>
        </p:spPr>
        <p:txBody>
          <a:bodyPr wrap="square" lIns="0" tIns="0" rIns="0" bIns="0" rtlCol="0" anchor="t"/>
          <a:lstStyle/>
          <a:p>
            <a:pPr algn="l" indent="0" marL="0">
              <a:lnSpc>
                <a:spcPts val="984"/>
              </a:lnSpc>
              <a:buNone/>
            </a:pPr>
            <a:r>
              <a:rPr lang="en-US" sz="800" dirty="0">
                <a:solidFill>
                  <a:srgbClr val="C4B5FD"/>
                </a:solidFill>
                <a:latin typeface="Carlito" pitchFamily="34" charset="0"/>
                <a:ea typeface="Carlito" pitchFamily="34" charset="-122"/>
                <a:cs typeface="Carlito" pitchFamily="34" charset="-120"/>
              </a:rPr>
              <a:t>The complexity is on the platform side. The customer sees only a face-to-face conversation.</a:t>
            </a:r>
            <a:endParaRPr lang="en-US" sz="800" dirty="0"/>
          </a:p>
        </p:txBody>
      </p:sp>
      <p:sp>
        <p:nvSpPr>
          <p:cNvPr id="51" name="Text 45"/>
          <p:cNvSpPr/>
          <p:nvPr/>
        </p:nvSpPr>
        <p:spPr>
          <a:xfrm>
            <a:off x="342900" y="4854178"/>
            <a:ext cx="4294175"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52" name="Text 46"/>
          <p:cNvSpPr/>
          <p:nvPr/>
        </p:nvSpPr>
        <p:spPr>
          <a:xfrm>
            <a:off x="4651363" y="4854178"/>
            <a:ext cx="3619314"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a:t>
            </a:r>
            <a:endParaRPr lang="en-US" sz="800" dirty="0"/>
          </a:p>
        </p:txBody>
      </p:sp>
      <p:sp>
        <p:nvSpPr>
          <p:cNvPr id="53" name="Text 47"/>
          <p:cNvSpPr/>
          <p:nvPr/>
        </p:nvSpPr>
        <p:spPr>
          <a:xfrm>
            <a:off x="8284964" y="4854178"/>
            <a:ext cx="620879" cy="164592"/>
          </a:xfrm>
          <a:prstGeom prst="rect">
            <a:avLst/>
          </a:prstGeom>
          <a:noFill/>
          <a:ln/>
        </p:spPr>
        <p:txBody>
          <a:bodyPr wrap="none" lIns="0" tIns="0" rIns="0" bIns="0" rtlCol="0" anchor="t"/>
          <a:lstStyle/>
          <a:p>
            <a:pPr algn="l" indent="0" marL="0">
              <a:lnSpc>
                <a:spcPts val="928"/>
              </a:lnSpc>
              <a:buNone/>
            </a:pPr>
            <a:r>
              <a:rPr lang="en-US" sz="619" spc="25" kern="0" dirty="0">
                <a:solidFill>
                  <a:srgbClr val="6B7280"/>
                </a:solidFill>
                <a:latin typeface="Liberation Sans Narrow" pitchFamily="34" charset="0"/>
                <a:ea typeface="Liberation Sans Narrow" pitchFamily="34" charset="-122"/>
                <a:cs typeface="Liberation Sans Narrow" pitchFamily="34" charset="-120"/>
              </a:rPr>
              <a:t>SLIDE 6 / 24</a:t>
            </a:r>
            <a:endParaRPr lang="en-US" sz="619" dirty="0"/>
          </a:p>
        </p:txBody>
      </p:sp>
      <p:pic>
        <p:nvPicPr>
          <p:cNvPr id="54" name="Image 4" descr="/home/z/my-project/download/slides/massapro-logo.png">    </p:cNvPr>
          <p:cNvPicPr>
            <a:picLocks noChangeAspect="1"/>
          </p:cNvPicPr>
          <p:nvPr/>
        </p:nvPicPr>
        <p:blipFill>
          <a:blip r:embed="rId5"/>
          <a:stretch>
            <a:fillRect/>
          </a:stretch>
        </p:blipFill>
        <p:spPr>
          <a:xfrm>
            <a:off x="342900" y="200025"/>
            <a:ext cx="200025" cy="200025"/>
          </a:xfrm>
          <a:prstGeom prst="rect">
            <a:avLst/>
          </a:prstGeom>
        </p:spPr>
      </p:pic>
      <p:sp>
        <p:nvSpPr>
          <p:cNvPr id="55" name="Text 48"/>
          <p:cNvSpPr/>
          <p:nvPr/>
        </p:nvSpPr>
        <p:spPr>
          <a:xfrm>
            <a:off x="614363" y="219670"/>
            <a:ext cx="998810"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6D28D9"/>
                </a:solidFill>
                <a:latin typeface="Carlito" pitchFamily="34" charset="0"/>
                <a:ea typeface="Carlito" pitchFamily="34" charset="-122"/>
                <a:cs typeface="Carlito" pitchFamily="34" charset="-120"/>
              </a:rPr>
              <a:t>MassaPro IVR</a:t>
            </a:r>
            <a:endParaRPr lang="en-US" sz="84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tmp/h2p-fit-1786522334871-j3jbg9.png">    </p:cNvPr>
          <p:cNvPicPr>
            <a:picLocks noChangeAspect="1"/>
          </p:cNvPicPr>
          <p:nvPr/>
        </p:nvPicPr>
        <p:blipFill>
          <a:blip r:embed="rId1"/>
          <a:stretch>
            <a:fillRect/>
          </a:stretch>
        </p:blipFill>
        <p:spPr>
          <a:xfrm>
            <a:off x="7149889" y="171450"/>
            <a:ext cx="457200" cy="457200"/>
          </a:xfrm>
          <a:prstGeom prst="ellipse">
            <a:avLst/>
          </a:prstGeom>
          <a:effectLst>
            <a:outerShdw sx="100000" sy="100000" kx="0" ky="0" algn="bl" rotWithShape="0" blurRad="114300" dist="38100" dir="5400000">
              <a:srgbClr val="7C3AED">
                <a:alpha val="25000"/>
              </a:srgbClr>
            </a:outerShdw>
          </a:effectLst>
        </p:spPr>
      </p:pic>
      <p:sp>
        <p:nvSpPr>
          <p:cNvPr id="3" name="Text 0"/>
          <p:cNvSpPr/>
          <p:nvPr/>
        </p:nvSpPr>
        <p:spPr>
          <a:xfrm>
            <a:off x="7471358" y="492919"/>
            <a:ext cx="142875" cy="142875"/>
          </a:xfrm>
          <a:prstGeom prst="ellipse">
            <a:avLst/>
          </a:prstGeom>
          <a:solidFill>
            <a:srgbClr val="10B981"/>
          </a:solidFill>
          <a:ln w="14288">
            <a:solidFill>
              <a:srgbClr val="FFFFFF"/>
            </a:solidFill>
            <a:prstDash val="solid"/>
          </a:ln>
        </p:spPr>
        <p:txBody>
          <a:bodyPr wrap="square" rtlCol="0" anchor="ctr"/>
          <a:lstStyle/>
          <a:p>
            <a:pPr indent="0" marL="0">
              <a:buNone/>
            </a:pPr>
            <a:endParaRPr lang="en-US" dirty="0"/>
          </a:p>
        </p:txBody>
      </p:sp>
      <p:sp>
        <p:nvSpPr>
          <p:cNvPr id="4" name="Text 1"/>
          <p:cNvSpPr/>
          <p:nvPr/>
        </p:nvSpPr>
        <p:spPr>
          <a:xfrm>
            <a:off x="7480645" y="502206"/>
            <a:ext cx="124301" cy="124301"/>
          </a:xfrm>
          <a:prstGeom prst="rect">
            <a:avLst/>
          </a:prstGeom>
          <a:noFill/>
          <a:ln/>
        </p:spPr>
        <p:txBody>
          <a:bodyPr wrap="none" lIns="0" tIns="0" rIns="0" bIns="0" rtlCol="0" anchor="ctr"/>
          <a:lstStyle/>
          <a:p>
            <a:pPr algn="ctr" indent="0" marL="0">
              <a:buNone/>
            </a:pPr>
            <a:r>
              <a:rPr lang="en-US" sz="844" dirty="0">
                <a:solidFill>
                  <a:srgbClr val="FFFFFF"/>
                </a:solidFill>
                <a:latin typeface="Segoe UI Symbol" pitchFamily="34" charset="0"/>
                <a:ea typeface="Segoe UI Symbol" pitchFamily="34" charset="-122"/>
                <a:cs typeface="Segoe UI Symbol" pitchFamily="34" charset="-120"/>
              </a:rPr>
              <a:t>▶</a:t>
            </a:r>
            <a:endParaRPr lang="en-US" sz="844" dirty="0"/>
          </a:p>
        </p:txBody>
      </p:sp>
      <p:pic>
        <p:nvPicPr>
          <p:cNvPr id="5" name="Image 1" descr="preencoded.png">    </p:cNvPr>
          <p:cNvPicPr>
            <a:picLocks noChangeAspect="1"/>
          </p:cNvPicPr>
          <p:nvPr/>
        </p:nvPicPr>
        <p:blipFill>
          <a:blip r:embed="rId2"/>
          <a:stretch>
            <a:fillRect/>
          </a:stretch>
        </p:blipFill>
        <p:spPr>
          <a:xfrm>
            <a:off x="7707102" y="273248"/>
            <a:ext cx="979698" cy="253603"/>
          </a:xfrm>
          <a:prstGeom prst="rect">
            <a:avLst/>
          </a:prstGeom>
        </p:spPr>
      </p:pic>
      <p:sp>
        <p:nvSpPr>
          <p:cNvPr id="6" name="Text 2"/>
          <p:cNvSpPr/>
          <p:nvPr/>
        </p:nvSpPr>
        <p:spPr>
          <a:xfrm>
            <a:off x="7961832" y="344686"/>
            <a:ext cx="741700" cy="126609"/>
          </a:xfrm>
          <a:prstGeom prst="rect">
            <a:avLst/>
          </a:prstGeom>
          <a:noFill/>
          <a:ln/>
        </p:spPr>
        <p:txBody>
          <a:bodyPr wrap="none" lIns="0" tIns="0" rIns="0" bIns="0" rtlCol="0" anchor="t"/>
          <a:lstStyle/>
          <a:p>
            <a:pPr algn="l" indent="0" marL="0">
              <a:lnSpc>
                <a:spcPts val="1097"/>
              </a:lnSpc>
              <a:buNone/>
            </a:pPr>
            <a:r>
              <a:rPr lang="en-US" sz="800" b="1" spc="15" kern="0" dirty="0">
                <a:solidFill>
                  <a:srgbClr val="FFFFFF"/>
                </a:solidFill>
                <a:latin typeface="Liberation Sans Narrow" pitchFamily="34" charset="0"/>
                <a:ea typeface="Liberation Sans Narrow" pitchFamily="34" charset="-122"/>
                <a:cs typeface="Liberation Sans Narrow" pitchFamily="34" charset="-120"/>
              </a:rPr>
              <a:t>&lt; 30 seconds</a:t>
            </a:r>
            <a:endParaRPr lang="en-US" sz="800" dirty="0"/>
          </a:p>
        </p:txBody>
      </p:sp>
      <p:sp>
        <p:nvSpPr>
          <p:cNvPr id="7" name="Text 3"/>
          <p:cNvSpPr/>
          <p:nvPr/>
        </p:nvSpPr>
        <p:spPr>
          <a:xfrm>
            <a:off x="7807114" y="342900"/>
            <a:ext cx="114300" cy="114300"/>
          </a:xfrm>
          <a:prstGeom prst="rect">
            <a:avLst/>
          </a:prstGeom>
          <a:noFill/>
          <a:ln/>
        </p:spPr>
        <p:txBody>
          <a:bodyPr wrap="none" lIns="0" tIns="0" rIns="0" bIns="0" rtlCol="0" anchor="ctr"/>
          <a:lstStyle/>
          <a:p>
            <a:pPr algn="ctr" indent="0" marL="0">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8" name="Text 4"/>
          <p:cNvSpPr/>
          <p:nvPr/>
        </p:nvSpPr>
        <p:spPr>
          <a:xfrm>
            <a:off x="460772" y="575072"/>
            <a:ext cx="2050256" cy="210741"/>
          </a:xfrm>
          <a:prstGeom prst="roundRect">
            <a:avLst>
              <a:gd name="adj" fmla="val 4515246"/>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9" name="Text 5"/>
          <p:cNvSpPr/>
          <p:nvPr/>
        </p:nvSpPr>
        <p:spPr>
          <a:xfrm>
            <a:off x="700088" y="628650"/>
            <a:ext cx="1721644" cy="129679"/>
          </a:xfrm>
          <a:prstGeom prst="rect">
            <a:avLst/>
          </a:prstGeom>
          <a:noFill/>
          <a:ln/>
        </p:spPr>
        <p:txBody>
          <a:bodyPr wrap="none" lIns="85725" tIns="42863" rIns="85725" bIns="42863" rtlCol="0" anchor="t"/>
          <a:lstStyle/>
          <a:p>
            <a:pPr algn="l" indent="0" marL="0">
              <a:lnSpc>
                <a:spcPts val="928"/>
              </a:lnSpc>
              <a:buNone/>
            </a:pPr>
            <a:r>
              <a:rPr lang="en-US" sz="800" b="1" spc="111" kern="0" dirty="0">
                <a:solidFill>
                  <a:srgbClr val="7C3AED"/>
                </a:solidFill>
                <a:latin typeface="Liberation Sans Narrow" pitchFamily="34" charset="0"/>
                <a:ea typeface="Liberation Sans Narrow" pitchFamily="34" charset="-122"/>
                <a:cs typeface="Liberation Sans Narrow" pitchFamily="34" charset="-120"/>
              </a:rPr>
              <a:t>CHAPTER 02 — HOW IT WORKS</a:t>
            </a:r>
            <a:endParaRPr lang="en-US" sz="800" dirty="0"/>
          </a:p>
        </p:txBody>
      </p:sp>
      <p:sp>
        <p:nvSpPr>
          <p:cNvPr id="10" name="Text 6"/>
          <p:cNvSpPr/>
          <p:nvPr/>
        </p:nvSpPr>
        <p:spPr>
          <a:xfrm>
            <a:off x="550069" y="634008"/>
            <a:ext cx="92869" cy="92869"/>
          </a:xfrm>
          <a:prstGeom prst="rect">
            <a:avLst/>
          </a:prstGeom>
          <a:noFill/>
          <a:ln/>
        </p:spPr>
        <p:txBody>
          <a:bodyPr wrap="none" lIns="0" tIns="0" rIns="0" bIns="0" rtlCol="0" anchor="ctr"/>
          <a:lstStyle/>
          <a:p>
            <a:pPr algn="ctr" indent="0" marL="0">
              <a:buNone/>
            </a:pPr>
            <a:r>
              <a:rPr lang="en-US" sz="914" dirty="0">
                <a:solidFill>
                  <a:srgbClr val="7C3AED"/>
                </a:solidFill>
                <a:latin typeface="Segoe UI Symbol" pitchFamily="34" charset="0"/>
                <a:ea typeface="Segoe UI Symbol" pitchFamily="34" charset="-122"/>
                <a:cs typeface="Segoe UI Symbol" pitchFamily="34" charset="-120"/>
              </a:rPr>
              <a:t>✦</a:t>
            </a:r>
            <a:endParaRPr lang="en-US" sz="914" dirty="0"/>
          </a:p>
        </p:txBody>
      </p:sp>
      <p:sp>
        <p:nvSpPr>
          <p:cNvPr id="11" name="Text 7"/>
          <p:cNvSpPr/>
          <p:nvPr/>
        </p:nvSpPr>
        <p:spPr>
          <a:xfrm>
            <a:off x="457200" y="875109"/>
            <a:ext cx="5972175" cy="291251"/>
          </a:xfrm>
          <a:prstGeom prst="rect">
            <a:avLst/>
          </a:prstGeom>
          <a:noFill/>
          <a:ln/>
        </p:spPr>
        <p:txBody>
          <a:bodyPr wrap="square" lIns="0" tIns="0" rIns="0" bIns="0" rtlCol="0" anchor="t"/>
          <a:lstStyle/>
          <a:p>
            <a:pPr algn="l" indent="0" marL="0">
              <a:lnSpc>
                <a:spcPts val="2124"/>
              </a:lnSpc>
              <a:buNone/>
            </a:pPr>
            <a:r>
              <a:rPr lang="en-US" sz="1800" b="1" spc="-27" kern="0" dirty="0">
                <a:solidFill>
                  <a:srgbClr val="1F2937"/>
                </a:solidFill>
                <a:latin typeface="Carlito" pitchFamily="34" charset="0"/>
                <a:ea typeface="Carlito" pitchFamily="34" charset="-122"/>
                <a:cs typeface="Carlito" pitchFamily="34" charset="-120"/>
              </a:rPr>
              <a:t>How It Works — Four Steps, Under 30 Seconds</a:t>
            </a:r>
            <a:endParaRPr lang="en-US" sz="1800" dirty="0"/>
          </a:p>
        </p:txBody>
      </p:sp>
      <p:sp>
        <p:nvSpPr>
          <p:cNvPr id="12" name="Text 8"/>
          <p:cNvSpPr/>
          <p:nvPr/>
        </p:nvSpPr>
        <p:spPr>
          <a:xfrm>
            <a:off x="457200" y="1230511"/>
            <a:ext cx="400050" cy="21431"/>
          </a:xfrm>
          <a:prstGeom prst="roundRect">
            <a:avLst>
              <a:gd name="adj" fmla="val 88890"/>
            </a:avLst>
          </a:prstGeom>
          <a:solidFill>
            <a:srgbClr val="7C3AED"/>
          </a:solidFill>
          <a:ln/>
        </p:spPr>
        <p:txBody>
          <a:bodyPr wrap="square" rtlCol="0" anchor="ctr"/>
          <a:lstStyle/>
          <a:p>
            <a:pPr indent="0" marL="0">
              <a:buNone/>
            </a:pPr>
            <a:endParaRPr lang="en-US" dirty="0"/>
          </a:p>
        </p:txBody>
      </p:sp>
      <p:sp>
        <p:nvSpPr>
          <p:cNvPr id="13" name="Text 9"/>
          <p:cNvSpPr/>
          <p:nvPr/>
        </p:nvSpPr>
        <p:spPr>
          <a:xfrm>
            <a:off x="460772" y="1632347"/>
            <a:ext cx="1921669" cy="1993106"/>
          </a:xfrm>
          <a:prstGeom prst="roundRect">
            <a:avLst>
              <a:gd name="adj" fmla="val 6939"/>
            </a:avLst>
          </a:prstGeom>
          <a:solidFill>
            <a:srgbClr val="FFFFFF"/>
          </a:solidFill>
          <a:ln w="7144">
            <a:solidFill>
              <a:srgbClr val="E5E7EB"/>
            </a:solidFill>
            <a:prstDash val="solid"/>
          </a:ln>
          <a:effectLst>
            <a:outerShdw sx="100000" sy="100000" kx="0" ky="0" algn="bl" rotWithShape="0" blurRad="57150" dist="19050" dir="5400000">
              <a:srgbClr val="7C3AED">
                <a:alpha val="5000"/>
              </a:srgbClr>
            </a:outerShdw>
          </a:effectLst>
        </p:spPr>
        <p:txBody>
          <a:bodyPr wrap="square" rtlCol="0" anchor="ctr"/>
          <a:lstStyle/>
          <a:p>
            <a:pPr indent="0" marL="0">
              <a:buNone/>
            </a:pPr>
            <a:endParaRPr lang="en-US" dirty="0"/>
          </a:p>
        </p:txBody>
      </p:sp>
      <p:sp>
        <p:nvSpPr>
          <p:cNvPr id="14" name="Text 10"/>
          <p:cNvSpPr/>
          <p:nvPr/>
        </p:nvSpPr>
        <p:spPr>
          <a:xfrm>
            <a:off x="592931" y="1764506"/>
            <a:ext cx="314325" cy="314325"/>
          </a:xfrm>
          <a:prstGeom prst="ellipse">
            <a:avLst/>
          </a:prstGeom>
          <a:solidFill>
            <a:srgbClr val="7C3AED"/>
          </a:solidFill>
          <a:ln/>
          <a:effectLst>
            <a:outerShdw sx="100000" sy="100000" kx="0" ky="0" algn="bl" rotWithShape="0" blurRad="114300" dist="38100" dir="5400000">
              <a:srgbClr val="7C3AED">
                <a:alpha val="30000"/>
              </a:srgbClr>
            </a:outerShdw>
          </a:effectLst>
        </p:spPr>
        <p:txBody>
          <a:bodyPr wrap="square" rtlCol="0" anchor="ctr"/>
          <a:lstStyle/>
          <a:p>
            <a:pPr indent="0" marL="0">
              <a:buNone/>
            </a:pPr>
            <a:endParaRPr lang="en-US" dirty="0"/>
          </a:p>
        </p:txBody>
      </p:sp>
      <p:sp>
        <p:nvSpPr>
          <p:cNvPr id="15" name="Text 11"/>
          <p:cNvSpPr/>
          <p:nvPr/>
        </p:nvSpPr>
        <p:spPr>
          <a:xfrm>
            <a:off x="592931" y="1764506"/>
            <a:ext cx="1357313" cy="314325"/>
          </a:xfrm>
          <a:prstGeom prst="rect">
            <a:avLst/>
          </a:prstGeom>
          <a:noFill/>
          <a:ln/>
        </p:spPr>
        <p:txBody>
          <a:bodyPr wrap="none" lIns="0" tIns="0" rIns="0" bIns="0" rtlCol="0" anchor="ctr"/>
          <a:lstStyle/>
          <a:p>
            <a:pPr algn="ctr" indent="0" marL="0">
              <a:lnSpc>
                <a:spcPts val="1519"/>
              </a:lnSpc>
              <a:buNone/>
            </a:pPr>
            <a:r>
              <a:rPr lang="en-US" sz="1013" b="1" spc="-10" kern="0" dirty="0">
                <a:solidFill>
                  <a:srgbClr val="FFFFFF"/>
                </a:solidFill>
                <a:latin typeface="Liberation Sans Narrow" pitchFamily="34" charset="0"/>
                <a:ea typeface="Liberation Sans Narrow" pitchFamily="34" charset="-122"/>
                <a:cs typeface="Liberation Sans Narrow" pitchFamily="34" charset="-120"/>
              </a:rPr>
              <a:t>1</a:t>
            </a:r>
            <a:endParaRPr lang="en-US" sz="1013" dirty="0"/>
          </a:p>
        </p:txBody>
      </p:sp>
      <p:sp>
        <p:nvSpPr>
          <p:cNvPr id="16" name="Text 12"/>
          <p:cNvSpPr/>
          <p:nvPr/>
        </p:nvSpPr>
        <p:spPr>
          <a:xfrm>
            <a:off x="1964531" y="1778794"/>
            <a:ext cx="285750" cy="285750"/>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17" name="Text 13"/>
          <p:cNvSpPr/>
          <p:nvPr/>
        </p:nvSpPr>
        <p:spPr>
          <a:xfrm>
            <a:off x="1993463" y="1807726"/>
            <a:ext cx="227886" cy="227886"/>
          </a:xfrm>
          <a:prstGeom prst="rect">
            <a:avLst/>
          </a:prstGeom>
          <a:noFill/>
          <a:ln/>
        </p:spPr>
        <p:txBody>
          <a:bodyPr wrap="none" lIns="0" tIns="0" rIns="0" bIns="0" rtlCol="0" anchor="ctr"/>
          <a:lstStyle/>
          <a:p>
            <a:pPr algn="ctr" indent="0" marL="0">
              <a:buNone/>
            </a:pPr>
            <a:r>
              <a:rPr lang="en-US" sz="1547" dirty="0">
                <a:solidFill>
                  <a:srgbClr val="7C3AED"/>
                </a:solidFill>
                <a:latin typeface="Segoe UI Symbol" pitchFamily="34" charset="0"/>
                <a:ea typeface="Segoe UI Symbol" pitchFamily="34" charset="-122"/>
                <a:cs typeface="Segoe UI Symbol" pitchFamily="34" charset="-120"/>
              </a:rPr>
              <a:t>✦</a:t>
            </a:r>
            <a:endParaRPr lang="en-US" sz="1547" dirty="0"/>
          </a:p>
        </p:txBody>
      </p:sp>
      <p:sp>
        <p:nvSpPr>
          <p:cNvPr id="18" name="Text 14"/>
          <p:cNvSpPr/>
          <p:nvPr/>
        </p:nvSpPr>
        <p:spPr>
          <a:xfrm>
            <a:off x="592931" y="2164556"/>
            <a:ext cx="1657350" cy="166601"/>
          </a:xfrm>
          <a:prstGeom prst="rect">
            <a:avLst/>
          </a:prstGeom>
          <a:noFill/>
          <a:ln/>
        </p:spPr>
        <p:txBody>
          <a:bodyPr wrap="none" lIns="0" tIns="0" rIns="0" bIns="0" rtlCol="0" anchor="t"/>
          <a:lstStyle/>
          <a:p>
            <a:pPr algn="l" indent="0" marL="0">
              <a:lnSpc>
                <a:spcPts val="1215"/>
              </a:lnSpc>
              <a:buNone/>
            </a:pPr>
            <a:r>
              <a:rPr lang="en-US" sz="1013" b="1" spc="-10" kern="0" dirty="0">
                <a:solidFill>
                  <a:srgbClr val="6D28D9"/>
                </a:solidFill>
                <a:latin typeface="Carlito" pitchFamily="34" charset="0"/>
                <a:ea typeface="Carlito" pitchFamily="34" charset="-122"/>
                <a:cs typeface="Carlito" pitchFamily="34" charset="-120"/>
              </a:rPr>
              <a:t>Scan</a:t>
            </a:r>
            <a:endParaRPr lang="en-US" sz="1013" dirty="0"/>
          </a:p>
        </p:txBody>
      </p:sp>
      <p:sp>
        <p:nvSpPr>
          <p:cNvPr id="19" name="Text 15"/>
          <p:cNvSpPr/>
          <p:nvPr/>
        </p:nvSpPr>
        <p:spPr>
          <a:xfrm>
            <a:off x="592931" y="2375967"/>
            <a:ext cx="1657350" cy="658368"/>
          </a:xfrm>
          <a:prstGeom prst="rect">
            <a:avLst/>
          </a:prstGeom>
          <a:noFill/>
          <a:ln/>
        </p:spPr>
        <p:txBody>
          <a:bodyPr wrap="square" lIns="0" tIns="0" rIns="0" bIns="0" rtlCol="0" anchor="t"/>
          <a:lstStyle/>
          <a:p>
            <a:pPr algn="l" indent="0" marL="0">
              <a:lnSpc>
                <a:spcPts val="1055"/>
              </a:lnSpc>
              <a:buNone/>
            </a:pPr>
            <a:r>
              <a:rPr lang="en-US" sz="800" dirty="0">
                <a:solidFill>
                  <a:srgbClr val="374151"/>
                </a:solidFill>
                <a:latin typeface="Carlito" pitchFamily="34" charset="0"/>
                <a:ea typeface="Carlito" pitchFamily="34" charset="-122"/>
                <a:cs typeface="Carlito" pitchFamily="34" charset="-120"/>
              </a:rPr>
              <a:t>The customer scans the QR code on the video kiosk, tablet, or sticker with their own mobile phone. Standard camera app. No download.</a:t>
            </a:r>
            <a:endParaRPr lang="en-US" sz="800" dirty="0"/>
          </a:p>
        </p:txBody>
      </p:sp>
      <p:sp>
        <p:nvSpPr>
          <p:cNvPr id="20" name="Text 16"/>
          <p:cNvSpPr/>
          <p:nvPr/>
        </p:nvSpPr>
        <p:spPr>
          <a:xfrm>
            <a:off x="2386013" y="2543175"/>
            <a:ext cx="171450" cy="171450"/>
          </a:xfrm>
          <a:prstGeom prst="rect">
            <a:avLst/>
          </a:prstGeom>
          <a:noFill/>
          <a:ln/>
        </p:spPr>
        <p:txBody>
          <a:bodyPr wrap="none" lIns="0" tIns="0" rIns="0" bIns="0" rtlCol="0" anchor="ctr"/>
          <a:lstStyle/>
          <a:p>
            <a:pPr algn="ctr" indent="0" marL="0">
              <a:buNone/>
            </a:pPr>
            <a:r>
              <a:rPr lang="en-US" sz="1688" dirty="0">
                <a:solidFill>
                  <a:srgbClr val="7C3AED"/>
                </a:solidFill>
                <a:latin typeface="Segoe UI Symbol" pitchFamily="34" charset="0"/>
                <a:ea typeface="Segoe UI Symbol" pitchFamily="34" charset="-122"/>
                <a:cs typeface="Segoe UI Symbol" pitchFamily="34" charset="-120"/>
              </a:rPr>
              <a:t>›</a:t>
            </a:r>
            <a:endParaRPr lang="en-US" sz="1688" dirty="0"/>
          </a:p>
        </p:txBody>
      </p:sp>
      <p:sp>
        <p:nvSpPr>
          <p:cNvPr id="21" name="Text 17"/>
          <p:cNvSpPr/>
          <p:nvPr/>
        </p:nvSpPr>
        <p:spPr>
          <a:xfrm>
            <a:off x="2561034" y="1632347"/>
            <a:ext cx="1921669" cy="1993106"/>
          </a:xfrm>
          <a:prstGeom prst="roundRect">
            <a:avLst>
              <a:gd name="adj" fmla="val 6939"/>
            </a:avLst>
          </a:prstGeom>
          <a:solidFill>
            <a:srgbClr val="FFFFFF"/>
          </a:solidFill>
          <a:ln w="7144">
            <a:solidFill>
              <a:srgbClr val="E5E7EB"/>
            </a:solidFill>
            <a:prstDash val="solid"/>
          </a:ln>
          <a:effectLst>
            <a:outerShdw sx="100000" sy="100000" kx="0" ky="0" algn="bl" rotWithShape="0" blurRad="57150" dist="19050" dir="5400000">
              <a:srgbClr val="7C3AED">
                <a:alpha val="5000"/>
              </a:srgbClr>
            </a:outerShdw>
          </a:effectLst>
        </p:spPr>
        <p:txBody>
          <a:bodyPr wrap="square" rtlCol="0" anchor="ctr"/>
          <a:lstStyle/>
          <a:p>
            <a:pPr indent="0" marL="0">
              <a:buNone/>
            </a:pPr>
            <a:endParaRPr lang="en-US" dirty="0"/>
          </a:p>
        </p:txBody>
      </p:sp>
      <p:sp>
        <p:nvSpPr>
          <p:cNvPr id="22" name="Text 18"/>
          <p:cNvSpPr/>
          <p:nvPr/>
        </p:nvSpPr>
        <p:spPr>
          <a:xfrm>
            <a:off x="2693194" y="1764506"/>
            <a:ext cx="314325" cy="314325"/>
          </a:xfrm>
          <a:prstGeom prst="ellipse">
            <a:avLst/>
          </a:prstGeom>
          <a:solidFill>
            <a:srgbClr val="7C3AED"/>
          </a:solidFill>
          <a:ln/>
          <a:effectLst>
            <a:outerShdw sx="100000" sy="100000" kx="0" ky="0" algn="bl" rotWithShape="0" blurRad="114300" dist="38100" dir="5400000">
              <a:srgbClr val="7C3AED">
                <a:alpha val="30000"/>
              </a:srgbClr>
            </a:outerShdw>
          </a:effectLst>
        </p:spPr>
        <p:txBody>
          <a:bodyPr wrap="square" rtlCol="0" anchor="ctr"/>
          <a:lstStyle/>
          <a:p>
            <a:pPr indent="0" marL="0">
              <a:buNone/>
            </a:pPr>
            <a:endParaRPr lang="en-US" dirty="0"/>
          </a:p>
        </p:txBody>
      </p:sp>
      <p:sp>
        <p:nvSpPr>
          <p:cNvPr id="23" name="Text 19"/>
          <p:cNvSpPr/>
          <p:nvPr/>
        </p:nvSpPr>
        <p:spPr>
          <a:xfrm>
            <a:off x="2693194" y="1764506"/>
            <a:ext cx="1357313" cy="314325"/>
          </a:xfrm>
          <a:prstGeom prst="rect">
            <a:avLst/>
          </a:prstGeom>
          <a:noFill/>
          <a:ln/>
        </p:spPr>
        <p:txBody>
          <a:bodyPr wrap="none" lIns="0" tIns="0" rIns="0" bIns="0" rtlCol="0" anchor="ctr"/>
          <a:lstStyle/>
          <a:p>
            <a:pPr algn="ctr" indent="0" marL="0">
              <a:lnSpc>
                <a:spcPts val="1519"/>
              </a:lnSpc>
              <a:buNone/>
            </a:pPr>
            <a:r>
              <a:rPr lang="en-US" sz="1013" b="1" spc="-10" kern="0" dirty="0">
                <a:solidFill>
                  <a:srgbClr val="FFFFFF"/>
                </a:solidFill>
                <a:latin typeface="Liberation Sans Narrow" pitchFamily="34" charset="0"/>
                <a:ea typeface="Liberation Sans Narrow" pitchFamily="34" charset="-122"/>
                <a:cs typeface="Liberation Sans Narrow" pitchFamily="34" charset="-120"/>
              </a:rPr>
              <a:t>2</a:t>
            </a:r>
            <a:endParaRPr lang="en-US" sz="1013" dirty="0"/>
          </a:p>
        </p:txBody>
      </p:sp>
      <p:sp>
        <p:nvSpPr>
          <p:cNvPr id="24" name="Text 20"/>
          <p:cNvSpPr/>
          <p:nvPr/>
        </p:nvSpPr>
        <p:spPr>
          <a:xfrm>
            <a:off x="4064794" y="1778794"/>
            <a:ext cx="285750" cy="285750"/>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25" name="Text 21"/>
          <p:cNvSpPr/>
          <p:nvPr/>
        </p:nvSpPr>
        <p:spPr>
          <a:xfrm>
            <a:off x="4093726" y="1807726"/>
            <a:ext cx="227886" cy="227886"/>
          </a:xfrm>
          <a:prstGeom prst="rect">
            <a:avLst/>
          </a:prstGeom>
          <a:noFill/>
          <a:ln/>
        </p:spPr>
        <p:txBody>
          <a:bodyPr wrap="none" lIns="0" tIns="0" rIns="0" bIns="0" rtlCol="0" anchor="ctr"/>
          <a:lstStyle/>
          <a:p>
            <a:pPr algn="ctr" indent="0" marL="0">
              <a:buNone/>
            </a:pPr>
            <a:r>
              <a:rPr lang="en-US" sz="1547" dirty="0">
                <a:solidFill>
                  <a:srgbClr val="7C3AED"/>
                </a:solidFill>
                <a:latin typeface="Segoe UI Symbol" pitchFamily="34" charset="0"/>
                <a:ea typeface="Segoe UI Symbol" pitchFamily="34" charset="-122"/>
                <a:cs typeface="Segoe UI Symbol" pitchFamily="34" charset="-120"/>
              </a:rPr>
              <a:t>✦</a:t>
            </a:r>
            <a:endParaRPr lang="en-US" sz="1547" dirty="0"/>
          </a:p>
        </p:txBody>
      </p:sp>
      <p:sp>
        <p:nvSpPr>
          <p:cNvPr id="26" name="Text 22"/>
          <p:cNvSpPr/>
          <p:nvPr/>
        </p:nvSpPr>
        <p:spPr>
          <a:xfrm>
            <a:off x="2693194" y="2164556"/>
            <a:ext cx="1657350" cy="166601"/>
          </a:xfrm>
          <a:prstGeom prst="rect">
            <a:avLst/>
          </a:prstGeom>
          <a:noFill/>
          <a:ln/>
        </p:spPr>
        <p:txBody>
          <a:bodyPr wrap="none" lIns="0" tIns="0" rIns="0" bIns="0" rtlCol="0" anchor="t"/>
          <a:lstStyle/>
          <a:p>
            <a:pPr algn="l" indent="0" marL="0">
              <a:lnSpc>
                <a:spcPts val="1215"/>
              </a:lnSpc>
              <a:buNone/>
            </a:pPr>
            <a:r>
              <a:rPr lang="en-US" sz="1013" b="1" spc="-10" kern="0" dirty="0">
                <a:solidFill>
                  <a:srgbClr val="6D28D9"/>
                </a:solidFill>
                <a:latin typeface="Carlito" pitchFamily="34" charset="0"/>
                <a:ea typeface="Carlito" pitchFamily="34" charset="-122"/>
                <a:cs typeface="Carlito" pitchFamily="34" charset="-120"/>
              </a:rPr>
              <a:t>Identify</a:t>
            </a:r>
            <a:endParaRPr lang="en-US" sz="1013" dirty="0"/>
          </a:p>
        </p:txBody>
      </p:sp>
      <p:sp>
        <p:nvSpPr>
          <p:cNvPr id="27" name="Text 23"/>
          <p:cNvSpPr/>
          <p:nvPr/>
        </p:nvSpPr>
        <p:spPr>
          <a:xfrm>
            <a:off x="2693194" y="2375967"/>
            <a:ext cx="1657350" cy="822960"/>
          </a:xfrm>
          <a:prstGeom prst="rect">
            <a:avLst/>
          </a:prstGeom>
          <a:noFill/>
          <a:ln/>
        </p:spPr>
        <p:txBody>
          <a:bodyPr wrap="square" lIns="0" tIns="0" rIns="0" bIns="0" rtlCol="0" anchor="t"/>
          <a:lstStyle/>
          <a:p>
            <a:pPr algn="l" indent="0" marL="0">
              <a:lnSpc>
                <a:spcPts val="1055"/>
              </a:lnSpc>
              <a:buNone/>
            </a:pPr>
            <a:r>
              <a:rPr lang="en-US" sz="800" dirty="0">
                <a:solidFill>
                  <a:srgbClr val="374151"/>
                </a:solidFill>
                <a:latin typeface="Carlito" pitchFamily="34" charset="0"/>
                <a:ea typeface="Carlito" pitchFamily="34" charset="-122"/>
                <a:cs typeface="Carlito" pitchFamily="34" charset="-120"/>
              </a:rPr>
              <a:t>They enter the minimum service details on their phone: name, contact info, reason for the visit, ID number, or promo code. This metadata is sent to the advisor before the session begins.</a:t>
            </a:r>
            <a:endParaRPr lang="en-US" sz="800" dirty="0"/>
          </a:p>
        </p:txBody>
      </p:sp>
      <p:sp>
        <p:nvSpPr>
          <p:cNvPr id="28" name="Text 24"/>
          <p:cNvSpPr/>
          <p:nvPr/>
        </p:nvSpPr>
        <p:spPr>
          <a:xfrm>
            <a:off x="4486275" y="2543175"/>
            <a:ext cx="171450" cy="171450"/>
          </a:xfrm>
          <a:prstGeom prst="rect">
            <a:avLst/>
          </a:prstGeom>
          <a:noFill/>
          <a:ln/>
        </p:spPr>
        <p:txBody>
          <a:bodyPr wrap="none" lIns="0" tIns="0" rIns="0" bIns="0" rtlCol="0" anchor="ctr"/>
          <a:lstStyle/>
          <a:p>
            <a:pPr algn="ctr" indent="0" marL="0">
              <a:buNone/>
            </a:pPr>
            <a:r>
              <a:rPr lang="en-US" sz="1688" dirty="0">
                <a:solidFill>
                  <a:srgbClr val="7C3AED"/>
                </a:solidFill>
                <a:latin typeface="Segoe UI Symbol" pitchFamily="34" charset="0"/>
                <a:ea typeface="Segoe UI Symbol" pitchFamily="34" charset="-122"/>
                <a:cs typeface="Segoe UI Symbol" pitchFamily="34" charset="-120"/>
              </a:rPr>
              <a:t>›</a:t>
            </a:r>
            <a:endParaRPr lang="en-US" sz="1688" dirty="0"/>
          </a:p>
        </p:txBody>
      </p:sp>
      <p:sp>
        <p:nvSpPr>
          <p:cNvPr id="29" name="Text 25"/>
          <p:cNvSpPr/>
          <p:nvPr/>
        </p:nvSpPr>
        <p:spPr>
          <a:xfrm>
            <a:off x="4661297" y="1632347"/>
            <a:ext cx="1921669" cy="1993106"/>
          </a:xfrm>
          <a:prstGeom prst="roundRect">
            <a:avLst>
              <a:gd name="adj" fmla="val 6939"/>
            </a:avLst>
          </a:prstGeom>
          <a:solidFill>
            <a:srgbClr val="FFFFFF"/>
          </a:solidFill>
          <a:ln w="7144">
            <a:solidFill>
              <a:srgbClr val="E5E7EB"/>
            </a:solidFill>
            <a:prstDash val="solid"/>
          </a:ln>
          <a:effectLst>
            <a:outerShdw sx="100000" sy="100000" kx="0" ky="0" algn="bl" rotWithShape="0" blurRad="57150" dist="19050" dir="5400000">
              <a:srgbClr val="7C3AED">
                <a:alpha val="5000"/>
              </a:srgbClr>
            </a:outerShdw>
          </a:effectLst>
        </p:spPr>
        <p:txBody>
          <a:bodyPr wrap="square" rtlCol="0" anchor="ctr"/>
          <a:lstStyle/>
          <a:p>
            <a:pPr indent="0" marL="0">
              <a:buNone/>
            </a:pPr>
            <a:endParaRPr lang="en-US" dirty="0"/>
          </a:p>
        </p:txBody>
      </p:sp>
      <p:sp>
        <p:nvSpPr>
          <p:cNvPr id="30" name="Text 26"/>
          <p:cNvSpPr/>
          <p:nvPr/>
        </p:nvSpPr>
        <p:spPr>
          <a:xfrm>
            <a:off x="4793456" y="1764506"/>
            <a:ext cx="314325" cy="314325"/>
          </a:xfrm>
          <a:prstGeom prst="ellipse">
            <a:avLst/>
          </a:prstGeom>
          <a:solidFill>
            <a:srgbClr val="7C3AED"/>
          </a:solidFill>
          <a:ln/>
          <a:effectLst>
            <a:outerShdw sx="100000" sy="100000" kx="0" ky="0" algn="bl" rotWithShape="0" blurRad="114300" dist="38100" dir="5400000">
              <a:srgbClr val="7C3AED">
                <a:alpha val="30000"/>
              </a:srgbClr>
            </a:outerShdw>
          </a:effectLst>
        </p:spPr>
        <p:txBody>
          <a:bodyPr wrap="square" rtlCol="0" anchor="ctr"/>
          <a:lstStyle/>
          <a:p>
            <a:pPr indent="0" marL="0">
              <a:buNone/>
            </a:pPr>
            <a:endParaRPr lang="en-US" dirty="0"/>
          </a:p>
        </p:txBody>
      </p:sp>
      <p:sp>
        <p:nvSpPr>
          <p:cNvPr id="31" name="Text 27"/>
          <p:cNvSpPr/>
          <p:nvPr/>
        </p:nvSpPr>
        <p:spPr>
          <a:xfrm>
            <a:off x="4793456" y="1764506"/>
            <a:ext cx="1357313" cy="314325"/>
          </a:xfrm>
          <a:prstGeom prst="rect">
            <a:avLst/>
          </a:prstGeom>
          <a:noFill/>
          <a:ln/>
        </p:spPr>
        <p:txBody>
          <a:bodyPr wrap="none" lIns="0" tIns="0" rIns="0" bIns="0" rtlCol="0" anchor="ctr"/>
          <a:lstStyle/>
          <a:p>
            <a:pPr algn="ctr" indent="0" marL="0">
              <a:lnSpc>
                <a:spcPts val="1519"/>
              </a:lnSpc>
              <a:buNone/>
            </a:pPr>
            <a:r>
              <a:rPr lang="en-US" sz="1013" b="1" spc="-10" kern="0" dirty="0">
                <a:solidFill>
                  <a:srgbClr val="FFFFFF"/>
                </a:solidFill>
                <a:latin typeface="Liberation Sans Narrow" pitchFamily="34" charset="0"/>
                <a:ea typeface="Liberation Sans Narrow" pitchFamily="34" charset="-122"/>
                <a:cs typeface="Liberation Sans Narrow" pitchFamily="34" charset="-120"/>
              </a:rPr>
              <a:t>3</a:t>
            </a:r>
            <a:endParaRPr lang="en-US" sz="1013" dirty="0"/>
          </a:p>
        </p:txBody>
      </p:sp>
      <p:sp>
        <p:nvSpPr>
          <p:cNvPr id="32" name="Text 28"/>
          <p:cNvSpPr/>
          <p:nvPr/>
        </p:nvSpPr>
        <p:spPr>
          <a:xfrm>
            <a:off x="6165056" y="1778794"/>
            <a:ext cx="285750" cy="285750"/>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33" name="Text 29"/>
          <p:cNvSpPr/>
          <p:nvPr/>
        </p:nvSpPr>
        <p:spPr>
          <a:xfrm>
            <a:off x="6193988" y="1807726"/>
            <a:ext cx="227886" cy="227886"/>
          </a:xfrm>
          <a:prstGeom prst="rect">
            <a:avLst/>
          </a:prstGeom>
          <a:noFill/>
          <a:ln/>
        </p:spPr>
        <p:txBody>
          <a:bodyPr wrap="none" lIns="0" tIns="0" rIns="0" bIns="0" rtlCol="0" anchor="ctr"/>
          <a:lstStyle/>
          <a:p>
            <a:pPr algn="ctr" indent="0" marL="0">
              <a:buNone/>
            </a:pPr>
            <a:r>
              <a:rPr lang="en-US" sz="1547" dirty="0">
                <a:solidFill>
                  <a:srgbClr val="7C3AED"/>
                </a:solidFill>
                <a:latin typeface="Segoe UI Symbol" pitchFamily="34" charset="0"/>
                <a:ea typeface="Segoe UI Symbol" pitchFamily="34" charset="-122"/>
                <a:cs typeface="Segoe UI Symbol" pitchFamily="34" charset="-120"/>
              </a:rPr>
              <a:t>↻</a:t>
            </a:r>
            <a:endParaRPr lang="en-US" sz="1547" dirty="0"/>
          </a:p>
        </p:txBody>
      </p:sp>
      <p:sp>
        <p:nvSpPr>
          <p:cNvPr id="34" name="Text 30"/>
          <p:cNvSpPr/>
          <p:nvPr/>
        </p:nvSpPr>
        <p:spPr>
          <a:xfrm>
            <a:off x="4793456" y="2164556"/>
            <a:ext cx="1657350" cy="166601"/>
          </a:xfrm>
          <a:prstGeom prst="rect">
            <a:avLst/>
          </a:prstGeom>
          <a:noFill/>
          <a:ln/>
        </p:spPr>
        <p:txBody>
          <a:bodyPr wrap="none" lIns="0" tIns="0" rIns="0" bIns="0" rtlCol="0" anchor="t"/>
          <a:lstStyle/>
          <a:p>
            <a:pPr algn="l" indent="0" marL="0">
              <a:lnSpc>
                <a:spcPts val="1215"/>
              </a:lnSpc>
              <a:buNone/>
            </a:pPr>
            <a:r>
              <a:rPr lang="en-US" sz="1013" b="1" spc="-10" kern="0" dirty="0">
                <a:solidFill>
                  <a:srgbClr val="6D28D9"/>
                </a:solidFill>
                <a:latin typeface="Carlito" pitchFamily="34" charset="0"/>
                <a:ea typeface="Carlito" pitchFamily="34" charset="-122"/>
                <a:cs typeface="Carlito" pitchFamily="34" charset="-120"/>
              </a:rPr>
              <a:t>Connect</a:t>
            </a:r>
            <a:endParaRPr lang="en-US" sz="1013" dirty="0"/>
          </a:p>
        </p:txBody>
      </p:sp>
      <p:sp>
        <p:nvSpPr>
          <p:cNvPr id="35" name="Text 31"/>
          <p:cNvSpPr/>
          <p:nvPr/>
        </p:nvSpPr>
        <p:spPr>
          <a:xfrm>
            <a:off x="4793456" y="2375967"/>
            <a:ext cx="1657350" cy="822960"/>
          </a:xfrm>
          <a:prstGeom prst="rect">
            <a:avLst/>
          </a:prstGeom>
          <a:noFill/>
          <a:ln/>
        </p:spPr>
        <p:txBody>
          <a:bodyPr wrap="square" lIns="0" tIns="0" rIns="0" bIns="0" rtlCol="0" anchor="t"/>
          <a:lstStyle/>
          <a:p>
            <a:pPr algn="l" indent="0" marL="0">
              <a:lnSpc>
                <a:spcPts val="1055"/>
              </a:lnSpc>
              <a:buNone/>
            </a:pPr>
            <a:r>
              <a:rPr lang="en-US" sz="800" dirty="0">
                <a:solidFill>
                  <a:srgbClr val="374151"/>
                </a:solidFill>
                <a:latin typeface="Carlito" pitchFamily="34" charset="0"/>
                <a:ea typeface="Carlito" pitchFamily="34" charset="-122"/>
                <a:cs typeface="Carlito" pitchFamily="34" charset="-120"/>
              </a:rPr>
              <a:t>They enter a sync PIN. The system routes the session to the first available qualified advisor through your existing ACD. The advisor opens the session with the case already identified.</a:t>
            </a:r>
            <a:endParaRPr lang="en-US" sz="800" dirty="0"/>
          </a:p>
        </p:txBody>
      </p:sp>
      <p:sp>
        <p:nvSpPr>
          <p:cNvPr id="36" name="Text 32"/>
          <p:cNvSpPr/>
          <p:nvPr/>
        </p:nvSpPr>
        <p:spPr>
          <a:xfrm>
            <a:off x="6586538" y="2543175"/>
            <a:ext cx="171450" cy="171450"/>
          </a:xfrm>
          <a:prstGeom prst="rect">
            <a:avLst/>
          </a:prstGeom>
          <a:noFill/>
          <a:ln/>
        </p:spPr>
        <p:txBody>
          <a:bodyPr wrap="none" lIns="0" tIns="0" rIns="0" bIns="0" rtlCol="0" anchor="ctr"/>
          <a:lstStyle/>
          <a:p>
            <a:pPr algn="ctr" indent="0" marL="0">
              <a:buNone/>
            </a:pPr>
            <a:r>
              <a:rPr lang="en-US" sz="1688" dirty="0">
                <a:solidFill>
                  <a:srgbClr val="7C3AED"/>
                </a:solidFill>
                <a:latin typeface="Segoe UI Symbol" pitchFamily="34" charset="0"/>
                <a:ea typeface="Segoe UI Symbol" pitchFamily="34" charset="-122"/>
                <a:cs typeface="Segoe UI Symbol" pitchFamily="34" charset="-120"/>
              </a:rPr>
              <a:t>›</a:t>
            </a:r>
            <a:endParaRPr lang="en-US" sz="1688" dirty="0"/>
          </a:p>
        </p:txBody>
      </p:sp>
      <p:pic>
        <p:nvPicPr>
          <p:cNvPr id="37" name="Image 2" descr="preencoded.png">    </p:cNvPr>
          <p:cNvPicPr>
            <a:picLocks noChangeAspect="1"/>
          </p:cNvPicPr>
          <p:nvPr/>
        </p:nvPicPr>
        <p:blipFill>
          <a:blip r:embed="rId3"/>
          <a:stretch>
            <a:fillRect/>
          </a:stretch>
        </p:blipFill>
        <p:spPr>
          <a:xfrm>
            <a:off x="6757988" y="1628775"/>
            <a:ext cx="1928813" cy="2000250"/>
          </a:xfrm>
          <a:prstGeom prst="rect">
            <a:avLst/>
          </a:prstGeom>
        </p:spPr>
      </p:pic>
      <p:sp>
        <p:nvSpPr>
          <p:cNvPr id="38" name="Text 33"/>
          <p:cNvSpPr/>
          <p:nvPr/>
        </p:nvSpPr>
        <p:spPr>
          <a:xfrm>
            <a:off x="6761559" y="1632347"/>
            <a:ext cx="1921669" cy="1993106"/>
          </a:xfrm>
          <a:prstGeom prst="roundRect">
            <a:avLst>
              <a:gd name="adj" fmla="val 6939"/>
            </a:avLst>
          </a:prstGeom>
          <a:noFill/>
          <a:ln w="7144">
            <a:solidFill>
              <a:srgbClr val="EDE9FE"/>
            </a:solidFill>
            <a:prstDash val="solid"/>
          </a:ln>
          <a:effectLst>
            <a:outerShdw sx="100000" sy="100000" kx="0" ky="0" algn="bl" rotWithShape="0" blurRad="57150" dist="19050" dir="5400000">
              <a:srgbClr val="7C3AED">
                <a:alpha val="5000"/>
              </a:srgbClr>
            </a:outerShdw>
          </a:effectLst>
        </p:spPr>
        <p:txBody>
          <a:bodyPr wrap="square" rtlCol="0" anchor="ctr"/>
          <a:lstStyle/>
          <a:p>
            <a:pPr indent="0" marL="0">
              <a:buNone/>
            </a:pPr>
            <a:endParaRPr lang="en-US" dirty="0"/>
          </a:p>
        </p:txBody>
      </p:sp>
      <p:pic>
        <p:nvPicPr>
          <p:cNvPr id="39" name="Image 3" descr="preencoded.png">    </p:cNvPr>
          <p:cNvPicPr>
            <a:picLocks noChangeAspect="1"/>
          </p:cNvPicPr>
          <p:nvPr/>
        </p:nvPicPr>
        <p:blipFill>
          <a:blip r:embed="rId4"/>
          <a:stretch>
            <a:fillRect/>
          </a:stretch>
        </p:blipFill>
        <p:spPr>
          <a:xfrm>
            <a:off x="6893719" y="1764506"/>
            <a:ext cx="314325" cy="314325"/>
          </a:xfrm>
          <a:prstGeom prst="rect">
            <a:avLst/>
          </a:prstGeom>
        </p:spPr>
      </p:pic>
      <p:sp>
        <p:nvSpPr>
          <p:cNvPr id="40" name="Text 34"/>
          <p:cNvSpPr/>
          <p:nvPr/>
        </p:nvSpPr>
        <p:spPr>
          <a:xfrm>
            <a:off x="6893719" y="1764506"/>
            <a:ext cx="1357313" cy="314325"/>
          </a:xfrm>
          <a:prstGeom prst="rect">
            <a:avLst/>
          </a:prstGeom>
          <a:noFill/>
          <a:ln/>
        </p:spPr>
        <p:txBody>
          <a:bodyPr wrap="none" lIns="0" tIns="0" rIns="0" bIns="0" rtlCol="0" anchor="ctr"/>
          <a:lstStyle/>
          <a:p>
            <a:pPr algn="ctr" indent="0" marL="0">
              <a:lnSpc>
                <a:spcPts val="1519"/>
              </a:lnSpc>
              <a:buNone/>
            </a:pPr>
            <a:r>
              <a:rPr lang="en-US" sz="1013" b="1" spc="-10" kern="0" dirty="0">
                <a:solidFill>
                  <a:srgbClr val="FFFFFF"/>
                </a:solidFill>
                <a:latin typeface="Liberation Sans Narrow" pitchFamily="34" charset="0"/>
                <a:ea typeface="Liberation Sans Narrow" pitchFamily="34" charset="-122"/>
                <a:cs typeface="Liberation Sans Narrow" pitchFamily="34" charset="-120"/>
              </a:rPr>
              <a:t>4</a:t>
            </a:r>
            <a:endParaRPr lang="en-US" sz="1013" dirty="0"/>
          </a:p>
        </p:txBody>
      </p:sp>
      <p:sp>
        <p:nvSpPr>
          <p:cNvPr id="41" name="Text 35"/>
          <p:cNvSpPr/>
          <p:nvPr/>
        </p:nvSpPr>
        <p:spPr>
          <a:xfrm>
            <a:off x="8265319" y="1778794"/>
            <a:ext cx="285750" cy="28575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42" name="Text 36"/>
          <p:cNvSpPr/>
          <p:nvPr/>
        </p:nvSpPr>
        <p:spPr>
          <a:xfrm>
            <a:off x="8294251" y="1807726"/>
            <a:ext cx="227886" cy="227886"/>
          </a:xfrm>
          <a:prstGeom prst="rect">
            <a:avLst/>
          </a:prstGeom>
          <a:noFill/>
          <a:ln/>
        </p:spPr>
        <p:txBody>
          <a:bodyPr wrap="none" lIns="0" tIns="0" rIns="0" bIns="0" rtlCol="0" anchor="ctr"/>
          <a:lstStyle/>
          <a:p>
            <a:pPr algn="ctr" indent="0" marL="0">
              <a:buNone/>
            </a:pPr>
            <a:r>
              <a:rPr lang="en-US" sz="1547" dirty="0">
                <a:solidFill>
                  <a:srgbClr val="FFFFFF"/>
                </a:solidFill>
                <a:latin typeface="Segoe UI Symbol" pitchFamily="34" charset="0"/>
                <a:ea typeface="Segoe UI Symbol" pitchFamily="34" charset="-122"/>
                <a:cs typeface="Segoe UI Symbol" pitchFamily="34" charset="-120"/>
              </a:rPr>
              <a:t>▶</a:t>
            </a:r>
            <a:endParaRPr lang="en-US" sz="1547" dirty="0"/>
          </a:p>
        </p:txBody>
      </p:sp>
      <p:sp>
        <p:nvSpPr>
          <p:cNvPr id="43" name="Text 37"/>
          <p:cNvSpPr/>
          <p:nvPr/>
        </p:nvSpPr>
        <p:spPr>
          <a:xfrm>
            <a:off x="6893719" y="2164556"/>
            <a:ext cx="1657350" cy="166601"/>
          </a:xfrm>
          <a:prstGeom prst="rect">
            <a:avLst/>
          </a:prstGeom>
          <a:noFill/>
          <a:ln/>
        </p:spPr>
        <p:txBody>
          <a:bodyPr wrap="none" lIns="0" tIns="0" rIns="0" bIns="0" rtlCol="0" anchor="t"/>
          <a:lstStyle/>
          <a:p>
            <a:pPr algn="l" indent="0" marL="0">
              <a:lnSpc>
                <a:spcPts val="1215"/>
              </a:lnSpc>
              <a:buNone/>
            </a:pPr>
            <a:r>
              <a:rPr lang="en-US" sz="1013" b="1" spc="-10" kern="0" dirty="0">
                <a:solidFill>
                  <a:srgbClr val="6D28D9"/>
                </a:solidFill>
                <a:latin typeface="Carlito" pitchFamily="34" charset="0"/>
                <a:ea typeface="Carlito" pitchFamily="34" charset="-122"/>
                <a:cs typeface="Carlito" pitchFamily="34" charset="-120"/>
              </a:rPr>
              <a:t>Talk</a:t>
            </a:r>
            <a:endParaRPr lang="en-US" sz="1013" dirty="0"/>
          </a:p>
        </p:txBody>
      </p:sp>
      <p:sp>
        <p:nvSpPr>
          <p:cNvPr id="44" name="Text 38"/>
          <p:cNvSpPr/>
          <p:nvPr/>
        </p:nvSpPr>
        <p:spPr>
          <a:xfrm>
            <a:off x="6893719" y="2375967"/>
            <a:ext cx="1657350" cy="822960"/>
          </a:xfrm>
          <a:prstGeom prst="rect">
            <a:avLst/>
          </a:prstGeom>
          <a:noFill/>
          <a:ln/>
        </p:spPr>
        <p:txBody>
          <a:bodyPr wrap="square" lIns="0" tIns="0" rIns="0" bIns="0" rtlCol="0" anchor="t"/>
          <a:lstStyle/>
          <a:p>
            <a:pPr algn="l" indent="0" marL="0">
              <a:lnSpc>
                <a:spcPts val="1055"/>
              </a:lnSpc>
              <a:buNone/>
            </a:pPr>
            <a:r>
              <a:rPr lang="en-US" sz="800" dirty="0">
                <a:solidFill>
                  <a:srgbClr val="374151"/>
                </a:solidFill>
                <a:latin typeface="Carlito" pitchFamily="34" charset="0"/>
                <a:ea typeface="Carlito" pitchFamily="34" charset="-122"/>
                <a:cs typeface="Carlito" pitchFamily="34" charset="-120"/>
              </a:rPr>
              <a:t>Audio runs through the customer's phone for total privacy; HD video runs on the service point's screen. The advisor can share documents, verify identity, and complete transactions in real time.</a:t>
            </a:r>
            <a:endParaRPr lang="en-US" sz="800" dirty="0"/>
          </a:p>
        </p:txBody>
      </p:sp>
      <p:sp>
        <p:nvSpPr>
          <p:cNvPr id="45" name="Text 39"/>
          <p:cNvSpPr/>
          <p:nvPr/>
        </p:nvSpPr>
        <p:spPr>
          <a:xfrm>
            <a:off x="460772" y="4432697"/>
            <a:ext cx="8222456" cy="278606"/>
          </a:xfrm>
          <a:prstGeom prst="roundRect">
            <a:avLst>
              <a:gd name="adj" fmla="val 34188"/>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46" name="Text 40"/>
          <p:cNvSpPr/>
          <p:nvPr/>
        </p:nvSpPr>
        <p:spPr>
          <a:xfrm>
            <a:off x="592931" y="4507706"/>
            <a:ext cx="128588" cy="128588"/>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47" name="Text 41"/>
          <p:cNvSpPr/>
          <p:nvPr/>
        </p:nvSpPr>
        <p:spPr>
          <a:xfrm>
            <a:off x="821531" y="4513064"/>
            <a:ext cx="1191218" cy="123230"/>
          </a:xfrm>
          <a:prstGeom prst="rect">
            <a:avLst/>
          </a:prstGeom>
          <a:noFill/>
          <a:ln/>
        </p:spPr>
        <p:txBody>
          <a:bodyPr wrap="none" lIns="0" tIns="0" rIns="0" bIns="0" rtlCol="0" anchor="t"/>
          <a:lstStyle/>
          <a:p>
            <a:pPr algn="l" indent="0" marL="0">
              <a:lnSpc>
                <a:spcPts val="928"/>
              </a:lnSpc>
              <a:buNone/>
            </a:pPr>
            <a:r>
              <a:rPr lang="en-US" sz="800" b="1" spc="111" kern="0" dirty="0">
                <a:solidFill>
                  <a:srgbClr val="6D28D9"/>
                </a:solidFill>
                <a:latin typeface="Carlito" pitchFamily="34" charset="0"/>
                <a:ea typeface="Carlito" pitchFamily="34" charset="-122"/>
                <a:cs typeface="Carlito" pitchFamily="34" charset="-120"/>
              </a:rPr>
              <a:t>METADATA FLOW</a:t>
            </a:r>
            <a:endParaRPr lang="en-US" sz="800" dirty="0"/>
          </a:p>
        </p:txBody>
      </p:sp>
      <p:sp>
        <p:nvSpPr>
          <p:cNvPr id="48" name="Text 42"/>
          <p:cNvSpPr/>
          <p:nvPr/>
        </p:nvSpPr>
        <p:spPr>
          <a:xfrm>
            <a:off x="1755979" y="4507706"/>
            <a:ext cx="699653" cy="128588"/>
          </a:xfrm>
          <a:prstGeom prst="rect">
            <a:avLst/>
          </a:prstGeom>
          <a:noFill/>
          <a:ln/>
        </p:spPr>
        <p:txBody>
          <a:bodyPr wrap="none" lIns="0" tIns="0" rIns="0" bIns="0" rtlCol="0" anchor="t"/>
          <a:lstStyle/>
          <a:p>
            <a:pPr algn="l" indent="0" marL="0">
              <a:lnSpc>
                <a:spcPts val="1013"/>
              </a:lnSpc>
              <a:buNone/>
            </a:pPr>
            <a:r>
              <a:rPr lang="en-US" sz="675" dirty="0">
                <a:solidFill>
                  <a:srgbClr val="374151"/>
                </a:solidFill>
                <a:latin typeface="Carlito" pitchFamily="34" charset="0"/>
                <a:ea typeface="Carlito" pitchFamily="34" charset="-122"/>
                <a:cs typeface="Carlito" pitchFamily="34" charset="-120"/>
              </a:rPr>
              <a:t>Phone capture</a:t>
            </a:r>
            <a:endParaRPr lang="en-US" sz="675" dirty="0"/>
          </a:p>
        </p:txBody>
      </p:sp>
      <p:sp>
        <p:nvSpPr>
          <p:cNvPr id="49" name="Text 43"/>
          <p:cNvSpPr/>
          <p:nvPr/>
        </p:nvSpPr>
        <p:spPr>
          <a:xfrm>
            <a:off x="2393826" y="4521994"/>
            <a:ext cx="100013" cy="100013"/>
          </a:xfrm>
          <a:prstGeom prst="rect">
            <a:avLst/>
          </a:prstGeom>
          <a:noFill/>
          <a:ln/>
        </p:spPr>
        <p:txBody>
          <a:bodyPr wrap="none" lIns="0" tIns="0" rIns="0" bIns="0" rtlCol="0" anchor="ctr"/>
          <a:lstStyle/>
          <a:p>
            <a:pPr algn="ctr" indent="0" marL="0">
              <a:buNone/>
            </a:pPr>
            <a:r>
              <a:rPr lang="en-US" sz="984" dirty="0">
                <a:solidFill>
                  <a:srgbClr val="7C3AED"/>
                </a:solidFill>
                <a:latin typeface="Segoe UI Symbol" pitchFamily="34" charset="0"/>
                <a:ea typeface="Segoe UI Symbol" pitchFamily="34" charset="-122"/>
                <a:cs typeface="Segoe UI Symbol" pitchFamily="34" charset="-120"/>
              </a:rPr>
              <a:t>→</a:t>
            </a:r>
            <a:endParaRPr lang="en-US" sz="984" dirty="0"/>
          </a:p>
        </p:txBody>
      </p:sp>
      <p:sp>
        <p:nvSpPr>
          <p:cNvPr id="50" name="Text 44"/>
          <p:cNvSpPr/>
          <p:nvPr/>
        </p:nvSpPr>
        <p:spPr>
          <a:xfrm>
            <a:off x="2546162" y="4507706"/>
            <a:ext cx="466996" cy="128588"/>
          </a:xfrm>
          <a:prstGeom prst="rect">
            <a:avLst/>
          </a:prstGeom>
          <a:noFill/>
          <a:ln/>
        </p:spPr>
        <p:txBody>
          <a:bodyPr wrap="none" lIns="0" tIns="0" rIns="0" bIns="0" rtlCol="0" anchor="t"/>
          <a:lstStyle/>
          <a:p>
            <a:pPr algn="l" indent="0" marL="0">
              <a:lnSpc>
                <a:spcPts val="1013"/>
              </a:lnSpc>
              <a:buNone/>
            </a:pPr>
            <a:r>
              <a:rPr lang="en-US" sz="675" dirty="0">
                <a:solidFill>
                  <a:srgbClr val="374151"/>
                </a:solidFill>
                <a:latin typeface="Carlito" pitchFamily="34" charset="0"/>
                <a:ea typeface="Carlito" pitchFamily="34" charset="-122"/>
                <a:cs typeface="Carlito" pitchFamily="34" charset="-120"/>
              </a:rPr>
              <a:t>Sync PIN</a:t>
            </a:r>
            <a:endParaRPr lang="en-US" sz="675" dirty="0"/>
          </a:p>
        </p:txBody>
      </p:sp>
      <p:sp>
        <p:nvSpPr>
          <p:cNvPr id="51" name="Text 45"/>
          <p:cNvSpPr/>
          <p:nvPr/>
        </p:nvSpPr>
        <p:spPr>
          <a:xfrm>
            <a:off x="2965438" y="4521994"/>
            <a:ext cx="100013" cy="100013"/>
          </a:xfrm>
          <a:prstGeom prst="rect">
            <a:avLst/>
          </a:prstGeom>
          <a:noFill/>
          <a:ln/>
        </p:spPr>
        <p:txBody>
          <a:bodyPr wrap="none" lIns="0" tIns="0" rIns="0" bIns="0" rtlCol="0" anchor="ctr"/>
          <a:lstStyle/>
          <a:p>
            <a:pPr algn="ctr" indent="0" marL="0">
              <a:buNone/>
            </a:pPr>
            <a:r>
              <a:rPr lang="en-US" sz="984" dirty="0">
                <a:solidFill>
                  <a:srgbClr val="7C3AED"/>
                </a:solidFill>
                <a:latin typeface="Segoe UI Symbol" pitchFamily="34" charset="0"/>
                <a:ea typeface="Segoe UI Symbol" pitchFamily="34" charset="-122"/>
                <a:cs typeface="Segoe UI Symbol" pitchFamily="34" charset="-120"/>
              </a:rPr>
              <a:t>→</a:t>
            </a:r>
            <a:endParaRPr lang="en-US" sz="984" dirty="0"/>
          </a:p>
        </p:txBody>
      </p:sp>
      <p:sp>
        <p:nvSpPr>
          <p:cNvPr id="52" name="Text 46"/>
          <p:cNvSpPr/>
          <p:nvPr/>
        </p:nvSpPr>
        <p:spPr>
          <a:xfrm>
            <a:off x="3088934" y="4507706"/>
            <a:ext cx="614683" cy="128588"/>
          </a:xfrm>
          <a:prstGeom prst="rect">
            <a:avLst/>
          </a:prstGeom>
          <a:noFill/>
          <a:ln/>
        </p:spPr>
        <p:txBody>
          <a:bodyPr wrap="none" lIns="0" tIns="0" rIns="0" bIns="0" rtlCol="0" anchor="t"/>
          <a:lstStyle/>
          <a:p>
            <a:pPr algn="l" indent="0" marL="0">
              <a:lnSpc>
                <a:spcPts val="1013"/>
              </a:lnSpc>
              <a:buNone/>
            </a:pPr>
            <a:r>
              <a:rPr lang="en-US" sz="675" dirty="0">
                <a:solidFill>
                  <a:srgbClr val="374151"/>
                </a:solidFill>
                <a:latin typeface="Carlito" pitchFamily="34" charset="0"/>
                <a:ea typeface="Carlito" pitchFamily="34" charset="-122"/>
                <a:cs typeface="Carlito" pitchFamily="34" charset="-120"/>
              </a:rPr>
              <a:t>ACD routing</a:t>
            </a:r>
            <a:endParaRPr lang="en-US" sz="675" dirty="0"/>
          </a:p>
        </p:txBody>
      </p:sp>
      <p:sp>
        <p:nvSpPr>
          <p:cNvPr id="53" name="Text 47"/>
          <p:cNvSpPr/>
          <p:nvPr/>
        </p:nvSpPr>
        <p:spPr>
          <a:xfrm>
            <a:off x="3646773" y="4521994"/>
            <a:ext cx="100013" cy="100013"/>
          </a:xfrm>
          <a:prstGeom prst="rect">
            <a:avLst/>
          </a:prstGeom>
          <a:noFill/>
          <a:ln/>
        </p:spPr>
        <p:txBody>
          <a:bodyPr wrap="none" lIns="0" tIns="0" rIns="0" bIns="0" rtlCol="0" anchor="ctr"/>
          <a:lstStyle/>
          <a:p>
            <a:pPr algn="ctr" indent="0" marL="0">
              <a:buNone/>
            </a:pPr>
            <a:r>
              <a:rPr lang="en-US" sz="984" dirty="0">
                <a:solidFill>
                  <a:srgbClr val="7C3AED"/>
                </a:solidFill>
                <a:latin typeface="Segoe UI Symbol" pitchFamily="34" charset="0"/>
                <a:ea typeface="Segoe UI Symbol" pitchFamily="34" charset="-122"/>
                <a:cs typeface="Segoe UI Symbol" pitchFamily="34" charset="-120"/>
              </a:rPr>
              <a:t>→</a:t>
            </a:r>
            <a:endParaRPr lang="en-US" sz="984" dirty="0"/>
          </a:p>
        </p:txBody>
      </p:sp>
      <p:sp>
        <p:nvSpPr>
          <p:cNvPr id="54" name="Text 48"/>
          <p:cNvSpPr/>
          <p:nvPr/>
        </p:nvSpPr>
        <p:spPr>
          <a:xfrm>
            <a:off x="3803935" y="4507706"/>
            <a:ext cx="4747133" cy="128588"/>
          </a:xfrm>
          <a:prstGeom prst="rect">
            <a:avLst/>
          </a:prstGeom>
          <a:noFill/>
          <a:ln/>
        </p:spPr>
        <p:txBody>
          <a:bodyPr wrap="none" lIns="0" tIns="0" rIns="0" bIns="0" rtlCol="0" anchor="t"/>
          <a:lstStyle/>
          <a:p>
            <a:pPr algn="l" indent="0" marL="0">
              <a:lnSpc>
                <a:spcPts val="1013"/>
              </a:lnSpc>
              <a:buNone/>
            </a:pPr>
            <a:r>
              <a:rPr lang="en-US" sz="800" b="1" dirty="0">
                <a:solidFill>
                  <a:srgbClr val="6D28D9"/>
                </a:solidFill>
                <a:latin typeface="Carlito" pitchFamily="34" charset="0"/>
                <a:ea typeface="Carlito" pitchFamily="34" charset="-122"/>
                <a:cs typeface="Carlito" pitchFamily="34" charset="-120"/>
              </a:rPr>
              <a:t>Advisor console — case pre-identified</a:t>
            </a:r>
            <a:endParaRPr lang="en-US" sz="800" dirty="0"/>
          </a:p>
        </p:txBody>
      </p:sp>
      <p:sp>
        <p:nvSpPr>
          <p:cNvPr id="55" name="Text 49"/>
          <p:cNvSpPr/>
          <p:nvPr/>
        </p:nvSpPr>
        <p:spPr>
          <a:xfrm>
            <a:off x="342900" y="4854178"/>
            <a:ext cx="4294175"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56" name="Text 50"/>
          <p:cNvSpPr/>
          <p:nvPr/>
        </p:nvSpPr>
        <p:spPr>
          <a:xfrm>
            <a:off x="4651363" y="4854178"/>
            <a:ext cx="3619314"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a:t>
            </a:r>
            <a:endParaRPr lang="en-US" sz="800" dirty="0"/>
          </a:p>
        </p:txBody>
      </p:sp>
      <p:sp>
        <p:nvSpPr>
          <p:cNvPr id="57" name="Text 51"/>
          <p:cNvSpPr/>
          <p:nvPr/>
        </p:nvSpPr>
        <p:spPr>
          <a:xfrm>
            <a:off x="8284964" y="4854178"/>
            <a:ext cx="620879" cy="164592"/>
          </a:xfrm>
          <a:prstGeom prst="rect">
            <a:avLst/>
          </a:prstGeom>
          <a:noFill/>
          <a:ln/>
        </p:spPr>
        <p:txBody>
          <a:bodyPr wrap="none" lIns="0" tIns="0" rIns="0" bIns="0" rtlCol="0" anchor="t"/>
          <a:lstStyle/>
          <a:p>
            <a:pPr algn="l" indent="0" marL="0">
              <a:lnSpc>
                <a:spcPts val="928"/>
              </a:lnSpc>
              <a:buNone/>
            </a:pPr>
            <a:r>
              <a:rPr lang="en-US" sz="619" spc="25" kern="0" dirty="0">
                <a:solidFill>
                  <a:srgbClr val="6B7280"/>
                </a:solidFill>
                <a:latin typeface="Liberation Sans Narrow" pitchFamily="34" charset="0"/>
                <a:ea typeface="Liberation Sans Narrow" pitchFamily="34" charset="-122"/>
                <a:cs typeface="Liberation Sans Narrow" pitchFamily="34" charset="-120"/>
              </a:rPr>
              <a:t>SLIDE 7 / 24</a:t>
            </a:r>
            <a:endParaRPr lang="en-US" sz="619" dirty="0"/>
          </a:p>
        </p:txBody>
      </p:sp>
      <p:pic>
        <p:nvPicPr>
          <p:cNvPr id="58" name="Image 4" descr="/home/z/my-project/download/slides/massapro-logo.png">    </p:cNvPr>
          <p:cNvPicPr>
            <a:picLocks noChangeAspect="1"/>
          </p:cNvPicPr>
          <p:nvPr/>
        </p:nvPicPr>
        <p:blipFill>
          <a:blip r:embed="rId5"/>
          <a:stretch>
            <a:fillRect/>
          </a:stretch>
        </p:blipFill>
        <p:spPr>
          <a:xfrm>
            <a:off x="342900" y="200025"/>
            <a:ext cx="200025" cy="200025"/>
          </a:xfrm>
          <a:prstGeom prst="rect">
            <a:avLst/>
          </a:prstGeom>
        </p:spPr>
      </p:pic>
      <p:sp>
        <p:nvSpPr>
          <p:cNvPr id="59" name="Text 52"/>
          <p:cNvSpPr/>
          <p:nvPr/>
        </p:nvSpPr>
        <p:spPr>
          <a:xfrm>
            <a:off x="614363" y="219670"/>
            <a:ext cx="998810"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6D28D9"/>
                </a:solidFill>
                <a:latin typeface="Carlito" pitchFamily="34" charset="0"/>
                <a:ea typeface="Carlito" pitchFamily="34" charset="-122"/>
                <a:cs typeface="Carlito" pitchFamily="34" charset="-120"/>
              </a:rPr>
              <a:t>MassaPro IVR</a:t>
            </a:r>
            <a:endParaRPr lang="en-US" sz="84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tmp/h2p-fit-1786522333971-2rleq2.png">    </p:cNvPr>
          <p:cNvPicPr>
            <a:picLocks noChangeAspect="1"/>
          </p:cNvPicPr>
          <p:nvPr/>
        </p:nvPicPr>
        <p:blipFill>
          <a:blip r:embed="rId1"/>
          <a:stretch>
            <a:fillRect/>
          </a:stretch>
        </p:blipFill>
        <p:spPr>
          <a:xfrm>
            <a:off x="0" y="0"/>
            <a:ext cx="3429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3429000" cy="1000125"/>
          </a:xfrm>
          <a:prstGeom prst="rect">
            <a:avLst/>
          </a:prstGeom>
        </p:spPr>
      </p:pic>
      <p:pic>
        <p:nvPicPr>
          <p:cNvPr id="4" name="Image 2" descr="preencoded.png">    </p:cNvPr>
          <p:cNvPicPr>
            <a:picLocks noChangeAspect="1"/>
          </p:cNvPicPr>
          <p:nvPr/>
        </p:nvPicPr>
        <p:blipFill>
          <a:blip r:embed="rId3"/>
          <a:stretch>
            <a:fillRect/>
          </a:stretch>
        </p:blipFill>
        <p:spPr>
          <a:xfrm>
            <a:off x="0" y="2857500"/>
            <a:ext cx="3429000" cy="2286000"/>
          </a:xfrm>
          <a:prstGeom prst="rect">
            <a:avLst/>
          </a:prstGeom>
        </p:spPr>
      </p:pic>
      <p:pic>
        <p:nvPicPr>
          <p:cNvPr id="5" name="Image 3" descr="preencoded.png">    </p:cNvPr>
          <p:cNvPicPr>
            <a:picLocks noChangeAspect="1"/>
          </p:cNvPicPr>
          <p:nvPr/>
        </p:nvPicPr>
        <p:blipFill>
          <a:blip r:embed="rId4"/>
          <a:stretch>
            <a:fillRect/>
          </a:stretch>
        </p:blipFill>
        <p:spPr>
          <a:xfrm>
            <a:off x="2857500" y="0"/>
            <a:ext cx="571500" cy="5143500"/>
          </a:xfrm>
          <a:prstGeom prst="rect">
            <a:avLst/>
          </a:prstGeom>
        </p:spPr>
      </p:pic>
      <p:pic>
        <p:nvPicPr>
          <p:cNvPr id="6" name="Image 4" descr="preencoded.png">    </p:cNvPr>
          <p:cNvPicPr>
            <a:picLocks noChangeAspect="1"/>
          </p:cNvPicPr>
          <p:nvPr/>
        </p:nvPicPr>
        <p:blipFill>
          <a:blip r:embed="rId5"/>
          <a:stretch>
            <a:fillRect/>
          </a:stretch>
        </p:blipFill>
        <p:spPr>
          <a:xfrm>
            <a:off x="0" y="0"/>
            <a:ext cx="3429000" cy="5143500"/>
          </a:xfrm>
          <a:prstGeom prst="rect">
            <a:avLst/>
          </a:prstGeom>
        </p:spPr>
      </p:pic>
      <p:sp>
        <p:nvSpPr>
          <p:cNvPr id="7" name="Text 0"/>
          <p:cNvSpPr/>
          <p:nvPr/>
        </p:nvSpPr>
        <p:spPr>
          <a:xfrm rot="16200000">
            <a:off x="-412552" y="2512814"/>
            <a:ext cx="1285875" cy="164592"/>
          </a:xfrm>
          <a:prstGeom prst="rect">
            <a:avLst/>
          </a:prstGeom>
          <a:noFill/>
          <a:ln/>
        </p:spPr>
        <p:txBody>
          <a:bodyPr wrap="none" lIns="0" tIns="0" rIns="0" bIns="0" rtlCol="0" anchor="t"/>
          <a:lstStyle/>
          <a:p>
            <a:pPr algn="l" indent="0" marL="0">
              <a:lnSpc>
                <a:spcPts val="928"/>
              </a:lnSpc>
              <a:buNone/>
            </a:pPr>
            <a:r>
              <a:rPr lang="en-US" sz="800" b="1" spc="186" kern="0" dirty="0">
                <a:solidFill>
                  <a:srgbClr val="A78BFA">
                    <a:alpha val="55000"/>
                  </a:srgbClr>
                </a:solidFill>
                <a:latin typeface="Carlito" pitchFamily="34" charset="0"/>
                <a:ea typeface="Carlito" pitchFamily="34" charset="-122"/>
                <a:cs typeface="Carlito" pitchFamily="34" charset="-120"/>
              </a:rPr>
              <a:t>SPLIT ARCHITECTURE</a:t>
            </a:r>
            <a:endParaRPr lang="en-US" sz="800" dirty="0"/>
          </a:p>
        </p:txBody>
      </p:sp>
      <p:sp>
        <p:nvSpPr>
          <p:cNvPr id="8" name="Text 1"/>
          <p:cNvSpPr/>
          <p:nvPr/>
        </p:nvSpPr>
        <p:spPr>
          <a:xfrm>
            <a:off x="228600" y="3980185"/>
            <a:ext cx="3477711" cy="133302"/>
          </a:xfrm>
          <a:prstGeom prst="rect">
            <a:avLst/>
          </a:prstGeom>
          <a:noFill/>
          <a:ln/>
        </p:spPr>
        <p:txBody>
          <a:bodyPr wrap="none" lIns="0" tIns="0" rIns="0" bIns="0" rtlCol="0" anchor="t">
            <a:normAutofit/>
          </a:bodyPr>
          <a:lstStyle/>
          <a:p>
            <a:pPr algn="l" indent="0" marL="0">
              <a:lnSpc>
                <a:spcPts val="928"/>
              </a:lnSpc>
              <a:buNone/>
            </a:pPr>
            <a:r>
              <a:rPr lang="en-US" sz="800" b="1" spc="124" kern="0" dirty="0">
                <a:solidFill>
                  <a:srgbClr val="A78BFA"/>
                </a:solidFill>
                <a:latin typeface="Carlito" pitchFamily="34" charset="0"/>
                <a:ea typeface="Carlito" pitchFamily="34" charset="-122"/>
                <a:cs typeface="Carlito" pitchFamily="34" charset="-120"/>
              </a:rPr>
              <a:t>ONE SESSION · TWO DEVICES</a:t>
            </a:r>
            <a:endParaRPr lang="en-US" sz="800" dirty="0"/>
          </a:p>
        </p:txBody>
      </p:sp>
      <p:sp>
        <p:nvSpPr>
          <p:cNvPr id="9" name="Text 2"/>
          <p:cNvSpPr/>
          <p:nvPr/>
        </p:nvSpPr>
        <p:spPr>
          <a:xfrm>
            <a:off x="228600" y="4140919"/>
            <a:ext cx="2771775" cy="467942"/>
          </a:xfrm>
          <a:prstGeom prst="rect">
            <a:avLst/>
          </a:prstGeom>
          <a:noFill/>
          <a:ln/>
        </p:spPr>
        <p:txBody>
          <a:bodyPr wrap="square" lIns="0" tIns="0" rIns="0" bIns="0" rtlCol="0" anchor="t">
            <a:normAutofit/>
          </a:bodyPr>
          <a:lstStyle/>
          <a:p>
            <a:pPr algn="l" indent="0" marL="0">
              <a:lnSpc>
                <a:spcPts val="1726"/>
              </a:lnSpc>
              <a:buNone/>
            </a:pPr>
            <a:r>
              <a:rPr lang="en-US" sz="1463" b="1" spc="-15" kern="0" dirty="0">
                <a:solidFill>
                  <a:srgbClr val="FFFFFF"/>
                </a:solidFill>
                <a:latin typeface="Tinos" pitchFamily="34" charset="0"/>
                <a:ea typeface="Tinos" pitchFamily="34" charset="-122"/>
                <a:cs typeface="Tinos" pitchFamily="34" charset="-120"/>
              </a:rPr>
              <a:t>Audio on phone.</a:t>
            </a:r>
            <a:endParaRPr lang="en-US" sz="1463" dirty="0"/>
          </a:p>
          <a:p>
            <a:pPr algn="l" indent="0" marL="0">
              <a:lnSpc>
                <a:spcPts val="1726"/>
              </a:lnSpc>
              <a:buNone/>
            </a:pPr>
            <a:r>
              <a:rPr lang="en-US" sz="1463" b="1" spc="-15" kern="0" dirty="0">
                <a:solidFill>
                  <a:srgbClr val="FFFFFF"/>
                </a:solidFill>
                <a:latin typeface="Tinos" pitchFamily="34" charset="0"/>
                <a:ea typeface="Tinos" pitchFamily="34" charset="-122"/>
                <a:cs typeface="Tinos" pitchFamily="34" charset="-120"/>
              </a:rPr>
              <a:t>Video on screen.</a:t>
            </a:r>
            <a:endParaRPr lang="en-US" sz="1463" dirty="0"/>
          </a:p>
        </p:txBody>
      </p:sp>
      <p:sp>
        <p:nvSpPr>
          <p:cNvPr id="10" name="Text 3"/>
          <p:cNvSpPr/>
          <p:nvPr/>
        </p:nvSpPr>
        <p:spPr>
          <a:xfrm>
            <a:off x="228600" y="4636294"/>
            <a:ext cx="2771775" cy="307238"/>
          </a:xfrm>
          <a:prstGeom prst="rect">
            <a:avLst/>
          </a:prstGeom>
          <a:noFill/>
          <a:ln/>
        </p:spPr>
        <p:txBody>
          <a:bodyPr wrap="square" lIns="0" tIns="0" rIns="0" bIns="0" rtlCol="0" anchor="t"/>
          <a:lstStyle/>
          <a:p>
            <a:pPr algn="l" indent="0" marL="0">
              <a:lnSpc>
                <a:spcPts val="984"/>
              </a:lnSpc>
              <a:buNone/>
            </a:pPr>
            <a:r>
              <a:rPr lang="en-US" sz="800" dirty="0">
                <a:solidFill>
                  <a:srgbClr val="FFFFFF">
                    <a:alpha val="78000"/>
                  </a:srgbClr>
                </a:solidFill>
                <a:latin typeface="Carlito" pitchFamily="34" charset="0"/>
                <a:ea typeface="Carlito" pitchFamily="34" charset="-122"/>
                <a:cs typeface="Carlito" pitchFamily="34" charset="-120"/>
              </a:rPr>
              <a:t>Privacy, intelligibility, and firewall traversal — solved in a single architecture.</a:t>
            </a:r>
            <a:endParaRPr lang="en-US" sz="800" dirty="0"/>
          </a:p>
        </p:txBody>
      </p:sp>
      <p:sp>
        <p:nvSpPr>
          <p:cNvPr id="11" name="Text 4"/>
          <p:cNvSpPr/>
          <p:nvPr/>
        </p:nvSpPr>
        <p:spPr>
          <a:xfrm>
            <a:off x="3661172" y="460772"/>
            <a:ext cx="2050256" cy="210741"/>
          </a:xfrm>
          <a:prstGeom prst="roundRect">
            <a:avLst>
              <a:gd name="adj" fmla="val 4515246"/>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12" name="Text 5"/>
          <p:cNvSpPr/>
          <p:nvPr/>
        </p:nvSpPr>
        <p:spPr>
          <a:xfrm>
            <a:off x="3900488" y="514350"/>
            <a:ext cx="1721644" cy="129679"/>
          </a:xfrm>
          <a:prstGeom prst="rect">
            <a:avLst/>
          </a:prstGeom>
          <a:noFill/>
          <a:ln/>
        </p:spPr>
        <p:txBody>
          <a:bodyPr wrap="none" lIns="85725" tIns="42863" rIns="85725" bIns="42863" rtlCol="0" anchor="t"/>
          <a:lstStyle/>
          <a:p>
            <a:pPr algn="l" indent="0" marL="0">
              <a:lnSpc>
                <a:spcPts val="928"/>
              </a:lnSpc>
              <a:buNone/>
            </a:pPr>
            <a:r>
              <a:rPr lang="en-US" sz="800" b="1" spc="111" kern="0" dirty="0">
                <a:solidFill>
                  <a:srgbClr val="7C3AED"/>
                </a:solidFill>
                <a:latin typeface="Liberation Sans Narrow" pitchFamily="34" charset="0"/>
                <a:ea typeface="Liberation Sans Narrow" pitchFamily="34" charset="-122"/>
                <a:cs typeface="Liberation Sans Narrow" pitchFamily="34" charset="-120"/>
              </a:rPr>
              <a:t>CHAPTER 02 — HOW IT WORKS</a:t>
            </a:r>
            <a:endParaRPr lang="en-US" sz="800" dirty="0"/>
          </a:p>
        </p:txBody>
      </p:sp>
      <p:sp>
        <p:nvSpPr>
          <p:cNvPr id="13" name="Text 6"/>
          <p:cNvSpPr/>
          <p:nvPr/>
        </p:nvSpPr>
        <p:spPr>
          <a:xfrm>
            <a:off x="3750469" y="519708"/>
            <a:ext cx="92869" cy="92869"/>
          </a:xfrm>
          <a:prstGeom prst="rect">
            <a:avLst/>
          </a:prstGeom>
          <a:noFill/>
          <a:ln/>
        </p:spPr>
        <p:txBody>
          <a:bodyPr wrap="none" lIns="0" tIns="0" rIns="0" bIns="0" rtlCol="0" anchor="ctr"/>
          <a:lstStyle/>
          <a:p>
            <a:pPr algn="ctr" indent="0" marL="0">
              <a:buNone/>
            </a:pPr>
            <a:r>
              <a:rPr lang="en-US" sz="914" dirty="0">
                <a:solidFill>
                  <a:srgbClr val="7C3AED"/>
                </a:solidFill>
                <a:latin typeface="Segoe UI Symbol" pitchFamily="34" charset="0"/>
                <a:ea typeface="Segoe UI Symbol" pitchFamily="34" charset="-122"/>
                <a:cs typeface="Segoe UI Symbol" pitchFamily="34" charset="-120"/>
              </a:rPr>
              <a:t>❄</a:t>
            </a:r>
            <a:endParaRPr lang="en-US" sz="914" dirty="0"/>
          </a:p>
        </p:txBody>
      </p:sp>
      <p:sp>
        <p:nvSpPr>
          <p:cNvPr id="14" name="Text 7"/>
          <p:cNvSpPr/>
          <p:nvPr/>
        </p:nvSpPr>
        <p:spPr>
          <a:xfrm>
            <a:off x="3657600" y="746522"/>
            <a:ext cx="5486400" cy="254844"/>
          </a:xfrm>
          <a:prstGeom prst="rect">
            <a:avLst/>
          </a:prstGeom>
          <a:noFill/>
          <a:ln/>
        </p:spPr>
        <p:txBody>
          <a:bodyPr wrap="square" lIns="0" tIns="0" rIns="0" bIns="0" rtlCol="0" anchor="t"/>
          <a:lstStyle/>
          <a:p>
            <a:pPr algn="l" indent="0" marL="0">
              <a:lnSpc>
                <a:spcPts val="1859"/>
              </a:lnSpc>
              <a:buNone/>
            </a:pPr>
            <a:r>
              <a:rPr lang="en-US" sz="1575" b="1" spc="-24" kern="0" dirty="0">
                <a:solidFill>
                  <a:srgbClr val="1F2937"/>
                </a:solidFill>
                <a:latin typeface="Carlito" pitchFamily="34" charset="0"/>
                <a:ea typeface="Carlito" pitchFamily="34" charset="-122"/>
                <a:cs typeface="Carlito" pitchFamily="34" charset="-120"/>
              </a:rPr>
              <a:t>The SPLIT Architecture — One Session, Two Devices</a:t>
            </a:r>
            <a:endParaRPr lang="en-US" sz="1575" dirty="0"/>
          </a:p>
        </p:txBody>
      </p:sp>
      <p:sp>
        <p:nvSpPr>
          <p:cNvPr id="15" name="Text 8"/>
          <p:cNvSpPr/>
          <p:nvPr/>
        </p:nvSpPr>
        <p:spPr>
          <a:xfrm>
            <a:off x="3657600" y="1053926"/>
            <a:ext cx="400050" cy="21431"/>
          </a:xfrm>
          <a:prstGeom prst="roundRect">
            <a:avLst>
              <a:gd name="adj" fmla="val 88890"/>
            </a:avLst>
          </a:prstGeom>
          <a:solidFill>
            <a:srgbClr val="7C3AED"/>
          </a:solidFill>
          <a:ln/>
        </p:spPr>
        <p:txBody>
          <a:bodyPr wrap="square" rtlCol="0" anchor="ctr"/>
          <a:lstStyle/>
          <a:p>
            <a:pPr indent="0" marL="0">
              <a:buNone/>
            </a:pPr>
            <a:endParaRPr lang="en-US" dirty="0"/>
          </a:p>
        </p:txBody>
      </p:sp>
      <p:sp>
        <p:nvSpPr>
          <p:cNvPr id="16" name="Text 9"/>
          <p:cNvSpPr/>
          <p:nvPr/>
        </p:nvSpPr>
        <p:spPr>
          <a:xfrm>
            <a:off x="3661172" y="1178942"/>
            <a:ext cx="1312664" cy="568263"/>
          </a:xfrm>
          <a:prstGeom prst="roundRect">
            <a:avLst>
              <a:gd name="adj" fmla="val 16762"/>
            </a:avLst>
          </a:prstGeom>
          <a:solidFill>
            <a:srgbClr val="EDE9FE"/>
          </a:solidFill>
          <a:ln w="7144">
            <a:solidFill>
              <a:srgbClr val="C4B5FD"/>
            </a:solidFill>
            <a:prstDash val="solid"/>
          </a:ln>
          <a:effectLst>
            <a:outerShdw sx="100000" sy="100000" kx="0" ky="0" algn="bl" rotWithShape="0" blurRad="57150" dist="19050" dir="5400000">
              <a:srgbClr val="7C3AED">
                <a:alpha val="10000"/>
              </a:srgbClr>
            </a:outerShdw>
          </a:effectLst>
        </p:spPr>
        <p:txBody>
          <a:bodyPr wrap="square" rtlCol="0" anchor="ctr"/>
          <a:lstStyle/>
          <a:p>
            <a:pPr indent="0" marL="0">
              <a:buNone/>
            </a:pPr>
            <a:endParaRPr lang="en-US" dirty="0"/>
          </a:p>
        </p:txBody>
      </p:sp>
      <p:sp>
        <p:nvSpPr>
          <p:cNvPr id="17" name="Text 10"/>
          <p:cNvSpPr/>
          <p:nvPr/>
        </p:nvSpPr>
        <p:spPr>
          <a:xfrm>
            <a:off x="4238923" y="1264667"/>
            <a:ext cx="157163" cy="157163"/>
          </a:xfrm>
          <a:prstGeom prst="rect">
            <a:avLst/>
          </a:prstGeom>
          <a:noFill/>
          <a:ln/>
        </p:spPr>
        <p:txBody>
          <a:bodyPr wrap="none" lIns="0" tIns="0" rIns="0" bIns="0" rtlCol="0" anchor="ctr"/>
          <a:lstStyle/>
          <a:p>
            <a:pPr algn="ctr" indent="0" marL="0">
              <a:buNone/>
            </a:pPr>
            <a:r>
              <a:rPr lang="en-US" sz="1547" dirty="0">
                <a:solidFill>
                  <a:srgbClr val="6D28D9"/>
                </a:solidFill>
                <a:latin typeface="Segoe UI Symbol" pitchFamily="34" charset="0"/>
                <a:ea typeface="Segoe UI Symbol" pitchFamily="34" charset="-122"/>
                <a:cs typeface="Segoe UI Symbol" pitchFamily="34" charset="-120"/>
              </a:rPr>
              <a:t>▭</a:t>
            </a:r>
            <a:endParaRPr lang="en-US" sz="1547" dirty="0"/>
          </a:p>
        </p:txBody>
      </p:sp>
      <p:sp>
        <p:nvSpPr>
          <p:cNvPr id="18" name="Text 11"/>
          <p:cNvSpPr/>
          <p:nvPr/>
        </p:nvSpPr>
        <p:spPr>
          <a:xfrm>
            <a:off x="3750469" y="1453976"/>
            <a:ext cx="1134070" cy="91440"/>
          </a:xfrm>
          <a:prstGeom prst="rect">
            <a:avLst/>
          </a:prstGeom>
          <a:noFill/>
          <a:ln/>
        </p:spPr>
        <p:txBody>
          <a:bodyPr wrap="none" lIns="0" tIns="0" rIns="0" bIns="0" rtlCol="0" anchor="t">
            <a:normAutofit/>
          </a:bodyPr>
          <a:lstStyle/>
          <a:p>
            <a:pPr algn="ctr" indent="0" marL="0">
              <a:lnSpc>
                <a:spcPts val="802"/>
              </a:lnSpc>
              <a:buNone/>
            </a:pPr>
            <a:r>
              <a:rPr lang="en-US" sz="800" b="1" spc="86" kern="0" dirty="0">
                <a:solidFill>
                  <a:srgbClr val="6D28D9"/>
                </a:solidFill>
                <a:latin typeface="Carlito" pitchFamily="34" charset="0"/>
                <a:ea typeface="Carlito" pitchFamily="34" charset="-122"/>
                <a:cs typeface="Carlito" pitchFamily="34" charset="-120"/>
              </a:rPr>
              <a:t>KIOSK / SCREEN</a:t>
            </a:r>
            <a:endParaRPr lang="en-US" sz="800" dirty="0"/>
          </a:p>
        </p:txBody>
      </p:sp>
      <p:sp>
        <p:nvSpPr>
          <p:cNvPr id="19" name="Text 12"/>
          <p:cNvSpPr/>
          <p:nvPr/>
        </p:nvSpPr>
        <p:spPr>
          <a:xfrm>
            <a:off x="3750469" y="1570062"/>
            <a:ext cx="1134070" cy="102133"/>
          </a:xfrm>
          <a:prstGeom prst="rect">
            <a:avLst/>
          </a:prstGeom>
          <a:noFill/>
          <a:ln/>
        </p:spPr>
        <p:txBody>
          <a:bodyPr wrap="none" lIns="0" tIns="0" rIns="0" bIns="0" rtlCol="0" anchor="t"/>
          <a:lstStyle/>
          <a:p>
            <a:pPr algn="ctr" indent="0" marL="0">
              <a:lnSpc>
                <a:spcPts val="804"/>
              </a:lnSpc>
              <a:buNone/>
            </a:pPr>
            <a:r>
              <a:rPr lang="en-US" sz="800" dirty="0">
                <a:solidFill>
                  <a:srgbClr val="4C1D95"/>
                </a:solidFill>
                <a:latin typeface="Carlito" pitchFamily="34" charset="0"/>
                <a:ea typeface="Carlito" pitchFamily="34" charset="-122"/>
                <a:cs typeface="Carlito" pitchFamily="34" charset="-120"/>
              </a:rPr>
              <a:t>HD Video · RTP</a:t>
            </a:r>
            <a:endParaRPr lang="en-US" sz="800" dirty="0"/>
          </a:p>
        </p:txBody>
      </p:sp>
      <p:pic>
        <p:nvPicPr>
          <p:cNvPr id="20" name="Image 5" descr="preencoded.png">    </p:cNvPr>
          <p:cNvPicPr>
            <a:picLocks noChangeAspect="1"/>
          </p:cNvPicPr>
          <p:nvPr/>
        </p:nvPicPr>
        <p:blipFill>
          <a:blip r:embed="rId6"/>
          <a:stretch>
            <a:fillRect/>
          </a:stretch>
        </p:blipFill>
        <p:spPr>
          <a:xfrm>
            <a:off x="5017703" y="1300497"/>
            <a:ext cx="347923" cy="139303"/>
          </a:xfrm>
          <a:prstGeom prst="rect">
            <a:avLst/>
          </a:prstGeom>
        </p:spPr>
      </p:pic>
      <p:sp>
        <p:nvSpPr>
          <p:cNvPr id="21" name="Text 13"/>
          <p:cNvSpPr/>
          <p:nvPr/>
        </p:nvSpPr>
        <p:spPr>
          <a:xfrm>
            <a:off x="4988058" y="1300497"/>
            <a:ext cx="407213" cy="139303"/>
          </a:xfrm>
          <a:prstGeom prst="rect">
            <a:avLst/>
          </a:prstGeom>
          <a:noFill/>
          <a:ln/>
        </p:spPr>
        <p:txBody>
          <a:bodyPr wrap="none" lIns="0" tIns="0" rIns="0" bIns="0" rtlCol="0" anchor="ctr"/>
          <a:lstStyle/>
          <a:p>
            <a:pPr algn="ctr" indent="0" marL="0">
              <a:lnSpc>
                <a:spcPts val="759"/>
              </a:lnSpc>
              <a:buNone/>
            </a:pPr>
            <a:r>
              <a:rPr lang="en-US" sz="800" b="1" spc="81" kern="0" dirty="0">
                <a:solidFill>
                  <a:srgbClr val="FFFFFF"/>
                </a:solidFill>
                <a:latin typeface="Carlito" pitchFamily="34" charset="0"/>
                <a:ea typeface="Carlito" pitchFamily="34" charset="-122"/>
                <a:cs typeface="Carlito" pitchFamily="34" charset="-120"/>
              </a:rPr>
              <a:t>SPLIT</a:t>
            </a:r>
            <a:endParaRPr lang="en-US" sz="800" dirty="0"/>
          </a:p>
        </p:txBody>
      </p:sp>
      <p:sp>
        <p:nvSpPr>
          <p:cNvPr id="22" name="Text 14"/>
          <p:cNvSpPr/>
          <p:nvPr/>
        </p:nvSpPr>
        <p:spPr>
          <a:xfrm>
            <a:off x="5113139" y="1468375"/>
            <a:ext cx="157163" cy="157163"/>
          </a:xfrm>
          <a:prstGeom prst="rect">
            <a:avLst/>
          </a:prstGeom>
          <a:noFill/>
          <a:ln/>
        </p:spPr>
        <p:txBody>
          <a:bodyPr wrap="none" lIns="0" tIns="0" rIns="0" bIns="0" rtlCol="0" anchor="ctr"/>
          <a:lstStyle/>
          <a:p>
            <a:pPr algn="ctr" indent="0" marL="0">
              <a:buNone/>
            </a:pPr>
            <a:r>
              <a:rPr lang="en-US" sz="1547" dirty="0">
                <a:solidFill>
                  <a:srgbClr val="7C3AED"/>
                </a:solidFill>
                <a:latin typeface="Segoe UI Symbol" pitchFamily="34" charset="0"/>
                <a:ea typeface="Segoe UI Symbol" pitchFamily="34" charset="-122"/>
                <a:cs typeface="Segoe UI Symbol" pitchFamily="34" charset="-120"/>
              </a:rPr>
              <a:t>⇄</a:t>
            </a:r>
            <a:endParaRPr lang="en-US" sz="1547" dirty="0"/>
          </a:p>
        </p:txBody>
      </p:sp>
      <p:sp>
        <p:nvSpPr>
          <p:cNvPr id="23" name="Text 15"/>
          <p:cNvSpPr/>
          <p:nvPr/>
        </p:nvSpPr>
        <p:spPr>
          <a:xfrm>
            <a:off x="5409605" y="1178942"/>
            <a:ext cx="1312664" cy="568263"/>
          </a:xfrm>
          <a:prstGeom prst="roundRect">
            <a:avLst>
              <a:gd name="adj" fmla="val 16762"/>
            </a:avLst>
          </a:prstGeom>
          <a:solidFill>
            <a:srgbClr val="DCFCE7"/>
          </a:solidFill>
          <a:ln w="7144">
            <a:solidFill>
              <a:srgbClr val="86EFAC"/>
            </a:solidFill>
            <a:prstDash val="solid"/>
          </a:ln>
          <a:effectLst>
            <a:outerShdw sx="100000" sy="100000" kx="0" ky="0" algn="bl" rotWithShape="0" blurRad="57150" dist="19050" dir="5400000">
              <a:srgbClr val="7C3AED">
                <a:alpha val="10000"/>
              </a:srgbClr>
            </a:outerShdw>
          </a:effectLst>
        </p:spPr>
        <p:txBody>
          <a:bodyPr wrap="square" rtlCol="0" anchor="ctr"/>
          <a:lstStyle/>
          <a:p>
            <a:pPr indent="0" marL="0">
              <a:buNone/>
            </a:pPr>
            <a:endParaRPr lang="en-US" dirty="0"/>
          </a:p>
        </p:txBody>
      </p:sp>
      <p:sp>
        <p:nvSpPr>
          <p:cNvPr id="24" name="Text 16"/>
          <p:cNvSpPr/>
          <p:nvPr/>
        </p:nvSpPr>
        <p:spPr>
          <a:xfrm>
            <a:off x="5987355" y="1264667"/>
            <a:ext cx="157163" cy="157163"/>
          </a:xfrm>
          <a:prstGeom prst="rect">
            <a:avLst/>
          </a:prstGeom>
          <a:noFill/>
          <a:ln/>
        </p:spPr>
        <p:txBody>
          <a:bodyPr wrap="none" lIns="0" tIns="0" rIns="0" bIns="0" rtlCol="0" anchor="ctr"/>
          <a:lstStyle/>
          <a:p>
            <a:pPr algn="ctr" indent="0" marL="0">
              <a:buNone/>
            </a:pPr>
            <a:r>
              <a:rPr lang="en-US" sz="1547" dirty="0">
                <a:solidFill>
                  <a:srgbClr val="047857"/>
                </a:solidFill>
                <a:latin typeface="Segoe UI Symbol" pitchFamily="34" charset="0"/>
                <a:ea typeface="Segoe UI Symbol" pitchFamily="34" charset="-122"/>
                <a:cs typeface="Segoe UI Symbol" pitchFamily="34" charset="-120"/>
              </a:rPr>
              <a:t>▯</a:t>
            </a:r>
            <a:endParaRPr lang="en-US" sz="1547" dirty="0"/>
          </a:p>
        </p:txBody>
      </p:sp>
      <p:sp>
        <p:nvSpPr>
          <p:cNvPr id="25" name="Text 17"/>
          <p:cNvSpPr/>
          <p:nvPr/>
        </p:nvSpPr>
        <p:spPr>
          <a:xfrm>
            <a:off x="5498902" y="1453976"/>
            <a:ext cx="1134070" cy="91440"/>
          </a:xfrm>
          <a:prstGeom prst="rect">
            <a:avLst/>
          </a:prstGeom>
          <a:noFill/>
          <a:ln/>
        </p:spPr>
        <p:txBody>
          <a:bodyPr wrap="none" lIns="0" tIns="0" rIns="0" bIns="0" rtlCol="0" anchor="t">
            <a:normAutofit/>
          </a:bodyPr>
          <a:lstStyle/>
          <a:p>
            <a:pPr algn="ctr" indent="0" marL="0">
              <a:lnSpc>
                <a:spcPts val="802"/>
              </a:lnSpc>
              <a:buNone/>
            </a:pPr>
            <a:r>
              <a:rPr lang="en-US" sz="800" b="1" spc="86" kern="0" dirty="0">
                <a:solidFill>
                  <a:srgbClr val="047857"/>
                </a:solidFill>
                <a:latin typeface="Carlito" pitchFamily="34" charset="0"/>
                <a:ea typeface="Carlito" pitchFamily="34" charset="-122"/>
                <a:cs typeface="Carlito" pitchFamily="34" charset="-120"/>
              </a:rPr>
              <a:t>CUSTOMER PHONE</a:t>
            </a:r>
            <a:endParaRPr lang="en-US" sz="800" dirty="0"/>
          </a:p>
        </p:txBody>
      </p:sp>
      <p:sp>
        <p:nvSpPr>
          <p:cNvPr id="26" name="Text 18"/>
          <p:cNvSpPr/>
          <p:nvPr/>
        </p:nvSpPr>
        <p:spPr>
          <a:xfrm>
            <a:off x="5498902" y="1570062"/>
            <a:ext cx="1134070" cy="102133"/>
          </a:xfrm>
          <a:prstGeom prst="rect">
            <a:avLst/>
          </a:prstGeom>
          <a:noFill/>
          <a:ln/>
        </p:spPr>
        <p:txBody>
          <a:bodyPr wrap="none" lIns="0" tIns="0" rIns="0" bIns="0" rtlCol="0" anchor="t"/>
          <a:lstStyle/>
          <a:p>
            <a:pPr algn="ctr" indent="0" marL="0">
              <a:lnSpc>
                <a:spcPts val="804"/>
              </a:lnSpc>
              <a:buNone/>
            </a:pPr>
            <a:r>
              <a:rPr lang="en-US" sz="800" dirty="0">
                <a:solidFill>
                  <a:srgbClr val="065F46"/>
                </a:solidFill>
                <a:latin typeface="Carlito" pitchFamily="34" charset="0"/>
                <a:ea typeface="Carlito" pitchFamily="34" charset="-122"/>
                <a:cs typeface="Carlito" pitchFamily="34" charset="-120"/>
              </a:rPr>
              <a:t>Audio · RTC · Data</a:t>
            </a:r>
            <a:endParaRPr lang="en-US" sz="800" dirty="0"/>
          </a:p>
        </p:txBody>
      </p:sp>
      <p:sp>
        <p:nvSpPr>
          <p:cNvPr id="27" name="Text 19"/>
          <p:cNvSpPr/>
          <p:nvPr/>
        </p:nvSpPr>
        <p:spPr>
          <a:xfrm>
            <a:off x="6775119" y="1292139"/>
            <a:ext cx="330068" cy="156020"/>
          </a:xfrm>
          <a:prstGeom prst="roundRect">
            <a:avLst>
              <a:gd name="adj" fmla="val 6098882"/>
            </a:avLst>
          </a:prstGeom>
          <a:solidFill>
            <a:srgbClr val="1A0B2E"/>
          </a:solidFill>
          <a:ln/>
        </p:spPr>
        <p:txBody>
          <a:bodyPr wrap="square" rtlCol="0" anchor="ctr"/>
          <a:lstStyle/>
          <a:p>
            <a:pPr indent="0" marL="0">
              <a:buNone/>
            </a:pPr>
            <a:endParaRPr lang="en-US" dirty="0"/>
          </a:p>
        </p:txBody>
      </p:sp>
      <p:sp>
        <p:nvSpPr>
          <p:cNvPr id="28" name="Text 20"/>
          <p:cNvSpPr/>
          <p:nvPr/>
        </p:nvSpPr>
        <p:spPr>
          <a:xfrm>
            <a:off x="6773712" y="1300497"/>
            <a:ext cx="332882" cy="139303"/>
          </a:xfrm>
          <a:prstGeom prst="rect">
            <a:avLst/>
          </a:prstGeom>
          <a:noFill/>
          <a:ln/>
        </p:spPr>
        <p:txBody>
          <a:bodyPr wrap="none" lIns="0" tIns="0" rIns="0" bIns="0" rtlCol="0" anchor="ctr"/>
          <a:lstStyle/>
          <a:p>
            <a:pPr algn="ctr" indent="0" marL="0">
              <a:lnSpc>
                <a:spcPts val="759"/>
              </a:lnSpc>
              <a:buNone/>
            </a:pPr>
            <a:r>
              <a:rPr lang="en-US" sz="800" b="1" spc="81" kern="0" dirty="0">
                <a:solidFill>
                  <a:srgbClr val="FFFFFF"/>
                </a:solidFill>
                <a:latin typeface="Carlito" pitchFamily="34" charset="0"/>
                <a:ea typeface="Carlito" pitchFamily="34" charset="-122"/>
                <a:cs typeface="Carlito" pitchFamily="34" charset="-120"/>
              </a:rPr>
              <a:t>JOIN</a:t>
            </a:r>
            <a:endParaRPr lang="en-US" sz="800" dirty="0"/>
          </a:p>
        </p:txBody>
      </p:sp>
      <p:sp>
        <p:nvSpPr>
          <p:cNvPr id="29" name="Text 21"/>
          <p:cNvSpPr/>
          <p:nvPr/>
        </p:nvSpPr>
        <p:spPr>
          <a:xfrm>
            <a:off x="6861572" y="1468375"/>
            <a:ext cx="157163" cy="157163"/>
          </a:xfrm>
          <a:prstGeom prst="rect">
            <a:avLst/>
          </a:prstGeom>
          <a:noFill/>
          <a:ln/>
        </p:spPr>
        <p:txBody>
          <a:bodyPr wrap="none" lIns="0" tIns="0" rIns="0" bIns="0" rtlCol="0" anchor="ctr"/>
          <a:lstStyle/>
          <a:p>
            <a:pPr algn="ctr" indent="0" marL="0">
              <a:buNone/>
            </a:pPr>
            <a:r>
              <a:rPr lang="en-US" sz="1547" dirty="0">
                <a:solidFill>
                  <a:srgbClr val="7C3AED"/>
                </a:solidFill>
                <a:latin typeface="Segoe UI Symbol" pitchFamily="34" charset="0"/>
                <a:ea typeface="Segoe UI Symbol" pitchFamily="34" charset="-122"/>
                <a:cs typeface="Segoe UI Symbol" pitchFamily="34" charset="-120"/>
              </a:rPr>
              <a:t>→</a:t>
            </a:r>
            <a:endParaRPr lang="en-US" sz="1547" dirty="0"/>
          </a:p>
        </p:txBody>
      </p:sp>
      <p:pic>
        <p:nvPicPr>
          <p:cNvPr id="30" name="Image 6" descr="preencoded.png">    </p:cNvPr>
          <p:cNvPicPr>
            <a:picLocks noChangeAspect="1"/>
          </p:cNvPicPr>
          <p:nvPr/>
        </p:nvPicPr>
        <p:blipFill>
          <a:blip r:embed="rId7"/>
          <a:stretch>
            <a:fillRect/>
          </a:stretch>
        </p:blipFill>
        <p:spPr>
          <a:xfrm>
            <a:off x="7154466" y="1175370"/>
            <a:ext cx="1532334" cy="575407"/>
          </a:xfrm>
          <a:prstGeom prst="rect">
            <a:avLst/>
          </a:prstGeom>
        </p:spPr>
      </p:pic>
      <p:sp>
        <p:nvSpPr>
          <p:cNvPr id="31" name="Text 22"/>
          <p:cNvSpPr/>
          <p:nvPr/>
        </p:nvSpPr>
        <p:spPr>
          <a:xfrm>
            <a:off x="7842052" y="1257523"/>
            <a:ext cx="157163" cy="157163"/>
          </a:xfrm>
          <a:prstGeom prst="rect">
            <a:avLst/>
          </a:prstGeom>
          <a:noFill/>
          <a:ln/>
        </p:spPr>
        <p:txBody>
          <a:bodyPr wrap="none" lIns="0" tIns="0" rIns="0" bIns="0" rtlCol="0" anchor="ctr"/>
          <a:lstStyle/>
          <a:p>
            <a:pPr algn="ctr" indent="0" marL="0">
              <a:buNone/>
            </a:pPr>
            <a:r>
              <a:rPr lang="en-US" sz="1547" dirty="0">
                <a:solidFill>
                  <a:srgbClr val="A78BFA"/>
                </a:solidFill>
                <a:latin typeface="Segoe UI Symbol" pitchFamily="34" charset="0"/>
                <a:ea typeface="Segoe UI Symbol" pitchFamily="34" charset="-122"/>
                <a:cs typeface="Segoe UI Symbol" pitchFamily="34" charset="-120"/>
              </a:rPr>
              <a:t>✦</a:t>
            </a:r>
            <a:endParaRPr lang="en-US" sz="1547" dirty="0"/>
          </a:p>
        </p:txBody>
      </p:sp>
      <p:sp>
        <p:nvSpPr>
          <p:cNvPr id="32" name="Text 23"/>
          <p:cNvSpPr/>
          <p:nvPr/>
        </p:nvSpPr>
        <p:spPr>
          <a:xfrm>
            <a:off x="7240191" y="1446833"/>
            <a:ext cx="1360884" cy="91440"/>
          </a:xfrm>
          <a:prstGeom prst="rect">
            <a:avLst/>
          </a:prstGeom>
          <a:noFill/>
          <a:ln/>
        </p:spPr>
        <p:txBody>
          <a:bodyPr wrap="none" lIns="0" tIns="0" rIns="0" bIns="0" rtlCol="0" anchor="t">
            <a:normAutofit/>
          </a:bodyPr>
          <a:lstStyle/>
          <a:p>
            <a:pPr algn="ctr" indent="0" marL="0">
              <a:lnSpc>
                <a:spcPts val="802"/>
              </a:lnSpc>
              <a:buNone/>
            </a:pPr>
            <a:r>
              <a:rPr lang="en-US" sz="800" b="1" spc="86" kern="0" dirty="0">
                <a:solidFill>
                  <a:srgbClr val="A78BFA"/>
                </a:solidFill>
                <a:latin typeface="Carlito" pitchFamily="34" charset="0"/>
                <a:ea typeface="Carlito" pitchFamily="34" charset="-122"/>
                <a:cs typeface="Carlito" pitchFamily="34" charset="-120"/>
              </a:rPr>
              <a:t>ONE LOGICAL SESSION</a:t>
            </a:r>
            <a:endParaRPr lang="en-US" sz="800" dirty="0"/>
          </a:p>
        </p:txBody>
      </p:sp>
      <p:sp>
        <p:nvSpPr>
          <p:cNvPr id="33" name="Text 24"/>
          <p:cNvSpPr/>
          <p:nvPr/>
        </p:nvSpPr>
        <p:spPr>
          <a:xfrm>
            <a:off x="7240191" y="1562919"/>
            <a:ext cx="1415320" cy="116421"/>
          </a:xfrm>
          <a:prstGeom prst="rect">
            <a:avLst/>
          </a:prstGeom>
          <a:noFill/>
          <a:ln/>
        </p:spPr>
        <p:txBody>
          <a:bodyPr wrap="square" lIns="0" tIns="0" rIns="0" bIns="0" rtlCol="0" anchor="t"/>
          <a:lstStyle/>
          <a:p>
            <a:pPr algn="ctr" indent="0" marL="0">
              <a:lnSpc>
                <a:spcPts val="804"/>
              </a:lnSpc>
              <a:buNone/>
            </a:pPr>
            <a:r>
              <a:rPr lang="en-US" sz="619" dirty="0">
                <a:solidFill>
                  <a:srgbClr val="FFFFFF"/>
                </a:solidFill>
                <a:latin typeface="Carlito" pitchFamily="34" charset="0"/>
                <a:ea typeface="Carlito" pitchFamily="34" charset="-122"/>
                <a:cs typeface="Carlito" pitchFamily="34" charset="-120"/>
              </a:rPr>
              <a:t>ACD · Advisors · Contact Centre</a:t>
            </a:r>
            <a:endParaRPr lang="en-US" sz="619" dirty="0"/>
          </a:p>
        </p:txBody>
      </p:sp>
      <p:sp>
        <p:nvSpPr>
          <p:cNvPr id="34" name="Text 25"/>
          <p:cNvSpPr/>
          <p:nvPr/>
        </p:nvSpPr>
        <p:spPr>
          <a:xfrm>
            <a:off x="3657600" y="1850789"/>
            <a:ext cx="5029200" cy="424495"/>
          </a:xfrm>
          <a:prstGeom prst="roundRect">
            <a:avLst>
              <a:gd name="adj" fmla="val 17951"/>
            </a:avLst>
          </a:prstGeom>
          <a:solidFill>
            <a:srgbClr val="FFFFFF"/>
          </a:solidFill>
          <a:ln/>
        </p:spPr>
        <p:txBody>
          <a:bodyPr wrap="square" rtlCol="0" anchor="ctr"/>
          <a:lstStyle/>
          <a:p>
            <a:pPr indent="0" marL="0">
              <a:buNone/>
            </a:pPr>
            <a:endParaRPr lang="en-US" dirty="0"/>
          </a:p>
        </p:txBody>
      </p:sp>
      <p:sp>
        <p:nvSpPr>
          <p:cNvPr id="35" name="Shape 26"/>
          <p:cNvSpPr/>
          <p:nvPr/>
        </p:nvSpPr>
        <p:spPr>
          <a:xfrm>
            <a:off x="3657600" y="1854361"/>
            <a:ext cx="5029200" cy="0"/>
          </a:xfrm>
          <a:prstGeom prst="line">
            <a:avLst/>
          </a:prstGeom>
          <a:noFill/>
          <a:ln w="7144">
            <a:solidFill>
              <a:srgbClr val="E5E7EB"/>
            </a:solidFill>
            <a:prstDash val="solid"/>
          </a:ln>
        </p:spPr>
      </p:sp>
      <p:sp>
        <p:nvSpPr>
          <p:cNvPr id="36" name="Shape 27"/>
          <p:cNvSpPr/>
          <p:nvPr/>
        </p:nvSpPr>
        <p:spPr>
          <a:xfrm>
            <a:off x="8683228" y="1850789"/>
            <a:ext cx="0" cy="424495"/>
          </a:xfrm>
          <a:prstGeom prst="line">
            <a:avLst/>
          </a:prstGeom>
          <a:noFill/>
          <a:ln w="7144">
            <a:solidFill>
              <a:srgbClr val="E5E7EB"/>
            </a:solidFill>
            <a:prstDash val="solid"/>
          </a:ln>
        </p:spPr>
      </p:sp>
      <p:sp>
        <p:nvSpPr>
          <p:cNvPr id="37" name="Shape 28"/>
          <p:cNvSpPr/>
          <p:nvPr/>
        </p:nvSpPr>
        <p:spPr>
          <a:xfrm>
            <a:off x="3657600" y="2271713"/>
            <a:ext cx="5029200" cy="0"/>
          </a:xfrm>
          <a:prstGeom prst="line">
            <a:avLst/>
          </a:prstGeom>
          <a:noFill/>
          <a:ln w="7144">
            <a:solidFill>
              <a:srgbClr val="E5E7EB"/>
            </a:solidFill>
            <a:prstDash val="solid"/>
          </a:ln>
        </p:spPr>
      </p:sp>
      <p:sp>
        <p:nvSpPr>
          <p:cNvPr id="38" name="Shape 29"/>
          <p:cNvSpPr/>
          <p:nvPr/>
        </p:nvSpPr>
        <p:spPr>
          <a:xfrm>
            <a:off x="3668316" y="1850789"/>
            <a:ext cx="0" cy="424495"/>
          </a:xfrm>
          <a:prstGeom prst="line">
            <a:avLst/>
          </a:prstGeom>
          <a:noFill/>
          <a:ln w="21431">
            <a:solidFill>
              <a:srgbClr val="7C3AED"/>
            </a:solidFill>
            <a:prstDash val="solid"/>
          </a:ln>
        </p:spPr>
      </p:sp>
      <p:sp>
        <p:nvSpPr>
          <p:cNvPr id="39" name="Text 30"/>
          <p:cNvSpPr/>
          <p:nvPr/>
        </p:nvSpPr>
        <p:spPr>
          <a:xfrm>
            <a:off x="3779044" y="1929371"/>
            <a:ext cx="200025" cy="200025"/>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40" name="Text 31"/>
          <p:cNvSpPr/>
          <p:nvPr/>
        </p:nvSpPr>
        <p:spPr>
          <a:xfrm>
            <a:off x="3796189" y="1946516"/>
            <a:ext cx="165735" cy="165735"/>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41" name="Text 32"/>
          <p:cNvSpPr/>
          <p:nvPr/>
        </p:nvSpPr>
        <p:spPr>
          <a:xfrm>
            <a:off x="4064794" y="1929371"/>
            <a:ext cx="3789152" cy="120801"/>
          </a:xfrm>
          <a:prstGeom prst="rect">
            <a:avLst/>
          </a:prstGeom>
          <a:noFill/>
          <a:ln/>
        </p:spPr>
        <p:txBody>
          <a:bodyPr wrap="square" lIns="0" tIns="0" rIns="0" bIns="0" rtlCol="0" anchor="t">
            <a:normAutofit/>
          </a:bodyPr>
          <a:lstStyle/>
          <a:p>
            <a:pPr algn="l" indent="0" marL="0">
              <a:lnSpc>
                <a:spcPts val="1055"/>
              </a:lnSpc>
              <a:buNone/>
            </a:pPr>
            <a:r>
              <a:rPr lang="en-US" sz="800" b="1" spc="-1" kern="0" dirty="0">
                <a:solidFill>
                  <a:srgbClr val="6D28D9"/>
                </a:solidFill>
                <a:latin typeface="Carlito" pitchFamily="34" charset="0"/>
                <a:ea typeface="Carlito" pitchFamily="34" charset="-122"/>
                <a:cs typeface="Carlito" pitchFamily="34" charset="-120"/>
              </a:rPr>
              <a:t>Physical point (kiosk / screen / tablet)</a:t>
            </a:r>
            <a:endParaRPr lang="en-US" sz="800" dirty="0"/>
          </a:p>
        </p:txBody>
      </p:sp>
      <p:sp>
        <p:nvSpPr>
          <p:cNvPr id="42" name="Text 33"/>
          <p:cNvSpPr/>
          <p:nvPr/>
        </p:nvSpPr>
        <p:spPr>
          <a:xfrm>
            <a:off x="4064794" y="2077603"/>
            <a:ext cx="3508474" cy="119100"/>
          </a:xfrm>
          <a:prstGeom prst="rect">
            <a:avLst/>
          </a:prstGeom>
          <a:noFill/>
          <a:ln/>
        </p:spPr>
        <p:txBody>
          <a:bodyPr wrap="square" lIns="0" tIns="0" rIns="0" bIns="0" rtlCol="0" anchor="t"/>
          <a:lstStyle/>
          <a:p>
            <a:pPr algn="l" indent="0" marL="0">
              <a:lnSpc>
                <a:spcPts val="938"/>
              </a:lnSpc>
              <a:buNone/>
            </a:pPr>
            <a:r>
              <a:rPr lang="en-US" sz="647" dirty="0">
                <a:solidFill>
                  <a:srgbClr val="374151"/>
                </a:solidFill>
                <a:latin typeface="Carlito" pitchFamily="34" charset="0"/>
                <a:ea typeface="Carlito" pitchFamily="34" charset="-122"/>
                <a:cs typeface="Carlito" pitchFamily="34" charset="-120"/>
              </a:rPr>
              <a:t>Receives life-size HD video of the advisor, shared document screen, and the RTP media stream.</a:t>
            </a:r>
            <a:endParaRPr lang="en-US" sz="647" dirty="0"/>
          </a:p>
        </p:txBody>
      </p:sp>
      <p:sp>
        <p:nvSpPr>
          <p:cNvPr id="43" name="Text 34"/>
          <p:cNvSpPr/>
          <p:nvPr/>
        </p:nvSpPr>
        <p:spPr>
          <a:xfrm>
            <a:off x="3657600" y="2332434"/>
            <a:ext cx="5029200" cy="424495"/>
          </a:xfrm>
          <a:prstGeom prst="roundRect">
            <a:avLst>
              <a:gd name="adj" fmla="val 17951"/>
            </a:avLst>
          </a:prstGeom>
          <a:solidFill>
            <a:srgbClr val="FFFFFF"/>
          </a:solidFill>
          <a:ln/>
        </p:spPr>
        <p:txBody>
          <a:bodyPr wrap="square" rtlCol="0" anchor="ctr"/>
          <a:lstStyle/>
          <a:p>
            <a:pPr indent="0" marL="0">
              <a:buNone/>
            </a:pPr>
            <a:endParaRPr lang="en-US" dirty="0"/>
          </a:p>
        </p:txBody>
      </p:sp>
      <p:sp>
        <p:nvSpPr>
          <p:cNvPr id="44" name="Shape 35"/>
          <p:cNvSpPr/>
          <p:nvPr/>
        </p:nvSpPr>
        <p:spPr>
          <a:xfrm>
            <a:off x="3657600" y="2336006"/>
            <a:ext cx="5029200" cy="0"/>
          </a:xfrm>
          <a:prstGeom prst="line">
            <a:avLst/>
          </a:prstGeom>
          <a:noFill/>
          <a:ln w="7144">
            <a:solidFill>
              <a:srgbClr val="E5E7EB"/>
            </a:solidFill>
            <a:prstDash val="solid"/>
          </a:ln>
        </p:spPr>
      </p:sp>
      <p:sp>
        <p:nvSpPr>
          <p:cNvPr id="45" name="Shape 36"/>
          <p:cNvSpPr/>
          <p:nvPr/>
        </p:nvSpPr>
        <p:spPr>
          <a:xfrm>
            <a:off x="8683228" y="2332434"/>
            <a:ext cx="0" cy="424495"/>
          </a:xfrm>
          <a:prstGeom prst="line">
            <a:avLst/>
          </a:prstGeom>
          <a:noFill/>
          <a:ln w="7144">
            <a:solidFill>
              <a:srgbClr val="E5E7EB"/>
            </a:solidFill>
            <a:prstDash val="solid"/>
          </a:ln>
        </p:spPr>
      </p:sp>
      <p:sp>
        <p:nvSpPr>
          <p:cNvPr id="46" name="Shape 37"/>
          <p:cNvSpPr/>
          <p:nvPr/>
        </p:nvSpPr>
        <p:spPr>
          <a:xfrm>
            <a:off x="3657600" y="2753358"/>
            <a:ext cx="5029200" cy="0"/>
          </a:xfrm>
          <a:prstGeom prst="line">
            <a:avLst/>
          </a:prstGeom>
          <a:noFill/>
          <a:ln w="7144">
            <a:solidFill>
              <a:srgbClr val="E5E7EB"/>
            </a:solidFill>
            <a:prstDash val="solid"/>
          </a:ln>
        </p:spPr>
      </p:sp>
      <p:sp>
        <p:nvSpPr>
          <p:cNvPr id="47" name="Shape 38"/>
          <p:cNvSpPr/>
          <p:nvPr/>
        </p:nvSpPr>
        <p:spPr>
          <a:xfrm>
            <a:off x="3668316" y="2332434"/>
            <a:ext cx="0" cy="424495"/>
          </a:xfrm>
          <a:prstGeom prst="line">
            <a:avLst/>
          </a:prstGeom>
          <a:noFill/>
          <a:ln w="21431">
            <a:solidFill>
              <a:srgbClr val="10B981"/>
            </a:solidFill>
            <a:prstDash val="solid"/>
          </a:ln>
        </p:spPr>
      </p:sp>
      <p:sp>
        <p:nvSpPr>
          <p:cNvPr id="48" name="Text 39"/>
          <p:cNvSpPr/>
          <p:nvPr/>
        </p:nvSpPr>
        <p:spPr>
          <a:xfrm>
            <a:off x="3779044" y="2411016"/>
            <a:ext cx="200025" cy="200025"/>
          </a:xfrm>
          <a:prstGeom prst="roundRect">
            <a:avLst>
              <a:gd name="adj" fmla="val 33333"/>
            </a:avLst>
          </a:prstGeom>
          <a:solidFill>
            <a:srgbClr val="ECFDF5"/>
          </a:solidFill>
          <a:ln/>
        </p:spPr>
        <p:txBody>
          <a:bodyPr wrap="square" rtlCol="0" anchor="ctr"/>
          <a:lstStyle/>
          <a:p>
            <a:pPr indent="0" marL="0">
              <a:buNone/>
            </a:pPr>
            <a:endParaRPr lang="en-US" dirty="0"/>
          </a:p>
        </p:txBody>
      </p:sp>
      <p:sp>
        <p:nvSpPr>
          <p:cNvPr id="49" name="Text 40"/>
          <p:cNvSpPr/>
          <p:nvPr/>
        </p:nvSpPr>
        <p:spPr>
          <a:xfrm>
            <a:off x="3796189" y="2428161"/>
            <a:ext cx="165735" cy="165735"/>
          </a:xfrm>
          <a:prstGeom prst="rect">
            <a:avLst/>
          </a:prstGeom>
          <a:noFill/>
          <a:ln/>
        </p:spPr>
        <p:txBody>
          <a:bodyPr wrap="none" lIns="0" tIns="0" rIns="0" bIns="0" rtlCol="0" anchor="ctr"/>
          <a:lstStyle/>
          <a:p>
            <a:pPr algn="ctr" indent="0" marL="0">
              <a:buNone/>
            </a:pPr>
            <a:r>
              <a:rPr lang="en-US" sz="1125" dirty="0">
                <a:solidFill>
                  <a:srgbClr val="10B981"/>
                </a:solidFill>
                <a:latin typeface="Segoe UI Symbol" pitchFamily="34" charset="0"/>
                <a:ea typeface="Segoe UI Symbol" pitchFamily="34" charset="-122"/>
                <a:cs typeface="Segoe UI Symbol" pitchFamily="34" charset="-120"/>
              </a:rPr>
              <a:t>▯</a:t>
            </a:r>
            <a:endParaRPr lang="en-US" sz="1125" dirty="0"/>
          </a:p>
        </p:txBody>
      </p:sp>
      <p:sp>
        <p:nvSpPr>
          <p:cNvPr id="50" name="Text 41"/>
          <p:cNvSpPr/>
          <p:nvPr/>
        </p:nvSpPr>
        <p:spPr>
          <a:xfrm>
            <a:off x="4064794" y="2411016"/>
            <a:ext cx="4150925" cy="120801"/>
          </a:xfrm>
          <a:prstGeom prst="rect">
            <a:avLst/>
          </a:prstGeom>
          <a:noFill/>
          <a:ln/>
        </p:spPr>
        <p:txBody>
          <a:bodyPr wrap="square" lIns="0" tIns="0" rIns="0" bIns="0" rtlCol="0" anchor="t">
            <a:normAutofit/>
          </a:bodyPr>
          <a:lstStyle/>
          <a:p>
            <a:pPr algn="l" indent="0" marL="0">
              <a:lnSpc>
                <a:spcPts val="1055"/>
              </a:lnSpc>
              <a:buNone/>
            </a:pPr>
            <a:r>
              <a:rPr lang="en-US" sz="800" b="1" spc="-1" kern="0" dirty="0">
                <a:solidFill>
                  <a:srgbClr val="6D28D9"/>
                </a:solidFill>
                <a:latin typeface="Carlito" pitchFamily="34" charset="0"/>
                <a:ea typeface="Carlito" pitchFamily="34" charset="-122"/>
                <a:cs typeface="Carlito" pitchFamily="34" charset="-120"/>
              </a:rPr>
              <a:t>Customer's device (their own smartphone)</a:t>
            </a:r>
            <a:endParaRPr lang="en-US" sz="800" dirty="0"/>
          </a:p>
        </p:txBody>
      </p:sp>
      <p:sp>
        <p:nvSpPr>
          <p:cNvPr id="51" name="Text 42"/>
          <p:cNvSpPr/>
          <p:nvPr/>
        </p:nvSpPr>
        <p:spPr>
          <a:xfrm>
            <a:off x="4064794" y="2559248"/>
            <a:ext cx="3843449" cy="119100"/>
          </a:xfrm>
          <a:prstGeom prst="rect">
            <a:avLst/>
          </a:prstGeom>
          <a:noFill/>
          <a:ln/>
        </p:spPr>
        <p:txBody>
          <a:bodyPr wrap="square" lIns="0" tIns="0" rIns="0" bIns="0" rtlCol="0" anchor="t"/>
          <a:lstStyle/>
          <a:p>
            <a:pPr algn="l" indent="0" marL="0">
              <a:lnSpc>
                <a:spcPts val="938"/>
              </a:lnSpc>
              <a:buNone/>
            </a:pPr>
            <a:r>
              <a:rPr lang="en-US" sz="647" dirty="0">
                <a:solidFill>
                  <a:srgbClr val="374151"/>
                </a:solidFill>
                <a:latin typeface="Carlito" pitchFamily="34" charset="0"/>
                <a:ea typeface="Carlito" pitchFamily="34" charset="-122"/>
                <a:cs typeface="Carlito" pitchFamily="34" charset="-120"/>
              </a:rPr>
              <a:t>Handles private two-way audio, signalling and session control (RTC), and data capture / service selection.</a:t>
            </a:r>
            <a:endParaRPr lang="en-US" sz="647" dirty="0"/>
          </a:p>
        </p:txBody>
      </p:sp>
      <p:sp>
        <p:nvSpPr>
          <p:cNvPr id="52" name="Text 43"/>
          <p:cNvSpPr/>
          <p:nvPr/>
        </p:nvSpPr>
        <p:spPr>
          <a:xfrm>
            <a:off x="3657600" y="2814079"/>
            <a:ext cx="5029200" cy="543595"/>
          </a:xfrm>
          <a:prstGeom prst="roundRect">
            <a:avLst>
              <a:gd name="adj" fmla="val 14018"/>
            </a:avLst>
          </a:prstGeom>
          <a:solidFill>
            <a:srgbClr val="FFFFFF"/>
          </a:solidFill>
          <a:ln/>
        </p:spPr>
        <p:txBody>
          <a:bodyPr wrap="square" rtlCol="0" anchor="ctr"/>
          <a:lstStyle/>
          <a:p>
            <a:pPr indent="0" marL="0">
              <a:buNone/>
            </a:pPr>
            <a:endParaRPr lang="en-US" dirty="0"/>
          </a:p>
        </p:txBody>
      </p:sp>
      <p:sp>
        <p:nvSpPr>
          <p:cNvPr id="53" name="Shape 44"/>
          <p:cNvSpPr/>
          <p:nvPr/>
        </p:nvSpPr>
        <p:spPr>
          <a:xfrm>
            <a:off x="3657600" y="2817651"/>
            <a:ext cx="5029200" cy="0"/>
          </a:xfrm>
          <a:prstGeom prst="line">
            <a:avLst/>
          </a:prstGeom>
          <a:noFill/>
          <a:ln w="7144">
            <a:solidFill>
              <a:srgbClr val="E5E7EB"/>
            </a:solidFill>
            <a:prstDash val="solid"/>
          </a:ln>
        </p:spPr>
      </p:sp>
      <p:sp>
        <p:nvSpPr>
          <p:cNvPr id="54" name="Shape 45"/>
          <p:cNvSpPr/>
          <p:nvPr/>
        </p:nvSpPr>
        <p:spPr>
          <a:xfrm>
            <a:off x="8683228" y="2814079"/>
            <a:ext cx="0" cy="543595"/>
          </a:xfrm>
          <a:prstGeom prst="line">
            <a:avLst/>
          </a:prstGeom>
          <a:noFill/>
          <a:ln w="7144">
            <a:solidFill>
              <a:srgbClr val="E5E7EB"/>
            </a:solidFill>
            <a:prstDash val="solid"/>
          </a:ln>
        </p:spPr>
      </p:sp>
      <p:sp>
        <p:nvSpPr>
          <p:cNvPr id="55" name="Shape 46"/>
          <p:cNvSpPr/>
          <p:nvPr/>
        </p:nvSpPr>
        <p:spPr>
          <a:xfrm>
            <a:off x="3657600" y="3354102"/>
            <a:ext cx="5029200" cy="0"/>
          </a:xfrm>
          <a:prstGeom prst="line">
            <a:avLst/>
          </a:prstGeom>
          <a:noFill/>
          <a:ln w="7144">
            <a:solidFill>
              <a:srgbClr val="E5E7EB"/>
            </a:solidFill>
            <a:prstDash val="solid"/>
          </a:ln>
        </p:spPr>
      </p:sp>
      <p:sp>
        <p:nvSpPr>
          <p:cNvPr id="56" name="Shape 47"/>
          <p:cNvSpPr/>
          <p:nvPr/>
        </p:nvSpPr>
        <p:spPr>
          <a:xfrm>
            <a:off x="3668316" y="2814079"/>
            <a:ext cx="0" cy="543595"/>
          </a:xfrm>
          <a:prstGeom prst="line">
            <a:avLst/>
          </a:prstGeom>
          <a:noFill/>
          <a:ln w="21431">
            <a:solidFill>
              <a:srgbClr val="7C3AED"/>
            </a:solidFill>
            <a:prstDash val="solid"/>
          </a:ln>
        </p:spPr>
      </p:sp>
      <p:sp>
        <p:nvSpPr>
          <p:cNvPr id="57" name="Text 48"/>
          <p:cNvSpPr/>
          <p:nvPr/>
        </p:nvSpPr>
        <p:spPr>
          <a:xfrm>
            <a:off x="3779044" y="2892661"/>
            <a:ext cx="200025" cy="200025"/>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58" name="Text 49"/>
          <p:cNvSpPr/>
          <p:nvPr/>
        </p:nvSpPr>
        <p:spPr>
          <a:xfrm>
            <a:off x="3796189" y="2909806"/>
            <a:ext cx="165735" cy="165735"/>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59" name="Text 50"/>
          <p:cNvSpPr/>
          <p:nvPr/>
        </p:nvSpPr>
        <p:spPr>
          <a:xfrm>
            <a:off x="4064794" y="2892661"/>
            <a:ext cx="4514850" cy="120801"/>
          </a:xfrm>
          <a:prstGeom prst="rect">
            <a:avLst/>
          </a:prstGeom>
          <a:noFill/>
          <a:ln/>
        </p:spPr>
        <p:txBody>
          <a:bodyPr wrap="none" lIns="0" tIns="0" rIns="0" bIns="0" rtlCol="0" anchor="t">
            <a:normAutofit/>
          </a:bodyPr>
          <a:lstStyle/>
          <a:p>
            <a:pPr algn="l" indent="0" marL="0">
              <a:lnSpc>
                <a:spcPts val="1055"/>
              </a:lnSpc>
              <a:buNone/>
            </a:pPr>
            <a:r>
              <a:rPr lang="en-US" sz="800" b="1" spc="-1" kern="0" dirty="0">
                <a:solidFill>
                  <a:srgbClr val="6D28D9"/>
                </a:solidFill>
                <a:latin typeface="Carlito" pitchFamily="34" charset="0"/>
                <a:ea typeface="Carlito" pitchFamily="34" charset="-122"/>
                <a:cs typeface="Carlito" pitchFamily="34" charset="-120"/>
              </a:rPr>
              <a:t>One logical session</a:t>
            </a:r>
            <a:endParaRPr lang="en-US" sz="800" dirty="0"/>
          </a:p>
        </p:txBody>
      </p:sp>
      <p:sp>
        <p:nvSpPr>
          <p:cNvPr id="60" name="Text 51"/>
          <p:cNvSpPr/>
          <p:nvPr/>
        </p:nvSpPr>
        <p:spPr>
          <a:xfrm>
            <a:off x="4064794" y="3040893"/>
            <a:ext cx="4514850" cy="238199"/>
          </a:xfrm>
          <a:prstGeom prst="rect">
            <a:avLst/>
          </a:prstGeom>
          <a:noFill/>
          <a:ln/>
        </p:spPr>
        <p:txBody>
          <a:bodyPr wrap="square" lIns="0" tIns="0" rIns="0" bIns="0" rtlCol="0" anchor="t"/>
          <a:lstStyle/>
          <a:p>
            <a:pPr algn="l" indent="0" marL="0">
              <a:lnSpc>
                <a:spcPts val="938"/>
              </a:lnSpc>
              <a:buNone/>
            </a:pPr>
            <a:r>
              <a:rPr lang="en-US" sz="800" dirty="0">
                <a:solidFill>
                  <a:srgbClr val="374151"/>
                </a:solidFill>
                <a:latin typeface="Carlito" pitchFamily="34" charset="0"/>
                <a:ea typeface="Carlito" pitchFamily="34" charset="-122"/>
                <a:cs typeface="Carlito" pitchFamily="34" charset="-120"/>
              </a:rPr>
              <a:t>The contact centre, ACD, and browser-based advisors receive both streams as a single interaction. Passes through corporate firewalls and NAT. Works over WiFi, 5G, or LTE. PWA mode allows reconnection. No VPN, no app, no installation.</a:t>
            </a:r>
            <a:endParaRPr lang="en-US" sz="800" dirty="0"/>
          </a:p>
        </p:txBody>
      </p:sp>
      <p:sp>
        <p:nvSpPr>
          <p:cNvPr id="61" name="Text 52"/>
          <p:cNvSpPr/>
          <p:nvPr/>
        </p:nvSpPr>
        <p:spPr>
          <a:xfrm>
            <a:off x="3657600" y="3430598"/>
            <a:ext cx="1638263" cy="252417"/>
          </a:xfrm>
          <a:prstGeom prst="roundRect">
            <a:avLst>
              <a:gd name="adj" fmla="val 30188"/>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62" name="Text 53"/>
          <p:cNvSpPr/>
          <p:nvPr/>
        </p:nvSpPr>
        <p:spPr>
          <a:xfrm>
            <a:off x="3736181" y="3506800"/>
            <a:ext cx="100013" cy="100013"/>
          </a:xfrm>
          <a:prstGeom prst="rect">
            <a:avLst/>
          </a:prstGeom>
          <a:noFill/>
          <a:ln/>
        </p:spPr>
        <p:txBody>
          <a:bodyPr wrap="none" lIns="0" tIns="0" rIns="0" bIns="0" rtlCol="0" anchor="ctr"/>
          <a:lstStyle/>
          <a:p>
            <a:pPr algn="ctr" indent="0" marL="0">
              <a:buNone/>
            </a:pPr>
            <a:r>
              <a:rPr lang="en-US" sz="984" dirty="0">
                <a:solidFill>
                  <a:srgbClr val="7C3AED"/>
                </a:solidFill>
                <a:latin typeface="Segoe UI Symbol" pitchFamily="34" charset="0"/>
                <a:ea typeface="Segoe UI Symbol" pitchFamily="34" charset="-122"/>
                <a:cs typeface="Segoe UI Symbol" pitchFamily="34" charset="-120"/>
              </a:rPr>
              <a:t>⛨</a:t>
            </a:r>
            <a:endParaRPr lang="en-US" sz="984" dirty="0"/>
          </a:p>
        </p:txBody>
      </p:sp>
      <p:sp>
        <p:nvSpPr>
          <p:cNvPr id="63" name="Text 54"/>
          <p:cNvSpPr/>
          <p:nvPr/>
        </p:nvSpPr>
        <p:spPr>
          <a:xfrm>
            <a:off x="3879056" y="3500549"/>
            <a:ext cx="1338225" cy="112514"/>
          </a:xfrm>
          <a:prstGeom prst="rect">
            <a:avLst/>
          </a:prstGeom>
          <a:noFill/>
          <a:ln/>
        </p:spPr>
        <p:txBody>
          <a:bodyPr wrap="none" lIns="0" tIns="0" rIns="0" bIns="0" rtlCol="0" anchor="t"/>
          <a:lstStyle/>
          <a:p>
            <a:pPr algn="l" indent="0" marL="0">
              <a:lnSpc>
                <a:spcPts val="886"/>
              </a:lnSpc>
              <a:buNone/>
            </a:pPr>
            <a:r>
              <a:rPr lang="en-US" sz="800" b="1" spc="12" kern="0" dirty="0">
                <a:solidFill>
                  <a:srgbClr val="6D28D9"/>
                </a:solidFill>
                <a:latin typeface="Carlito" pitchFamily="34" charset="0"/>
                <a:ea typeface="Carlito" pitchFamily="34" charset="-122"/>
                <a:cs typeface="Carlito" pitchFamily="34" charset="-120"/>
              </a:rPr>
              <a:t>Firewalls / NAT</a:t>
            </a:r>
            <a:endParaRPr lang="en-US" sz="800" dirty="0"/>
          </a:p>
        </p:txBody>
      </p:sp>
      <p:sp>
        <p:nvSpPr>
          <p:cNvPr id="64" name="Text 55"/>
          <p:cNvSpPr/>
          <p:nvPr/>
        </p:nvSpPr>
        <p:spPr>
          <a:xfrm>
            <a:off x="5353013" y="3430598"/>
            <a:ext cx="1638374" cy="252417"/>
          </a:xfrm>
          <a:prstGeom prst="roundRect">
            <a:avLst>
              <a:gd name="adj" fmla="val 30188"/>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65" name="Text 56"/>
          <p:cNvSpPr/>
          <p:nvPr/>
        </p:nvSpPr>
        <p:spPr>
          <a:xfrm>
            <a:off x="5431594" y="3506800"/>
            <a:ext cx="100013" cy="100013"/>
          </a:xfrm>
          <a:prstGeom prst="rect">
            <a:avLst/>
          </a:prstGeom>
          <a:noFill/>
          <a:ln/>
        </p:spPr>
        <p:txBody>
          <a:bodyPr wrap="none" lIns="0" tIns="0" rIns="0" bIns="0" rtlCol="0" anchor="ctr"/>
          <a:lstStyle/>
          <a:p>
            <a:pPr algn="ctr" indent="0" marL="0">
              <a:buNone/>
            </a:pPr>
            <a:r>
              <a:rPr lang="en-US" sz="984" dirty="0">
                <a:solidFill>
                  <a:srgbClr val="7C3AED"/>
                </a:solidFill>
                <a:latin typeface="Segoe UI Symbol" pitchFamily="34" charset="0"/>
                <a:ea typeface="Segoe UI Symbol" pitchFamily="34" charset="-122"/>
                <a:cs typeface="Segoe UI Symbol" pitchFamily="34" charset="-120"/>
              </a:rPr>
              <a:t>◌</a:t>
            </a:r>
            <a:endParaRPr lang="en-US" sz="984" dirty="0"/>
          </a:p>
        </p:txBody>
      </p:sp>
      <p:sp>
        <p:nvSpPr>
          <p:cNvPr id="66" name="Text 57"/>
          <p:cNvSpPr/>
          <p:nvPr/>
        </p:nvSpPr>
        <p:spPr>
          <a:xfrm>
            <a:off x="5574469" y="3500549"/>
            <a:ext cx="1338337" cy="112514"/>
          </a:xfrm>
          <a:prstGeom prst="rect">
            <a:avLst/>
          </a:prstGeom>
          <a:noFill/>
          <a:ln/>
        </p:spPr>
        <p:txBody>
          <a:bodyPr wrap="none" lIns="0" tIns="0" rIns="0" bIns="0" rtlCol="0" anchor="t"/>
          <a:lstStyle/>
          <a:p>
            <a:pPr algn="l" indent="0" marL="0">
              <a:lnSpc>
                <a:spcPts val="886"/>
              </a:lnSpc>
              <a:buNone/>
            </a:pPr>
            <a:r>
              <a:rPr lang="en-US" sz="800" b="1" spc="12" kern="0" dirty="0">
                <a:solidFill>
                  <a:srgbClr val="6D28D9"/>
                </a:solidFill>
                <a:latin typeface="Liberation Sans Narrow" pitchFamily="34" charset="0"/>
                <a:ea typeface="Liberation Sans Narrow" pitchFamily="34" charset="-122"/>
                <a:cs typeface="Liberation Sans Narrow" pitchFamily="34" charset="-120"/>
              </a:rPr>
              <a:t>WiFi / 5G / LTE</a:t>
            </a:r>
            <a:endParaRPr lang="en-US" sz="800" dirty="0"/>
          </a:p>
        </p:txBody>
      </p:sp>
      <p:sp>
        <p:nvSpPr>
          <p:cNvPr id="67" name="Text 58"/>
          <p:cNvSpPr/>
          <p:nvPr/>
        </p:nvSpPr>
        <p:spPr>
          <a:xfrm>
            <a:off x="7048537" y="3430598"/>
            <a:ext cx="1638263" cy="252417"/>
          </a:xfrm>
          <a:prstGeom prst="roundRect">
            <a:avLst>
              <a:gd name="adj" fmla="val 30188"/>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68" name="Text 59"/>
          <p:cNvSpPr/>
          <p:nvPr/>
        </p:nvSpPr>
        <p:spPr>
          <a:xfrm>
            <a:off x="7127118" y="3506800"/>
            <a:ext cx="100013" cy="100013"/>
          </a:xfrm>
          <a:prstGeom prst="rect">
            <a:avLst/>
          </a:prstGeom>
          <a:noFill/>
          <a:ln/>
        </p:spPr>
        <p:txBody>
          <a:bodyPr wrap="none" lIns="0" tIns="0" rIns="0" bIns="0" rtlCol="0" anchor="ctr"/>
          <a:lstStyle/>
          <a:p>
            <a:pPr algn="ctr" indent="0" marL="0">
              <a:buNone/>
            </a:pPr>
            <a:r>
              <a:rPr lang="en-US" sz="984" dirty="0">
                <a:solidFill>
                  <a:srgbClr val="7C3AED"/>
                </a:solidFill>
                <a:latin typeface="Segoe UI Symbol" pitchFamily="34" charset="0"/>
                <a:ea typeface="Segoe UI Symbol" pitchFamily="34" charset="-122"/>
                <a:cs typeface="Segoe UI Symbol" pitchFamily="34" charset="-120"/>
              </a:rPr>
              <a:t>★</a:t>
            </a:r>
            <a:endParaRPr lang="en-US" sz="984" dirty="0"/>
          </a:p>
        </p:txBody>
      </p:sp>
      <p:sp>
        <p:nvSpPr>
          <p:cNvPr id="69" name="Text 60"/>
          <p:cNvSpPr/>
          <p:nvPr/>
        </p:nvSpPr>
        <p:spPr>
          <a:xfrm>
            <a:off x="7269993" y="3500549"/>
            <a:ext cx="1338225" cy="112514"/>
          </a:xfrm>
          <a:prstGeom prst="rect">
            <a:avLst/>
          </a:prstGeom>
          <a:noFill/>
          <a:ln/>
        </p:spPr>
        <p:txBody>
          <a:bodyPr wrap="none" lIns="0" tIns="0" rIns="0" bIns="0" rtlCol="0" anchor="t"/>
          <a:lstStyle/>
          <a:p>
            <a:pPr algn="l" indent="0" marL="0">
              <a:lnSpc>
                <a:spcPts val="886"/>
              </a:lnSpc>
              <a:buNone/>
            </a:pPr>
            <a:r>
              <a:rPr lang="en-US" sz="800" b="1" spc="12" kern="0" dirty="0">
                <a:solidFill>
                  <a:srgbClr val="6D28D9"/>
                </a:solidFill>
                <a:latin typeface="Carlito" pitchFamily="34" charset="0"/>
                <a:ea typeface="Carlito" pitchFamily="34" charset="-122"/>
                <a:cs typeface="Carlito" pitchFamily="34" charset="-120"/>
              </a:rPr>
              <a:t>PWA Reconnect</a:t>
            </a:r>
            <a:endParaRPr lang="en-US" sz="800" dirty="0"/>
          </a:p>
        </p:txBody>
      </p:sp>
      <p:pic>
        <p:nvPicPr>
          <p:cNvPr id="70" name="Image 7" descr="preencoded.png">    </p:cNvPr>
          <p:cNvPicPr>
            <a:picLocks noChangeAspect="1"/>
          </p:cNvPicPr>
          <p:nvPr/>
        </p:nvPicPr>
        <p:blipFill>
          <a:blip r:embed="rId8"/>
          <a:stretch>
            <a:fillRect/>
          </a:stretch>
        </p:blipFill>
        <p:spPr>
          <a:xfrm>
            <a:off x="3657600" y="3727363"/>
            <a:ext cx="5029200" cy="257175"/>
          </a:xfrm>
          <a:prstGeom prst="rect">
            <a:avLst/>
          </a:prstGeom>
        </p:spPr>
      </p:pic>
      <p:sp>
        <p:nvSpPr>
          <p:cNvPr id="71" name="Text 61"/>
          <p:cNvSpPr/>
          <p:nvPr/>
        </p:nvSpPr>
        <p:spPr>
          <a:xfrm>
            <a:off x="5283138" y="3805944"/>
            <a:ext cx="449644" cy="114300"/>
          </a:xfrm>
          <a:prstGeom prst="rect">
            <a:avLst/>
          </a:prstGeom>
          <a:noFill/>
          <a:ln/>
        </p:spPr>
        <p:txBody>
          <a:bodyPr wrap="none" lIns="0" tIns="0" rIns="0" bIns="0" rtlCol="0" anchor="t"/>
          <a:lstStyle/>
          <a:p>
            <a:pPr algn="l" indent="0" marL="0">
              <a:lnSpc>
                <a:spcPts val="1013"/>
              </a:lnSpc>
              <a:buNone/>
            </a:pPr>
            <a:r>
              <a:rPr lang="en-US" sz="800" b="1" dirty="0">
                <a:solidFill>
                  <a:srgbClr val="FFFFFF"/>
                </a:solidFill>
                <a:latin typeface="Carlito" pitchFamily="34" charset="0"/>
                <a:ea typeface="Carlito" pitchFamily="34" charset="-122"/>
                <a:cs typeface="Carlito" pitchFamily="34" charset="-120"/>
              </a:rPr>
              <a:t>No VPN</a:t>
            </a:r>
            <a:endParaRPr lang="en-US" sz="800" dirty="0"/>
          </a:p>
        </p:txBody>
      </p:sp>
      <p:sp>
        <p:nvSpPr>
          <p:cNvPr id="72" name="Text 62"/>
          <p:cNvSpPr/>
          <p:nvPr/>
        </p:nvSpPr>
        <p:spPr>
          <a:xfrm>
            <a:off x="5125975" y="3805944"/>
            <a:ext cx="100013" cy="100013"/>
          </a:xfrm>
          <a:prstGeom prst="rect">
            <a:avLst/>
          </a:prstGeom>
          <a:noFill/>
          <a:ln/>
        </p:spPr>
        <p:txBody>
          <a:bodyPr wrap="none" lIns="0" tIns="0" rIns="0" bIns="0" rtlCol="0" anchor="ctr"/>
          <a:lstStyle/>
          <a:p>
            <a:pPr algn="ctr" indent="0" marL="0">
              <a:buNone/>
            </a:pPr>
            <a:r>
              <a:rPr lang="en-US" sz="984" dirty="0">
                <a:solidFill>
                  <a:srgbClr val="C4B5FD"/>
                </a:solidFill>
                <a:latin typeface="Segoe UI Symbol" pitchFamily="34" charset="0"/>
                <a:ea typeface="Segoe UI Symbol" pitchFamily="34" charset="-122"/>
                <a:cs typeface="Segoe UI Symbol" pitchFamily="34" charset="-120"/>
              </a:rPr>
              <a:t>⊘</a:t>
            </a:r>
            <a:endParaRPr lang="en-US" sz="984" dirty="0"/>
          </a:p>
        </p:txBody>
      </p:sp>
      <p:sp>
        <p:nvSpPr>
          <p:cNvPr id="73" name="Text 63"/>
          <p:cNvSpPr/>
          <p:nvPr/>
        </p:nvSpPr>
        <p:spPr>
          <a:xfrm>
            <a:off x="5697587" y="3805944"/>
            <a:ext cx="7144" cy="100013"/>
          </a:xfrm>
          <a:prstGeom prst="rect">
            <a:avLst/>
          </a:prstGeom>
          <a:solidFill>
            <a:srgbClr val="FFFFFF">
              <a:alpha val="25000"/>
            </a:srgbClr>
          </a:solidFill>
          <a:ln/>
        </p:spPr>
        <p:txBody>
          <a:bodyPr wrap="square" rtlCol="0" anchor="ctr"/>
          <a:lstStyle/>
          <a:p>
            <a:pPr indent="0" marL="0">
              <a:buNone/>
            </a:pPr>
            <a:endParaRPr lang="en-US" dirty="0"/>
          </a:p>
        </p:txBody>
      </p:sp>
      <p:sp>
        <p:nvSpPr>
          <p:cNvPr id="74" name="Text 64"/>
          <p:cNvSpPr/>
          <p:nvPr/>
        </p:nvSpPr>
        <p:spPr>
          <a:xfrm>
            <a:off x="5961906" y="3805944"/>
            <a:ext cx="431288" cy="114300"/>
          </a:xfrm>
          <a:prstGeom prst="rect">
            <a:avLst/>
          </a:prstGeom>
          <a:noFill/>
          <a:ln/>
        </p:spPr>
        <p:txBody>
          <a:bodyPr wrap="none" lIns="0" tIns="0" rIns="0" bIns="0" rtlCol="0" anchor="t"/>
          <a:lstStyle/>
          <a:p>
            <a:pPr algn="l" indent="0" marL="0">
              <a:lnSpc>
                <a:spcPts val="1013"/>
              </a:lnSpc>
              <a:buNone/>
            </a:pPr>
            <a:r>
              <a:rPr lang="en-US" sz="800" b="1" dirty="0">
                <a:solidFill>
                  <a:srgbClr val="FFFFFF"/>
                </a:solidFill>
                <a:latin typeface="Carlito" pitchFamily="34" charset="0"/>
                <a:ea typeface="Carlito" pitchFamily="34" charset="-122"/>
                <a:cs typeface="Carlito" pitchFamily="34" charset="-120"/>
              </a:rPr>
              <a:t>No App</a:t>
            </a:r>
            <a:endParaRPr lang="en-US" sz="800" dirty="0"/>
          </a:p>
        </p:txBody>
      </p:sp>
      <p:sp>
        <p:nvSpPr>
          <p:cNvPr id="75" name="Text 65"/>
          <p:cNvSpPr/>
          <p:nvPr/>
        </p:nvSpPr>
        <p:spPr>
          <a:xfrm>
            <a:off x="5804743" y="3805944"/>
            <a:ext cx="100013" cy="100013"/>
          </a:xfrm>
          <a:prstGeom prst="rect">
            <a:avLst/>
          </a:prstGeom>
          <a:noFill/>
          <a:ln/>
        </p:spPr>
        <p:txBody>
          <a:bodyPr wrap="none" lIns="0" tIns="0" rIns="0" bIns="0" rtlCol="0" anchor="ctr"/>
          <a:lstStyle/>
          <a:p>
            <a:pPr algn="ctr" indent="0" marL="0">
              <a:buNone/>
            </a:pPr>
            <a:r>
              <a:rPr lang="en-US" sz="984" dirty="0">
                <a:solidFill>
                  <a:srgbClr val="C4B5FD"/>
                </a:solidFill>
                <a:latin typeface="Segoe UI Symbol" pitchFamily="34" charset="0"/>
                <a:ea typeface="Segoe UI Symbol" pitchFamily="34" charset="-122"/>
                <a:cs typeface="Segoe UI Symbol" pitchFamily="34" charset="-120"/>
              </a:rPr>
              <a:t>⊘</a:t>
            </a:r>
            <a:endParaRPr lang="en-US" sz="984" dirty="0"/>
          </a:p>
        </p:txBody>
      </p:sp>
      <p:sp>
        <p:nvSpPr>
          <p:cNvPr id="76" name="Text 66"/>
          <p:cNvSpPr/>
          <p:nvPr/>
        </p:nvSpPr>
        <p:spPr>
          <a:xfrm>
            <a:off x="6363519" y="3805944"/>
            <a:ext cx="7144" cy="100013"/>
          </a:xfrm>
          <a:prstGeom prst="rect">
            <a:avLst/>
          </a:prstGeom>
          <a:solidFill>
            <a:srgbClr val="FFFFFF">
              <a:alpha val="25000"/>
            </a:srgbClr>
          </a:solidFill>
          <a:ln/>
        </p:spPr>
        <p:txBody>
          <a:bodyPr wrap="square" rtlCol="0" anchor="ctr"/>
          <a:lstStyle/>
          <a:p>
            <a:pPr indent="0" marL="0">
              <a:buNone/>
            </a:pPr>
            <a:endParaRPr lang="en-US" dirty="0"/>
          </a:p>
        </p:txBody>
      </p:sp>
      <p:sp>
        <p:nvSpPr>
          <p:cNvPr id="77" name="Text 67"/>
          <p:cNvSpPr/>
          <p:nvPr/>
        </p:nvSpPr>
        <p:spPr>
          <a:xfrm>
            <a:off x="6627837" y="3805944"/>
            <a:ext cx="1958950" cy="114300"/>
          </a:xfrm>
          <a:prstGeom prst="rect">
            <a:avLst/>
          </a:prstGeom>
          <a:noFill/>
          <a:ln/>
        </p:spPr>
        <p:txBody>
          <a:bodyPr wrap="none" lIns="0" tIns="0" rIns="0" bIns="0" rtlCol="0" anchor="t"/>
          <a:lstStyle/>
          <a:p>
            <a:pPr algn="l" indent="0" marL="0">
              <a:lnSpc>
                <a:spcPts val="1013"/>
              </a:lnSpc>
              <a:buNone/>
            </a:pPr>
            <a:r>
              <a:rPr lang="en-US" sz="800" b="1" dirty="0">
                <a:solidFill>
                  <a:srgbClr val="FFFFFF"/>
                </a:solidFill>
                <a:latin typeface="Carlito" pitchFamily="34" charset="0"/>
                <a:ea typeface="Carlito" pitchFamily="34" charset="-122"/>
                <a:cs typeface="Carlito" pitchFamily="34" charset="-120"/>
              </a:rPr>
              <a:t>No Installation</a:t>
            </a:r>
            <a:endParaRPr lang="en-US" sz="800" dirty="0"/>
          </a:p>
        </p:txBody>
      </p:sp>
      <p:sp>
        <p:nvSpPr>
          <p:cNvPr id="78" name="Text 68"/>
          <p:cNvSpPr/>
          <p:nvPr/>
        </p:nvSpPr>
        <p:spPr>
          <a:xfrm>
            <a:off x="6470675" y="3805944"/>
            <a:ext cx="100013" cy="100013"/>
          </a:xfrm>
          <a:prstGeom prst="rect">
            <a:avLst/>
          </a:prstGeom>
          <a:noFill/>
          <a:ln/>
        </p:spPr>
        <p:txBody>
          <a:bodyPr wrap="none" lIns="0" tIns="0" rIns="0" bIns="0" rtlCol="0" anchor="ctr"/>
          <a:lstStyle/>
          <a:p>
            <a:pPr algn="ctr" indent="0" marL="0">
              <a:buNone/>
            </a:pPr>
            <a:r>
              <a:rPr lang="en-US" sz="984" dirty="0">
                <a:solidFill>
                  <a:srgbClr val="C4B5FD"/>
                </a:solidFill>
                <a:latin typeface="Segoe UI Symbol" pitchFamily="34" charset="0"/>
                <a:ea typeface="Segoe UI Symbol" pitchFamily="34" charset="-122"/>
                <a:cs typeface="Segoe UI Symbol" pitchFamily="34" charset="-120"/>
              </a:rPr>
              <a:t>⊘</a:t>
            </a:r>
            <a:endParaRPr lang="en-US" sz="984" dirty="0"/>
          </a:p>
        </p:txBody>
      </p:sp>
      <p:sp>
        <p:nvSpPr>
          <p:cNvPr id="79" name="Text 69"/>
          <p:cNvSpPr/>
          <p:nvPr/>
        </p:nvSpPr>
        <p:spPr>
          <a:xfrm>
            <a:off x="342900" y="4854178"/>
            <a:ext cx="4294175"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80" name="Text 70"/>
          <p:cNvSpPr/>
          <p:nvPr/>
        </p:nvSpPr>
        <p:spPr>
          <a:xfrm>
            <a:off x="4651363" y="4854178"/>
            <a:ext cx="3619314"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a:t>
            </a:r>
            <a:endParaRPr lang="en-US" sz="800" dirty="0"/>
          </a:p>
        </p:txBody>
      </p:sp>
      <p:sp>
        <p:nvSpPr>
          <p:cNvPr id="81" name="Text 71"/>
          <p:cNvSpPr/>
          <p:nvPr/>
        </p:nvSpPr>
        <p:spPr>
          <a:xfrm>
            <a:off x="8284964" y="4854178"/>
            <a:ext cx="620879" cy="164592"/>
          </a:xfrm>
          <a:prstGeom prst="rect">
            <a:avLst/>
          </a:prstGeom>
          <a:noFill/>
          <a:ln/>
        </p:spPr>
        <p:txBody>
          <a:bodyPr wrap="none" lIns="0" tIns="0" rIns="0" bIns="0" rtlCol="0" anchor="t"/>
          <a:lstStyle/>
          <a:p>
            <a:pPr algn="l" indent="0" marL="0">
              <a:lnSpc>
                <a:spcPts val="928"/>
              </a:lnSpc>
              <a:buNone/>
            </a:pPr>
            <a:r>
              <a:rPr lang="en-US" sz="619" spc="25" kern="0" dirty="0">
                <a:solidFill>
                  <a:srgbClr val="6B7280"/>
                </a:solidFill>
                <a:latin typeface="Liberation Sans Narrow" pitchFamily="34" charset="0"/>
                <a:ea typeface="Liberation Sans Narrow" pitchFamily="34" charset="-122"/>
                <a:cs typeface="Liberation Sans Narrow" pitchFamily="34" charset="-120"/>
              </a:rPr>
              <a:t>SLIDE 8 / 24</a:t>
            </a:r>
            <a:endParaRPr lang="en-US" sz="619" dirty="0"/>
          </a:p>
        </p:txBody>
      </p:sp>
      <p:pic>
        <p:nvPicPr>
          <p:cNvPr id="82" name="Image 8" descr="/home/z/my-project/download/slides/massapro-logo.png">    </p:cNvPr>
          <p:cNvPicPr>
            <a:picLocks noChangeAspect="1"/>
          </p:cNvPicPr>
          <p:nvPr/>
        </p:nvPicPr>
        <p:blipFill>
          <a:blip r:embed="rId9"/>
          <a:stretch>
            <a:fillRect/>
          </a:stretch>
        </p:blipFill>
        <p:spPr>
          <a:xfrm>
            <a:off x="228600" y="200025"/>
            <a:ext cx="200025" cy="200025"/>
          </a:xfrm>
          <a:prstGeom prst="rect">
            <a:avLst/>
          </a:prstGeom>
        </p:spPr>
      </p:pic>
      <p:sp>
        <p:nvSpPr>
          <p:cNvPr id="83" name="Text 72"/>
          <p:cNvSpPr/>
          <p:nvPr/>
        </p:nvSpPr>
        <p:spPr>
          <a:xfrm>
            <a:off x="497600" y="225028"/>
            <a:ext cx="814832"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A78BFA"/>
                </a:solidFill>
                <a:latin typeface="Carlito" pitchFamily="34" charset="0"/>
                <a:ea typeface="Carlito" pitchFamily="34" charset="-122"/>
                <a:cs typeface="Carlito" pitchFamily="34" charset="-120"/>
              </a:rPr>
              <a:t>MassaPro IVR</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15250" y="-571500"/>
            <a:ext cx="2000250" cy="2000250"/>
          </a:xfrm>
          <a:prstGeom prst="rect">
            <a:avLst/>
          </a:prstGeom>
        </p:spPr>
      </p:pic>
      <p:sp>
        <p:nvSpPr>
          <p:cNvPr id="3" name="Text 0"/>
          <p:cNvSpPr/>
          <p:nvPr/>
        </p:nvSpPr>
        <p:spPr>
          <a:xfrm>
            <a:off x="7715250" y="-571500"/>
            <a:ext cx="2000250" cy="2000250"/>
          </a:xfrm>
          <a:prstGeom prst="ellipse">
            <a:avLst/>
          </a:prstGeom>
          <a:solidFill>
            <a:srgbClr val="A78BFA">
              <a:alpha val="0"/>
            </a:srgbClr>
          </a:solidFill>
          <a:ln/>
        </p:spPr>
        <p:txBody>
          <a:bodyPr wrap="square" rtlCol="0" anchor="ctr"/>
          <a:lstStyle/>
          <a:p>
            <a:pPr indent="0" marL="0">
              <a:buNone/>
            </a:pPr>
            <a:endParaRPr lang="en-US" dirty="0"/>
          </a:p>
        </p:txBody>
      </p:sp>
      <p:sp>
        <p:nvSpPr>
          <p:cNvPr id="4" name="Text 1"/>
          <p:cNvSpPr/>
          <p:nvPr/>
        </p:nvSpPr>
        <p:spPr>
          <a:xfrm>
            <a:off x="460772" y="632222"/>
            <a:ext cx="4673352" cy="221456"/>
          </a:xfrm>
          <a:prstGeom prst="roundRect">
            <a:avLst>
              <a:gd name="adj" fmla="val 4296779"/>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5" name="Text 2"/>
          <p:cNvSpPr/>
          <p:nvPr/>
        </p:nvSpPr>
        <p:spPr>
          <a:xfrm>
            <a:off x="735806" y="691158"/>
            <a:ext cx="1721644" cy="129679"/>
          </a:xfrm>
          <a:prstGeom prst="rect">
            <a:avLst/>
          </a:prstGeom>
          <a:noFill/>
          <a:ln/>
        </p:spPr>
        <p:txBody>
          <a:bodyPr wrap="none" lIns="85725" tIns="42863" rIns="85725" bIns="42863" rtlCol="0" anchor="t"/>
          <a:lstStyle/>
          <a:p>
            <a:pPr algn="l" indent="0" marL="0">
              <a:lnSpc>
                <a:spcPts val="928"/>
              </a:lnSpc>
              <a:buNone/>
            </a:pPr>
            <a:r>
              <a:rPr lang="en-US" sz="800" b="1" spc="111" kern="0" dirty="0">
                <a:solidFill>
                  <a:srgbClr val="7C3AED"/>
                </a:solidFill>
                <a:latin typeface="Liberation Sans Narrow" pitchFamily="34" charset="0"/>
                <a:ea typeface="Liberation Sans Narrow" pitchFamily="34" charset="-122"/>
                <a:cs typeface="Liberation Sans Narrow" pitchFamily="34" charset="-120"/>
              </a:rPr>
              <a:t>CHAPTER 02 — HOW IT WORKS</a:t>
            </a:r>
            <a:endParaRPr lang="en-US" sz="800" dirty="0"/>
          </a:p>
        </p:txBody>
      </p:sp>
      <p:sp>
        <p:nvSpPr>
          <p:cNvPr id="6" name="Text 3"/>
          <p:cNvSpPr/>
          <p:nvPr/>
        </p:nvSpPr>
        <p:spPr>
          <a:xfrm>
            <a:off x="550069" y="678656"/>
            <a:ext cx="128588" cy="128588"/>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7" name="Text 4"/>
          <p:cNvSpPr/>
          <p:nvPr/>
        </p:nvSpPr>
        <p:spPr>
          <a:xfrm>
            <a:off x="457200" y="957263"/>
            <a:ext cx="5148545" cy="622042"/>
          </a:xfrm>
          <a:prstGeom prst="rect">
            <a:avLst/>
          </a:prstGeom>
          <a:noFill/>
          <a:ln/>
        </p:spPr>
        <p:txBody>
          <a:bodyPr wrap="square" lIns="0" tIns="0" rIns="0" bIns="0" rtlCol="0" anchor="t"/>
          <a:lstStyle/>
          <a:p>
            <a:pPr algn="l" indent="0" marL="0">
              <a:lnSpc>
                <a:spcPts val="2268"/>
              </a:lnSpc>
              <a:buNone/>
            </a:pPr>
            <a:r>
              <a:rPr lang="en-US" sz="2025" b="1" spc="-40" kern="0" dirty="0">
                <a:solidFill>
                  <a:srgbClr val="1F2937"/>
                </a:solidFill>
                <a:latin typeface="Carlito" pitchFamily="34" charset="0"/>
                <a:ea typeface="Carlito" pitchFamily="34" charset="-122"/>
                <a:cs typeface="Carlito" pitchFamily="34" charset="-120"/>
              </a:rPr>
              <a:t>Audio Never Passes Through </a:t>
            </a:r>
            <a:pPr algn="l" indent="0" marL="0">
              <a:lnSpc>
                <a:spcPts val="2268"/>
              </a:lnSpc>
              <a:buNone/>
            </a:pPr>
            <a:r>
              <a:rPr lang="en-US" sz="2025" b="1" spc="-40" kern="0" dirty="0">
                <a:solidFill>
                  <a:srgbClr val="7C3AED"/>
                </a:solidFill>
                <a:latin typeface="Carlito" pitchFamily="34" charset="0"/>
                <a:ea typeface="Carlito" pitchFamily="34" charset="-122"/>
                <a:cs typeface="Carlito" pitchFamily="34" charset="-120"/>
              </a:rPr>
              <a:t>Shared Hardware</a:t>
            </a:r>
            <a:endParaRPr lang="en-US" sz="2025" dirty="0"/>
          </a:p>
        </p:txBody>
      </p:sp>
      <p:sp>
        <p:nvSpPr>
          <p:cNvPr id="8" name="Text 5"/>
          <p:cNvSpPr/>
          <p:nvPr/>
        </p:nvSpPr>
        <p:spPr>
          <a:xfrm>
            <a:off x="457200" y="1733252"/>
            <a:ext cx="4000500" cy="329184"/>
          </a:xfrm>
          <a:prstGeom prst="rect">
            <a:avLst/>
          </a:prstGeom>
          <a:noFill/>
          <a:ln/>
        </p:spPr>
        <p:txBody>
          <a:bodyPr wrap="square" lIns="0" tIns="0" rIns="0" bIns="0" rtlCol="0" anchor="t"/>
          <a:lstStyle/>
          <a:p>
            <a:pPr algn="l" indent="0" marL="0">
              <a:lnSpc>
                <a:spcPts val="1097"/>
              </a:lnSpc>
              <a:buNone/>
            </a:pPr>
            <a:r>
              <a:rPr lang="en-US" sz="800" dirty="0">
                <a:solidFill>
                  <a:srgbClr val="6B7280"/>
                </a:solidFill>
                <a:latin typeface="Carlito" pitchFamily="34" charset="0"/>
                <a:ea typeface="Carlito" pitchFamily="34" charset="-122"/>
                <a:cs typeface="Carlito" pitchFamily="34" charset="-120"/>
              </a:rPr>
              <a:t>A structural privacy guarantee. The customer's own phone is the microphone and earpiece — the kiosk never hears what is said.</a:t>
            </a:r>
            <a:endParaRPr lang="en-US" sz="800" dirty="0"/>
          </a:p>
        </p:txBody>
      </p:sp>
      <p:sp>
        <p:nvSpPr>
          <p:cNvPr id="9" name="Text 6"/>
          <p:cNvSpPr/>
          <p:nvPr/>
        </p:nvSpPr>
        <p:spPr>
          <a:xfrm>
            <a:off x="460772" y="2144018"/>
            <a:ext cx="2021681" cy="1328738"/>
          </a:xfrm>
          <a:prstGeom prst="roundRect">
            <a:avLst>
              <a:gd name="adj" fmla="val 10036"/>
            </a:avLst>
          </a:prstGeom>
          <a:solidFill>
            <a:srgbClr val="FFFFFF"/>
          </a:solidFill>
          <a:ln w="7144">
            <a:solidFill>
              <a:srgbClr val="E5E7EB"/>
            </a:solidFill>
            <a:prstDash val="solid"/>
          </a:ln>
          <a:effectLst>
            <a:outerShdw sx="100000" sy="100000" kx="0" ky="0" algn="bl" rotWithShape="0" blurRad="28575" dist="9525" dir="5400000">
              <a:srgbClr val="7C3AED">
                <a:alpha val="5000"/>
              </a:srgbClr>
            </a:outerShdw>
          </a:effectLst>
        </p:spPr>
        <p:txBody>
          <a:bodyPr wrap="square" rtlCol="0" anchor="ctr"/>
          <a:lstStyle/>
          <a:p>
            <a:pPr indent="0" marL="0">
              <a:buNone/>
            </a:pPr>
            <a:endParaRPr lang="en-US" dirty="0"/>
          </a:p>
        </p:txBody>
      </p:sp>
      <p:sp>
        <p:nvSpPr>
          <p:cNvPr id="10" name="Text 7"/>
          <p:cNvSpPr/>
          <p:nvPr/>
        </p:nvSpPr>
        <p:spPr>
          <a:xfrm>
            <a:off x="607219" y="2276177"/>
            <a:ext cx="285750" cy="285750"/>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11" name="Text 8"/>
          <p:cNvSpPr/>
          <p:nvPr/>
        </p:nvSpPr>
        <p:spPr>
          <a:xfrm>
            <a:off x="667226" y="2336185"/>
            <a:ext cx="165735" cy="165735"/>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12" name="Text 9"/>
          <p:cNvSpPr/>
          <p:nvPr/>
        </p:nvSpPr>
        <p:spPr>
          <a:xfrm>
            <a:off x="607219" y="2633365"/>
            <a:ext cx="1728787" cy="161877"/>
          </a:xfrm>
          <a:prstGeom prst="rect">
            <a:avLst/>
          </a:prstGeom>
          <a:noFill/>
          <a:ln/>
        </p:spPr>
        <p:txBody>
          <a:bodyPr wrap="none" lIns="0" tIns="0" rIns="0" bIns="0" rtlCol="0" anchor="t">
            <a:normAutofit/>
          </a:bodyPr>
          <a:lstStyle/>
          <a:p>
            <a:pPr algn="l" indent="0" marL="0">
              <a:lnSpc>
                <a:spcPts val="1266"/>
              </a:lnSpc>
              <a:buNone/>
            </a:pPr>
            <a:r>
              <a:rPr lang="en-US" sz="844" b="1" spc="-8" kern="0" dirty="0">
                <a:solidFill>
                  <a:srgbClr val="6D28D9"/>
                </a:solidFill>
                <a:latin typeface="Carlito" pitchFamily="34" charset="0"/>
                <a:ea typeface="Carlito" pitchFamily="34" charset="-122"/>
                <a:cs typeface="Carlito" pitchFamily="34" charset="-120"/>
              </a:rPr>
              <a:t>Acoustic Isolation</a:t>
            </a:r>
            <a:endParaRPr lang="en-US" sz="844" dirty="0"/>
          </a:p>
        </p:txBody>
      </p:sp>
      <p:sp>
        <p:nvSpPr>
          <p:cNvPr id="13" name="Text 10"/>
          <p:cNvSpPr/>
          <p:nvPr/>
        </p:nvSpPr>
        <p:spPr>
          <a:xfrm>
            <a:off x="607219" y="2822674"/>
            <a:ext cx="1728788" cy="517922"/>
          </a:xfrm>
          <a:prstGeom prst="rect">
            <a:avLst/>
          </a:prstGeom>
          <a:noFill/>
          <a:ln/>
        </p:spPr>
        <p:txBody>
          <a:bodyPr wrap="square" lIns="0" tIns="0" rIns="0" bIns="0" rtlCol="0" anchor="t"/>
          <a:lstStyle/>
          <a:p>
            <a:pPr algn="l" indent="0" marL="0">
              <a:lnSpc>
                <a:spcPts val="1020"/>
              </a:lnSpc>
              <a:buNone/>
            </a:pPr>
            <a:r>
              <a:rPr lang="en-US" sz="800" dirty="0">
                <a:solidFill>
                  <a:srgbClr val="374151"/>
                </a:solidFill>
                <a:latin typeface="Carlito" pitchFamily="34" charset="0"/>
                <a:ea typeface="Carlito" pitchFamily="34" charset="-122"/>
                <a:cs typeface="Carlito" pitchFamily="34" charset="-120"/>
              </a:rPr>
              <a:t>No ambient noise in the session, and no disturbance to those nearby. The customer's phone mic is centimetres from their mouth, not metres.</a:t>
            </a:r>
            <a:endParaRPr lang="en-US" sz="800" dirty="0"/>
          </a:p>
        </p:txBody>
      </p:sp>
      <p:sp>
        <p:nvSpPr>
          <p:cNvPr id="14" name="Text 11"/>
          <p:cNvSpPr/>
          <p:nvPr/>
        </p:nvSpPr>
        <p:spPr>
          <a:xfrm>
            <a:off x="2575322" y="2144018"/>
            <a:ext cx="2021681" cy="1328738"/>
          </a:xfrm>
          <a:prstGeom prst="roundRect">
            <a:avLst>
              <a:gd name="adj" fmla="val 10036"/>
            </a:avLst>
          </a:prstGeom>
          <a:solidFill>
            <a:srgbClr val="FFFFFF"/>
          </a:solidFill>
          <a:ln w="7144">
            <a:solidFill>
              <a:srgbClr val="E5E7EB"/>
            </a:solidFill>
            <a:prstDash val="solid"/>
          </a:ln>
          <a:effectLst>
            <a:outerShdw sx="100000" sy="100000" kx="0" ky="0" algn="bl" rotWithShape="0" blurRad="28575" dist="9525" dir="5400000">
              <a:srgbClr val="7C3AED">
                <a:alpha val="5000"/>
              </a:srgbClr>
            </a:outerShdw>
          </a:effectLst>
        </p:spPr>
        <p:txBody>
          <a:bodyPr wrap="square" rtlCol="0" anchor="ctr"/>
          <a:lstStyle/>
          <a:p>
            <a:pPr indent="0" marL="0">
              <a:buNone/>
            </a:pPr>
            <a:endParaRPr lang="en-US" dirty="0"/>
          </a:p>
        </p:txBody>
      </p:sp>
      <p:sp>
        <p:nvSpPr>
          <p:cNvPr id="15" name="Text 12"/>
          <p:cNvSpPr/>
          <p:nvPr/>
        </p:nvSpPr>
        <p:spPr>
          <a:xfrm>
            <a:off x="2721769" y="2276177"/>
            <a:ext cx="285750" cy="285750"/>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16" name="Text 13"/>
          <p:cNvSpPr/>
          <p:nvPr/>
        </p:nvSpPr>
        <p:spPr>
          <a:xfrm>
            <a:off x="2781776" y="2336185"/>
            <a:ext cx="165735" cy="165735"/>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17" name="Text 14"/>
          <p:cNvSpPr/>
          <p:nvPr/>
        </p:nvSpPr>
        <p:spPr>
          <a:xfrm>
            <a:off x="2721769" y="2633365"/>
            <a:ext cx="1728787" cy="161877"/>
          </a:xfrm>
          <a:prstGeom prst="rect">
            <a:avLst/>
          </a:prstGeom>
          <a:noFill/>
          <a:ln/>
        </p:spPr>
        <p:txBody>
          <a:bodyPr wrap="none" lIns="0" tIns="0" rIns="0" bIns="0" rtlCol="0" anchor="t">
            <a:normAutofit/>
          </a:bodyPr>
          <a:lstStyle/>
          <a:p>
            <a:pPr algn="l" indent="0" marL="0">
              <a:lnSpc>
                <a:spcPts val="1266"/>
              </a:lnSpc>
              <a:buNone/>
            </a:pPr>
            <a:r>
              <a:rPr lang="en-US" sz="844" b="1" spc="-8" kern="0" dirty="0">
                <a:solidFill>
                  <a:srgbClr val="6D28D9"/>
                </a:solidFill>
                <a:latin typeface="Carlito" pitchFamily="34" charset="0"/>
                <a:ea typeface="Carlito" pitchFamily="34" charset="-122"/>
                <a:cs typeface="Carlito" pitchFamily="34" charset="-120"/>
              </a:rPr>
              <a:t>Data Confidentiality</a:t>
            </a:r>
            <a:endParaRPr lang="en-US" sz="844" dirty="0"/>
          </a:p>
        </p:txBody>
      </p:sp>
      <p:sp>
        <p:nvSpPr>
          <p:cNvPr id="18" name="Text 15"/>
          <p:cNvSpPr/>
          <p:nvPr/>
        </p:nvSpPr>
        <p:spPr>
          <a:xfrm>
            <a:off x="2721769" y="2822674"/>
            <a:ext cx="1728788" cy="517922"/>
          </a:xfrm>
          <a:prstGeom prst="rect">
            <a:avLst/>
          </a:prstGeom>
          <a:noFill/>
          <a:ln/>
        </p:spPr>
        <p:txBody>
          <a:bodyPr wrap="square" lIns="0" tIns="0" rIns="0" bIns="0" rtlCol="0" anchor="t"/>
          <a:lstStyle/>
          <a:p>
            <a:pPr algn="l" indent="0" marL="0">
              <a:lnSpc>
                <a:spcPts val="1020"/>
              </a:lnSpc>
              <a:buNone/>
            </a:pPr>
            <a:r>
              <a:rPr lang="en-US" sz="800" dirty="0">
                <a:solidFill>
                  <a:srgbClr val="374151"/>
                </a:solidFill>
                <a:latin typeface="Carlito" pitchFamily="34" charset="0"/>
                <a:ea typeface="Carlito" pitchFamily="34" charset="-122"/>
                <a:cs typeface="Carlito" pitchFamily="34" charset="-120"/>
              </a:rPr>
              <a:t>Banking, medical, or personal data is inaudible to bystanders. Critical for HIPAA, GDPR, and PCI-DSS compliance at the service point.</a:t>
            </a:r>
            <a:endParaRPr lang="en-US" sz="800" dirty="0"/>
          </a:p>
        </p:txBody>
      </p:sp>
      <p:sp>
        <p:nvSpPr>
          <p:cNvPr id="19" name="Text 16"/>
          <p:cNvSpPr/>
          <p:nvPr/>
        </p:nvSpPr>
        <p:spPr>
          <a:xfrm>
            <a:off x="460772" y="3565624"/>
            <a:ext cx="2021681" cy="1328738"/>
          </a:xfrm>
          <a:prstGeom prst="roundRect">
            <a:avLst>
              <a:gd name="adj" fmla="val 10036"/>
            </a:avLst>
          </a:prstGeom>
          <a:solidFill>
            <a:srgbClr val="FFFFFF"/>
          </a:solidFill>
          <a:ln w="7144">
            <a:solidFill>
              <a:srgbClr val="E5E7EB"/>
            </a:solidFill>
            <a:prstDash val="solid"/>
          </a:ln>
          <a:effectLst>
            <a:outerShdw sx="100000" sy="100000" kx="0" ky="0" algn="bl" rotWithShape="0" blurRad="28575" dist="9525" dir="5400000">
              <a:srgbClr val="7C3AED">
                <a:alpha val="5000"/>
              </a:srgbClr>
            </a:outerShdw>
          </a:effectLst>
        </p:spPr>
        <p:txBody>
          <a:bodyPr wrap="square" rtlCol="0" anchor="ctr"/>
          <a:lstStyle/>
          <a:p>
            <a:pPr indent="0" marL="0">
              <a:buNone/>
            </a:pPr>
            <a:endParaRPr lang="en-US" dirty="0"/>
          </a:p>
        </p:txBody>
      </p:sp>
      <p:sp>
        <p:nvSpPr>
          <p:cNvPr id="20" name="Text 17"/>
          <p:cNvSpPr/>
          <p:nvPr/>
        </p:nvSpPr>
        <p:spPr>
          <a:xfrm>
            <a:off x="607219" y="3697784"/>
            <a:ext cx="285750" cy="285750"/>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21" name="Text 18"/>
          <p:cNvSpPr/>
          <p:nvPr/>
        </p:nvSpPr>
        <p:spPr>
          <a:xfrm>
            <a:off x="667226" y="3757791"/>
            <a:ext cx="165735" cy="165735"/>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22" name="Text 19"/>
          <p:cNvSpPr/>
          <p:nvPr/>
        </p:nvSpPr>
        <p:spPr>
          <a:xfrm>
            <a:off x="607219" y="4054971"/>
            <a:ext cx="1728787" cy="161877"/>
          </a:xfrm>
          <a:prstGeom prst="rect">
            <a:avLst/>
          </a:prstGeom>
          <a:noFill/>
          <a:ln/>
        </p:spPr>
        <p:txBody>
          <a:bodyPr wrap="none" lIns="0" tIns="0" rIns="0" bIns="0" rtlCol="0" anchor="t">
            <a:normAutofit/>
          </a:bodyPr>
          <a:lstStyle/>
          <a:p>
            <a:pPr algn="l" indent="0" marL="0">
              <a:lnSpc>
                <a:spcPts val="1266"/>
              </a:lnSpc>
              <a:buNone/>
            </a:pPr>
            <a:r>
              <a:rPr lang="en-US" sz="844" b="1" spc="-8" kern="0" dirty="0">
                <a:solidFill>
                  <a:srgbClr val="6D28D9"/>
                </a:solidFill>
                <a:latin typeface="Carlito" pitchFamily="34" charset="0"/>
                <a:ea typeface="Carlito" pitchFamily="34" charset="-122"/>
                <a:cs typeface="Carlito" pitchFamily="34" charset="-120"/>
              </a:rPr>
              <a:t>Multilingual Service</a:t>
            </a:r>
            <a:endParaRPr lang="en-US" sz="844" dirty="0"/>
          </a:p>
        </p:txBody>
      </p:sp>
      <p:sp>
        <p:nvSpPr>
          <p:cNvPr id="23" name="Text 20"/>
          <p:cNvSpPr/>
          <p:nvPr/>
        </p:nvSpPr>
        <p:spPr>
          <a:xfrm>
            <a:off x="607219" y="4244280"/>
            <a:ext cx="1728788" cy="517922"/>
          </a:xfrm>
          <a:prstGeom prst="rect">
            <a:avLst/>
          </a:prstGeom>
          <a:noFill/>
          <a:ln/>
        </p:spPr>
        <p:txBody>
          <a:bodyPr wrap="square" lIns="0" tIns="0" rIns="0" bIns="0" rtlCol="0" anchor="t"/>
          <a:lstStyle/>
          <a:p>
            <a:pPr algn="l" indent="0" marL="0">
              <a:lnSpc>
                <a:spcPts val="1020"/>
              </a:lnSpc>
              <a:buNone/>
            </a:pPr>
            <a:r>
              <a:rPr lang="en-US" sz="800" dirty="0">
                <a:solidFill>
                  <a:srgbClr val="374151"/>
                </a:solidFill>
                <a:latin typeface="Carlito" pitchFamily="34" charset="0"/>
                <a:ea typeface="Carlito" pitchFamily="34" charset="-122"/>
                <a:cs typeface="Carlito" pitchFamily="34" charset="-120"/>
              </a:rPr>
              <a:t>Automatic routing to the customer's chosen language. The advisor does not need to be bilingual; the ACD routes to the right queue.</a:t>
            </a:r>
            <a:endParaRPr lang="en-US" sz="800" dirty="0"/>
          </a:p>
        </p:txBody>
      </p:sp>
      <p:sp>
        <p:nvSpPr>
          <p:cNvPr id="24" name="Text 21"/>
          <p:cNvSpPr/>
          <p:nvPr/>
        </p:nvSpPr>
        <p:spPr>
          <a:xfrm>
            <a:off x="2575322" y="3565624"/>
            <a:ext cx="2021681" cy="1328738"/>
          </a:xfrm>
          <a:prstGeom prst="roundRect">
            <a:avLst>
              <a:gd name="adj" fmla="val 10036"/>
            </a:avLst>
          </a:prstGeom>
          <a:solidFill>
            <a:srgbClr val="FFFFFF"/>
          </a:solidFill>
          <a:ln w="7144">
            <a:solidFill>
              <a:srgbClr val="E5E7EB"/>
            </a:solidFill>
            <a:prstDash val="solid"/>
          </a:ln>
          <a:effectLst>
            <a:outerShdw sx="100000" sy="100000" kx="0" ky="0" algn="bl" rotWithShape="0" blurRad="28575" dist="9525" dir="5400000">
              <a:srgbClr val="7C3AED">
                <a:alpha val="5000"/>
              </a:srgbClr>
            </a:outerShdw>
          </a:effectLst>
        </p:spPr>
        <p:txBody>
          <a:bodyPr wrap="square" rtlCol="0" anchor="ctr"/>
          <a:lstStyle/>
          <a:p>
            <a:pPr indent="0" marL="0">
              <a:buNone/>
            </a:pPr>
            <a:endParaRPr lang="en-US" dirty="0"/>
          </a:p>
        </p:txBody>
      </p:sp>
      <p:sp>
        <p:nvSpPr>
          <p:cNvPr id="25" name="Text 22"/>
          <p:cNvSpPr/>
          <p:nvPr/>
        </p:nvSpPr>
        <p:spPr>
          <a:xfrm>
            <a:off x="2721769" y="3697784"/>
            <a:ext cx="285750" cy="285750"/>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26" name="Text 23"/>
          <p:cNvSpPr/>
          <p:nvPr/>
        </p:nvSpPr>
        <p:spPr>
          <a:xfrm>
            <a:off x="2781776" y="3757791"/>
            <a:ext cx="165735" cy="165735"/>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27" name="Text 24"/>
          <p:cNvSpPr/>
          <p:nvPr/>
        </p:nvSpPr>
        <p:spPr>
          <a:xfrm>
            <a:off x="2721769" y="4054971"/>
            <a:ext cx="1728788" cy="161877"/>
          </a:xfrm>
          <a:prstGeom prst="rect">
            <a:avLst/>
          </a:prstGeom>
          <a:noFill/>
          <a:ln/>
        </p:spPr>
        <p:txBody>
          <a:bodyPr wrap="none" lIns="0" tIns="0" rIns="0" bIns="0" rtlCol="0" anchor="t">
            <a:normAutofit/>
          </a:bodyPr>
          <a:lstStyle/>
          <a:p>
            <a:pPr algn="l" indent="0" marL="0">
              <a:lnSpc>
                <a:spcPts val="1266"/>
              </a:lnSpc>
              <a:buNone/>
            </a:pPr>
            <a:r>
              <a:rPr lang="en-US" sz="844" b="1" spc="-8" kern="0" dirty="0">
                <a:solidFill>
                  <a:srgbClr val="6D28D9"/>
                </a:solidFill>
                <a:latin typeface="Carlito" pitchFamily="34" charset="0"/>
                <a:ea typeface="Carlito" pitchFamily="34" charset="-122"/>
                <a:cs typeface="Carlito" pitchFamily="34" charset="-120"/>
              </a:rPr>
              <a:t>Sign Language</a:t>
            </a:r>
            <a:endParaRPr lang="en-US" sz="844" dirty="0"/>
          </a:p>
        </p:txBody>
      </p:sp>
      <p:sp>
        <p:nvSpPr>
          <p:cNvPr id="28" name="Text 25"/>
          <p:cNvSpPr/>
          <p:nvPr/>
        </p:nvSpPr>
        <p:spPr>
          <a:xfrm>
            <a:off x="2721769" y="4244280"/>
            <a:ext cx="1728788" cy="517922"/>
          </a:xfrm>
          <a:prstGeom prst="rect">
            <a:avLst/>
          </a:prstGeom>
          <a:noFill/>
          <a:ln/>
        </p:spPr>
        <p:txBody>
          <a:bodyPr wrap="square" lIns="0" tIns="0" rIns="0" bIns="0" rtlCol="0" anchor="t"/>
          <a:lstStyle/>
          <a:p>
            <a:pPr algn="l" indent="0" marL="0">
              <a:lnSpc>
                <a:spcPts val="1020"/>
              </a:lnSpc>
              <a:buNone/>
            </a:pPr>
            <a:r>
              <a:rPr lang="en-US" sz="800" dirty="0">
                <a:solidFill>
                  <a:srgbClr val="374151"/>
                </a:solidFill>
                <a:latin typeface="Carlito" pitchFamily="34" charset="0"/>
                <a:ea typeface="Carlito" pitchFamily="34" charset="-122"/>
                <a:cs typeface="Carlito" pitchFamily="34" charset="-120"/>
              </a:rPr>
              <a:t>Real-time interpreter for deaf customers, available on the same kiosk without any additional hardware or software.</a:t>
            </a:r>
            <a:endParaRPr lang="en-US" sz="800" dirty="0"/>
          </a:p>
        </p:txBody>
      </p:sp>
      <p:sp>
        <p:nvSpPr>
          <p:cNvPr id="29" name="Text 26"/>
          <p:cNvSpPr/>
          <p:nvPr/>
        </p:nvSpPr>
        <p:spPr>
          <a:xfrm>
            <a:off x="460772" y="5001518"/>
            <a:ext cx="2903265" cy="210741"/>
          </a:xfrm>
          <a:prstGeom prst="roundRect">
            <a:avLst>
              <a:gd name="adj" fmla="val 4515246"/>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30" name="Text 27"/>
          <p:cNvSpPr/>
          <p:nvPr/>
        </p:nvSpPr>
        <p:spPr>
          <a:xfrm>
            <a:off x="692944" y="5055096"/>
            <a:ext cx="2581796" cy="91440"/>
          </a:xfrm>
          <a:prstGeom prst="rect">
            <a:avLst/>
          </a:prstGeom>
          <a:noFill/>
          <a:ln/>
        </p:spPr>
        <p:txBody>
          <a:bodyPr wrap="square" lIns="85725" tIns="42863" rIns="85725" bIns="42863" rtlCol="0" anchor="t"/>
          <a:lstStyle/>
          <a:p>
            <a:pPr algn="l" indent="0" marL="0">
              <a:lnSpc>
                <a:spcPts val="928"/>
              </a:lnSpc>
              <a:buNone/>
            </a:pPr>
            <a:r>
              <a:rPr lang="en-US" sz="619" dirty="0">
                <a:solidFill>
                  <a:srgbClr val="6D28D9"/>
                </a:solidFill>
                <a:latin typeface="Carlito" pitchFamily="34" charset="0"/>
                <a:ea typeface="Carlito" pitchFamily="34" charset="-122"/>
                <a:cs typeface="Carlito" pitchFamily="34" charset="-120"/>
              </a:rPr>
              <a:t>Architecture: phone = mic + speaker · kiosk = screen only</a:t>
            </a:r>
            <a:endParaRPr lang="en-US" sz="619" dirty="0"/>
          </a:p>
        </p:txBody>
      </p:sp>
      <p:sp>
        <p:nvSpPr>
          <p:cNvPr id="31" name="Text 28"/>
          <p:cNvSpPr/>
          <p:nvPr/>
        </p:nvSpPr>
        <p:spPr>
          <a:xfrm>
            <a:off x="550069" y="5056882"/>
            <a:ext cx="100013" cy="91440"/>
          </a:xfrm>
          <a:prstGeom prst="rect">
            <a:avLst/>
          </a:prstGeom>
          <a:noFill/>
          <a:ln/>
        </p:spPr>
        <p:txBody>
          <a:bodyPr wrap="none" lIns="0" tIns="0" rIns="0" bIns="0" rtlCol="0" anchor="ctr"/>
          <a:lstStyle/>
          <a:p>
            <a:pPr algn="ctr" indent="0" marL="0">
              <a:buNone/>
            </a:pPr>
            <a:r>
              <a:rPr lang="en-US" sz="984" dirty="0">
                <a:solidFill>
                  <a:srgbClr val="6D28D9"/>
                </a:solidFill>
                <a:latin typeface="Segoe UI Symbol" pitchFamily="34" charset="0"/>
                <a:ea typeface="Segoe UI Symbol" pitchFamily="34" charset="-122"/>
                <a:cs typeface="Segoe UI Symbol" pitchFamily="34" charset="-120"/>
              </a:rPr>
              <a:t>▯</a:t>
            </a:r>
            <a:endParaRPr lang="en-US" sz="984" dirty="0"/>
          </a:p>
        </p:txBody>
      </p:sp>
      <p:sp>
        <p:nvSpPr>
          <p:cNvPr id="32" name="Text 29"/>
          <p:cNvSpPr/>
          <p:nvPr/>
        </p:nvSpPr>
        <p:spPr>
          <a:xfrm>
            <a:off x="5402014" y="635794"/>
            <a:ext cx="3277530" cy="3986213"/>
          </a:xfrm>
          <a:prstGeom prst="roundRect">
            <a:avLst>
              <a:gd name="adj" fmla="val 5812"/>
            </a:avLst>
          </a:prstGeom>
          <a:noFill/>
          <a:ln w="14288">
            <a:solidFill>
              <a:srgbClr val="EDE9FE"/>
            </a:solidFill>
            <a:prstDash val="solid"/>
          </a:ln>
          <a:effectLst>
            <a:outerShdw sx="100000" sy="100000" kx="0" ky="0" algn="bl" rotWithShape="0" blurRad="285750" dist="114300" dir="5400000">
              <a:srgbClr val="7C3AED">
                <a:alpha val="18000"/>
              </a:srgbClr>
            </a:outerShdw>
          </a:effectLst>
        </p:spPr>
        <p:txBody>
          <a:bodyPr wrap="square" rtlCol="0" anchor="ctr"/>
          <a:lstStyle/>
          <a:p>
            <a:pPr indent="0" marL="0">
              <a:buNone/>
            </a:pPr>
            <a:endParaRPr lang="en-US" dirty="0"/>
          </a:p>
        </p:txBody>
      </p:sp>
      <p:pic>
        <p:nvPicPr>
          <p:cNvPr id="33" name="Image 1" descr="/tmp/h2p-fit-1786522339336-b9c3ea.png">    </p:cNvPr>
          <p:cNvPicPr>
            <a:picLocks noChangeAspect="1"/>
          </p:cNvPicPr>
          <p:nvPr/>
        </p:nvPicPr>
        <p:blipFill>
          <a:blip r:embed="rId2"/>
          <a:stretch>
            <a:fillRect/>
          </a:stretch>
        </p:blipFill>
        <p:spPr>
          <a:xfrm>
            <a:off x="5409158" y="642938"/>
            <a:ext cx="3263243" cy="3971925"/>
          </a:xfrm>
          <a:prstGeom prst="rect">
            <a:avLst/>
          </a:prstGeom>
        </p:spPr>
      </p:pic>
      <p:sp>
        <p:nvSpPr>
          <p:cNvPr id="34" name="Text 30"/>
          <p:cNvSpPr/>
          <p:nvPr/>
        </p:nvSpPr>
        <p:spPr>
          <a:xfrm>
            <a:off x="5580608" y="3999161"/>
            <a:ext cx="3091793" cy="122587"/>
          </a:xfrm>
          <a:prstGeom prst="rect">
            <a:avLst/>
          </a:prstGeom>
          <a:noFill/>
          <a:ln/>
        </p:spPr>
        <p:txBody>
          <a:bodyPr wrap="none" lIns="0" tIns="0" rIns="0" bIns="0" rtlCol="0" anchor="t">
            <a:normAutofit/>
          </a:bodyPr>
          <a:lstStyle/>
          <a:p>
            <a:pPr algn="l" indent="0" marL="0">
              <a:lnSpc>
                <a:spcPts val="844"/>
              </a:lnSpc>
              <a:buNone/>
            </a:pPr>
            <a:r>
              <a:rPr lang="en-US" sz="800" b="1" spc="124" kern="0" dirty="0">
                <a:solidFill>
                  <a:srgbClr val="FFFFFF">
                    <a:alpha val="85000"/>
                  </a:srgbClr>
                </a:solidFill>
                <a:latin typeface="Carlito" pitchFamily="34" charset="0"/>
                <a:ea typeface="Carlito" pitchFamily="34" charset="-122"/>
                <a:cs typeface="Carlito" pitchFamily="34" charset="-120"/>
              </a:rPr>
              <a:t>PRIVACY BY ARCHITECTURE</a:t>
            </a:r>
            <a:endParaRPr lang="en-US" sz="800" dirty="0"/>
          </a:p>
        </p:txBody>
      </p:sp>
      <p:sp>
        <p:nvSpPr>
          <p:cNvPr id="35" name="Text 31"/>
          <p:cNvSpPr/>
          <p:nvPr/>
        </p:nvSpPr>
        <p:spPr>
          <a:xfrm>
            <a:off x="5580608" y="4149179"/>
            <a:ext cx="2920343" cy="333202"/>
          </a:xfrm>
          <a:prstGeom prst="rect">
            <a:avLst/>
          </a:prstGeom>
          <a:noFill/>
          <a:ln/>
        </p:spPr>
        <p:txBody>
          <a:bodyPr wrap="square" lIns="0" tIns="0" rIns="0" bIns="0" rtlCol="0" anchor="t"/>
          <a:lstStyle/>
          <a:p>
            <a:pPr algn="l" indent="0" marL="0">
              <a:lnSpc>
                <a:spcPts val="1215"/>
              </a:lnSpc>
              <a:buNone/>
            </a:pPr>
            <a:r>
              <a:rPr lang="en-US" sz="900" dirty="0">
                <a:solidFill>
                  <a:srgbClr val="FFFFFF"/>
                </a:solidFill>
                <a:latin typeface="Carlito" pitchFamily="34" charset="0"/>
                <a:ea typeface="Carlito" pitchFamily="34" charset="-122"/>
                <a:cs typeface="Carlito" pitchFamily="34" charset="-120"/>
              </a:rPr>
              <a:t>The kiosk is a screen.</a:t>
            </a:r>
            <a:endParaRPr lang="en-US" sz="900" dirty="0"/>
          </a:p>
          <a:p>
            <a:pPr algn="l" indent="0" marL="0">
              <a:lnSpc>
                <a:spcPts val="1215"/>
              </a:lnSpc>
              <a:buNone/>
            </a:pPr>
            <a:r>
              <a:rPr lang="en-US" sz="900" dirty="0">
                <a:solidFill>
                  <a:srgbClr val="FFFFFF"/>
                </a:solidFill>
                <a:latin typeface="Carlito" pitchFamily="34" charset="0"/>
                <a:ea typeface="Carlito" pitchFamily="34" charset="-122"/>
                <a:cs typeface="Carlito" pitchFamily="34" charset="-120"/>
              </a:rPr>
              <a:t>The customer's phone is the audio path.</a:t>
            </a:r>
            <a:endParaRPr lang="en-US" sz="900" dirty="0"/>
          </a:p>
        </p:txBody>
      </p:sp>
      <p:sp>
        <p:nvSpPr>
          <p:cNvPr id="36" name="Text 32"/>
          <p:cNvSpPr/>
          <p:nvPr/>
        </p:nvSpPr>
        <p:spPr>
          <a:xfrm>
            <a:off x="342900" y="4854178"/>
            <a:ext cx="7072759"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37" name="Text 33"/>
          <p:cNvSpPr/>
          <p:nvPr/>
        </p:nvSpPr>
        <p:spPr>
          <a:xfrm>
            <a:off x="8163520" y="4877395"/>
            <a:ext cx="7144" cy="71438"/>
          </a:xfrm>
          <a:prstGeom prst="rect">
            <a:avLst/>
          </a:prstGeom>
          <a:solidFill>
            <a:srgbClr val="6B7280">
              <a:alpha val="40000"/>
            </a:srgbClr>
          </a:solidFill>
          <a:ln/>
        </p:spPr>
        <p:txBody>
          <a:bodyPr wrap="square" rtlCol="0" anchor="ctr"/>
          <a:lstStyle/>
          <a:p>
            <a:pPr indent="0" marL="0">
              <a:buNone/>
            </a:pPr>
            <a:endParaRPr lang="en-US" dirty="0"/>
          </a:p>
        </p:txBody>
      </p:sp>
      <p:sp>
        <p:nvSpPr>
          <p:cNvPr id="38" name="Text 34"/>
          <p:cNvSpPr/>
          <p:nvPr/>
        </p:nvSpPr>
        <p:spPr>
          <a:xfrm>
            <a:off x="7429946" y="4854178"/>
            <a:ext cx="1714054"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  </a:t>
            </a:r>
            <a:pPr algn="l" indent="0" marL="0">
              <a:lnSpc>
                <a:spcPts val="928"/>
              </a:lnSpc>
              <a:buNone/>
            </a:pPr>
            <a:r>
              <a:rPr lang="en-US" sz="800" spc="25" kern="0" dirty="0">
                <a:solidFill>
                  <a:srgbClr val="6B7280"/>
                </a:solidFill>
                <a:latin typeface="Liberation Sans Narrow" pitchFamily="34" charset="0"/>
                <a:ea typeface="Liberation Sans Narrow" pitchFamily="34" charset="-122"/>
                <a:cs typeface="Liberation Sans Narrow" pitchFamily="34" charset="-120"/>
              </a:rPr>
              <a:t>SLIDE 9 / 24</a:t>
            </a:r>
            <a:endParaRPr lang="en-US" sz="800" dirty="0"/>
          </a:p>
        </p:txBody>
      </p:sp>
      <p:pic>
        <p:nvPicPr>
          <p:cNvPr id="39" name="Image 2" descr="/home/z/my-project/download/slides/massapro-logo.png">    </p:cNvPr>
          <p:cNvPicPr>
            <a:picLocks noChangeAspect="1"/>
          </p:cNvPicPr>
          <p:nvPr/>
        </p:nvPicPr>
        <p:blipFill>
          <a:blip r:embed="rId3"/>
          <a:stretch>
            <a:fillRect/>
          </a:stretch>
        </p:blipFill>
        <p:spPr>
          <a:xfrm>
            <a:off x="342900" y="200025"/>
            <a:ext cx="200025" cy="200025"/>
          </a:xfrm>
          <a:prstGeom prst="rect">
            <a:avLst/>
          </a:prstGeom>
        </p:spPr>
      </p:pic>
      <p:sp>
        <p:nvSpPr>
          <p:cNvPr id="40" name="Text 35"/>
          <p:cNvSpPr/>
          <p:nvPr/>
        </p:nvSpPr>
        <p:spPr>
          <a:xfrm>
            <a:off x="614363" y="219670"/>
            <a:ext cx="769239"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6D28D9"/>
                </a:solidFill>
                <a:latin typeface="Carlito" pitchFamily="34" charset="0"/>
                <a:ea typeface="Carlito" pitchFamily="34" charset="-122"/>
                <a:cs typeface="Carlito" pitchFamily="34" charset="-120"/>
              </a:rPr>
              <a:t>MassaPro</a:t>
            </a:r>
            <a:endParaRPr lang="en-US" sz="84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14375" y="-714375"/>
            <a:ext cx="2143125" cy="2143125"/>
          </a:xfrm>
          <a:prstGeom prst="rect">
            <a:avLst/>
          </a:prstGeom>
        </p:spPr>
      </p:pic>
      <p:sp>
        <p:nvSpPr>
          <p:cNvPr id="3" name="Text 0"/>
          <p:cNvSpPr/>
          <p:nvPr/>
        </p:nvSpPr>
        <p:spPr>
          <a:xfrm>
            <a:off x="-714375" y="-714375"/>
            <a:ext cx="2143125" cy="2143125"/>
          </a:xfrm>
          <a:prstGeom prst="ellipse">
            <a:avLst/>
          </a:prstGeom>
          <a:solidFill>
            <a:srgbClr val="A78BFA">
              <a:alpha val="0"/>
            </a:srgbClr>
          </a:solidFill>
          <a:ln/>
        </p:spPr>
        <p:txBody>
          <a:bodyPr wrap="square" rtlCol="0" anchor="ctr"/>
          <a:lstStyle/>
          <a:p>
            <a:pPr indent="0" marL="0">
              <a:buNone/>
            </a:pPr>
            <a:endParaRPr lang="en-US" dirty="0"/>
          </a:p>
        </p:txBody>
      </p:sp>
      <p:sp>
        <p:nvSpPr>
          <p:cNvPr id="4" name="Text 1"/>
          <p:cNvSpPr/>
          <p:nvPr/>
        </p:nvSpPr>
        <p:spPr>
          <a:xfrm>
            <a:off x="460772" y="560784"/>
            <a:ext cx="2085975" cy="221456"/>
          </a:xfrm>
          <a:prstGeom prst="roundRect">
            <a:avLst>
              <a:gd name="adj" fmla="val 4296779"/>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5" name="Text 2"/>
          <p:cNvSpPr/>
          <p:nvPr/>
        </p:nvSpPr>
        <p:spPr>
          <a:xfrm>
            <a:off x="735806" y="619720"/>
            <a:ext cx="1721644" cy="129679"/>
          </a:xfrm>
          <a:prstGeom prst="rect">
            <a:avLst/>
          </a:prstGeom>
          <a:noFill/>
          <a:ln/>
        </p:spPr>
        <p:txBody>
          <a:bodyPr wrap="none" lIns="85725" tIns="42863" rIns="85725" bIns="42863" rtlCol="0" anchor="t"/>
          <a:lstStyle/>
          <a:p>
            <a:pPr algn="l" indent="0" marL="0">
              <a:lnSpc>
                <a:spcPts val="928"/>
              </a:lnSpc>
              <a:buNone/>
            </a:pPr>
            <a:r>
              <a:rPr lang="en-US" sz="800" b="1" spc="111" kern="0" dirty="0">
                <a:solidFill>
                  <a:srgbClr val="7C3AED"/>
                </a:solidFill>
                <a:latin typeface="Liberation Sans Narrow" pitchFamily="34" charset="0"/>
                <a:ea typeface="Liberation Sans Narrow" pitchFamily="34" charset="-122"/>
                <a:cs typeface="Liberation Sans Narrow" pitchFamily="34" charset="-120"/>
              </a:rPr>
              <a:t>CHAPTER 02 — HOW IT WORKS</a:t>
            </a:r>
            <a:endParaRPr lang="en-US" sz="800" dirty="0"/>
          </a:p>
        </p:txBody>
      </p:sp>
      <p:sp>
        <p:nvSpPr>
          <p:cNvPr id="6" name="Text 3"/>
          <p:cNvSpPr/>
          <p:nvPr/>
        </p:nvSpPr>
        <p:spPr>
          <a:xfrm>
            <a:off x="550069" y="607219"/>
            <a:ext cx="128588" cy="128588"/>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7" name="Text 4"/>
          <p:cNvSpPr/>
          <p:nvPr/>
        </p:nvSpPr>
        <p:spPr>
          <a:xfrm>
            <a:off x="457200" y="857250"/>
            <a:ext cx="5429250" cy="532352"/>
          </a:xfrm>
          <a:prstGeom prst="rect">
            <a:avLst/>
          </a:prstGeom>
          <a:noFill/>
          <a:ln/>
        </p:spPr>
        <p:txBody>
          <a:bodyPr wrap="square" lIns="0" tIns="0" rIns="0" bIns="0" rtlCol="0" anchor="t"/>
          <a:lstStyle/>
          <a:p>
            <a:pPr algn="l" indent="0" marL="0">
              <a:lnSpc>
                <a:spcPts val="1941"/>
              </a:lnSpc>
              <a:buNone/>
            </a:pPr>
            <a:r>
              <a:rPr lang="en-US" sz="1688" b="1" spc="-34" kern="0" dirty="0">
                <a:solidFill>
                  <a:srgbClr val="1F2937"/>
                </a:solidFill>
                <a:latin typeface="Carlito" pitchFamily="34" charset="0"/>
                <a:ea typeface="Carlito" pitchFamily="34" charset="-122"/>
                <a:cs typeface="Carlito" pitchFamily="34" charset="-120"/>
              </a:rPr>
              <a:t>The MassaPro Ecosystem Advantage — </a:t>
            </a:r>
            <a:pPr algn="l" indent="0" marL="0">
              <a:lnSpc>
                <a:spcPts val="1941"/>
              </a:lnSpc>
              <a:buNone/>
            </a:pPr>
            <a:r>
              <a:rPr lang="en-US" sz="1688" b="1" spc="-34" kern="0" dirty="0">
                <a:solidFill>
                  <a:srgbClr val="7C3AED"/>
                </a:solidFill>
                <a:latin typeface="Carlito" pitchFamily="34" charset="0"/>
                <a:ea typeface="Carlito" pitchFamily="34" charset="-122"/>
                <a:cs typeface="Carlito" pitchFamily="34" charset="-120"/>
              </a:rPr>
              <a:t>IVR + AI Agent + AI Guru + AI Analytics + Flow</a:t>
            </a:r>
            <a:endParaRPr lang="en-US" sz="1688" dirty="0"/>
          </a:p>
        </p:txBody>
      </p:sp>
      <p:sp>
        <p:nvSpPr>
          <p:cNvPr id="8" name="Text 5"/>
          <p:cNvSpPr/>
          <p:nvPr/>
        </p:nvSpPr>
        <p:spPr>
          <a:xfrm>
            <a:off x="457200" y="1421606"/>
            <a:ext cx="400050" cy="21431"/>
          </a:xfrm>
          <a:prstGeom prst="roundRect">
            <a:avLst>
              <a:gd name="adj" fmla="val 88890"/>
            </a:avLst>
          </a:prstGeom>
          <a:solidFill>
            <a:srgbClr val="7C3AED"/>
          </a:solidFill>
          <a:ln/>
        </p:spPr>
        <p:txBody>
          <a:bodyPr wrap="square" rtlCol="0" anchor="ctr"/>
          <a:lstStyle/>
          <a:p>
            <a:pPr indent="0" marL="0">
              <a:buNone/>
            </a:pPr>
            <a:endParaRPr lang="en-US" dirty="0"/>
          </a:p>
        </p:txBody>
      </p:sp>
      <p:pic>
        <p:nvPicPr>
          <p:cNvPr id="9" name="Image 1" descr="preencoded.png">    </p:cNvPr>
          <p:cNvPicPr>
            <a:picLocks noChangeAspect="1"/>
          </p:cNvPicPr>
          <p:nvPr/>
        </p:nvPicPr>
        <p:blipFill>
          <a:blip r:embed="rId2"/>
          <a:stretch>
            <a:fillRect/>
          </a:stretch>
        </p:blipFill>
        <p:spPr>
          <a:xfrm>
            <a:off x="914400" y="4199632"/>
            <a:ext cx="7315200" cy="473273"/>
          </a:xfrm>
          <a:prstGeom prst="rect">
            <a:avLst/>
          </a:prstGeom>
        </p:spPr>
      </p:pic>
      <p:sp>
        <p:nvSpPr>
          <p:cNvPr id="10" name="Shape 6"/>
          <p:cNvSpPr/>
          <p:nvPr/>
        </p:nvSpPr>
        <p:spPr>
          <a:xfrm>
            <a:off x="928688" y="4199632"/>
            <a:ext cx="0" cy="473273"/>
          </a:xfrm>
          <a:prstGeom prst="line">
            <a:avLst/>
          </a:prstGeom>
          <a:noFill/>
          <a:ln w="28575">
            <a:solidFill>
              <a:srgbClr val="7C3AED"/>
            </a:solidFill>
            <a:prstDash val="solid"/>
          </a:ln>
        </p:spPr>
      </p:sp>
      <p:sp>
        <p:nvSpPr>
          <p:cNvPr id="11" name="Text 7"/>
          <p:cNvSpPr/>
          <p:nvPr/>
        </p:nvSpPr>
        <p:spPr>
          <a:xfrm>
            <a:off x="1100138" y="4350544"/>
            <a:ext cx="171450" cy="171450"/>
          </a:xfrm>
          <a:prstGeom prst="rect">
            <a:avLst/>
          </a:prstGeom>
          <a:noFill/>
          <a:ln/>
        </p:spPr>
        <p:txBody>
          <a:bodyPr wrap="none" lIns="0" tIns="0" rIns="0" bIns="0" rtlCol="0" anchor="ctr"/>
          <a:lstStyle/>
          <a:p>
            <a:pPr algn="ctr" indent="0" marL="0">
              <a:buNone/>
            </a:pPr>
            <a:r>
              <a:rPr lang="en-US" sz="1688" dirty="0">
                <a:solidFill>
                  <a:srgbClr val="7C3AED"/>
                </a:solidFill>
                <a:latin typeface="Segoe UI Symbol" pitchFamily="34" charset="0"/>
                <a:ea typeface="Segoe UI Symbol" pitchFamily="34" charset="-122"/>
                <a:cs typeface="Segoe UI Symbol" pitchFamily="34" charset="-120"/>
              </a:rPr>
              <a:t>⚡</a:t>
            </a:r>
            <a:endParaRPr lang="en-US" sz="1688" dirty="0"/>
          </a:p>
        </p:txBody>
      </p:sp>
      <p:sp>
        <p:nvSpPr>
          <p:cNvPr id="12" name="Text 8"/>
          <p:cNvSpPr/>
          <p:nvPr/>
        </p:nvSpPr>
        <p:spPr>
          <a:xfrm>
            <a:off x="1357313" y="4285357"/>
            <a:ext cx="3997584" cy="151162"/>
          </a:xfrm>
          <a:prstGeom prst="rect">
            <a:avLst/>
          </a:prstGeom>
          <a:noFill/>
          <a:ln/>
        </p:spPr>
        <p:txBody>
          <a:bodyPr wrap="square" lIns="0" tIns="0" rIns="0" bIns="0" rtlCol="0" anchor="t">
            <a:normAutofit/>
          </a:bodyPr>
          <a:lstStyle/>
          <a:p>
            <a:pPr algn="l" indent="0" marL="0">
              <a:lnSpc>
                <a:spcPts val="1350"/>
              </a:lnSpc>
              <a:buNone/>
            </a:pPr>
            <a:r>
              <a:rPr lang="en-US" sz="900" b="1" spc="-9" kern="0" dirty="0">
                <a:solidFill>
                  <a:srgbClr val="1F2937"/>
                </a:solidFill>
                <a:latin typeface="Carlito" pitchFamily="34" charset="0"/>
                <a:ea typeface="Carlito" pitchFamily="34" charset="-122"/>
                <a:cs typeface="Carlito" pitchFamily="34" charset="-120"/>
              </a:rPr>
              <a:t>One platform. Every channel.</a:t>
            </a:r>
            <a:endParaRPr lang="en-US" sz="900" dirty="0"/>
          </a:p>
        </p:txBody>
      </p:sp>
      <p:sp>
        <p:nvSpPr>
          <p:cNvPr id="13" name="Text 9"/>
          <p:cNvSpPr/>
          <p:nvPr/>
        </p:nvSpPr>
        <p:spPr>
          <a:xfrm>
            <a:off x="1357313" y="4463951"/>
            <a:ext cx="3701467" cy="123230"/>
          </a:xfrm>
          <a:prstGeom prst="rect">
            <a:avLst/>
          </a:prstGeom>
          <a:noFill/>
          <a:ln/>
        </p:spPr>
        <p:txBody>
          <a:bodyPr wrap="square" lIns="0" tIns="0" rIns="0" bIns="0" rtlCol="0" anchor="t"/>
          <a:lstStyle/>
          <a:p>
            <a:pPr algn="l" indent="0" marL="0">
              <a:lnSpc>
                <a:spcPts val="970"/>
              </a:lnSpc>
              <a:buNone/>
            </a:pPr>
            <a:r>
              <a:rPr lang="en-US" sz="647" dirty="0">
                <a:solidFill>
                  <a:srgbClr val="374151"/>
                </a:solidFill>
                <a:latin typeface="Carlito" pitchFamily="34" charset="0"/>
                <a:ea typeface="Carlito" pitchFamily="34" charset="-122"/>
                <a:cs typeface="Carlito" pitchFamily="34" charset="-120"/>
              </a:rPr>
              <a:t>AI and human, orchestrated together. No standalone telepresence vendor can match this.</a:t>
            </a:r>
            <a:endParaRPr lang="en-US" sz="647" dirty="0"/>
          </a:p>
        </p:txBody>
      </p:sp>
      <p:sp>
        <p:nvSpPr>
          <p:cNvPr id="14" name="Text 10"/>
          <p:cNvSpPr/>
          <p:nvPr/>
        </p:nvSpPr>
        <p:spPr>
          <a:xfrm>
            <a:off x="6637548" y="4377333"/>
            <a:ext cx="1434889" cy="164592"/>
          </a:xfrm>
          <a:prstGeom prst="rect">
            <a:avLst/>
          </a:prstGeom>
          <a:noFill/>
          <a:ln/>
        </p:spPr>
        <p:txBody>
          <a:bodyPr wrap="none" lIns="0" tIns="0" rIns="0" bIns="0" rtlCol="0" anchor="t"/>
          <a:lstStyle/>
          <a:p>
            <a:pPr algn="l" indent="0" marL="0">
              <a:lnSpc>
                <a:spcPts val="928"/>
              </a:lnSpc>
              <a:buNone/>
            </a:pPr>
            <a:r>
              <a:rPr lang="en-US" sz="800" b="1" spc="99" kern="0" dirty="0">
                <a:solidFill>
                  <a:srgbClr val="7C3AED"/>
                </a:solidFill>
                <a:latin typeface="Liberation Sans Narrow" pitchFamily="34" charset="0"/>
                <a:ea typeface="Liberation Sans Narrow" pitchFamily="34" charset="-122"/>
                <a:cs typeface="Liberation Sans Narrow" pitchFamily="34" charset="-120"/>
              </a:rPr>
              <a:t>5 MODULES · 1 PLATFORM</a:t>
            </a:r>
            <a:endParaRPr lang="en-US" sz="800" dirty="0"/>
          </a:p>
        </p:txBody>
      </p:sp>
      <p:pic>
        <p:nvPicPr>
          <p:cNvPr id="15" name="Image 2" descr="preencoded.png">    </p:cNvPr>
          <p:cNvPicPr>
            <a:picLocks noChangeAspect="1"/>
          </p:cNvPicPr>
          <p:nvPr/>
        </p:nvPicPr>
        <p:blipFill>
          <a:blip r:embed="rId3"/>
          <a:stretch>
            <a:fillRect/>
          </a:stretch>
        </p:blipFill>
        <p:spPr>
          <a:xfrm>
            <a:off x="1707356" y="2828032"/>
            <a:ext cx="2043113" cy="14288"/>
          </a:xfrm>
          <a:prstGeom prst="rect">
            <a:avLst/>
          </a:prstGeom>
        </p:spPr>
      </p:pic>
      <p:pic>
        <p:nvPicPr>
          <p:cNvPr id="16" name="Image 3" descr="preencoded.png">    </p:cNvPr>
          <p:cNvPicPr>
            <a:picLocks noChangeAspect="1"/>
          </p:cNvPicPr>
          <p:nvPr/>
        </p:nvPicPr>
        <p:blipFill>
          <a:blip r:embed="rId4"/>
          <a:stretch>
            <a:fillRect/>
          </a:stretch>
        </p:blipFill>
        <p:spPr>
          <a:xfrm>
            <a:off x="5393531" y="2828032"/>
            <a:ext cx="2043113" cy="14288"/>
          </a:xfrm>
          <a:prstGeom prst="rect">
            <a:avLst/>
          </a:prstGeom>
        </p:spPr>
      </p:pic>
      <p:sp>
        <p:nvSpPr>
          <p:cNvPr id="17" name="Text 11"/>
          <p:cNvSpPr/>
          <p:nvPr/>
        </p:nvSpPr>
        <p:spPr>
          <a:xfrm>
            <a:off x="460772" y="1545729"/>
            <a:ext cx="1421606" cy="846981"/>
          </a:xfrm>
          <a:prstGeom prst="roundRect">
            <a:avLst>
              <a:gd name="adj" fmla="val 15744"/>
            </a:avLst>
          </a:prstGeom>
          <a:solidFill>
            <a:srgbClr val="FFFFFF"/>
          </a:solidFill>
          <a:ln w="7144">
            <a:solidFill>
              <a:srgbClr val="E5E7EB"/>
            </a:solidFill>
            <a:prstDash val="solid"/>
          </a:ln>
          <a:effectLst>
            <a:outerShdw sx="100000" sy="100000" kx="0" ky="0" algn="bl" rotWithShape="0" blurRad="171450" dist="57150" dir="5400000">
              <a:srgbClr val="7C3AED">
                <a:alpha val="8000"/>
              </a:srgbClr>
            </a:outerShdw>
          </a:effectLst>
        </p:spPr>
        <p:txBody>
          <a:bodyPr wrap="square" rtlCol="0" anchor="ctr"/>
          <a:lstStyle/>
          <a:p>
            <a:pPr indent="0" marL="0">
              <a:buNone/>
            </a:pPr>
            <a:endParaRPr lang="en-US" dirty="0"/>
          </a:p>
        </p:txBody>
      </p:sp>
      <p:sp>
        <p:nvSpPr>
          <p:cNvPr id="18" name="Text 12"/>
          <p:cNvSpPr/>
          <p:nvPr/>
        </p:nvSpPr>
        <p:spPr>
          <a:xfrm>
            <a:off x="564356" y="1635026"/>
            <a:ext cx="200025" cy="200025"/>
          </a:xfrm>
          <a:prstGeom prst="roundRect">
            <a:avLst>
              <a:gd name="adj" fmla="val 38095"/>
            </a:avLst>
          </a:prstGeom>
          <a:solidFill>
            <a:srgbClr val="F5F3FF"/>
          </a:solidFill>
          <a:ln/>
        </p:spPr>
        <p:txBody>
          <a:bodyPr wrap="square" rtlCol="0" anchor="ctr"/>
          <a:lstStyle/>
          <a:p>
            <a:pPr indent="0" marL="0">
              <a:buNone/>
            </a:pPr>
            <a:endParaRPr lang="en-US" dirty="0"/>
          </a:p>
        </p:txBody>
      </p:sp>
      <p:sp>
        <p:nvSpPr>
          <p:cNvPr id="19" name="Text 13"/>
          <p:cNvSpPr/>
          <p:nvPr/>
        </p:nvSpPr>
        <p:spPr>
          <a:xfrm>
            <a:off x="571143" y="1641812"/>
            <a:ext cx="186452" cy="186452"/>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20" name="Text 14"/>
          <p:cNvSpPr/>
          <p:nvPr/>
        </p:nvSpPr>
        <p:spPr>
          <a:xfrm>
            <a:off x="821531" y="1681683"/>
            <a:ext cx="957263" cy="126082"/>
          </a:xfrm>
          <a:prstGeom prst="rect">
            <a:avLst/>
          </a:prstGeom>
          <a:noFill/>
          <a:ln/>
        </p:spPr>
        <p:txBody>
          <a:bodyPr wrap="none" lIns="0" tIns="0" rIns="0" bIns="0" rtlCol="0" anchor="t"/>
          <a:lstStyle/>
          <a:p>
            <a:pPr algn="l" indent="0" marL="0">
              <a:lnSpc>
                <a:spcPts val="841"/>
              </a:lnSpc>
              <a:buNone/>
            </a:pPr>
            <a:r>
              <a:rPr lang="en-US" sz="800" b="1" spc="-7" kern="0" dirty="0">
                <a:solidFill>
                  <a:srgbClr val="6D28D9"/>
                </a:solidFill>
                <a:latin typeface="Carlito" pitchFamily="34" charset="0"/>
                <a:ea typeface="Carlito" pitchFamily="34" charset="-122"/>
                <a:cs typeface="Carlito" pitchFamily="34" charset="-120"/>
              </a:rPr>
              <a:t>AI Agent</a:t>
            </a:r>
            <a:endParaRPr lang="en-US" sz="800" dirty="0"/>
          </a:p>
        </p:txBody>
      </p:sp>
      <p:sp>
        <p:nvSpPr>
          <p:cNvPr id="21" name="Text 15"/>
          <p:cNvSpPr/>
          <p:nvPr/>
        </p:nvSpPr>
        <p:spPr>
          <a:xfrm>
            <a:off x="564356" y="1863626"/>
            <a:ext cx="1287304" cy="439787"/>
          </a:xfrm>
          <a:prstGeom prst="rect">
            <a:avLst/>
          </a:prstGeom>
          <a:noFill/>
          <a:ln/>
        </p:spPr>
        <p:txBody>
          <a:bodyPr wrap="square" lIns="0" tIns="0" rIns="0" bIns="0" rtlCol="0" anchor="t"/>
          <a:lstStyle/>
          <a:p>
            <a:pPr algn="l" indent="0" marL="0">
              <a:lnSpc>
                <a:spcPts val="866"/>
              </a:lnSpc>
              <a:buNone/>
            </a:pPr>
            <a:r>
              <a:rPr lang="en-US" sz="800" dirty="0">
                <a:solidFill>
                  <a:srgbClr val="374151"/>
                </a:solidFill>
                <a:latin typeface="Carlito" pitchFamily="34" charset="0"/>
                <a:ea typeface="Carlito" pitchFamily="34" charset="-122"/>
                <a:cs typeface="Carlito" pitchFamily="34" charset="-120"/>
              </a:rPr>
              <a:t>Autonomous chat &amp; voice. Resolves simple needs; escalates complex ones to a video advisor with full context.</a:t>
            </a:r>
            <a:endParaRPr lang="en-US" sz="800" dirty="0"/>
          </a:p>
        </p:txBody>
      </p:sp>
      <p:sp>
        <p:nvSpPr>
          <p:cNvPr id="22" name="Text 16"/>
          <p:cNvSpPr/>
          <p:nvPr/>
        </p:nvSpPr>
        <p:spPr>
          <a:xfrm>
            <a:off x="7261622" y="1545729"/>
            <a:ext cx="1421606" cy="956928"/>
          </a:xfrm>
          <a:prstGeom prst="roundRect">
            <a:avLst>
              <a:gd name="adj" fmla="val 13935"/>
            </a:avLst>
          </a:prstGeom>
          <a:solidFill>
            <a:srgbClr val="FFFFFF"/>
          </a:solidFill>
          <a:ln w="7144">
            <a:solidFill>
              <a:srgbClr val="E5E7EB"/>
            </a:solidFill>
            <a:prstDash val="solid"/>
          </a:ln>
          <a:effectLst>
            <a:outerShdw sx="100000" sy="100000" kx="0" ky="0" algn="bl" rotWithShape="0" blurRad="171450" dist="57150" dir="5400000">
              <a:srgbClr val="7C3AED">
                <a:alpha val="8000"/>
              </a:srgbClr>
            </a:outerShdw>
          </a:effectLst>
        </p:spPr>
        <p:txBody>
          <a:bodyPr wrap="square" rtlCol="0" anchor="ctr"/>
          <a:lstStyle/>
          <a:p>
            <a:pPr indent="0" marL="0">
              <a:buNone/>
            </a:pPr>
            <a:endParaRPr lang="en-US" dirty="0"/>
          </a:p>
        </p:txBody>
      </p:sp>
      <p:sp>
        <p:nvSpPr>
          <p:cNvPr id="23" name="Text 17"/>
          <p:cNvSpPr/>
          <p:nvPr/>
        </p:nvSpPr>
        <p:spPr>
          <a:xfrm>
            <a:off x="7365206" y="1635026"/>
            <a:ext cx="200025" cy="200025"/>
          </a:xfrm>
          <a:prstGeom prst="roundRect">
            <a:avLst>
              <a:gd name="adj" fmla="val 38095"/>
            </a:avLst>
          </a:prstGeom>
          <a:solidFill>
            <a:srgbClr val="F5F3FF"/>
          </a:solidFill>
          <a:ln/>
        </p:spPr>
        <p:txBody>
          <a:bodyPr wrap="square" rtlCol="0" anchor="ctr"/>
          <a:lstStyle/>
          <a:p>
            <a:pPr indent="0" marL="0">
              <a:buNone/>
            </a:pPr>
            <a:endParaRPr lang="en-US" dirty="0"/>
          </a:p>
        </p:txBody>
      </p:sp>
      <p:sp>
        <p:nvSpPr>
          <p:cNvPr id="24" name="Text 18"/>
          <p:cNvSpPr/>
          <p:nvPr/>
        </p:nvSpPr>
        <p:spPr>
          <a:xfrm>
            <a:off x="7371993" y="1641812"/>
            <a:ext cx="186452" cy="186452"/>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25" name="Text 19"/>
          <p:cNvSpPr/>
          <p:nvPr/>
        </p:nvSpPr>
        <p:spPr>
          <a:xfrm>
            <a:off x="7622381" y="1681683"/>
            <a:ext cx="957263" cy="126082"/>
          </a:xfrm>
          <a:prstGeom prst="rect">
            <a:avLst/>
          </a:prstGeom>
          <a:noFill/>
          <a:ln/>
        </p:spPr>
        <p:txBody>
          <a:bodyPr wrap="none" lIns="0" tIns="0" rIns="0" bIns="0" rtlCol="0" anchor="t"/>
          <a:lstStyle/>
          <a:p>
            <a:pPr algn="l" indent="0" marL="0">
              <a:lnSpc>
                <a:spcPts val="841"/>
              </a:lnSpc>
              <a:buNone/>
            </a:pPr>
            <a:r>
              <a:rPr lang="en-US" sz="800" b="1" spc="-7" kern="0" dirty="0">
                <a:solidFill>
                  <a:srgbClr val="6D28D9"/>
                </a:solidFill>
                <a:latin typeface="Carlito" pitchFamily="34" charset="0"/>
                <a:ea typeface="Carlito" pitchFamily="34" charset="-122"/>
                <a:cs typeface="Carlito" pitchFamily="34" charset="-120"/>
              </a:rPr>
              <a:t>AI Guru</a:t>
            </a:r>
            <a:endParaRPr lang="en-US" sz="800" dirty="0"/>
          </a:p>
        </p:txBody>
      </p:sp>
      <p:sp>
        <p:nvSpPr>
          <p:cNvPr id="26" name="Text 20"/>
          <p:cNvSpPr/>
          <p:nvPr/>
        </p:nvSpPr>
        <p:spPr>
          <a:xfrm>
            <a:off x="7365206" y="1863626"/>
            <a:ext cx="1287304" cy="549734"/>
          </a:xfrm>
          <a:prstGeom prst="rect">
            <a:avLst/>
          </a:prstGeom>
          <a:noFill/>
          <a:ln/>
        </p:spPr>
        <p:txBody>
          <a:bodyPr wrap="square" lIns="0" tIns="0" rIns="0" bIns="0" rtlCol="0" anchor="t"/>
          <a:lstStyle/>
          <a:p>
            <a:pPr algn="l" indent="0" marL="0">
              <a:lnSpc>
                <a:spcPts val="866"/>
              </a:lnSpc>
              <a:buNone/>
            </a:pPr>
            <a:r>
              <a:rPr lang="en-US" sz="800" dirty="0">
                <a:solidFill>
                  <a:srgbClr val="374151"/>
                </a:solidFill>
                <a:latin typeface="Carlito" pitchFamily="34" charset="0"/>
                <a:ea typeface="Carlito" pitchFamily="34" charset="-122"/>
                <a:cs typeface="Carlito" pitchFamily="34" charset="-120"/>
              </a:rPr>
              <a:t>RAG co-pilot for the advisor. Live sentiment, coaching prompts &amp; CSAT recommendations during the session.</a:t>
            </a:r>
            <a:endParaRPr lang="en-US" sz="800" dirty="0"/>
          </a:p>
        </p:txBody>
      </p:sp>
      <p:sp>
        <p:nvSpPr>
          <p:cNvPr id="27" name="Text 21"/>
          <p:cNvSpPr/>
          <p:nvPr/>
        </p:nvSpPr>
        <p:spPr>
          <a:xfrm>
            <a:off x="460772" y="3263354"/>
            <a:ext cx="1421606" cy="846981"/>
          </a:xfrm>
          <a:prstGeom prst="roundRect">
            <a:avLst>
              <a:gd name="adj" fmla="val 15744"/>
            </a:avLst>
          </a:prstGeom>
          <a:solidFill>
            <a:srgbClr val="FFFFFF"/>
          </a:solidFill>
          <a:ln w="7144">
            <a:solidFill>
              <a:srgbClr val="E5E7EB"/>
            </a:solidFill>
            <a:prstDash val="solid"/>
          </a:ln>
          <a:effectLst>
            <a:outerShdw sx="100000" sy="100000" kx="0" ky="0" algn="bl" rotWithShape="0" blurRad="171450" dist="57150" dir="5400000">
              <a:srgbClr val="7C3AED">
                <a:alpha val="8000"/>
              </a:srgbClr>
            </a:outerShdw>
          </a:effectLst>
        </p:spPr>
        <p:txBody>
          <a:bodyPr wrap="square" rtlCol="0" anchor="ctr"/>
          <a:lstStyle/>
          <a:p>
            <a:pPr indent="0" marL="0">
              <a:buNone/>
            </a:pPr>
            <a:endParaRPr lang="en-US" dirty="0"/>
          </a:p>
        </p:txBody>
      </p:sp>
      <p:sp>
        <p:nvSpPr>
          <p:cNvPr id="28" name="Text 22"/>
          <p:cNvSpPr/>
          <p:nvPr/>
        </p:nvSpPr>
        <p:spPr>
          <a:xfrm>
            <a:off x="564356" y="3352651"/>
            <a:ext cx="200025" cy="200025"/>
          </a:xfrm>
          <a:prstGeom prst="roundRect">
            <a:avLst>
              <a:gd name="adj" fmla="val 38095"/>
            </a:avLst>
          </a:prstGeom>
          <a:solidFill>
            <a:srgbClr val="F5F3FF"/>
          </a:solidFill>
          <a:ln/>
        </p:spPr>
        <p:txBody>
          <a:bodyPr wrap="square" rtlCol="0" anchor="ctr"/>
          <a:lstStyle/>
          <a:p>
            <a:pPr indent="0" marL="0">
              <a:buNone/>
            </a:pPr>
            <a:endParaRPr lang="en-US" dirty="0"/>
          </a:p>
        </p:txBody>
      </p:sp>
      <p:sp>
        <p:nvSpPr>
          <p:cNvPr id="29" name="Text 23"/>
          <p:cNvSpPr/>
          <p:nvPr/>
        </p:nvSpPr>
        <p:spPr>
          <a:xfrm>
            <a:off x="571143" y="3359438"/>
            <a:ext cx="186452" cy="186452"/>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30" name="Text 24"/>
          <p:cNvSpPr/>
          <p:nvPr/>
        </p:nvSpPr>
        <p:spPr>
          <a:xfrm>
            <a:off x="821531" y="3399309"/>
            <a:ext cx="957263" cy="126082"/>
          </a:xfrm>
          <a:prstGeom prst="rect">
            <a:avLst/>
          </a:prstGeom>
          <a:noFill/>
          <a:ln/>
        </p:spPr>
        <p:txBody>
          <a:bodyPr wrap="none" lIns="0" tIns="0" rIns="0" bIns="0" rtlCol="0" anchor="t"/>
          <a:lstStyle/>
          <a:p>
            <a:pPr algn="l" indent="0" marL="0">
              <a:lnSpc>
                <a:spcPts val="841"/>
              </a:lnSpc>
              <a:buNone/>
            </a:pPr>
            <a:r>
              <a:rPr lang="en-US" sz="800" b="1" spc="-7" kern="0" dirty="0">
                <a:solidFill>
                  <a:srgbClr val="6D28D9"/>
                </a:solidFill>
                <a:latin typeface="Carlito" pitchFamily="34" charset="0"/>
                <a:ea typeface="Carlito" pitchFamily="34" charset="-122"/>
                <a:cs typeface="Carlito" pitchFamily="34" charset="-120"/>
              </a:rPr>
              <a:t>AI Analytics</a:t>
            </a:r>
            <a:endParaRPr lang="en-US" sz="800" dirty="0"/>
          </a:p>
        </p:txBody>
      </p:sp>
      <p:sp>
        <p:nvSpPr>
          <p:cNvPr id="31" name="Text 25"/>
          <p:cNvSpPr/>
          <p:nvPr/>
        </p:nvSpPr>
        <p:spPr>
          <a:xfrm>
            <a:off x="564356" y="3581251"/>
            <a:ext cx="1287304" cy="439787"/>
          </a:xfrm>
          <a:prstGeom prst="rect">
            <a:avLst/>
          </a:prstGeom>
          <a:noFill/>
          <a:ln/>
        </p:spPr>
        <p:txBody>
          <a:bodyPr wrap="square" lIns="0" tIns="0" rIns="0" bIns="0" rtlCol="0" anchor="t"/>
          <a:lstStyle/>
          <a:p>
            <a:pPr algn="l" indent="0" marL="0">
              <a:lnSpc>
                <a:spcPts val="866"/>
              </a:lnSpc>
              <a:buNone/>
            </a:pPr>
            <a:r>
              <a:rPr lang="en-US" sz="800" dirty="0">
                <a:solidFill>
                  <a:srgbClr val="374151"/>
                </a:solidFill>
                <a:latin typeface="Carlito" pitchFamily="34" charset="0"/>
                <a:ea typeface="Carlito" pitchFamily="34" charset="-122"/>
                <a:cs typeface="Carlito" pitchFamily="34" charset="-120"/>
              </a:rPr>
              <a:t>Every session transcribed, sentiment-scored, PII-redacted. Live dashboards &amp; executive trends.</a:t>
            </a:r>
            <a:endParaRPr lang="en-US" sz="800" dirty="0"/>
          </a:p>
        </p:txBody>
      </p:sp>
      <p:sp>
        <p:nvSpPr>
          <p:cNvPr id="32" name="Text 26"/>
          <p:cNvSpPr/>
          <p:nvPr/>
        </p:nvSpPr>
        <p:spPr>
          <a:xfrm>
            <a:off x="7261622" y="3263354"/>
            <a:ext cx="1421606" cy="846981"/>
          </a:xfrm>
          <a:prstGeom prst="roundRect">
            <a:avLst>
              <a:gd name="adj" fmla="val 15744"/>
            </a:avLst>
          </a:prstGeom>
          <a:solidFill>
            <a:srgbClr val="FFFFFF"/>
          </a:solidFill>
          <a:ln w="7144">
            <a:solidFill>
              <a:srgbClr val="E5E7EB"/>
            </a:solidFill>
            <a:prstDash val="solid"/>
          </a:ln>
          <a:effectLst>
            <a:outerShdw sx="100000" sy="100000" kx="0" ky="0" algn="bl" rotWithShape="0" blurRad="171450" dist="57150" dir="5400000">
              <a:srgbClr val="7C3AED">
                <a:alpha val="8000"/>
              </a:srgbClr>
            </a:outerShdw>
          </a:effectLst>
        </p:spPr>
        <p:txBody>
          <a:bodyPr wrap="square" rtlCol="0" anchor="ctr"/>
          <a:lstStyle/>
          <a:p>
            <a:pPr indent="0" marL="0">
              <a:buNone/>
            </a:pPr>
            <a:endParaRPr lang="en-US" dirty="0"/>
          </a:p>
        </p:txBody>
      </p:sp>
      <p:sp>
        <p:nvSpPr>
          <p:cNvPr id="33" name="Text 27"/>
          <p:cNvSpPr/>
          <p:nvPr/>
        </p:nvSpPr>
        <p:spPr>
          <a:xfrm>
            <a:off x="7365206" y="3352651"/>
            <a:ext cx="200025" cy="200025"/>
          </a:xfrm>
          <a:prstGeom prst="roundRect">
            <a:avLst>
              <a:gd name="adj" fmla="val 38095"/>
            </a:avLst>
          </a:prstGeom>
          <a:solidFill>
            <a:srgbClr val="F5F3FF"/>
          </a:solidFill>
          <a:ln/>
        </p:spPr>
        <p:txBody>
          <a:bodyPr wrap="square" rtlCol="0" anchor="ctr"/>
          <a:lstStyle/>
          <a:p>
            <a:pPr indent="0" marL="0">
              <a:buNone/>
            </a:pPr>
            <a:endParaRPr lang="en-US" dirty="0"/>
          </a:p>
        </p:txBody>
      </p:sp>
      <p:sp>
        <p:nvSpPr>
          <p:cNvPr id="34" name="Text 28"/>
          <p:cNvSpPr/>
          <p:nvPr/>
        </p:nvSpPr>
        <p:spPr>
          <a:xfrm>
            <a:off x="7371993" y="3359438"/>
            <a:ext cx="186452" cy="186452"/>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35" name="Text 29"/>
          <p:cNvSpPr/>
          <p:nvPr/>
        </p:nvSpPr>
        <p:spPr>
          <a:xfrm>
            <a:off x="7622381" y="3399309"/>
            <a:ext cx="957263" cy="126082"/>
          </a:xfrm>
          <a:prstGeom prst="rect">
            <a:avLst/>
          </a:prstGeom>
          <a:noFill/>
          <a:ln/>
        </p:spPr>
        <p:txBody>
          <a:bodyPr wrap="none" lIns="0" tIns="0" rIns="0" bIns="0" rtlCol="0" anchor="t"/>
          <a:lstStyle/>
          <a:p>
            <a:pPr algn="l" indent="0" marL="0">
              <a:lnSpc>
                <a:spcPts val="841"/>
              </a:lnSpc>
              <a:buNone/>
            </a:pPr>
            <a:r>
              <a:rPr lang="en-US" sz="800" b="1" spc="-7" kern="0" dirty="0">
                <a:solidFill>
                  <a:srgbClr val="6D28D9"/>
                </a:solidFill>
                <a:latin typeface="Carlito" pitchFamily="34" charset="0"/>
                <a:ea typeface="Carlito" pitchFamily="34" charset="-122"/>
                <a:cs typeface="Carlito" pitchFamily="34" charset="-120"/>
              </a:rPr>
              <a:t>MassaPro Flow</a:t>
            </a:r>
            <a:endParaRPr lang="en-US" sz="800" dirty="0"/>
          </a:p>
        </p:txBody>
      </p:sp>
      <p:sp>
        <p:nvSpPr>
          <p:cNvPr id="36" name="Text 30"/>
          <p:cNvSpPr/>
          <p:nvPr/>
        </p:nvSpPr>
        <p:spPr>
          <a:xfrm>
            <a:off x="7365206" y="3581251"/>
            <a:ext cx="1287304" cy="439787"/>
          </a:xfrm>
          <a:prstGeom prst="rect">
            <a:avLst/>
          </a:prstGeom>
          <a:noFill/>
          <a:ln/>
        </p:spPr>
        <p:txBody>
          <a:bodyPr wrap="square" lIns="0" tIns="0" rIns="0" bIns="0" rtlCol="0" anchor="t"/>
          <a:lstStyle/>
          <a:p>
            <a:pPr algn="l" indent="0" marL="0">
              <a:lnSpc>
                <a:spcPts val="866"/>
              </a:lnSpc>
              <a:buNone/>
            </a:pPr>
            <a:r>
              <a:rPr lang="en-US" sz="800" dirty="0">
                <a:solidFill>
                  <a:srgbClr val="374151"/>
                </a:solidFill>
                <a:latin typeface="Carlito" pitchFamily="34" charset="0"/>
                <a:ea typeface="Carlito" pitchFamily="34" charset="-122"/>
                <a:cs typeface="Carlito" pitchFamily="34" charset="-120"/>
              </a:rPr>
              <a:t>Drag-and-drop orchestration across channels. Kiosk → AI Agent → advisor → supervisor, no context lost.</a:t>
            </a:r>
            <a:endParaRPr lang="en-US" sz="800" dirty="0"/>
          </a:p>
        </p:txBody>
      </p:sp>
      <p:pic>
        <p:nvPicPr>
          <p:cNvPr id="37" name="Image 4" descr="preencoded.png">    </p:cNvPr>
          <p:cNvPicPr>
            <a:picLocks noChangeAspect="1"/>
          </p:cNvPicPr>
          <p:nvPr/>
        </p:nvPicPr>
        <p:blipFill>
          <a:blip r:embed="rId5"/>
          <a:stretch>
            <a:fillRect/>
          </a:stretch>
        </p:blipFill>
        <p:spPr>
          <a:xfrm>
            <a:off x="3786188" y="2042220"/>
            <a:ext cx="1571625" cy="1571625"/>
          </a:xfrm>
          <a:prstGeom prst="rect">
            <a:avLst/>
          </a:prstGeom>
        </p:spPr>
      </p:pic>
      <p:sp>
        <p:nvSpPr>
          <p:cNvPr id="38" name="Text 31"/>
          <p:cNvSpPr/>
          <p:nvPr/>
        </p:nvSpPr>
        <p:spPr>
          <a:xfrm>
            <a:off x="3793331" y="2049363"/>
            <a:ext cx="1557338" cy="1557338"/>
          </a:xfrm>
          <a:prstGeom prst="roundRect">
            <a:avLst>
              <a:gd name="adj" fmla="val 17125"/>
            </a:avLst>
          </a:prstGeom>
          <a:noFill/>
          <a:ln w="14288">
            <a:solidFill>
              <a:srgbClr val="A78BFA"/>
            </a:solidFill>
            <a:prstDash val="solid"/>
          </a:ln>
          <a:effectLst>
            <a:outerShdw sx="100000" sy="100000" kx="0" ky="0" algn="bl" rotWithShape="0" blurRad="476250" dist="171450" dir="5400000">
              <a:srgbClr val="7C3AED">
                <a:alpha val="45000"/>
              </a:srgbClr>
            </a:outerShdw>
          </a:effectLst>
        </p:spPr>
        <p:txBody>
          <a:bodyPr wrap="square" rtlCol="0" anchor="ctr"/>
          <a:lstStyle/>
          <a:p>
            <a:pPr indent="0" marL="0">
              <a:buNone/>
            </a:pPr>
            <a:endParaRPr lang="en-US" dirty="0"/>
          </a:p>
        </p:txBody>
      </p:sp>
      <p:sp>
        <p:nvSpPr>
          <p:cNvPr id="39" name="Text 32"/>
          <p:cNvSpPr/>
          <p:nvPr/>
        </p:nvSpPr>
        <p:spPr>
          <a:xfrm>
            <a:off x="4436269" y="2374627"/>
            <a:ext cx="271463" cy="271463"/>
          </a:xfrm>
          <a:prstGeom prst="roundRect">
            <a:avLst>
              <a:gd name="adj" fmla="val 35088"/>
            </a:avLst>
          </a:prstGeom>
          <a:solidFill>
            <a:srgbClr val="FFFFFF">
              <a:alpha val="16000"/>
            </a:srgbClr>
          </a:solidFill>
          <a:ln/>
        </p:spPr>
        <p:txBody>
          <a:bodyPr wrap="square" rtlCol="0" anchor="ctr"/>
          <a:lstStyle/>
          <a:p>
            <a:pPr indent="0" marL="0">
              <a:buNone/>
            </a:pPr>
            <a:endParaRPr lang="en-US" dirty="0"/>
          </a:p>
        </p:txBody>
      </p:sp>
      <p:sp>
        <p:nvSpPr>
          <p:cNvPr id="40" name="Text 33"/>
          <p:cNvSpPr/>
          <p:nvPr/>
        </p:nvSpPr>
        <p:spPr>
          <a:xfrm>
            <a:off x="4458057" y="2396416"/>
            <a:ext cx="227886" cy="227886"/>
          </a:xfrm>
          <a:prstGeom prst="rect">
            <a:avLst/>
          </a:prstGeom>
          <a:noFill/>
          <a:ln/>
        </p:spPr>
        <p:txBody>
          <a:bodyPr wrap="none" lIns="0" tIns="0" rIns="0" bIns="0" rtlCol="0" anchor="ctr"/>
          <a:lstStyle/>
          <a:p>
            <a:pPr algn="ctr" indent="0" marL="0">
              <a:buNone/>
            </a:pPr>
            <a:r>
              <a:rPr lang="en-US" sz="1547" dirty="0">
                <a:solidFill>
                  <a:srgbClr val="FFFFFF"/>
                </a:solidFill>
                <a:latin typeface="Segoe UI Symbol" pitchFamily="34" charset="0"/>
                <a:ea typeface="Segoe UI Symbol" pitchFamily="34" charset="-122"/>
                <a:cs typeface="Segoe UI Symbol" pitchFamily="34" charset="-120"/>
              </a:rPr>
              <a:t>▶</a:t>
            </a:r>
            <a:endParaRPr lang="en-US" sz="1547" dirty="0"/>
          </a:p>
        </p:txBody>
      </p:sp>
      <p:sp>
        <p:nvSpPr>
          <p:cNvPr id="41" name="Text 34"/>
          <p:cNvSpPr/>
          <p:nvPr/>
        </p:nvSpPr>
        <p:spPr>
          <a:xfrm>
            <a:off x="4170584" y="2703240"/>
            <a:ext cx="802721" cy="117229"/>
          </a:xfrm>
          <a:prstGeom prst="rect">
            <a:avLst/>
          </a:prstGeom>
          <a:noFill/>
          <a:ln/>
        </p:spPr>
        <p:txBody>
          <a:bodyPr wrap="none" lIns="0" tIns="0" rIns="0" bIns="0" rtlCol="0" anchor="t">
            <a:normAutofit/>
          </a:bodyPr>
          <a:lstStyle/>
          <a:p>
            <a:pPr algn="ctr" indent="0" marL="0">
              <a:lnSpc>
                <a:spcPts val="802"/>
              </a:lnSpc>
              <a:buNone/>
            </a:pPr>
            <a:r>
              <a:rPr lang="en-US" sz="800" b="1" spc="128" kern="0" dirty="0">
                <a:solidFill>
                  <a:srgbClr val="FFFFFF">
                    <a:alpha val="70000"/>
                  </a:srgbClr>
                </a:solidFill>
                <a:latin typeface="Carlito" pitchFamily="34" charset="0"/>
                <a:ea typeface="Carlito" pitchFamily="34" charset="-122"/>
                <a:cs typeface="Carlito" pitchFamily="34" charset="-120"/>
              </a:rPr>
              <a:t>MASSAPRO</a:t>
            </a:r>
            <a:endParaRPr lang="en-US" sz="800" dirty="0"/>
          </a:p>
        </p:txBody>
      </p:sp>
      <p:sp>
        <p:nvSpPr>
          <p:cNvPr id="42" name="Text 35"/>
          <p:cNvSpPr/>
          <p:nvPr/>
        </p:nvSpPr>
        <p:spPr>
          <a:xfrm>
            <a:off x="4341496" y="2847901"/>
            <a:ext cx="461009" cy="195172"/>
          </a:xfrm>
          <a:prstGeom prst="rect">
            <a:avLst/>
          </a:prstGeom>
          <a:noFill/>
          <a:ln/>
        </p:spPr>
        <p:txBody>
          <a:bodyPr wrap="none" lIns="0" tIns="0" rIns="0" bIns="0" rtlCol="0" anchor="t"/>
          <a:lstStyle/>
          <a:p>
            <a:pPr algn="ctr" indent="0" marL="0">
              <a:lnSpc>
                <a:spcPts val="1423"/>
              </a:lnSpc>
              <a:buNone/>
            </a:pPr>
            <a:r>
              <a:rPr lang="en-US" sz="1238" b="1" spc="-25" kern="0" dirty="0">
                <a:solidFill>
                  <a:srgbClr val="FFFFFF"/>
                </a:solidFill>
                <a:latin typeface="Carlito" pitchFamily="34" charset="0"/>
                <a:ea typeface="Carlito" pitchFamily="34" charset="-122"/>
                <a:cs typeface="Carlito" pitchFamily="34" charset="-120"/>
              </a:rPr>
              <a:t>IVR</a:t>
            </a:r>
            <a:endParaRPr lang="en-US" sz="1238" dirty="0"/>
          </a:p>
        </p:txBody>
      </p:sp>
      <p:sp>
        <p:nvSpPr>
          <p:cNvPr id="43" name="Text 36"/>
          <p:cNvSpPr/>
          <p:nvPr/>
        </p:nvSpPr>
        <p:spPr>
          <a:xfrm>
            <a:off x="4161011" y="3071478"/>
            <a:ext cx="821978" cy="306977"/>
          </a:xfrm>
          <a:prstGeom prst="rect">
            <a:avLst/>
          </a:prstGeom>
          <a:noFill/>
          <a:ln/>
        </p:spPr>
        <p:txBody>
          <a:bodyPr wrap="square" lIns="0" tIns="0" rIns="0" bIns="0" rtlCol="0" anchor="t"/>
          <a:lstStyle/>
          <a:p>
            <a:pPr algn="ctr" indent="0" marL="0">
              <a:lnSpc>
                <a:spcPts val="827"/>
              </a:lnSpc>
              <a:buNone/>
            </a:pPr>
            <a:r>
              <a:rPr lang="en-US" sz="800" dirty="0">
                <a:solidFill>
                  <a:srgbClr val="FFFFFF">
                    <a:alpha val="78000"/>
                  </a:srgbClr>
                </a:solidFill>
                <a:latin typeface="Carlito" pitchFamily="34" charset="0"/>
                <a:ea typeface="Carlito" pitchFamily="34" charset="-122"/>
                <a:cs typeface="Carlito" pitchFamily="34" charset="-120"/>
              </a:rPr>
              <a:t>Face-to-face video</a:t>
            </a:r>
            <a:endParaRPr lang="en-US" sz="800" dirty="0"/>
          </a:p>
          <a:p>
            <a:pPr algn="ctr" indent="0" marL="0">
              <a:lnSpc>
                <a:spcPts val="827"/>
              </a:lnSpc>
              <a:buNone/>
            </a:pPr>
            <a:r>
              <a:rPr lang="en-US" sz="800" dirty="0">
                <a:solidFill>
                  <a:srgbClr val="FFFFFF">
                    <a:alpha val="78000"/>
                  </a:srgbClr>
                </a:solidFill>
                <a:latin typeface="Carlito" pitchFamily="34" charset="0"/>
                <a:ea typeface="Carlito" pitchFamily="34" charset="-122"/>
                <a:cs typeface="Carlito" pitchFamily="34" charset="-120"/>
              </a:rPr>
              <a:t>over the service point</a:t>
            </a:r>
            <a:endParaRPr lang="en-US" sz="800" dirty="0"/>
          </a:p>
        </p:txBody>
      </p:sp>
      <p:sp>
        <p:nvSpPr>
          <p:cNvPr id="44" name="Text 37"/>
          <p:cNvSpPr/>
          <p:nvPr/>
        </p:nvSpPr>
        <p:spPr>
          <a:xfrm>
            <a:off x="7783116" y="2210098"/>
            <a:ext cx="435769" cy="435769"/>
          </a:xfrm>
          <a:prstGeom prst="ellipse">
            <a:avLst/>
          </a:prstGeom>
          <a:noFill/>
          <a:ln w="21431">
            <a:solidFill>
              <a:srgbClr val="7C3AED"/>
            </a:solidFill>
            <a:prstDash val="solid"/>
          </a:ln>
          <a:effectLst>
            <a:outerShdw sx="100000" sy="100000" kx="0" ky="0" algn="bl" rotWithShape="0" blurRad="152400" dist="57150" dir="5400000">
              <a:srgbClr val="7C3AED">
                <a:alpha val="25000"/>
              </a:srgbClr>
            </a:outerShdw>
          </a:effectLst>
        </p:spPr>
        <p:txBody>
          <a:bodyPr wrap="square" rtlCol="0" anchor="ctr"/>
          <a:lstStyle/>
          <a:p>
            <a:pPr indent="0" marL="0">
              <a:buNone/>
            </a:pPr>
            <a:endParaRPr lang="en-US" dirty="0"/>
          </a:p>
        </p:txBody>
      </p:sp>
      <p:pic>
        <p:nvPicPr>
          <p:cNvPr id="45" name="Image 5" descr="/tmp/h2p-fit-1786522340130-q1q6tq.png">    </p:cNvPr>
          <p:cNvPicPr>
            <a:picLocks noChangeAspect="1"/>
          </p:cNvPicPr>
          <p:nvPr/>
        </p:nvPicPr>
        <p:blipFill>
          <a:blip r:embed="rId6"/>
          <a:stretch>
            <a:fillRect/>
          </a:stretch>
        </p:blipFill>
        <p:spPr>
          <a:xfrm>
            <a:off x="7793831" y="2220813"/>
            <a:ext cx="414338" cy="414338"/>
          </a:xfrm>
          <a:prstGeom prst="rect">
            <a:avLst/>
          </a:prstGeom>
        </p:spPr>
      </p:pic>
      <p:sp>
        <p:nvSpPr>
          <p:cNvPr id="46" name="Text 38"/>
          <p:cNvSpPr/>
          <p:nvPr/>
        </p:nvSpPr>
        <p:spPr>
          <a:xfrm>
            <a:off x="342900" y="4854178"/>
            <a:ext cx="7019627"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47" name="Text 39"/>
          <p:cNvSpPr/>
          <p:nvPr/>
        </p:nvSpPr>
        <p:spPr>
          <a:xfrm>
            <a:off x="8110389" y="4877395"/>
            <a:ext cx="7144" cy="71438"/>
          </a:xfrm>
          <a:prstGeom prst="rect">
            <a:avLst/>
          </a:prstGeom>
          <a:solidFill>
            <a:srgbClr val="6B7280">
              <a:alpha val="40000"/>
            </a:srgbClr>
          </a:solidFill>
          <a:ln/>
        </p:spPr>
        <p:txBody>
          <a:bodyPr wrap="square" rtlCol="0" anchor="ctr"/>
          <a:lstStyle/>
          <a:p>
            <a:pPr indent="0" marL="0">
              <a:buNone/>
            </a:pPr>
            <a:endParaRPr lang="en-US" dirty="0"/>
          </a:p>
        </p:txBody>
      </p:sp>
      <p:sp>
        <p:nvSpPr>
          <p:cNvPr id="48" name="Text 40"/>
          <p:cNvSpPr/>
          <p:nvPr/>
        </p:nvSpPr>
        <p:spPr>
          <a:xfrm>
            <a:off x="7376815" y="4854178"/>
            <a:ext cx="1767185"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  </a:t>
            </a:r>
            <a:pPr algn="l" indent="0" marL="0">
              <a:lnSpc>
                <a:spcPts val="928"/>
              </a:lnSpc>
              <a:buNone/>
            </a:pPr>
            <a:r>
              <a:rPr lang="en-US" sz="800" spc="25" kern="0" dirty="0">
                <a:solidFill>
                  <a:srgbClr val="6B7280"/>
                </a:solidFill>
                <a:latin typeface="Liberation Sans Narrow" pitchFamily="34" charset="0"/>
                <a:ea typeface="Liberation Sans Narrow" pitchFamily="34" charset="-122"/>
                <a:cs typeface="Liberation Sans Narrow" pitchFamily="34" charset="-120"/>
              </a:rPr>
              <a:t>SLIDE 10 / 24</a:t>
            </a:r>
            <a:endParaRPr lang="en-US" sz="800" dirty="0"/>
          </a:p>
        </p:txBody>
      </p:sp>
      <p:pic>
        <p:nvPicPr>
          <p:cNvPr id="49" name="Image 6" descr="/home/z/my-project/download/slides/massapro-logo.png">    </p:cNvPr>
          <p:cNvPicPr>
            <a:picLocks noChangeAspect="1"/>
          </p:cNvPicPr>
          <p:nvPr/>
        </p:nvPicPr>
        <p:blipFill>
          <a:blip r:embed="rId7"/>
          <a:stretch>
            <a:fillRect/>
          </a:stretch>
        </p:blipFill>
        <p:spPr>
          <a:xfrm>
            <a:off x="342900" y="200025"/>
            <a:ext cx="200025" cy="200025"/>
          </a:xfrm>
          <a:prstGeom prst="rect">
            <a:avLst/>
          </a:prstGeom>
        </p:spPr>
      </p:pic>
      <p:sp>
        <p:nvSpPr>
          <p:cNvPr id="50" name="Text 41"/>
          <p:cNvSpPr/>
          <p:nvPr/>
        </p:nvSpPr>
        <p:spPr>
          <a:xfrm>
            <a:off x="614363" y="219670"/>
            <a:ext cx="769239"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6D28D9"/>
                </a:solidFill>
                <a:latin typeface="Carlito" pitchFamily="34" charset="0"/>
                <a:ea typeface="Carlito" pitchFamily="34" charset="-122"/>
                <a:cs typeface="Carlito" pitchFamily="34" charset="-120"/>
              </a:rPr>
              <a:t>MassaPro</a:t>
            </a:r>
            <a:endParaRPr lang="en-US" sz="84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429500" y="3571875"/>
            <a:ext cx="2428875" cy="2428875"/>
          </a:xfrm>
          <a:prstGeom prst="rect">
            <a:avLst/>
          </a:prstGeom>
        </p:spPr>
      </p:pic>
      <p:sp>
        <p:nvSpPr>
          <p:cNvPr id="3" name="Text 0"/>
          <p:cNvSpPr/>
          <p:nvPr/>
        </p:nvSpPr>
        <p:spPr>
          <a:xfrm>
            <a:off x="7429500" y="3571875"/>
            <a:ext cx="2428875" cy="2428875"/>
          </a:xfrm>
          <a:prstGeom prst="ellipse">
            <a:avLst/>
          </a:prstGeom>
          <a:solidFill>
            <a:srgbClr val="A78BFA">
              <a:alpha val="0"/>
            </a:srgbClr>
          </a:solidFill>
          <a:ln/>
        </p:spPr>
        <p:txBody>
          <a:bodyPr wrap="square" rtlCol="0" anchor="ctr"/>
          <a:lstStyle/>
          <a:p>
            <a:pPr indent="0" marL="0">
              <a:buNone/>
            </a:pPr>
            <a:endParaRPr lang="en-US" dirty="0"/>
          </a:p>
        </p:txBody>
      </p:sp>
      <p:sp>
        <p:nvSpPr>
          <p:cNvPr id="4" name="Text 1"/>
          <p:cNvSpPr/>
          <p:nvPr/>
        </p:nvSpPr>
        <p:spPr>
          <a:xfrm>
            <a:off x="460772" y="603647"/>
            <a:ext cx="3496084" cy="4079081"/>
          </a:xfrm>
          <a:prstGeom prst="roundRect">
            <a:avLst>
              <a:gd name="adj" fmla="val 5994"/>
            </a:avLst>
          </a:prstGeom>
          <a:noFill/>
          <a:ln w="7144">
            <a:solidFill>
              <a:srgbClr val="EDE9FE"/>
            </a:solidFill>
            <a:prstDash val="solid"/>
          </a:ln>
          <a:effectLst>
            <a:outerShdw sx="100000" sy="100000" kx="0" ky="0" algn="bl" rotWithShape="0" blurRad="342900" dist="133350" dir="5400000">
              <a:srgbClr val="7C3AED">
                <a:alpha val="20000"/>
              </a:srgbClr>
            </a:outerShdw>
          </a:effectLst>
        </p:spPr>
        <p:txBody>
          <a:bodyPr wrap="square" rtlCol="0" anchor="ctr"/>
          <a:lstStyle/>
          <a:p>
            <a:pPr indent="0" marL="0">
              <a:buNone/>
            </a:pPr>
            <a:endParaRPr lang="en-US" dirty="0"/>
          </a:p>
        </p:txBody>
      </p:sp>
      <p:pic>
        <p:nvPicPr>
          <p:cNvPr id="5" name="Image 1" descr="/tmp/h2p-fit-1786522342594-keqg5x.png">    </p:cNvPr>
          <p:cNvPicPr>
            <a:picLocks noChangeAspect="1"/>
          </p:cNvPicPr>
          <p:nvPr/>
        </p:nvPicPr>
        <p:blipFill>
          <a:blip r:embed="rId2"/>
          <a:stretch>
            <a:fillRect/>
          </a:stretch>
        </p:blipFill>
        <p:spPr>
          <a:xfrm>
            <a:off x="464344" y="607219"/>
            <a:ext cx="3488941" cy="4071938"/>
          </a:xfrm>
          <a:prstGeom prst="rect">
            <a:avLst/>
          </a:prstGeom>
        </p:spPr>
      </p:pic>
      <p:sp>
        <p:nvSpPr>
          <p:cNvPr id="6" name="Text 2"/>
          <p:cNvSpPr/>
          <p:nvPr/>
        </p:nvSpPr>
        <p:spPr>
          <a:xfrm>
            <a:off x="4249750" y="603647"/>
            <a:ext cx="4433367" cy="221456"/>
          </a:xfrm>
          <a:prstGeom prst="roundRect">
            <a:avLst>
              <a:gd name="adj" fmla="val 4296779"/>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7" name="Text 3"/>
          <p:cNvSpPr/>
          <p:nvPr/>
        </p:nvSpPr>
        <p:spPr>
          <a:xfrm>
            <a:off x="4524784" y="662583"/>
            <a:ext cx="1721644" cy="129679"/>
          </a:xfrm>
          <a:prstGeom prst="rect">
            <a:avLst/>
          </a:prstGeom>
          <a:noFill/>
          <a:ln/>
        </p:spPr>
        <p:txBody>
          <a:bodyPr wrap="none" lIns="85725" tIns="42863" rIns="85725" bIns="42863" rtlCol="0" anchor="t"/>
          <a:lstStyle/>
          <a:p>
            <a:pPr algn="l" indent="0" marL="0">
              <a:lnSpc>
                <a:spcPts val="928"/>
              </a:lnSpc>
              <a:buNone/>
            </a:pPr>
            <a:r>
              <a:rPr lang="en-US" sz="800" b="1" spc="111" kern="0" dirty="0">
                <a:solidFill>
                  <a:srgbClr val="7C3AED"/>
                </a:solidFill>
                <a:latin typeface="Liberation Sans Narrow" pitchFamily="34" charset="0"/>
                <a:ea typeface="Liberation Sans Narrow" pitchFamily="34" charset="-122"/>
                <a:cs typeface="Liberation Sans Narrow" pitchFamily="34" charset="-120"/>
              </a:rPr>
              <a:t>CHAPTER 02 — HOW IT WORKS</a:t>
            </a:r>
            <a:endParaRPr lang="en-US" sz="800" dirty="0"/>
          </a:p>
        </p:txBody>
      </p:sp>
      <p:sp>
        <p:nvSpPr>
          <p:cNvPr id="8" name="Text 4"/>
          <p:cNvSpPr/>
          <p:nvPr/>
        </p:nvSpPr>
        <p:spPr>
          <a:xfrm>
            <a:off x="4339047" y="650081"/>
            <a:ext cx="128588" cy="128588"/>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9" name="Text 5"/>
          <p:cNvSpPr/>
          <p:nvPr/>
        </p:nvSpPr>
        <p:spPr>
          <a:xfrm>
            <a:off x="4246178" y="914400"/>
            <a:ext cx="4884561" cy="592628"/>
          </a:xfrm>
          <a:prstGeom prst="rect">
            <a:avLst/>
          </a:prstGeom>
          <a:noFill/>
          <a:ln/>
        </p:spPr>
        <p:txBody>
          <a:bodyPr wrap="square" lIns="0" tIns="0" rIns="0" bIns="0" rtlCol="0" anchor="t"/>
          <a:lstStyle/>
          <a:p>
            <a:pPr algn="l" indent="0" marL="0">
              <a:lnSpc>
                <a:spcPts val="2161"/>
              </a:lnSpc>
              <a:buNone/>
            </a:pPr>
            <a:r>
              <a:rPr lang="en-US" sz="1913" b="1" spc="-38" kern="0" dirty="0">
                <a:solidFill>
                  <a:srgbClr val="1F2937"/>
                </a:solidFill>
                <a:latin typeface="Carlito" pitchFamily="34" charset="0"/>
                <a:ea typeface="Carlito" pitchFamily="34" charset="-122"/>
                <a:cs typeface="Carlito" pitchFamily="34" charset="-120"/>
              </a:rPr>
              <a:t>Why It Feels Like </a:t>
            </a:r>
            <a:pPr algn="l" indent="0" marL="0">
              <a:lnSpc>
                <a:spcPts val="2161"/>
              </a:lnSpc>
              <a:buNone/>
            </a:pPr>
            <a:r>
              <a:rPr lang="en-US" sz="1913" b="1" spc="-38" kern="0" dirty="0">
                <a:solidFill>
                  <a:srgbClr val="7C3AED"/>
                </a:solidFill>
                <a:latin typeface="Carlito" pitchFamily="34" charset="0"/>
                <a:ea typeface="Carlito" pitchFamily="34" charset="-122"/>
                <a:cs typeface="Carlito" pitchFamily="34" charset="-120"/>
              </a:rPr>
              <a:t>In-Person Service</a:t>
            </a:r>
            <a:endParaRPr lang="en-US" sz="1913" dirty="0"/>
          </a:p>
        </p:txBody>
      </p:sp>
      <p:sp>
        <p:nvSpPr>
          <p:cNvPr id="10" name="Text 6"/>
          <p:cNvSpPr/>
          <p:nvPr/>
        </p:nvSpPr>
        <p:spPr>
          <a:xfrm>
            <a:off x="4246178" y="1520279"/>
            <a:ext cx="400050" cy="21431"/>
          </a:xfrm>
          <a:prstGeom prst="roundRect">
            <a:avLst>
              <a:gd name="adj" fmla="val 88890"/>
            </a:avLst>
          </a:prstGeom>
          <a:solidFill>
            <a:srgbClr val="7C3AED"/>
          </a:solidFill>
          <a:ln/>
        </p:spPr>
        <p:txBody>
          <a:bodyPr wrap="square" rtlCol="0" anchor="ctr"/>
          <a:lstStyle/>
          <a:p>
            <a:pPr indent="0" marL="0">
              <a:buNone/>
            </a:pPr>
            <a:endParaRPr lang="en-US" dirty="0"/>
          </a:p>
        </p:txBody>
      </p:sp>
      <p:sp>
        <p:nvSpPr>
          <p:cNvPr id="11" name="Text 7"/>
          <p:cNvSpPr/>
          <p:nvPr/>
        </p:nvSpPr>
        <p:spPr>
          <a:xfrm>
            <a:off x="4246178" y="1656011"/>
            <a:ext cx="3857625" cy="493776"/>
          </a:xfrm>
          <a:prstGeom prst="rect">
            <a:avLst/>
          </a:prstGeom>
          <a:noFill/>
          <a:ln/>
        </p:spPr>
        <p:txBody>
          <a:bodyPr wrap="square" lIns="0" tIns="0" rIns="0" bIns="0" rtlCol="0" anchor="t"/>
          <a:lstStyle/>
          <a:p>
            <a:pPr algn="l" indent="0" marL="0">
              <a:lnSpc>
                <a:spcPts val="1097"/>
              </a:lnSpc>
              <a:buNone/>
            </a:pPr>
            <a:r>
              <a:rPr lang="en-US" sz="800" dirty="0">
                <a:solidFill>
                  <a:srgbClr val="6B7280"/>
                </a:solidFill>
                <a:latin typeface="Carlito" pitchFamily="34" charset="0"/>
                <a:ea typeface="Carlito" pitchFamily="34" charset="-122"/>
                <a:cs typeface="Carlito" pitchFamily="34" charset="-120"/>
              </a:rPr>
              <a:t>Three pillars make MassaPro IVR feel like a person standing in front of you — not a video call on a laptop. The technology disappears; the interaction is what the customer remembers.</a:t>
            </a:r>
            <a:endParaRPr lang="en-US" sz="800" dirty="0"/>
          </a:p>
        </p:txBody>
      </p:sp>
      <p:sp>
        <p:nvSpPr>
          <p:cNvPr id="12" name="Text 8"/>
          <p:cNvSpPr/>
          <p:nvPr/>
        </p:nvSpPr>
        <p:spPr>
          <a:xfrm>
            <a:off x="4249750" y="2191792"/>
            <a:ext cx="4433367" cy="769181"/>
          </a:xfrm>
          <a:prstGeom prst="roundRect">
            <a:avLst>
              <a:gd name="adj" fmla="val 17337"/>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13" name="Text 9"/>
          <p:cNvSpPr/>
          <p:nvPr/>
        </p:nvSpPr>
        <p:spPr>
          <a:xfrm>
            <a:off x="4381909" y="2309664"/>
            <a:ext cx="257175" cy="257175"/>
          </a:xfrm>
          <a:prstGeom prst="roundRect">
            <a:avLst>
              <a:gd name="adj" fmla="val 37037"/>
            </a:avLst>
          </a:prstGeom>
          <a:solidFill>
            <a:srgbClr val="F5F3FF"/>
          </a:solidFill>
          <a:ln/>
        </p:spPr>
        <p:txBody>
          <a:bodyPr wrap="square" rtlCol="0" anchor="ctr"/>
          <a:lstStyle/>
          <a:p>
            <a:pPr indent="0" marL="0">
              <a:buNone/>
            </a:pPr>
            <a:endParaRPr lang="en-US" dirty="0"/>
          </a:p>
        </p:txBody>
      </p:sp>
      <p:sp>
        <p:nvSpPr>
          <p:cNvPr id="14" name="Text 10"/>
          <p:cNvSpPr/>
          <p:nvPr/>
        </p:nvSpPr>
        <p:spPr>
          <a:xfrm>
            <a:off x="4427629" y="2355384"/>
            <a:ext cx="165735" cy="165735"/>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15" name="Text 11"/>
          <p:cNvSpPr/>
          <p:nvPr/>
        </p:nvSpPr>
        <p:spPr>
          <a:xfrm>
            <a:off x="4724809" y="2309664"/>
            <a:ext cx="3826148" cy="133302"/>
          </a:xfrm>
          <a:prstGeom prst="rect">
            <a:avLst/>
          </a:prstGeom>
          <a:noFill/>
          <a:ln/>
        </p:spPr>
        <p:txBody>
          <a:bodyPr wrap="none" lIns="0" tIns="0" rIns="0" bIns="0" rtlCol="0" anchor="t">
            <a:normAutofit/>
          </a:bodyPr>
          <a:lstStyle/>
          <a:p>
            <a:pPr algn="l" indent="0" marL="0">
              <a:lnSpc>
                <a:spcPts val="1266"/>
              </a:lnSpc>
              <a:buNone/>
            </a:pPr>
            <a:r>
              <a:rPr lang="en-US" sz="844" b="1" spc="-8" kern="0" dirty="0">
                <a:solidFill>
                  <a:srgbClr val="6D28D9"/>
                </a:solidFill>
                <a:latin typeface="Carlito" pitchFamily="34" charset="0"/>
                <a:ea typeface="Carlito" pitchFamily="34" charset="-122"/>
                <a:cs typeface="Carlito" pitchFamily="34" charset="-120"/>
              </a:rPr>
              <a:t>Human Scale</a:t>
            </a:r>
            <a:endParaRPr lang="en-US" sz="844" dirty="0"/>
          </a:p>
        </p:txBody>
      </p:sp>
      <p:sp>
        <p:nvSpPr>
          <p:cNvPr id="16" name="Text 12"/>
          <p:cNvSpPr/>
          <p:nvPr/>
        </p:nvSpPr>
        <p:spPr>
          <a:xfrm>
            <a:off x="4724809" y="2470398"/>
            <a:ext cx="3826148" cy="372703"/>
          </a:xfrm>
          <a:prstGeom prst="rect">
            <a:avLst/>
          </a:prstGeom>
          <a:noFill/>
          <a:ln/>
        </p:spPr>
        <p:txBody>
          <a:bodyPr wrap="square" lIns="0" tIns="0" rIns="0" bIns="0" rtlCol="0" anchor="t"/>
          <a:lstStyle/>
          <a:p>
            <a:pPr algn="l" indent="0" marL="0">
              <a:lnSpc>
                <a:spcPts val="979"/>
              </a:lnSpc>
              <a:buNone/>
            </a:pPr>
            <a:r>
              <a:rPr lang="en-US" sz="800" dirty="0">
                <a:solidFill>
                  <a:srgbClr val="374151"/>
                </a:solidFill>
                <a:latin typeface="Carlito" pitchFamily="34" charset="0"/>
                <a:ea typeface="Carlito" pitchFamily="34" charset="-122"/>
                <a:cs typeface="Carlito" pitchFamily="34" charset="-120"/>
              </a:rPr>
              <a:t>The advisor appears life-size on the service point's screen, looking straight at the camera. Perceived service and trust match a staffed counter — not a video call on a laptop; a person standing in front of you.</a:t>
            </a:r>
            <a:endParaRPr lang="en-US" sz="800" dirty="0"/>
          </a:p>
        </p:txBody>
      </p:sp>
      <p:sp>
        <p:nvSpPr>
          <p:cNvPr id="17" name="Text 13"/>
          <p:cNvSpPr/>
          <p:nvPr/>
        </p:nvSpPr>
        <p:spPr>
          <a:xfrm>
            <a:off x="4249750" y="3053842"/>
            <a:ext cx="4433367" cy="769181"/>
          </a:xfrm>
          <a:prstGeom prst="roundRect">
            <a:avLst>
              <a:gd name="adj" fmla="val 17337"/>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18" name="Text 14"/>
          <p:cNvSpPr/>
          <p:nvPr/>
        </p:nvSpPr>
        <p:spPr>
          <a:xfrm>
            <a:off x="4381909" y="3171713"/>
            <a:ext cx="257175" cy="257175"/>
          </a:xfrm>
          <a:prstGeom prst="roundRect">
            <a:avLst>
              <a:gd name="adj" fmla="val 37037"/>
            </a:avLst>
          </a:prstGeom>
          <a:solidFill>
            <a:srgbClr val="F5F3FF"/>
          </a:solidFill>
          <a:ln/>
        </p:spPr>
        <p:txBody>
          <a:bodyPr wrap="square" rtlCol="0" anchor="ctr"/>
          <a:lstStyle/>
          <a:p>
            <a:pPr indent="0" marL="0">
              <a:buNone/>
            </a:pPr>
            <a:endParaRPr lang="en-US" dirty="0"/>
          </a:p>
        </p:txBody>
      </p:sp>
      <p:sp>
        <p:nvSpPr>
          <p:cNvPr id="19" name="Text 15"/>
          <p:cNvSpPr/>
          <p:nvPr/>
        </p:nvSpPr>
        <p:spPr>
          <a:xfrm>
            <a:off x="4427629" y="3217433"/>
            <a:ext cx="165735" cy="165735"/>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20" name="Text 16"/>
          <p:cNvSpPr/>
          <p:nvPr/>
        </p:nvSpPr>
        <p:spPr>
          <a:xfrm>
            <a:off x="4724809" y="3171713"/>
            <a:ext cx="3826148" cy="133302"/>
          </a:xfrm>
          <a:prstGeom prst="rect">
            <a:avLst/>
          </a:prstGeom>
          <a:noFill/>
          <a:ln/>
        </p:spPr>
        <p:txBody>
          <a:bodyPr wrap="none" lIns="0" tIns="0" rIns="0" bIns="0" rtlCol="0" anchor="t">
            <a:normAutofit/>
          </a:bodyPr>
          <a:lstStyle/>
          <a:p>
            <a:pPr algn="l" indent="0" marL="0">
              <a:lnSpc>
                <a:spcPts val="1266"/>
              </a:lnSpc>
              <a:buNone/>
            </a:pPr>
            <a:r>
              <a:rPr lang="en-US" sz="844" b="1" spc="-8" kern="0" dirty="0">
                <a:solidFill>
                  <a:srgbClr val="6D28D9"/>
                </a:solidFill>
                <a:latin typeface="Carlito" pitchFamily="34" charset="0"/>
                <a:ea typeface="Carlito" pitchFamily="34" charset="-122"/>
                <a:cs typeface="Carlito" pitchFamily="34" charset="-120"/>
              </a:rPr>
              <a:t>Shared Viewing</a:t>
            </a:r>
            <a:endParaRPr lang="en-US" sz="844" dirty="0"/>
          </a:p>
        </p:txBody>
      </p:sp>
      <p:sp>
        <p:nvSpPr>
          <p:cNvPr id="21" name="Text 17"/>
          <p:cNvSpPr/>
          <p:nvPr/>
        </p:nvSpPr>
        <p:spPr>
          <a:xfrm>
            <a:off x="4724809" y="3332448"/>
            <a:ext cx="3826148" cy="372703"/>
          </a:xfrm>
          <a:prstGeom prst="rect">
            <a:avLst/>
          </a:prstGeom>
          <a:noFill/>
          <a:ln/>
        </p:spPr>
        <p:txBody>
          <a:bodyPr wrap="square" lIns="0" tIns="0" rIns="0" bIns="0" rtlCol="0" anchor="t"/>
          <a:lstStyle/>
          <a:p>
            <a:pPr algn="l" indent="0" marL="0">
              <a:lnSpc>
                <a:spcPts val="979"/>
              </a:lnSpc>
              <a:buNone/>
            </a:pPr>
            <a:r>
              <a:rPr lang="en-US" sz="800" dirty="0">
                <a:solidFill>
                  <a:srgbClr val="374151"/>
                </a:solidFill>
                <a:latin typeface="Carlito" pitchFamily="34" charset="0"/>
                <a:ea typeface="Carlito" pitchFamily="34" charset="-122"/>
                <a:cs typeface="Carlito" pitchFamily="34" charset="-120"/>
              </a:rPr>
              <a:t>The advisor shares contracts, forms, or catalogues on screen in real time. Customers visually review orders, applications, or documents before confirming. No more "I will email it to you later."</a:t>
            </a:r>
            <a:endParaRPr lang="en-US" sz="800" dirty="0"/>
          </a:p>
        </p:txBody>
      </p:sp>
      <p:sp>
        <p:nvSpPr>
          <p:cNvPr id="22" name="Text 18"/>
          <p:cNvSpPr/>
          <p:nvPr/>
        </p:nvSpPr>
        <p:spPr>
          <a:xfrm>
            <a:off x="4249750" y="3915891"/>
            <a:ext cx="4433367" cy="644947"/>
          </a:xfrm>
          <a:prstGeom prst="roundRect">
            <a:avLst>
              <a:gd name="adj" fmla="val 20676"/>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23" name="Text 19"/>
          <p:cNvSpPr/>
          <p:nvPr/>
        </p:nvSpPr>
        <p:spPr>
          <a:xfrm>
            <a:off x="4381909" y="4033763"/>
            <a:ext cx="257175" cy="257175"/>
          </a:xfrm>
          <a:prstGeom prst="roundRect">
            <a:avLst>
              <a:gd name="adj" fmla="val 37037"/>
            </a:avLst>
          </a:prstGeom>
          <a:solidFill>
            <a:srgbClr val="F5F3FF"/>
          </a:solidFill>
          <a:ln/>
        </p:spPr>
        <p:txBody>
          <a:bodyPr wrap="square" rtlCol="0" anchor="ctr"/>
          <a:lstStyle/>
          <a:p>
            <a:pPr indent="0" marL="0">
              <a:buNone/>
            </a:pPr>
            <a:endParaRPr lang="en-US" dirty="0"/>
          </a:p>
        </p:txBody>
      </p:sp>
      <p:sp>
        <p:nvSpPr>
          <p:cNvPr id="24" name="Text 20"/>
          <p:cNvSpPr/>
          <p:nvPr/>
        </p:nvSpPr>
        <p:spPr>
          <a:xfrm>
            <a:off x="4427629" y="4079483"/>
            <a:ext cx="165735" cy="165735"/>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25" name="Text 21"/>
          <p:cNvSpPr/>
          <p:nvPr/>
        </p:nvSpPr>
        <p:spPr>
          <a:xfrm>
            <a:off x="4724809" y="4033763"/>
            <a:ext cx="3826148" cy="133302"/>
          </a:xfrm>
          <a:prstGeom prst="rect">
            <a:avLst/>
          </a:prstGeom>
          <a:noFill/>
          <a:ln/>
        </p:spPr>
        <p:txBody>
          <a:bodyPr wrap="none" lIns="0" tIns="0" rIns="0" bIns="0" rtlCol="0" anchor="t">
            <a:normAutofit/>
          </a:bodyPr>
          <a:lstStyle/>
          <a:p>
            <a:pPr algn="l" indent="0" marL="0">
              <a:lnSpc>
                <a:spcPts val="1266"/>
              </a:lnSpc>
              <a:buNone/>
            </a:pPr>
            <a:r>
              <a:rPr lang="en-US" sz="844" b="1" spc="-8" kern="0" dirty="0">
                <a:solidFill>
                  <a:srgbClr val="6D28D9"/>
                </a:solidFill>
                <a:latin typeface="Carlito" pitchFamily="34" charset="0"/>
                <a:ea typeface="Carlito" pitchFamily="34" charset="-122"/>
                <a:cs typeface="Carlito" pitchFamily="34" charset="-120"/>
              </a:rPr>
              <a:t>Control from Their Phone</a:t>
            </a:r>
            <a:endParaRPr lang="en-US" sz="844" dirty="0"/>
          </a:p>
        </p:txBody>
      </p:sp>
      <p:sp>
        <p:nvSpPr>
          <p:cNvPr id="26" name="Text 22"/>
          <p:cNvSpPr/>
          <p:nvPr/>
        </p:nvSpPr>
        <p:spPr>
          <a:xfrm>
            <a:off x="4724809" y="4194497"/>
            <a:ext cx="3826148" cy="248469"/>
          </a:xfrm>
          <a:prstGeom prst="rect">
            <a:avLst/>
          </a:prstGeom>
          <a:noFill/>
          <a:ln/>
        </p:spPr>
        <p:txBody>
          <a:bodyPr wrap="square" lIns="0" tIns="0" rIns="0" bIns="0" rtlCol="0" anchor="t"/>
          <a:lstStyle/>
          <a:p>
            <a:pPr algn="l" indent="0" marL="0">
              <a:lnSpc>
                <a:spcPts val="979"/>
              </a:lnSpc>
              <a:buNone/>
            </a:pPr>
            <a:r>
              <a:rPr lang="en-US" sz="800" dirty="0">
                <a:solidFill>
                  <a:srgbClr val="374151"/>
                </a:solidFill>
                <a:latin typeface="Carlito" pitchFamily="34" charset="0"/>
                <a:ea typeface="Carlito" pitchFamily="34" charset="-122"/>
                <a:cs typeface="Carlito" pitchFamily="34" charset="-120"/>
              </a:rPr>
              <a:t>The customer runs the session from their own phone. No shared touchscreens. No giving up control to a kiosk. They can end the session, mute, or switch channels at any time.</a:t>
            </a:r>
            <a:endParaRPr lang="en-US" sz="800" dirty="0"/>
          </a:p>
        </p:txBody>
      </p:sp>
      <p:sp>
        <p:nvSpPr>
          <p:cNvPr id="27" name="Text 23"/>
          <p:cNvSpPr/>
          <p:nvPr/>
        </p:nvSpPr>
        <p:spPr>
          <a:xfrm>
            <a:off x="598646" y="752165"/>
            <a:ext cx="1203566" cy="228029"/>
          </a:xfrm>
          <a:prstGeom prst="roundRect">
            <a:avLst>
              <a:gd name="adj" fmla="val 4172923"/>
            </a:avLst>
          </a:prstGeom>
          <a:solidFill>
            <a:srgbClr val="FFFFFF">
              <a:alpha val="92000"/>
            </a:srgbClr>
          </a:solidFill>
          <a:ln/>
        </p:spPr>
        <p:txBody>
          <a:bodyPr wrap="square" rtlCol="0" anchor="ctr"/>
          <a:lstStyle/>
          <a:p>
            <a:pPr indent="0" marL="0">
              <a:buNone/>
            </a:pPr>
            <a:endParaRPr lang="en-US" dirty="0"/>
          </a:p>
        </p:txBody>
      </p:sp>
      <p:sp>
        <p:nvSpPr>
          <p:cNvPr id="28" name="Text 24"/>
          <p:cNvSpPr/>
          <p:nvPr/>
        </p:nvSpPr>
        <p:spPr>
          <a:xfrm>
            <a:off x="707231" y="841177"/>
            <a:ext cx="50006" cy="50006"/>
          </a:xfrm>
          <a:prstGeom prst="roundRect">
            <a:avLst>
              <a:gd name="adj" fmla="val 66667"/>
            </a:avLst>
          </a:prstGeom>
          <a:solidFill>
            <a:srgbClr val="7C3AED"/>
          </a:solidFill>
          <a:ln/>
        </p:spPr>
        <p:txBody>
          <a:bodyPr wrap="square" rtlCol="0" anchor="ctr"/>
          <a:lstStyle/>
          <a:p>
            <a:pPr indent="0" marL="0">
              <a:buNone/>
            </a:pPr>
            <a:endParaRPr lang="en-US" dirty="0"/>
          </a:p>
        </p:txBody>
      </p:sp>
      <p:sp>
        <p:nvSpPr>
          <p:cNvPr id="29" name="Text 25"/>
          <p:cNvSpPr/>
          <p:nvPr/>
        </p:nvSpPr>
        <p:spPr>
          <a:xfrm>
            <a:off x="621506" y="764381"/>
            <a:ext cx="1157846" cy="203597"/>
          </a:xfrm>
          <a:prstGeom prst="rect">
            <a:avLst/>
          </a:prstGeom>
          <a:noFill/>
          <a:ln/>
        </p:spPr>
        <p:txBody>
          <a:bodyPr wrap="none" lIns="0" tIns="0" rIns="0" bIns="0" rtlCol="0" anchor="ctr"/>
          <a:lstStyle/>
          <a:p>
            <a:pPr algn="ctr" indent="0" marL="0">
              <a:lnSpc>
                <a:spcPts val="928"/>
              </a:lnSpc>
              <a:buNone/>
            </a:pPr>
            <a:r>
              <a:rPr lang="en-US" sz="800" b="1" spc="31" kern="0" dirty="0">
                <a:solidFill>
                  <a:srgbClr val="6D28D9"/>
                </a:solidFill>
                <a:latin typeface="Carlito" pitchFamily="34" charset="0"/>
                <a:ea typeface="Carlito" pitchFamily="34" charset="-122"/>
                <a:cs typeface="Carlito" pitchFamily="34" charset="-120"/>
              </a:rPr>
              <a:t>Live video session</a:t>
            </a:r>
            <a:endParaRPr lang="en-US" sz="800" dirty="0"/>
          </a:p>
        </p:txBody>
      </p:sp>
      <p:sp>
        <p:nvSpPr>
          <p:cNvPr id="30" name="Text 26"/>
          <p:cNvSpPr/>
          <p:nvPr/>
        </p:nvSpPr>
        <p:spPr>
          <a:xfrm>
            <a:off x="650081" y="4000054"/>
            <a:ext cx="1545119" cy="348633"/>
          </a:xfrm>
          <a:prstGeom prst="rect">
            <a:avLst/>
          </a:prstGeom>
          <a:noFill/>
          <a:ln/>
        </p:spPr>
        <p:txBody>
          <a:bodyPr wrap="square" lIns="0" tIns="0" rIns="0" bIns="0" rtlCol="0" anchor="t"/>
          <a:lstStyle/>
          <a:p>
            <a:pPr algn="l" indent="0" marL="0">
              <a:lnSpc>
                <a:spcPts val="1418"/>
              </a:lnSpc>
              <a:buNone/>
            </a:pPr>
            <a:r>
              <a:rPr lang="en-US" sz="1013" i="1" dirty="0">
                <a:solidFill>
                  <a:srgbClr val="FFFFFF"/>
                </a:solidFill>
                <a:latin typeface="Tinos" pitchFamily="34" charset="0"/>
                <a:ea typeface="Tinos" pitchFamily="34" charset="-122"/>
                <a:cs typeface="Tinos" pitchFamily="34" charset="-120"/>
              </a:rPr>
              <a:t>"It felt like she was standing right in front of me."</a:t>
            </a:r>
            <a:endParaRPr lang="en-US" sz="1013" dirty="0"/>
          </a:p>
        </p:txBody>
      </p:sp>
      <p:sp>
        <p:nvSpPr>
          <p:cNvPr id="31" name="Text 27"/>
          <p:cNvSpPr/>
          <p:nvPr/>
        </p:nvSpPr>
        <p:spPr>
          <a:xfrm>
            <a:off x="650081" y="4402782"/>
            <a:ext cx="3303203" cy="153489"/>
          </a:xfrm>
          <a:prstGeom prst="rect">
            <a:avLst/>
          </a:prstGeom>
          <a:noFill/>
          <a:ln/>
        </p:spPr>
        <p:txBody>
          <a:bodyPr wrap="none" lIns="0" tIns="0" rIns="0" bIns="0" rtlCol="0" anchor="t"/>
          <a:lstStyle/>
          <a:p>
            <a:pPr algn="l" indent="0" marL="0">
              <a:lnSpc>
                <a:spcPts val="827"/>
              </a:lnSpc>
              <a:buNone/>
            </a:pPr>
            <a:r>
              <a:rPr lang="en-US" sz="800" b="1" spc="106" kern="0" dirty="0">
                <a:solidFill>
                  <a:srgbClr val="FFFFFF">
                    <a:alpha val="85000"/>
                  </a:srgbClr>
                </a:solidFill>
                <a:latin typeface="Carlito" pitchFamily="34" charset="0"/>
                <a:ea typeface="Carlito" pitchFamily="34" charset="-122"/>
                <a:cs typeface="Carlito" pitchFamily="34" charset="-120"/>
              </a:rPr>
              <a:t>— CUSTOMER, MED-SPA PILOT</a:t>
            </a:r>
            <a:endParaRPr lang="en-US" sz="800" dirty="0"/>
          </a:p>
        </p:txBody>
      </p:sp>
      <p:sp>
        <p:nvSpPr>
          <p:cNvPr id="32" name="Text 28"/>
          <p:cNvSpPr/>
          <p:nvPr/>
        </p:nvSpPr>
        <p:spPr>
          <a:xfrm>
            <a:off x="3663962" y="3893344"/>
            <a:ext cx="650081" cy="917972"/>
          </a:xfrm>
          <a:prstGeom prst="roundRect">
            <a:avLst>
              <a:gd name="adj" fmla="val 20513"/>
            </a:avLst>
          </a:prstGeom>
          <a:solidFill>
            <a:srgbClr val="1A0B2E"/>
          </a:solidFill>
          <a:ln w="7144">
            <a:solidFill>
              <a:srgbClr val="3B1D6B"/>
            </a:solidFill>
            <a:prstDash val="solid"/>
          </a:ln>
          <a:effectLst>
            <a:outerShdw sx="100000" sy="100000" kx="0" ky="0" algn="bl" rotWithShape="0" blurRad="266700" dist="133350" dir="5400000">
              <a:srgbClr val="000000">
                <a:alpha val="30000"/>
              </a:srgbClr>
            </a:outerShdw>
          </a:effectLst>
        </p:spPr>
        <p:txBody>
          <a:bodyPr wrap="square" rtlCol="0" anchor="ctr"/>
          <a:lstStyle/>
          <a:p>
            <a:pPr indent="0" marL="0">
              <a:buNone/>
            </a:pPr>
            <a:endParaRPr lang="en-US" dirty="0"/>
          </a:p>
        </p:txBody>
      </p:sp>
      <p:pic>
        <p:nvPicPr>
          <p:cNvPr id="33" name="Image 2" descr="preencoded.png">    </p:cNvPr>
          <p:cNvPicPr>
            <a:picLocks noChangeAspect="1"/>
          </p:cNvPicPr>
          <p:nvPr/>
        </p:nvPicPr>
        <p:blipFill>
          <a:blip r:embed="rId3"/>
          <a:stretch>
            <a:fillRect/>
          </a:stretch>
        </p:blipFill>
        <p:spPr>
          <a:xfrm>
            <a:off x="3724684" y="3954066"/>
            <a:ext cx="528638" cy="796528"/>
          </a:xfrm>
          <a:prstGeom prst="rect">
            <a:avLst/>
          </a:prstGeom>
        </p:spPr>
      </p:pic>
      <p:sp>
        <p:nvSpPr>
          <p:cNvPr id="34" name="Text 29"/>
          <p:cNvSpPr/>
          <p:nvPr/>
        </p:nvSpPr>
        <p:spPr>
          <a:xfrm>
            <a:off x="3767547" y="4011216"/>
            <a:ext cx="442913" cy="161877"/>
          </a:xfrm>
          <a:prstGeom prst="rect">
            <a:avLst/>
          </a:prstGeom>
          <a:noFill/>
          <a:ln/>
        </p:spPr>
        <p:txBody>
          <a:bodyPr wrap="square" lIns="0" tIns="0" rIns="0" bIns="0" rtlCol="0" anchor="t">
            <a:normAutofit/>
          </a:bodyPr>
          <a:lstStyle/>
          <a:p>
            <a:pPr algn="ctr" indent="0" marL="0">
              <a:lnSpc>
                <a:spcPts val="633"/>
              </a:lnSpc>
              <a:buNone/>
            </a:pPr>
            <a:r>
              <a:rPr lang="en-US" sz="800" spc="51" kern="0" dirty="0">
                <a:solidFill>
                  <a:srgbClr val="FFFFFF">
                    <a:alpha val="60000"/>
                  </a:srgbClr>
                </a:solidFill>
                <a:latin typeface="Carlito" pitchFamily="34" charset="0"/>
                <a:ea typeface="Carlito" pitchFamily="34" charset="-122"/>
                <a:cs typeface="Carlito" pitchFamily="34" charset="-120"/>
              </a:rPr>
              <a:t>YOUR SESSION</a:t>
            </a:r>
            <a:endParaRPr lang="en-US" sz="800" dirty="0"/>
          </a:p>
        </p:txBody>
      </p:sp>
      <p:sp>
        <p:nvSpPr>
          <p:cNvPr id="35" name="Text 30"/>
          <p:cNvSpPr/>
          <p:nvPr/>
        </p:nvSpPr>
        <p:spPr>
          <a:xfrm>
            <a:off x="3849812" y="4200525"/>
            <a:ext cx="92869" cy="92869"/>
          </a:xfrm>
          <a:prstGeom prst="rect">
            <a:avLst/>
          </a:prstGeom>
          <a:noFill/>
          <a:ln/>
        </p:spPr>
        <p:txBody>
          <a:bodyPr wrap="none" lIns="0" tIns="0" rIns="0" bIns="0" rtlCol="0" anchor="ctr"/>
          <a:lstStyle/>
          <a:p>
            <a:pPr algn="ctr" indent="0" marL="0">
              <a:buNone/>
            </a:pPr>
            <a:r>
              <a:rPr lang="en-US" sz="914" dirty="0">
                <a:solidFill>
                  <a:srgbClr val="A78BFA"/>
                </a:solidFill>
                <a:latin typeface="Segoe UI Symbol" pitchFamily="34" charset="0"/>
                <a:ea typeface="Segoe UI Symbol" pitchFamily="34" charset="-122"/>
                <a:cs typeface="Segoe UI Symbol" pitchFamily="34" charset="-120"/>
              </a:rPr>
              <a:t>⏸</a:t>
            </a:r>
            <a:endParaRPr lang="en-US" sz="914" dirty="0"/>
          </a:p>
        </p:txBody>
      </p:sp>
      <p:sp>
        <p:nvSpPr>
          <p:cNvPr id="36" name="Text 31"/>
          <p:cNvSpPr/>
          <p:nvPr/>
        </p:nvSpPr>
        <p:spPr>
          <a:xfrm>
            <a:off x="3901211" y="4201418"/>
            <a:ext cx="296916" cy="164592"/>
          </a:xfrm>
          <a:prstGeom prst="rect">
            <a:avLst/>
          </a:prstGeom>
          <a:noFill/>
          <a:ln/>
        </p:spPr>
        <p:txBody>
          <a:bodyPr wrap="none" lIns="0" tIns="0" rIns="0" bIns="0" rtlCol="0" anchor="t"/>
          <a:lstStyle/>
          <a:p>
            <a:pPr algn="ctr" indent="0" marL="0">
              <a:lnSpc>
                <a:spcPts val="717"/>
              </a:lnSpc>
              <a:buNone/>
            </a:pPr>
            <a:r>
              <a:rPr lang="en-US" sz="800" dirty="0">
                <a:solidFill>
                  <a:srgbClr val="FFFFFF">
                    <a:alpha val="85000"/>
                  </a:srgbClr>
                </a:solidFill>
                <a:latin typeface="Carlito" pitchFamily="34" charset="0"/>
                <a:ea typeface="Carlito" pitchFamily="34" charset="-122"/>
                <a:cs typeface="Carlito" pitchFamily="34" charset="-120"/>
              </a:rPr>
              <a:t>Hold</a:t>
            </a:r>
            <a:endParaRPr lang="en-US" sz="800" dirty="0"/>
          </a:p>
        </p:txBody>
      </p:sp>
      <p:sp>
        <p:nvSpPr>
          <p:cNvPr id="37" name="Text 32"/>
          <p:cNvSpPr/>
          <p:nvPr/>
        </p:nvSpPr>
        <p:spPr>
          <a:xfrm>
            <a:off x="3841328" y="4321969"/>
            <a:ext cx="92869" cy="92869"/>
          </a:xfrm>
          <a:prstGeom prst="rect">
            <a:avLst/>
          </a:prstGeom>
          <a:noFill/>
          <a:ln/>
        </p:spPr>
        <p:txBody>
          <a:bodyPr wrap="none" lIns="0" tIns="0" rIns="0" bIns="0" rtlCol="0" anchor="ctr"/>
          <a:lstStyle/>
          <a:p>
            <a:pPr algn="ctr" indent="0" marL="0">
              <a:buNone/>
            </a:pPr>
            <a:r>
              <a:rPr lang="en-US" sz="914" dirty="0">
                <a:solidFill>
                  <a:srgbClr val="A78BFA"/>
                </a:solidFill>
                <a:latin typeface="Segoe UI Symbol" pitchFamily="34" charset="0"/>
                <a:ea typeface="Segoe UI Symbol" pitchFamily="34" charset="-122"/>
                <a:cs typeface="Segoe UI Symbol" pitchFamily="34" charset="-120"/>
              </a:rPr>
              <a:t>◖</a:t>
            </a:r>
            <a:endParaRPr lang="en-US" sz="914" dirty="0"/>
          </a:p>
        </p:txBody>
      </p:sp>
      <p:sp>
        <p:nvSpPr>
          <p:cNvPr id="38" name="Text 33"/>
          <p:cNvSpPr/>
          <p:nvPr/>
        </p:nvSpPr>
        <p:spPr>
          <a:xfrm>
            <a:off x="3901267" y="4322862"/>
            <a:ext cx="296916" cy="164592"/>
          </a:xfrm>
          <a:prstGeom prst="rect">
            <a:avLst/>
          </a:prstGeom>
          <a:noFill/>
          <a:ln/>
        </p:spPr>
        <p:txBody>
          <a:bodyPr wrap="none" lIns="0" tIns="0" rIns="0" bIns="0" rtlCol="0" anchor="t"/>
          <a:lstStyle/>
          <a:p>
            <a:pPr algn="ctr" indent="0" marL="0">
              <a:lnSpc>
                <a:spcPts val="717"/>
              </a:lnSpc>
              <a:buNone/>
            </a:pPr>
            <a:r>
              <a:rPr lang="en-US" sz="800" dirty="0">
                <a:solidFill>
                  <a:srgbClr val="FFFFFF">
                    <a:alpha val="85000"/>
                  </a:srgbClr>
                </a:solidFill>
                <a:latin typeface="Carlito" pitchFamily="34" charset="0"/>
                <a:ea typeface="Carlito" pitchFamily="34" charset="-122"/>
                <a:cs typeface="Carlito" pitchFamily="34" charset="-120"/>
              </a:rPr>
              <a:t>Mute</a:t>
            </a:r>
            <a:endParaRPr lang="en-US" sz="800" dirty="0"/>
          </a:p>
        </p:txBody>
      </p:sp>
      <p:sp>
        <p:nvSpPr>
          <p:cNvPr id="39" name="Text 34"/>
          <p:cNvSpPr/>
          <p:nvPr/>
        </p:nvSpPr>
        <p:spPr>
          <a:xfrm>
            <a:off x="3789648" y="4443413"/>
            <a:ext cx="92869" cy="92869"/>
          </a:xfrm>
          <a:prstGeom prst="rect">
            <a:avLst/>
          </a:prstGeom>
          <a:noFill/>
          <a:ln/>
        </p:spPr>
        <p:txBody>
          <a:bodyPr wrap="none" lIns="0" tIns="0" rIns="0" bIns="0" rtlCol="0" anchor="ctr"/>
          <a:lstStyle/>
          <a:p>
            <a:pPr algn="ctr" indent="0" marL="0">
              <a:buNone/>
            </a:pPr>
            <a:r>
              <a:rPr lang="en-US" sz="914" dirty="0">
                <a:solidFill>
                  <a:srgbClr val="A78BFA"/>
                </a:solidFill>
                <a:latin typeface="Segoe UI Symbol" pitchFamily="34" charset="0"/>
                <a:ea typeface="Segoe UI Symbol" pitchFamily="34" charset="-122"/>
                <a:cs typeface="Segoe UI Symbol" pitchFamily="34" charset="-120"/>
              </a:rPr>
              <a:t>⇄</a:t>
            </a:r>
            <a:endParaRPr lang="en-US" sz="914" dirty="0"/>
          </a:p>
        </p:txBody>
      </p:sp>
      <p:sp>
        <p:nvSpPr>
          <p:cNvPr id="40" name="Text 35"/>
          <p:cNvSpPr/>
          <p:nvPr/>
        </p:nvSpPr>
        <p:spPr>
          <a:xfrm>
            <a:off x="3813968" y="4444305"/>
            <a:ext cx="396492" cy="164592"/>
          </a:xfrm>
          <a:prstGeom prst="rect">
            <a:avLst/>
          </a:prstGeom>
          <a:noFill/>
          <a:ln/>
        </p:spPr>
        <p:txBody>
          <a:bodyPr wrap="none" lIns="0" tIns="0" rIns="0" bIns="0" rtlCol="0" anchor="t"/>
          <a:lstStyle/>
          <a:p>
            <a:pPr algn="ctr" indent="0" marL="0">
              <a:lnSpc>
                <a:spcPts val="717"/>
              </a:lnSpc>
              <a:buNone/>
            </a:pPr>
            <a:r>
              <a:rPr lang="en-US" sz="600" dirty="0">
                <a:solidFill>
                  <a:srgbClr val="FFFFFF">
                    <a:alpha val="85000"/>
                  </a:srgbClr>
                </a:solidFill>
                <a:latin typeface="Carlito" pitchFamily="34" charset="0"/>
                <a:ea typeface="Carlito" pitchFamily="34" charset="-122"/>
                <a:cs typeface="Carlito" pitchFamily="34" charset="-120"/>
              </a:rPr>
              <a:t>Channel</a:t>
            </a:r>
            <a:endParaRPr lang="en-US" sz="600" dirty="0"/>
          </a:p>
        </p:txBody>
      </p:sp>
      <p:sp>
        <p:nvSpPr>
          <p:cNvPr id="41" name="Text 36"/>
          <p:cNvSpPr/>
          <p:nvPr/>
        </p:nvSpPr>
        <p:spPr>
          <a:xfrm>
            <a:off x="3860416" y="4579144"/>
            <a:ext cx="114300" cy="114300"/>
          </a:xfrm>
          <a:prstGeom prst="ellipse">
            <a:avLst/>
          </a:prstGeom>
          <a:solidFill>
            <a:srgbClr val="FFFFFF">
              <a:alpha val="14000"/>
            </a:srgbClr>
          </a:solidFill>
          <a:ln/>
        </p:spPr>
        <p:txBody>
          <a:bodyPr wrap="square" rtlCol="0" anchor="ctr"/>
          <a:lstStyle/>
          <a:p>
            <a:pPr indent="0" marL="0">
              <a:buNone/>
            </a:pPr>
            <a:endParaRPr lang="en-US" dirty="0"/>
          </a:p>
        </p:txBody>
      </p:sp>
      <p:sp>
        <p:nvSpPr>
          <p:cNvPr id="42" name="Text 37"/>
          <p:cNvSpPr/>
          <p:nvPr/>
        </p:nvSpPr>
        <p:spPr>
          <a:xfrm>
            <a:off x="3870953" y="4589681"/>
            <a:ext cx="93226" cy="93226"/>
          </a:xfrm>
          <a:prstGeom prst="rect">
            <a:avLst/>
          </a:prstGeom>
          <a:noFill/>
          <a:ln/>
        </p:spPr>
        <p:txBody>
          <a:bodyPr wrap="none" lIns="0" tIns="0" rIns="0" bIns="0" rtlCol="0" anchor="ctr"/>
          <a:lstStyle/>
          <a:p>
            <a:pPr algn="ctr" indent="0" marL="0">
              <a:buNone/>
            </a:pPr>
            <a:r>
              <a:rPr lang="en-US" sz="800" dirty="0">
                <a:solidFill>
                  <a:srgbClr val="FFFFFF"/>
                </a:solidFill>
                <a:latin typeface="Segoe UI Symbol" pitchFamily="34" charset="0"/>
                <a:ea typeface="Segoe UI Symbol" pitchFamily="34" charset="-122"/>
                <a:cs typeface="Segoe UI Symbol" pitchFamily="34" charset="-120"/>
              </a:rPr>
              <a:t>◀</a:t>
            </a:r>
            <a:endParaRPr lang="en-US" sz="800" dirty="0"/>
          </a:p>
        </p:txBody>
      </p:sp>
      <p:sp>
        <p:nvSpPr>
          <p:cNvPr id="43" name="Text 38"/>
          <p:cNvSpPr/>
          <p:nvPr/>
        </p:nvSpPr>
        <p:spPr>
          <a:xfrm>
            <a:off x="4003291" y="4579144"/>
            <a:ext cx="114300" cy="114300"/>
          </a:xfrm>
          <a:prstGeom prst="ellipse">
            <a:avLst/>
          </a:prstGeom>
          <a:solidFill>
            <a:srgbClr val="EF4444"/>
          </a:solidFill>
          <a:ln/>
        </p:spPr>
        <p:txBody>
          <a:bodyPr wrap="square" rtlCol="0" anchor="ctr"/>
          <a:lstStyle/>
          <a:p>
            <a:pPr indent="0" marL="0">
              <a:buNone/>
            </a:pPr>
            <a:endParaRPr lang="en-US" dirty="0"/>
          </a:p>
        </p:txBody>
      </p:sp>
      <p:sp>
        <p:nvSpPr>
          <p:cNvPr id="44" name="Text 39"/>
          <p:cNvSpPr/>
          <p:nvPr/>
        </p:nvSpPr>
        <p:spPr>
          <a:xfrm>
            <a:off x="4013828" y="4589681"/>
            <a:ext cx="93226" cy="93226"/>
          </a:xfrm>
          <a:prstGeom prst="rect">
            <a:avLst/>
          </a:prstGeom>
          <a:noFill/>
          <a:ln/>
        </p:spPr>
        <p:txBody>
          <a:bodyPr wrap="none" lIns="0" tIns="0" rIns="0" bIns="0" rtlCol="0" anchor="ctr"/>
          <a:lstStyle/>
          <a:p>
            <a:pPr algn="ctr" indent="0" marL="0">
              <a:buNone/>
            </a:pPr>
            <a:r>
              <a:rPr lang="en-US" sz="800" dirty="0">
                <a:solidFill>
                  <a:srgbClr val="FFFFFF"/>
                </a:solidFill>
                <a:latin typeface="Segoe UI Symbol" pitchFamily="34" charset="0"/>
                <a:ea typeface="Segoe UI Symbol" pitchFamily="34" charset="-122"/>
                <a:cs typeface="Segoe UI Symbol" pitchFamily="34" charset="-120"/>
              </a:rPr>
              <a:t>☎</a:t>
            </a:r>
            <a:endParaRPr lang="en-US" sz="800" dirty="0"/>
          </a:p>
        </p:txBody>
      </p:sp>
      <p:sp>
        <p:nvSpPr>
          <p:cNvPr id="45" name="Text 40"/>
          <p:cNvSpPr/>
          <p:nvPr/>
        </p:nvSpPr>
        <p:spPr>
          <a:xfrm>
            <a:off x="342900" y="4854178"/>
            <a:ext cx="7019627"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46" name="Text 41"/>
          <p:cNvSpPr/>
          <p:nvPr/>
        </p:nvSpPr>
        <p:spPr>
          <a:xfrm>
            <a:off x="8110389" y="4877395"/>
            <a:ext cx="7144" cy="71438"/>
          </a:xfrm>
          <a:prstGeom prst="rect">
            <a:avLst/>
          </a:prstGeom>
          <a:solidFill>
            <a:srgbClr val="6B7280">
              <a:alpha val="40000"/>
            </a:srgbClr>
          </a:solidFill>
          <a:ln/>
        </p:spPr>
        <p:txBody>
          <a:bodyPr wrap="square" rtlCol="0" anchor="ctr"/>
          <a:lstStyle/>
          <a:p>
            <a:pPr indent="0" marL="0">
              <a:buNone/>
            </a:pPr>
            <a:endParaRPr lang="en-US" dirty="0"/>
          </a:p>
        </p:txBody>
      </p:sp>
      <p:sp>
        <p:nvSpPr>
          <p:cNvPr id="47" name="Text 42"/>
          <p:cNvSpPr/>
          <p:nvPr/>
        </p:nvSpPr>
        <p:spPr>
          <a:xfrm>
            <a:off x="7376815" y="4854178"/>
            <a:ext cx="1767185"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  </a:t>
            </a:r>
            <a:pPr algn="l" indent="0" marL="0">
              <a:lnSpc>
                <a:spcPts val="928"/>
              </a:lnSpc>
              <a:buNone/>
            </a:pPr>
            <a:r>
              <a:rPr lang="en-US" sz="800" spc="25" kern="0" dirty="0">
                <a:solidFill>
                  <a:srgbClr val="6B7280"/>
                </a:solidFill>
                <a:latin typeface="Liberation Sans Narrow" pitchFamily="34" charset="0"/>
                <a:ea typeface="Liberation Sans Narrow" pitchFamily="34" charset="-122"/>
                <a:cs typeface="Liberation Sans Narrow" pitchFamily="34" charset="-120"/>
              </a:rPr>
              <a:t>SLIDE 11 / 24</a:t>
            </a:r>
            <a:endParaRPr lang="en-US" sz="800" dirty="0"/>
          </a:p>
        </p:txBody>
      </p:sp>
      <p:pic>
        <p:nvPicPr>
          <p:cNvPr id="48" name="Image 3" descr="/home/z/my-project/download/slides/massapro-logo.png">    </p:cNvPr>
          <p:cNvPicPr>
            <a:picLocks noChangeAspect="1"/>
          </p:cNvPicPr>
          <p:nvPr/>
        </p:nvPicPr>
        <p:blipFill>
          <a:blip r:embed="rId4"/>
          <a:stretch>
            <a:fillRect/>
          </a:stretch>
        </p:blipFill>
        <p:spPr>
          <a:xfrm>
            <a:off x="342900" y="200025"/>
            <a:ext cx="200025" cy="200025"/>
          </a:xfrm>
          <a:prstGeom prst="rect">
            <a:avLst/>
          </a:prstGeom>
        </p:spPr>
      </p:pic>
      <p:sp>
        <p:nvSpPr>
          <p:cNvPr id="49" name="Text 43"/>
          <p:cNvSpPr/>
          <p:nvPr/>
        </p:nvSpPr>
        <p:spPr>
          <a:xfrm>
            <a:off x="614363" y="219670"/>
            <a:ext cx="769239"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6D28D9"/>
                </a:solidFill>
                <a:latin typeface="Carlito" pitchFamily="34" charset="0"/>
                <a:ea typeface="Carlito" pitchFamily="34" charset="-122"/>
                <a:cs typeface="Carlito" pitchFamily="34" charset="-120"/>
              </a:rPr>
              <a:t>MassaPro</a:t>
            </a:r>
            <a:endParaRPr lang="en-US" sz="844"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2937" y="3857625"/>
            <a:ext cx="2000250" cy="2000250"/>
          </a:xfrm>
          <a:prstGeom prst="rect">
            <a:avLst/>
          </a:prstGeom>
        </p:spPr>
      </p:pic>
      <p:sp>
        <p:nvSpPr>
          <p:cNvPr id="3" name="Text 0"/>
          <p:cNvSpPr/>
          <p:nvPr/>
        </p:nvSpPr>
        <p:spPr>
          <a:xfrm>
            <a:off x="-642937" y="3857625"/>
            <a:ext cx="2000250" cy="2000250"/>
          </a:xfrm>
          <a:prstGeom prst="ellipse">
            <a:avLst/>
          </a:prstGeom>
          <a:solidFill>
            <a:srgbClr val="A78BFA">
              <a:alpha val="0"/>
            </a:srgbClr>
          </a:solidFill>
          <a:ln/>
        </p:spPr>
        <p:txBody>
          <a:bodyPr wrap="square" rtlCol="0" anchor="ctr"/>
          <a:lstStyle/>
          <a:p>
            <a:pPr indent="0" marL="0">
              <a:buNone/>
            </a:pPr>
            <a:endParaRPr lang="en-US" dirty="0"/>
          </a:p>
        </p:txBody>
      </p:sp>
      <p:sp>
        <p:nvSpPr>
          <p:cNvPr id="4" name="Text 1"/>
          <p:cNvSpPr/>
          <p:nvPr/>
        </p:nvSpPr>
        <p:spPr>
          <a:xfrm>
            <a:off x="460772" y="560784"/>
            <a:ext cx="2085975" cy="221456"/>
          </a:xfrm>
          <a:prstGeom prst="roundRect">
            <a:avLst>
              <a:gd name="adj" fmla="val 4296779"/>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5" name="Text 2"/>
          <p:cNvSpPr/>
          <p:nvPr/>
        </p:nvSpPr>
        <p:spPr>
          <a:xfrm>
            <a:off x="735806" y="619720"/>
            <a:ext cx="1721644" cy="129679"/>
          </a:xfrm>
          <a:prstGeom prst="rect">
            <a:avLst/>
          </a:prstGeom>
          <a:noFill/>
          <a:ln/>
        </p:spPr>
        <p:txBody>
          <a:bodyPr wrap="none" lIns="85725" tIns="42863" rIns="85725" bIns="42863" rtlCol="0" anchor="t"/>
          <a:lstStyle/>
          <a:p>
            <a:pPr algn="l" indent="0" marL="0">
              <a:lnSpc>
                <a:spcPts val="928"/>
              </a:lnSpc>
              <a:buNone/>
            </a:pPr>
            <a:r>
              <a:rPr lang="en-US" sz="800" b="1" spc="111" kern="0" dirty="0">
                <a:solidFill>
                  <a:srgbClr val="7C3AED"/>
                </a:solidFill>
                <a:latin typeface="Liberation Sans Narrow" pitchFamily="34" charset="0"/>
                <a:ea typeface="Liberation Sans Narrow" pitchFamily="34" charset="-122"/>
                <a:cs typeface="Liberation Sans Narrow" pitchFamily="34" charset="-120"/>
              </a:rPr>
              <a:t>CHAPTER 02 — HOW IT WORKS</a:t>
            </a:r>
            <a:endParaRPr lang="en-US" sz="800" dirty="0"/>
          </a:p>
        </p:txBody>
      </p:sp>
      <p:sp>
        <p:nvSpPr>
          <p:cNvPr id="6" name="Text 3"/>
          <p:cNvSpPr/>
          <p:nvPr/>
        </p:nvSpPr>
        <p:spPr>
          <a:xfrm>
            <a:off x="550069" y="607219"/>
            <a:ext cx="128588" cy="128588"/>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7" name="Text 4"/>
          <p:cNvSpPr/>
          <p:nvPr/>
        </p:nvSpPr>
        <p:spPr>
          <a:xfrm>
            <a:off x="457200" y="857250"/>
            <a:ext cx="5715000" cy="522949"/>
          </a:xfrm>
          <a:prstGeom prst="rect">
            <a:avLst/>
          </a:prstGeom>
          <a:noFill/>
          <a:ln/>
        </p:spPr>
        <p:txBody>
          <a:bodyPr wrap="square" lIns="0" tIns="0" rIns="0" bIns="0" rtlCol="0" anchor="t"/>
          <a:lstStyle/>
          <a:p>
            <a:pPr algn="l" indent="0" marL="0">
              <a:lnSpc>
                <a:spcPts val="1907"/>
              </a:lnSpc>
              <a:buNone/>
            </a:pPr>
            <a:r>
              <a:rPr lang="en-US" sz="1688" b="1" spc="-34" kern="0" dirty="0">
                <a:solidFill>
                  <a:srgbClr val="1F2937"/>
                </a:solidFill>
                <a:latin typeface="Carlito" pitchFamily="34" charset="0"/>
                <a:ea typeface="Carlito" pitchFamily="34" charset="-122"/>
                <a:cs typeface="Carlito" pitchFamily="34" charset="-120"/>
              </a:rPr>
              <a:t>One Point, Four Channels — </a:t>
            </a:r>
            <a:pPr algn="l" indent="0" marL="0">
              <a:lnSpc>
                <a:spcPts val="1907"/>
              </a:lnSpc>
              <a:buNone/>
            </a:pPr>
            <a:r>
              <a:rPr lang="en-US" sz="1688" b="1" spc="-34" kern="0" dirty="0">
                <a:solidFill>
                  <a:srgbClr val="7C3AED"/>
                </a:solidFill>
                <a:latin typeface="Carlito" pitchFamily="34" charset="0"/>
                <a:ea typeface="Carlito" pitchFamily="34" charset="-122"/>
                <a:cs typeface="Carlito" pitchFamily="34" charset="-120"/>
              </a:rPr>
              <a:t>Customers Choose How They Want to Be Served</a:t>
            </a:r>
            <a:endParaRPr lang="en-US" sz="1688" dirty="0"/>
          </a:p>
        </p:txBody>
      </p:sp>
      <p:sp>
        <p:nvSpPr>
          <p:cNvPr id="8" name="Text 5"/>
          <p:cNvSpPr/>
          <p:nvPr/>
        </p:nvSpPr>
        <p:spPr>
          <a:xfrm>
            <a:off x="457200" y="1412900"/>
            <a:ext cx="400050" cy="21431"/>
          </a:xfrm>
          <a:prstGeom prst="roundRect">
            <a:avLst>
              <a:gd name="adj" fmla="val 88890"/>
            </a:avLst>
          </a:prstGeom>
          <a:solidFill>
            <a:srgbClr val="7C3AED"/>
          </a:solidFill>
          <a:ln/>
        </p:spPr>
        <p:txBody>
          <a:bodyPr wrap="square" rtlCol="0" anchor="ctr"/>
          <a:lstStyle/>
          <a:p>
            <a:pPr indent="0" marL="0">
              <a:buNone/>
            </a:pPr>
            <a:endParaRPr lang="en-US" dirty="0"/>
          </a:p>
        </p:txBody>
      </p:sp>
      <p:sp>
        <p:nvSpPr>
          <p:cNvPr id="9" name="Text 6"/>
          <p:cNvSpPr/>
          <p:nvPr/>
        </p:nvSpPr>
        <p:spPr>
          <a:xfrm>
            <a:off x="460772" y="1537915"/>
            <a:ext cx="4064794" cy="788268"/>
          </a:xfrm>
          <a:prstGeom prst="roundRect">
            <a:avLst>
              <a:gd name="adj" fmla="val 19334"/>
            </a:avLst>
          </a:prstGeom>
          <a:solidFill>
            <a:srgbClr val="FFFFFF"/>
          </a:solidFill>
          <a:ln w="7144">
            <a:solidFill>
              <a:srgbClr val="E5E7EB"/>
            </a:solidFill>
            <a:prstDash val="solid"/>
          </a:ln>
          <a:effectLst>
            <a:outerShdw sx="100000" sy="100000" kx="0" ky="0" algn="bl" rotWithShape="0" blurRad="28575" dist="9525" dir="5400000">
              <a:srgbClr val="7C3AED">
                <a:alpha val="5000"/>
              </a:srgbClr>
            </a:outerShdw>
          </a:effectLst>
        </p:spPr>
        <p:txBody>
          <a:bodyPr wrap="square" rtlCol="0" anchor="ctr"/>
          <a:lstStyle/>
          <a:p>
            <a:pPr indent="0" marL="0">
              <a:buNone/>
            </a:pPr>
            <a:endParaRPr lang="en-US" dirty="0"/>
          </a:p>
        </p:txBody>
      </p:sp>
      <p:sp>
        <p:nvSpPr>
          <p:cNvPr id="10" name="Text 7"/>
          <p:cNvSpPr/>
          <p:nvPr/>
        </p:nvSpPr>
        <p:spPr>
          <a:xfrm>
            <a:off x="4618434" y="1537915"/>
            <a:ext cx="4064794" cy="788268"/>
          </a:xfrm>
          <a:prstGeom prst="roundRect">
            <a:avLst>
              <a:gd name="adj" fmla="val 19334"/>
            </a:avLst>
          </a:prstGeom>
          <a:solidFill>
            <a:srgbClr val="FFFFFF"/>
          </a:solidFill>
          <a:ln w="7144">
            <a:solidFill>
              <a:srgbClr val="E5E7EB"/>
            </a:solidFill>
            <a:prstDash val="solid"/>
          </a:ln>
          <a:effectLst>
            <a:outerShdw sx="100000" sy="100000" kx="0" ky="0" algn="bl" rotWithShape="0" blurRad="28575" dist="9525" dir="5400000">
              <a:srgbClr val="7C3AED">
                <a:alpha val="5000"/>
              </a:srgbClr>
            </a:outerShdw>
          </a:effectLst>
        </p:spPr>
        <p:txBody>
          <a:bodyPr wrap="square" rtlCol="0" anchor="ctr"/>
          <a:lstStyle/>
          <a:p>
            <a:pPr indent="0" marL="0">
              <a:buNone/>
            </a:pPr>
            <a:endParaRPr lang="en-US" dirty="0"/>
          </a:p>
        </p:txBody>
      </p:sp>
      <p:sp>
        <p:nvSpPr>
          <p:cNvPr id="11" name="Text 8"/>
          <p:cNvSpPr/>
          <p:nvPr/>
        </p:nvSpPr>
        <p:spPr>
          <a:xfrm>
            <a:off x="460772" y="2419052"/>
            <a:ext cx="4064794" cy="788268"/>
          </a:xfrm>
          <a:prstGeom prst="roundRect">
            <a:avLst>
              <a:gd name="adj" fmla="val 19334"/>
            </a:avLst>
          </a:prstGeom>
          <a:solidFill>
            <a:srgbClr val="FFFFFF"/>
          </a:solidFill>
          <a:ln w="7144">
            <a:solidFill>
              <a:srgbClr val="E5E7EB"/>
            </a:solidFill>
            <a:prstDash val="solid"/>
          </a:ln>
          <a:effectLst>
            <a:outerShdw sx="100000" sy="100000" kx="0" ky="0" algn="bl" rotWithShape="0" blurRad="28575" dist="9525" dir="5400000">
              <a:srgbClr val="7C3AED">
                <a:alpha val="5000"/>
              </a:srgbClr>
            </a:outerShdw>
          </a:effectLst>
        </p:spPr>
        <p:txBody>
          <a:bodyPr wrap="square" rtlCol="0" anchor="ctr"/>
          <a:lstStyle/>
          <a:p>
            <a:pPr indent="0" marL="0">
              <a:buNone/>
            </a:pPr>
            <a:endParaRPr lang="en-US" dirty="0"/>
          </a:p>
        </p:txBody>
      </p:sp>
      <p:sp>
        <p:nvSpPr>
          <p:cNvPr id="12" name="Text 9"/>
          <p:cNvSpPr/>
          <p:nvPr/>
        </p:nvSpPr>
        <p:spPr>
          <a:xfrm>
            <a:off x="4618434" y="2419052"/>
            <a:ext cx="4064794" cy="788268"/>
          </a:xfrm>
          <a:prstGeom prst="roundRect">
            <a:avLst>
              <a:gd name="adj" fmla="val 19334"/>
            </a:avLst>
          </a:prstGeom>
          <a:solidFill>
            <a:srgbClr val="FFFFFF"/>
          </a:solidFill>
          <a:ln w="7144">
            <a:solidFill>
              <a:srgbClr val="E5E7EB"/>
            </a:solidFill>
            <a:prstDash val="solid"/>
          </a:ln>
          <a:effectLst>
            <a:outerShdw sx="100000" sy="100000" kx="0" ky="0" algn="bl" rotWithShape="0" blurRad="28575" dist="9525" dir="5400000">
              <a:srgbClr val="7C3AED">
                <a:alpha val="5000"/>
              </a:srgbClr>
            </a:outerShdw>
          </a:effectLst>
        </p:spPr>
        <p:txBody>
          <a:bodyPr wrap="square" rtlCol="0" anchor="ctr"/>
          <a:lstStyle/>
          <a:p>
            <a:pPr indent="0" marL="0">
              <a:buNone/>
            </a:pPr>
            <a:endParaRPr lang="en-US" dirty="0"/>
          </a:p>
        </p:txBody>
      </p:sp>
      <p:sp>
        <p:nvSpPr>
          <p:cNvPr id="13" name="Text 10"/>
          <p:cNvSpPr/>
          <p:nvPr/>
        </p:nvSpPr>
        <p:spPr>
          <a:xfrm>
            <a:off x="460772" y="3300189"/>
            <a:ext cx="4064794" cy="446261"/>
          </a:xfrm>
          <a:prstGeom prst="roundRect">
            <a:avLst>
              <a:gd name="adj" fmla="val 25613"/>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14" name="Text 11"/>
          <p:cNvSpPr/>
          <p:nvPr/>
        </p:nvSpPr>
        <p:spPr>
          <a:xfrm>
            <a:off x="564356" y="3423307"/>
            <a:ext cx="200025" cy="200025"/>
          </a:xfrm>
          <a:prstGeom prst="roundRect">
            <a:avLst>
              <a:gd name="adj" fmla="val 38095"/>
            </a:avLst>
          </a:prstGeom>
          <a:solidFill>
            <a:srgbClr val="7C3AED"/>
          </a:solidFill>
          <a:ln/>
        </p:spPr>
        <p:txBody>
          <a:bodyPr wrap="square" rtlCol="0" anchor="ctr"/>
          <a:lstStyle/>
          <a:p>
            <a:pPr indent="0" marL="0">
              <a:buNone/>
            </a:pPr>
            <a:endParaRPr lang="en-US" dirty="0"/>
          </a:p>
        </p:txBody>
      </p:sp>
      <p:sp>
        <p:nvSpPr>
          <p:cNvPr id="15" name="Text 12"/>
          <p:cNvSpPr/>
          <p:nvPr/>
        </p:nvSpPr>
        <p:spPr>
          <a:xfrm>
            <a:off x="581501" y="3440452"/>
            <a:ext cx="165735" cy="165735"/>
          </a:xfrm>
          <a:prstGeom prst="rect">
            <a:avLst/>
          </a:prstGeom>
          <a:noFill/>
          <a:ln/>
        </p:spPr>
        <p:txBody>
          <a:bodyPr wrap="none" lIns="0" tIns="0" rIns="0" bIns="0" rtlCol="0" anchor="ctr"/>
          <a:lstStyle/>
          <a:p>
            <a:pPr algn="ctr" indent="0" marL="0">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16" name="Text 13"/>
          <p:cNvSpPr/>
          <p:nvPr/>
        </p:nvSpPr>
        <p:spPr>
          <a:xfrm>
            <a:off x="835819" y="3375199"/>
            <a:ext cx="3695891" cy="91440"/>
          </a:xfrm>
          <a:prstGeom prst="rect">
            <a:avLst/>
          </a:prstGeom>
          <a:noFill/>
          <a:ln/>
        </p:spPr>
        <p:txBody>
          <a:bodyPr wrap="square" lIns="0" tIns="0" rIns="0" bIns="0" rtlCol="0" anchor="t">
            <a:normAutofit/>
          </a:bodyPr>
          <a:lstStyle/>
          <a:p>
            <a:pPr algn="l" indent="0" marL="0">
              <a:lnSpc>
                <a:spcPts val="742"/>
              </a:lnSpc>
              <a:buNone/>
            </a:pPr>
            <a:r>
              <a:rPr lang="en-US" sz="800" b="1" dirty="0">
                <a:solidFill>
                  <a:srgbClr val="6D28D9"/>
                </a:solidFill>
                <a:latin typeface="Carlito" pitchFamily="34" charset="0"/>
                <a:ea typeface="Carlito" pitchFamily="34" charset="-122"/>
                <a:cs typeface="Carlito" pitchFamily="34" charset="-120"/>
              </a:rPr>
              <a:t>Metadata capture before connecting</a:t>
            </a:r>
            <a:endParaRPr lang="en-US" sz="800" dirty="0"/>
          </a:p>
        </p:txBody>
      </p:sp>
      <p:sp>
        <p:nvSpPr>
          <p:cNvPr id="17" name="Text 14"/>
          <p:cNvSpPr/>
          <p:nvPr/>
        </p:nvSpPr>
        <p:spPr>
          <a:xfrm>
            <a:off x="835819" y="3476551"/>
            <a:ext cx="3586163" cy="194890"/>
          </a:xfrm>
          <a:prstGeom prst="rect">
            <a:avLst/>
          </a:prstGeom>
          <a:noFill/>
          <a:ln/>
        </p:spPr>
        <p:txBody>
          <a:bodyPr wrap="square" lIns="0" tIns="0" rIns="0" bIns="0" rtlCol="0" anchor="t"/>
          <a:lstStyle/>
          <a:p>
            <a:pPr algn="l" indent="0" marL="0">
              <a:lnSpc>
                <a:spcPts val="768"/>
              </a:lnSpc>
              <a:buNone/>
            </a:pPr>
            <a:r>
              <a:rPr lang="en-US" sz="800" dirty="0">
                <a:solidFill>
                  <a:srgbClr val="374151"/>
                </a:solidFill>
                <a:latin typeface="Carlito" pitchFamily="34" charset="0"/>
                <a:ea typeface="Carlito" pitchFamily="34" charset="-122"/>
                <a:cs typeface="Carlito" pitchFamily="34" charset="-120"/>
              </a:rPr>
              <a:t>Name, email, phone, ID document, promo code, room or file number — case already identified when advisor opens the session.</a:t>
            </a:r>
            <a:endParaRPr lang="en-US" sz="800" dirty="0"/>
          </a:p>
        </p:txBody>
      </p:sp>
      <p:sp>
        <p:nvSpPr>
          <p:cNvPr id="18" name="Text 15"/>
          <p:cNvSpPr/>
          <p:nvPr/>
        </p:nvSpPr>
        <p:spPr>
          <a:xfrm>
            <a:off x="4618434" y="3300189"/>
            <a:ext cx="4064794" cy="446261"/>
          </a:xfrm>
          <a:prstGeom prst="roundRect">
            <a:avLst>
              <a:gd name="adj" fmla="val 25613"/>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19" name="Text 16"/>
          <p:cNvSpPr/>
          <p:nvPr/>
        </p:nvSpPr>
        <p:spPr>
          <a:xfrm>
            <a:off x="4722019" y="3423307"/>
            <a:ext cx="200025" cy="200025"/>
          </a:xfrm>
          <a:prstGeom prst="roundRect">
            <a:avLst>
              <a:gd name="adj" fmla="val 38095"/>
            </a:avLst>
          </a:prstGeom>
          <a:solidFill>
            <a:srgbClr val="7C3AED"/>
          </a:solidFill>
          <a:ln/>
        </p:spPr>
        <p:txBody>
          <a:bodyPr wrap="square" rtlCol="0" anchor="ctr"/>
          <a:lstStyle/>
          <a:p>
            <a:pPr indent="0" marL="0">
              <a:buNone/>
            </a:pPr>
            <a:endParaRPr lang="en-US" dirty="0"/>
          </a:p>
        </p:txBody>
      </p:sp>
      <p:sp>
        <p:nvSpPr>
          <p:cNvPr id="20" name="Text 17"/>
          <p:cNvSpPr/>
          <p:nvPr/>
        </p:nvSpPr>
        <p:spPr>
          <a:xfrm>
            <a:off x="4739164" y="3440452"/>
            <a:ext cx="165735" cy="165735"/>
          </a:xfrm>
          <a:prstGeom prst="rect">
            <a:avLst/>
          </a:prstGeom>
          <a:noFill/>
          <a:ln/>
        </p:spPr>
        <p:txBody>
          <a:bodyPr wrap="none" lIns="0" tIns="0" rIns="0" bIns="0" rtlCol="0" anchor="ctr"/>
          <a:lstStyle/>
          <a:p>
            <a:pPr algn="ctr" indent="0" marL="0">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21" name="Text 18"/>
          <p:cNvSpPr/>
          <p:nvPr/>
        </p:nvSpPr>
        <p:spPr>
          <a:xfrm>
            <a:off x="4993481" y="3375199"/>
            <a:ext cx="3586163" cy="91440"/>
          </a:xfrm>
          <a:prstGeom prst="rect">
            <a:avLst/>
          </a:prstGeom>
          <a:noFill/>
          <a:ln/>
        </p:spPr>
        <p:txBody>
          <a:bodyPr wrap="none" lIns="0" tIns="0" rIns="0" bIns="0" rtlCol="0" anchor="t">
            <a:normAutofit/>
          </a:bodyPr>
          <a:lstStyle/>
          <a:p>
            <a:pPr algn="l" indent="0" marL="0">
              <a:lnSpc>
                <a:spcPts val="742"/>
              </a:lnSpc>
              <a:buNone/>
            </a:pPr>
            <a:r>
              <a:rPr lang="en-US" sz="800" b="1" dirty="0">
                <a:solidFill>
                  <a:srgbClr val="6D28D9"/>
                </a:solidFill>
                <a:latin typeface="Carlito" pitchFamily="34" charset="0"/>
                <a:ea typeface="Carlito" pitchFamily="34" charset="-122"/>
                <a:cs typeface="Carlito" pitchFamily="34" charset="-120"/>
              </a:rPr>
              <a:t>PIN sync between devices</a:t>
            </a:r>
            <a:endParaRPr lang="en-US" sz="800" dirty="0"/>
          </a:p>
        </p:txBody>
      </p:sp>
      <p:sp>
        <p:nvSpPr>
          <p:cNvPr id="22" name="Text 19"/>
          <p:cNvSpPr/>
          <p:nvPr/>
        </p:nvSpPr>
        <p:spPr>
          <a:xfrm>
            <a:off x="4993481" y="3476551"/>
            <a:ext cx="3586163" cy="194890"/>
          </a:xfrm>
          <a:prstGeom prst="rect">
            <a:avLst/>
          </a:prstGeom>
          <a:noFill/>
          <a:ln/>
        </p:spPr>
        <p:txBody>
          <a:bodyPr wrap="square" lIns="0" tIns="0" rIns="0" bIns="0" rtlCol="0" anchor="t"/>
          <a:lstStyle/>
          <a:p>
            <a:pPr algn="l" indent="0" marL="0">
              <a:lnSpc>
                <a:spcPts val="768"/>
              </a:lnSpc>
              <a:buNone/>
            </a:pPr>
            <a:r>
              <a:rPr lang="en-US" sz="800" dirty="0">
                <a:solidFill>
                  <a:srgbClr val="374151"/>
                </a:solidFill>
                <a:latin typeface="Carlito" pitchFamily="34" charset="0"/>
                <a:ea typeface="Carlito" pitchFamily="34" charset="-122"/>
                <a:cs typeface="Carlito" pitchFamily="34" charset="-120"/>
              </a:rPr>
              <a:t>Choosing kiosk mode, the customer enters a 4-digit PIN that pairs their phone with that specific screen — preventing session mix-ups.</a:t>
            </a:r>
            <a:endParaRPr lang="en-US" sz="800" dirty="0"/>
          </a:p>
        </p:txBody>
      </p:sp>
      <p:sp>
        <p:nvSpPr>
          <p:cNvPr id="23" name="Text 20"/>
          <p:cNvSpPr/>
          <p:nvPr/>
        </p:nvSpPr>
        <p:spPr>
          <a:xfrm>
            <a:off x="4193021" y="1627212"/>
            <a:ext cx="293614" cy="293180"/>
          </a:xfrm>
          <a:prstGeom prst="rect">
            <a:avLst/>
          </a:prstGeom>
          <a:noFill/>
          <a:ln/>
        </p:spPr>
        <p:txBody>
          <a:bodyPr wrap="square" lIns="0" tIns="0" rIns="0" bIns="0" rtlCol="0" anchor="t"/>
          <a:lstStyle/>
          <a:p>
            <a:pPr algn="l" indent="0" marL="0">
              <a:lnSpc>
                <a:spcPts val="2138"/>
              </a:lnSpc>
              <a:buNone/>
            </a:pPr>
            <a:r>
              <a:rPr lang="en-US" sz="2138" b="1" dirty="0">
                <a:solidFill>
                  <a:srgbClr val="EDE9FE"/>
                </a:solidFill>
                <a:latin typeface="Liberation Sans Narrow" pitchFamily="34" charset="0"/>
                <a:ea typeface="Liberation Sans Narrow" pitchFamily="34" charset="-122"/>
                <a:cs typeface="Liberation Sans Narrow" pitchFamily="34" charset="-120"/>
              </a:rPr>
              <a:t>1</a:t>
            </a:r>
            <a:endParaRPr lang="en-US" sz="2138" dirty="0"/>
          </a:p>
        </p:txBody>
      </p:sp>
      <p:sp>
        <p:nvSpPr>
          <p:cNvPr id="24" name="Text 21"/>
          <p:cNvSpPr/>
          <p:nvPr/>
        </p:nvSpPr>
        <p:spPr>
          <a:xfrm>
            <a:off x="8350684" y="1627212"/>
            <a:ext cx="293614" cy="293180"/>
          </a:xfrm>
          <a:prstGeom prst="rect">
            <a:avLst/>
          </a:prstGeom>
          <a:noFill/>
          <a:ln/>
        </p:spPr>
        <p:txBody>
          <a:bodyPr wrap="square" lIns="0" tIns="0" rIns="0" bIns="0" rtlCol="0" anchor="t"/>
          <a:lstStyle/>
          <a:p>
            <a:pPr algn="l" indent="0" marL="0">
              <a:lnSpc>
                <a:spcPts val="2138"/>
              </a:lnSpc>
              <a:buNone/>
            </a:pPr>
            <a:r>
              <a:rPr lang="en-US" sz="2138" b="1" dirty="0">
                <a:solidFill>
                  <a:srgbClr val="EDE9FE"/>
                </a:solidFill>
                <a:latin typeface="Liberation Sans Narrow" pitchFamily="34" charset="0"/>
                <a:ea typeface="Liberation Sans Narrow" pitchFamily="34" charset="-122"/>
                <a:cs typeface="Liberation Sans Narrow" pitchFamily="34" charset="-120"/>
              </a:rPr>
              <a:t>2</a:t>
            </a:r>
            <a:endParaRPr lang="en-US" sz="2138" dirty="0"/>
          </a:p>
        </p:txBody>
      </p:sp>
      <p:sp>
        <p:nvSpPr>
          <p:cNvPr id="25" name="Text 22"/>
          <p:cNvSpPr/>
          <p:nvPr/>
        </p:nvSpPr>
        <p:spPr>
          <a:xfrm>
            <a:off x="4193021" y="2508349"/>
            <a:ext cx="293614" cy="293180"/>
          </a:xfrm>
          <a:prstGeom prst="rect">
            <a:avLst/>
          </a:prstGeom>
          <a:noFill/>
          <a:ln/>
        </p:spPr>
        <p:txBody>
          <a:bodyPr wrap="square" lIns="0" tIns="0" rIns="0" bIns="0" rtlCol="0" anchor="t"/>
          <a:lstStyle/>
          <a:p>
            <a:pPr algn="l" indent="0" marL="0">
              <a:lnSpc>
                <a:spcPts val="2138"/>
              </a:lnSpc>
              <a:buNone/>
            </a:pPr>
            <a:r>
              <a:rPr lang="en-US" sz="2138" b="1" dirty="0">
                <a:solidFill>
                  <a:srgbClr val="EDE9FE"/>
                </a:solidFill>
                <a:latin typeface="Liberation Sans Narrow" pitchFamily="34" charset="0"/>
                <a:ea typeface="Liberation Sans Narrow" pitchFamily="34" charset="-122"/>
                <a:cs typeface="Liberation Sans Narrow" pitchFamily="34" charset="-120"/>
              </a:rPr>
              <a:t>3</a:t>
            </a:r>
            <a:endParaRPr lang="en-US" sz="2138" dirty="0"/>
          </a:p>
        </p:txBody>
      </p:sp>
      <p:sp>
        <p:nvSpPr>
          <p:cNvPr id="26" name="Text 23"/>
          <p:cNvSpPr/>
          <p:nvPr/>
        </p:nvSpPr>
        <p:spPr>
          <a:xfrm>
            <a:off x="8350684" y="2508349"/>
            <a:ext cx="293614" cy="293180"/>
          </a:xfrm>
          <a:prstGeom prst="rect">
            <a:avLst/>
          </a:prstGeom>
          <a:noFill/>
          <a:ln/>
        </p:spPr>
        <p:txBody>
          <a:bodyPr wrap="square" lIns="0" tIns="0" rIns="0" bIns="0" rtlCol="0" anchor="t"/>
          <a:lstStyle/>
          <a:p>
            <a:pPr algn="l" indent="0" marL="0">
              <a:lnSpc>
                <a:spcPts val="2138"/>
              </a:lnSpc>
              <a:buNone/>
            </a:pPr>
            <a:r>
              <a:rPr lang="en-US" sz="2138" b="1" dirty="0">
                <a:solidFill>
                  <a:srgbClr val="EDE9FE"/>
                </a:solidFill>
                <a:latin typeface="Liberation Sans Narrow" pitchFamily="34" charset="0"/>
                <a:ea typeface="Liberation Sans Narrow" pitchFamily="34" charset="-122"/>
                <a:cs typeface="Liberation Sans Narrow" pitchFamily="34" charset="-120"/>
              </a:rPr>
              <a:t>4</a:t>
            </a:r>
            <a:endParaRPr lang="en-US" sz="2138" dirty="0"/>
          </a:p>
        </p:txBody>
      </p:sp>
      <p:sp>
        <p:nvSpPr>
          <p:cNvPr id="27" name="Text 24"/>
          <p:cNvSpPr/>
          <p:nvPr/>
        </p:nvSpPr>
        <p:spPr>
          <a:xfrm>
            <a:off x="592931" y="1655787"/>
            <a:ext cx="271463" cy="271463"/>
          </a:xfrm>
          <a:prstGeom prst="roundRect">
            <a:avLst>
              <a:gd name="adj" fmla="val 35088"/>
            </a:avLst>
          </a:prstGeom>
          <a:solidFill>
            <a:srgbClr val="7C3AED"/>
          </a:solidFill>
          <a:ln/>
        </p:spPr>
        <p:txBody>
          <a:bodyPr wrap="square" rtlCol="0" anchor="ctr"/>
          <a:lstStyle/>
          <a:p>
            <a:pPr indent="0" marL="0">
              <a:buNone/>
            </a:pPr>
            <a:endParaRPr lang="en-US" dirty="0"/>
          </a:p>
        </p:txBody>
      </p:sp>
      <p:sp>
        <p:nvSpPr>
          <p:cNvPr id="28" name="Text 25"/>
          <p:cNvSpPr/>
          <p:nvPr/>
        </p:nvSpPr>
        <p:spPr>
          <a:xfrm>
            <a:off x="614720" y="1677576"/>
            <a:ext cx="227886" cy="227886"/>
          </a:xfrm>
          <a:prstGeom prst="rect">
            <a:avLst/>
          </a:prstGeom>
          <a:noFill/>
          <a:ln/>
        </p:spPr>
        <p:txBody>
          <a:bodyPr wrap="none" lIns="0" tIns="0" rIns="0" bIns="0" rtlCol="0" anchor="ctr"/>
          <a:lstStyle/>
          <a:p>
            <a:pPr algn="ctr" indent="0" marL="0">
              <a:buNone/>
            </a:pPr>
            <a:r>
              <a:rPr lang="en-US" sz="1547" dirty="0">
                <a:solidFill>
                  <a:srgbClr val="FFFFFF"/>
                </a:solidFill>
                <a:latin typeface="Segoe UI Symbol" pitchFamily="34" charset="0"/>
                <a:ea typeface="Segoe UI Symbol" pitchFamily="34" charset="-122"/>
                <a:cs typeface="Segoe UI Symbol" pitchFamily="34" charset="-120"/>
              </a:rPr>
              <a:t>▢</a:t>
            </a:r>
            <a:endParaRPr lang="en-US" sz="1547" dirty="0"/>
          </a:p>
        </p:txBody>
      </p:sp>
      <p:sp>
        <p:nvSpPr>
          <p:cNvPr id="29" name="Text 26"/>
          <p:cNvSpPr/>
          <p:nvPr/>
        </p:nvSpPr>
        <p:spPr>
          <a:xfrm>
            <a:off x="935831" y="1713830"/>
            <a:ext cx="3457575" cy="167807"/>
          </a:xfrm>
          <a:prstGeom prst="rect">
            <a:avLst/>
          </a:prstGeom>
          <a:noFill/>
          <a:ln/>
        </p:spPr>
        <p:txBody>
          <a:bodyPr wrap="none" lIns="0" tIns="0" rIns="0" bIns="0" rtlCol="0" anchor="t"/>
          <a:lstStyle/>
          <a:p>
            <a:pPr algn="l" indent="0" marL="0">
              <a:lnSpc>
                <a:spcPts val="1223"/>
              </a:lnSpc>
              <a:buNone/>
            </a:pPr>
            <a:r>
              <a:rPr lang="en-US" sz="816" b="1" spc="-8" kern="0" dirty="0">
                <a:solidFill>
                  <a:srgbClr val="1F2937"/>
                </a:solidFill>
                <a:latin typeface="Carlito" pitchFamily="34" charset="0"/>
                <a:ea typeface="Carlito" pitchFamily="34" charset="-122"/>
                <a:cs typeface="Carlito" pitchFamily="34" charset="-120"/>
              </a:rPr>
              <a:t>Video Kiosk</a:t>
            </a:r>
            <a:endParaRPr lang="en-US" sz="816" dirty="0"/>
          </a:p>
        </p:txBody>
      </p:sp>
      <p:sp>
        <p:nvSpPr>
          <p:cNvPr id="30" name="Text 27"/>
          <p:cNvSpPr/>
          <p:nvPr/>
        </p:nvSpPr>
        <p:spPr>
          <a:xfrm>
            <a:off x="592931" y="1970112"/>
            <a:ext cx="3800475" cy="238199"/>
          </a:xfrm>
          <a:prstGeom prst="rect">
            <a:avLst/>
          </a:prstGeom>
          <a:noFill/>
          <a:ln/>
        </p:spPr>
        <p:txBody>
          <a:bodyPr wrap="square" lIns="0" tIns="0" rIns="0" bIns="0" rtlCol="0" anchor="t"/>
          <a:lstStyle/>
          <a:p>
            <a:pPr algn="l" indent="0" marL="0">
              <a:lnSpc>
                <a:spcPts val="938"/>
              </a:lnSpc>
              <a:buNone/>
            </a:pPr>
            <a:r>
              <a:rPr lang="en-US" sz="800" dirty="0">
                <a:solidFill>
                  <a:srgbClr val="374151"/>
                </a:solidFill>
                <a:latin typeface="Carlito" pitchFamily="34" charset="0"/>
                <a:ea typeface="Carlito" pitchFamily="34" charset="-122"/>
                <a:cs typeface="Carlito" pitchFamily="34" charset="-120"/>
              </a:rPr>
              <a:t>Service on the large screen at the service point, with audio through the customer's phone. The full face-to-face experience.</a:t>
            </a:r>
            <a:endParaRPr lang="en-US" sz="800" dirty="0"/>
          </a:p>
        </p:txBody>
      </p:sp>
      <p:sp>
        <p:nvSpPr>
          <p:cNvPr id="31" name="Text 28"/>
          <p:cNvSpPr/>
          <p:nvPr/>
        </p:nvSpPr>
        <p:spPr>
          <a:xfrm>
            <a:off x="4750594" y="1655787"/>
            <a:ext cx="271463" cy="271463"/>
          </a:xfrm>
          <a:prstGeom prst="roundRect">
            <a:avLst>
              <a:gd name="adj" fmla="val 35088"/>
            </a:avLst>
          </a:prstGeom>
          <a:solidFill>
            <a:srgbClr val="7C3AED"/>
          </a:solidFill>
          <a:ln/>
        </p:spPr>
        <p:txBody>
          <a:bodyPr wrap="square" rtlCol="0" anchor="ctr"/>
          <a:lstStyle/>
          <a:p>
            <a:pPr indent="0" marL="0">
              <a:buNone/>
            </a:pPr>
            <a:endParaRPr lang="en-US" dirty="0"/>
          </a:p>
        </p:txBody>
      </p:sp>
      <p:sp>
        <p:nvSpPr>
          <p:cNvPr id="32" name="Text 29"/>
          <p:cNvSpPr/>
          <p:nvPr/>
        </p:nvSpPr>
        <p:spPr>
          <a:xfrm>
            <a:off x="4772382" y="1677576"/>
            <a:ext cx="227886" cy="227886"/>
          </a:xfrm>
          <a:prstGeom prst="rect">
            <a:avLst/>
          </a:prstGeom>
          <a:noFill/>
          <a:ln/>
        </p:spPr>
        <p:txBody>
          <a:bodyPr wrap="none" lIns="0" tIns="0" rIns="0" bIns="0" rtlCol="0" anchor="ctr"/>
          <a:lstStyle/>
          <a:p>
            <a:pPr algn="ctr" indent="0" marL="0">
              <a:buNone/>
            </a:pPr>
            <a:r>
              <a:rPr lang="en-US" sz="1547" dirty="0">
                <a:solidFill>
                  <a:srgbClr val="FFFFFF"/>
                </a:solidFill>
                <a:latin typeface="Segoe UI Symbol" pitchFamily="34" charset="0"/>
                <a:ea typeface="Segoe UI Symbol" pitchFamily="34" charset="-122"/>
                <a:cs typeface="Segoe UI Symbol" pitchFamily="34" charset="-120"/>
              </a:rPr>
              <a:t>▯</a:t>
            </a:r>
            <a:endParaRPr lang="en-US" sz="1547" dirty="0"/>
          </a:p>
        </p:txBody>
      </p:sp>
      <p:sp>
        <p:nvSpPr>
          <p:cNvPr id="33" name="Text 30"/>
          <p:cNvSpPr/>
          <p:nvPr/>
        </p:nvSpPr>
        <p:spPr>
          <a:xfrm>
            <a:off x="5093494" y="1713830"/>
            <a:ext cx="3457575" cy="167807"/>
          </a:xfrm>
          <a:prstGeom prst="rect">
            <a:avLst/>
          </a:prstGeom>
          <a:noFill/>
          <a:ln/>
        </p:spPr>
        <p:txBody>
          <a:bodyPr wrap="none" lIns="0" tIns="0" rIns="0" bIns="0" rtlCol="0" anchor="t"/>
          <a:lstStyle/>
          <a:p>
            <a:pPr algn="l" indent="0" marL="0">
              <a:lnSpc>
                <a:spcPts val="1223"/>
              </a:lnSpc>
              <a:buNone/>
            </a:pPr>
            <a:r>
              <a:rPr lang="en-US" sz="816" b="1" spc="-8" kern="0" dirty="0">
                <a:solidFill>
                  <a:srgbClr val="1F2937"/>
                </a:solidFill>
                <a:latin typeface="Carlito" pitchFamily="34" charset="0"/>
                <a:ea typeface="Carlito" pitchFamily="34" charset="-122"/>
                <a:cs typeface="Carlito" pitchFamily="34" charset="-120"/>
              </a:rPr>
              <a:t>Mobile Video Call</a:t>
            </a:r>
            <a:endParaRPr lang="en-US" sz="816" dirty="0"/>
          </a:p>
        </p:txBody>
      </p:sp>
      <p:sp>
        <p:nvSpPr>
          <p:cNvPr id="34" name="Text 31"/>
          <p:cNvSpPr/>
          <p:nvPr/>
        </p:nvSpPr>
        <p:spPr>
          <a:xfrm>
            <a:off x="4750594" y="1970112"/>
            <a:ext cx="3800475" cy="238199"/>
          </a:xfrm>
          <a:prstGeom prst="rect">
            <a:avLst/>
          </a:prstGeom>
          <a:noFill/>
          <a:ln/>
        </p:spPr>
        <p:txBody>
          <a:bodyPr wrap="square" lIns="0" tIns="0" rIns="0" bIns="0" rtlCol="0" anchor="t"/>
          <a:lstStyle/>
          <a:p>
            <a:pPr algn="l" indent="0" marL="0">
              <a:lnSpc>
                <a:spcPts val="938"/>
              </a:lnSpc>
              <a:buNone/>
            </a:pPr>
            <a:r>
              <a:rPr lang="en-US" sz="800" dirty="0">
                <a:solidFill>
                  <a:srgbClr val="374151"/>
                </a:solidFill>
                <a:latin typeface="Carlito" pitchFamily="34" charset="0"/>
                <a:ea typeface="Carlito" pitchFamily="34" charset="-122"/>
                <a:cs typeface="Carlito" pitchFamily="34" charset="-120"/>
              </a:rPr>
              <a:t>The entire session on the customer's phone, on-site or off. Same advisor, same console, same context.</a:t>
            </a:r>
            <a:endParaRPr lang="en-US" sz="800" dirty="0"/>
          </a:p>
        </p:txBody>
      </p:sp>
      <p:sp>
        <p:nvSpPr>
          <p:cNvPr id="35" name="Text 32"/>
          <p:cNvSpPr/>
          <p:nvPr/>
        </p:nvSpPr>
        <p:spPr>
          <a:xfrm>
            <a:off x="592931" y="2536924"/>
            <a:ext cx="271463" cy="271463"/>
          </a:xfrm>
          <a:prstGeom prst="roundRect">
            <a:avLst>
              <a:gd name="adj" fmla="val 35088"/>
            </a:avLst>
          </a:prstGeom>
          <a:solidFill>
            <a:srgbClr val="7C3AED"/>
          </a:solidFill>
          <a:ln/>
        </p:spPr>
        <p:txBody>
          <a:bodyPr wrap="square" rtlCol="0" anchor="ctr"/>
          <a:lstStyle/>
          <a:p>
            <a:pPr indent="0" marL="0">
              <a:buNone/>
            </a:pPr>
            <a:endParaRPr lang="en-US" dirty="0"/>
          </a:p>
        </p:txBody>
      </p:sp>
      <p:sp>
        <p:nvSpPr>
          <p:cNvPr id="36" name="Text 33"/>
          <p:cNvSpPr/>
          <p:nvPr/>
        </p:nvSpPr>
        <p:spPr>
          <a:xfrm>
            <a:off x="614720" y="2558713"/>
            <a:ext cx="227886" cy="227886"/>
          </a:xfrm>
          <a:prstGeom prst="rect">
            <a:avLst/>
          </a:prstGeom>
          <a:noFill/>
          <a:ln/>
        </p:spPr>
        <p:txBody>
          <a:bodyPr wrap="none" lIns="0" tIns="0" rIns="0" bIns="0" rtlCol="0" anchor="ctr"/>
          <a:lstStyle/>
          <a:p>
            <a:pPr algn="ctr" indent="0" marL="0">
              <a:buNone/>
            </a:pPr>
            <a:r>
              <a:rPr lang="en-US" sz="1547" dirty="0">
                <a:solidFill>
                  <a:srgbClr val="FFFFFF"/>
                </a:solidFill>
                <a:latin typeface="Segoe UI Symbol" pitchFamily="34" charset="0"/>
                <a:ea typeface="Segoe UI Symbol" pitchFamily="34" charset="-122"/>
                <a:cs typeface="Segoe UI Symbol" pitchFamily="34" charset="-120"/>
              </a:rPr>
              <a:t>▦</a:t>
            </a:r>
            <a:endParaRPr lang="en-US" sz="1547" dirty="0"/>
          </a:p>
        </p:txBody>
      </p:sp>
      <p:sp>
        <p:nvSpPr>
          <p:cNvPr id="37" name="Text 34"/>
          <p:cNvSpPr/>
          <p:nvPr/>
        </p:nvSpPr>
        <p:spPr>
          <a:xfrm>
            <a:off x="935831" y="2594967"/>
            <a:ext cx="3457575" cy="167807"/>
          </a:xfrm>
          <a:prstGeom prst="rect">
            <a:avLst/>
          </a:prstGeom>
          <a:noFill/>
          <a:ln/>
        </p:spPr>
        <p:txBody>
          <a:bodyPr wrap="none" lIns="0" tIns="0" rIns="0" bIns="0" rtlCol="0" anchor="t"/>
          <a:lstStyle/>
          <a:p>
            <a:pPr algn="l" indent="0" marL="0">
              <a:lnSpc>
                <a:spcPts val="1223"/>
              </a:lnSpc>
              <a:buNone/>
            </a:pPr>
            <a:r>
              <a:rPr lang="en-US" sz="816" b="1" spc="-8" kern="0" dirty="0">
                <a:solidFill>
                  <a:srgbClr val="1F2937"/>
                </a:solidFill>
                <a:latin typeface="Carlito" pitchFamily="34" charset="0"/>
                <a:ea typeface="Carlito" pitchFamily="34" charset="-122"/>
                <a:cs typeface="Carlito" pitchFamily="34" charset="-120"/>
              </a:rPr>
              <a:t>Digital Call</a:t>
            </a:r>
            <a:endParaRPr lang="en-US" sz="816" dirty="0"/>
          </a:p>
        </p:txBody>
      </p:sp>
      <p:sp>
        <p:nvSpPr>
          <p:cNvPr id="38" name="Text 35"/>
          <p:cNvSpPr/>
          <p:nvPr/>
        </p:nvSpPr>
        <p:spPr>
          <a:xfrm>
            <a:off x="592931" y="2851249"/>
            <a:ext cx="3800475" cy="238199"/>
          </a:xfrm>
          <a:prstGeom prst="rect">
            <a:avLst/>
          </a:prstGeom>
          <a:noFill/>
          <a:ln/>
        </p:spPr>
        <p:txBody>
          <a:bodyPr wrap="square" lIns="0" tIns="0" rIns="0" bIns="0" rtlCol="0" anchor="t"/>
          <a:lstStyle/>
          <a:p>
            <a:pPr algn="l" indent="0" marL="0">
              <a:lnSpc>
                <a:spcPts val="938"/>
              </a:lnSpc>
              <a:buNone/>
            </a:pPr>
            <a:r>
              <a:rPr lang="en-US" sz="800" dirty="0">
                <a:solidFill>
                  <a:srgbClr val="374151"/>
                </a:solidFill>
                <a:latin typeface="Carlito" pitchFamily="34" charset="0"/>
                <a:ea typeface="Carlito" pitchFamily="34" charset="-122"/>
                <a:cs typeface="Carlito" pitchFamily="34" charset="-120"/>
              </a:rPr>
              <a:t>Voice over data only. No minutes used, no phone number needed. For audio-only customers or low-bandwidth environments.</a:t>
            </a:r>
            <a:endParaRPr lang="en-US" sz="800" dirty="0"/>
          </a:p>
        </p:txBody>
      </p:sp>
      <p:sp>
        <p:nvSpPr>
          <p:cNvPr id="39" name="Text 36"/>
          <p:cNvSpPr/>
          <p:nvPr/>
        </p:nvSpPr>
        <p:spPr>
          <a:xfrm>
            <a:off x="4750594" y="2536924"/>
            <a:ext cx="271463" cy="271463"/>
          </a:xfrm>
          <a:prstGeom prst="roundRect">
            <a:avLst>
              <a:gd name="adj" fmla="val 35088"/>
            </a:avLst>
          </a:prstGeom>
          <a:solidFill>
            <a:srgbClr val="7C3AED"/>
          </a:solidFill>
          <a:ln/>
        </p:spPr>
        <p:txBody>
          <a:bodyPr wrap="square" rtlCol="0" anchor="ctr"/>
          <a:lstStyle/>
          <a:p>
            <a:pPr indent="0" marL="0">
              <a:buNone/>
            </a:pPr>
            <a:endParaRPr lang="en-US" dirty="0"/>
          </a:p>
        </p:txBody>
      </p:sp>
      <p:sp>
        <p:nvSpPr>
          <p:cNvPr id="40" name="Text 37"/>
          <p:cNvSpPr/>
          <p:nvPr/>
        </p:nvSpPr>
        <p:spPr>
          <a:xfrm>
            <a:off x="4772382" y="2558713"/>
            <a:ext cx="227886" cy="227886"/>
          </a:xfrm>
          <a:prstGeom prst="rect">
            <a:avLst/>
          </a:prstGeom>
          <a:noFill/>
          <a:ln/>
        </p:spPr>
        <p:txBody>
          <a:bodyPr wrap="none" lIns="0" tIns="0" rIns="0" bIns="0" rtlCol="0" anchor="ctr"/>
          <a:lstStyle/>
          <a:p>
            <a:pPr algn="ctr" indent="0" marL="0">
              <a:buNone/>
            </a:pPr>
            <a:r>
              <a:rPr lang="en-US" sz="1547" dirty="0">
                <a:solidFill>
                  <a:srgbClr val="FFFFFF"/>
                </a:solidFill>
                <a:latin typeface="Segoe UI Symbol" pitchFamily="34" charset="0"/>
                <a:ea typeface="Segoe UI Symbol" pitchFamily="34" charset="-122"/>
                <a:cs typeface="Segoe UI Symbol" pitchFamily="34" charset="-120"/>
              </a:rPr>
              <a:t>◌</a:t>
            </a:r>
            <a:endParaRPr lang="en-US" sz="1547" dirty="0"/>
          </a:p>
        </p:txBody>
      </p:sp>
      <p:sp>
        <p:nvSpPr>
          <p:cNvPr id="41" name="Text 38"/>
          <p:cNvSpPr/>
          <p:nvPr/>
        </p:nvSpPr>
        <p:spPr>
          <a:xfrm>
            <a:off x="5093494" y="2594967"/>
            <a:ext cx="3457575" cy="167807"/>
          </a:xfrm>
          <a:prstGeom prst="rect">
            <a:avLst/>
          </a:prstGeom>
          <a:noFill/>
          <a:ln/>
        </p:spPr>
        <p:txBody>
          <a:bodyPr wrap="none" lIns="0" tIns="0" rIns="0" bIns="0" rtlCol="0" anchor="t"/>
          <a:lstStyle/>
          <a:p>
            <a:pPr algn="l" indent="0" marL="0">
              <a:lnSpc>
                <a:spcPts val="1223"/>
              </a:lnSpc>
              <a:buNone/>
            </a:pPr>
            <a:r>
              <a:rPr lang="en-US" sz="816" b="1" spc="-8" kern="0" dirty="0">
                <a:solidFill>
                  <a:srgbClr val="1F2937"/>
                </a:solidFill>
                <a:latin typeface="Carlito" pitchFamily="34" charset="0"/>
                <a:ea typeface="Carlito" pitchFamily="34" charset="-122"/>
                <a:cs typeface="Carlito" pitchFamily="34" charset="-120"/>
              </a:rPr>
              <a:t>WhatsApp</a:t>
            </a:r>
            <a:endParaRPr lang="en-US" sz="816" dirty="0"/>
          </a:p>
        </p:txBody>
      </p:sp>
      <p:sp>
        <p:nvSpPr>
          <p:cNvPr id="42" name="Text 39"/>
          <p:cNvSpPr/>
          <p:nvPr/>
        </p:nvSpPr>
        <p:spPr>
          <a:xfrm>
            <a:off x="4750594" y="2851249"/>
            <a:ext cx="3800475" cy="238199"/>
          </a:xfrm>
          <a:prstGeom prst="rect">
            <a:avLst/>
          </a:prstGeom>
          <a:noFill/>
          <a:ln/>
        </p:spPr>
        <p:txBody>
          <a:bodyPr wrap="square" lIns="0" tIns="0" rIns="0" bIns="0" rtlCol="0" anchor="t"/>
          <a:lstStyle/>
          <a:p>
            <a:pPr algn="l" indent="0" marL="0">
              <a:lnSpc>
                <a:spcPts val="938"/>
              </a:lnSpc>
              <a:buNone/>
            </a:pPr>
            <a:r>
              <a:rPr lang="en-US" sz="800" dirty="0">
                <a:solidFill>
                  <a:srgbClr val="374151"/>
                </a:solidFill>
                <a:latin typeface="Carlito" pitchFamily="34" charset="0"/>
                <a:ea typeface="Carlito" pitchFamily="34" charset="-122"/>
                <a:cs typeface="Carlito" pitchFamily="34" charset="-120"/>
              </a:rPr>
              <a:t>Conversation continuity on the channel customers already use every day. Especially powerful where WhatsApp is the default messenger.</a:t>
            </a:r>
            <a:endParaRPr lang="en-US" sz="800" dirty="0"/>
          </a:p>
        </p:txBody>
      </p:sp>
      <p:sp>
        <p:nvSpPr>
          <p:cNvPr id="43" name="Text 40"/>
          <p:cNvSpPr/>
          <p:nvPr/>
        </p:nvSpPr>
        <p:spPr>
          <a:xfrm>
            <a:off x="8197453" y="567928"/>
            <a:ext cx="478631" cy="478631"/>
          </a:xfrm>
          <a:prstGeom prst="ellipse">
            <a:avLst/>
          </a:prstGeom>
          <a:noFill/>
          <a:ln w="21431">
            <a:solidFill>
              <a:srgbClr val="7C3AED"/>
            </a:solidFill>
            <a:prstDash val="solid"/>
          </a:ln>
          <a:effectLst>
            <a:outerShdw sx="100000" sy="100000" kx="0" ky="0" algn="bl" rotWithShape="0" blurRad="209550" dist="76200" dir="5400000">
              <a:srgbClr val="7C3AED">
                <a:alpha val="30000"/>
              </a:srgbClr>
            </a:outerShdw>
          </a:effectLst>
        </p:spPr>
        <p:txBody>
          <a:bodyPr wrap="square" rtlCol="0" anchor="ctr"/>
          <a:lstStyle/>
          <a:p>
            <a:pPr indent="0" marL="0">
              <a:buNone/>
            </a:pPr>
            <a:endParaRPr lang="en-US" dirty="0"/>
          </a:p>
        </p:txBody>
      </p:sp>
      <p:pic>
        <p:nvPicPr>
          <p:cNvPr id="44" name="Image 1" descr="/tmp/h2p-fit-1786522341836-qmae69.png">    </p:cNvPr>
          <p:cNvPicPr>
            <a:picLocks noChangeAspect="1"/>
          </p:cNvPicPr>
          <p:nvPr/>
        </p:nvPicPr>
        <p:blipFill>
          <a:blip r:embed="rId2"/>
          <a:stretch>
            <a:fillRect/>
          </a:stretch>
        </p:blipFill>
        <p:spPr>
          <a:xfrm>
            <a:off x="8208169" y="578644"/>
            <a:ext cx="457200" cy="457200"/>
          </a:xfrm>
          <a:prstGeom prst="rect">
            <a:avLst/>
          </a:prstGeom>
        </p:spPr>
      </p:pic>
      <p:sp>
        <p:nvSpPr>
          <p:cNvPr id="45" name="Text 41"/>
          <p:cNvSpPr/>
          <p:nvPr/>
        </p:nvSpPr>
        <p:spPr>
          <a:xfrm>
            <a:off x="342900" y="4854178"/>
            <a:ext cx="7019627"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46" name="Text 42"/>
          <p:cNvSpPr/>
          <p:nvPr/>
        </p:nvSpPr>
        <p:spPr>
          <a:xfrm>
            <a:off x="8110389" y="4877395"/>
            <a:ext cx="7144" cy="71438"/>
          </a:xfrm>
          <a:prstGeom prst="rect">
            <a:avLst/>
          </a:prstGeom>
          <a:solidFill>
            <a:srgbClr val="6B7280">
              <a:alpha val="40000"/>
            </a:srgbClr>
          </a:solidFill>
          <a:ln/>
        </p:spPr>
        <p:txBody>
          <a:bodyPr wrap="square" rtlCol="0" anchor="ctr"/>
          <a:lstStyle/>
          <a:p>
            <a:pPr indent="0" marL="0">
              <a:buNone/>
            </a:pPr>
            <a:endParaRPr lang="en-US" dirty="0"/>
          </a:p>
        </p:txBody>
      </p:sp>
      <p:sp>
        <p:nvSpPr>
          <p:cNvPr id="47" name="Text 43"/>
          <p:cNvSpPr/>
          <p:nvPr/>
        </p:nvSpPr>
        <p:spPr>
          <a:xfrm>
            <a:off x="7376815" y="4854178"/>
            <a:ext cx="1767185"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  </a:t>
            </a:r>
            <a:pPr algn="l" indent="0" marL="0">
              <a:lnSpc>
                <a:spcPts val="928"/>
              </a:lnSpc>
              <a:buNone/>
            </a:pPr>
            <a:r>
              <a:rPr lang="en-US" sz="800" spc="25" kern="0" dirty="0">
                <a:solidFill>
                  <a:srgbClr val="6B7280"/>
                </a:solidFill>
                <a:latin typeface="Liberation Sans Narrow" pitchFamily="34" charset="0"/>
                <a:ea typeface="Liberation Sans Narrow" pitchFamily="34" charset="-122"/>
                <a:cs typeface="Liberation Sans Narrow" pitchFamily="34" charset="-120"/>
              </a:rPr>
              <a:t>SLIDE 12 / 24</a:t>
            </a:r>
            <a:endParaRPr lang="en-US" sz="800" dirty="0"/>
          </a:p>
        </p:txBody>
      </p:sp>
      <p:pic>
        <p:nvPicPr>
          <p:cNvPr id="48" name="Image 2" descr="/home/z/my-project/download/slides/massapro-logo.png">    </p:cNvPr>
          <p:cNvPicPr>
            <a:picLocks noChangeAspect="1"/>
          </p:cNvPicPr>
          <p:nvPr/>
        </p:nvPicPr>
        <p:blipFill>
          <a:blip r:embed="rId3"/>
          <a:stretch>
            <a:fillRect/>
          </a:stretch>
        </p:blipFill>
        <p:spPr>
          <a:xfrm>
            <a:off x="342900" y="200025"/>
            <a:ext cx="200025" cy="200025"/>
          </a:xfrm>
          <a:prstGeom prst="rect">
            <a:avLst/>
          </a:prstGeom>
        </p:spPr>
      </p:pic>
      <p:sp>
        <p:nvSpPr>
          <p:cNvPr id="49" name="Text 44"/>
          <p:cNvSpPr/>
          <p:nvPr/>
        </p:nvSpPr>
        <p:spPr>
          <a:xfrm>
            <a:off x="614363" y="219670"/>
            <a:ext cx="769239"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6D28D9"/>
                </a:solidFill>
                <a:latin typeface="Carlito" pitchFamily="34" charset="0"/>
                <a:ea typeface="Carlito" pitchFamily="34" charset="-122"/>
                <a:cs typeface="Carlito" pitchFamily="34" charset="-120"/>
              </a:rPr>
              <a:t>MassaPro</a:t>
            </a:r>
            <a:endParaRPr lang="en-US" sz="844"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15250" y="-571500"/>
            <a:ext cx="2000250" cy="2000250"/>
          </a:xfrm>
          <a:prstGeom prst="rect">
            <a:avLst/>
          </a:prstGeom>
        </p:spPr>
      </p:pic>
      <p:sp>
        <p:nvSpPr>
          <p:cNvPr id="3" name="Text 0"/>
          <p:cNvSpPr/>
          <p:nvPr/>
        </p:nvSpPr>
        <p:spPr>
          <a:xfrm>
            <a:off x="7715250" y="-571500"/>
            <a:ext cx="2000250" cy="2000250"/>
          </a:xfrm>
          <a:prstGeom prst="ellipse">
            <a:avLst/>
          </a:prstGeom>
          <a:solidFill>
            <a:srgbClr val="A78BFA">
              <a:alpha val="0"/>
            </a:srgbClr>
          </a:solidFill>
          <a:ln/>
        </p:spPr>
        <p:txBody>
          <a:bodyPr wrap="square" rtlCol="0" anchor="ctr"/>
          <a:lstStyle/>
          <a:p>
            <a:pPr indent="0" marL="0">
              <a:buNone/>
            </a:pPr>
            <a:endParaRPr lang="en-US" dirty="0"/>
          </a:p>
        </p:txBody>
      </p:sp>
      <p:sp>
        <p:nvSpPr>
          <p:cNvPr id="4" name="Text 1"/>
          <p:cNvSpPr/>
          <p:nvPr/>
        </p:nvSpPr>
        <p:spPr>
          <a:xfrm>
            <a:off x="460772" y="560784"/>
            <a:ext cx="2853370" cy="221456"/>
          </a:xfrm>
          <a:prstGeom prst="roundRect">
            <a:avLst>
              <a:gd name="adj" fmla="val 4296779"/>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5" name="Text 2"/>
          <p:cNvSpPr/>
          <p:nvPr/>
        </p:nvSpPr>
        <p:spPr>
          <a:xfrm>
            <a:off x="735806" y="619720"/>
            <a:ext cx="2489039" cy="129679"/>
          </a:xfrm>
          <a:prstGeom prst="rect">
            <a:avLst/>
          </a:prstGeom>
          <a:noFill/>
          <a:ln/>
        </p:spPr>
        <p:txBody>
          <a:bodyPr wrap="square" lIns="85725" tIns="42863" rIns="85725" bIns="42863" rtlCol="0" anchor="t"/>
          <a:lstStyle/>
          <a:p>
            <a:pPr algn="l" indent="0" marL="0">
              <a:lnSpc>
                <a:spcPts val="928"/>
              </a:lnSpc>
              <a:buNone/>
            </a:pPr>
            <a:r>
              <a:rPr lang="en-US" sz="800" b="1" spc="111" kern="0" dirty="0">
                <a:solidFill>
                  <a:srgbClr val="7C3AED"/>
                </a:solidFill>
                <a:latin typeface="Carlito" pitchFamily="34" charset="0"/>
                <a:ea typeface="Carlito" pitchFamily="34" charset="-122"/>
                <a:cs typeface="Carlito" pitchFamily="34" charset="-120"/>
              </a:rPr>
              <a:t>CHAPTER 03 — INTEGRATION &amp; OPERATIONS</a:t>
            </a:r>
            <a:endParaRPr lang="en-US" sz="800" dirty="0"/>
          </a:p>
        </p:txBody>
      </p:sp>
      <p:sp>
        <p:nvSpPr>
          <p:cNvPr id="6" name="Text 3"/>
          <p:cNvSpPr/>
          <p:nvPr/>
        </p:nvSpPr>
        <p:spPr>
          <a:xfrm>
            <a:off x="550069" y="607219"/>
            <a:ext cx="128588" cy="128588"/>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7" name="Text 4"/>
          <p:cNvSpPr/>
          <p:nvPr/>
        </p:nvSpPr>
        <p:spPr>
          <a:xfrm>
            <a:off x="457200" y="857250"/>
            <a:ext cx="6286500" cy="522949"/>
          </a:xfrm>
          <a:prstGeom prst="rect">
            <a:avLst/>
          </a:prstGeom>
          <a:noFill/>
          <a:ln/>
        </p:spPr>
        <p:txBody>
          <a:bodyPr wrap="square" lIns="0" tIns="0" rIns="0" bIns="0" rtlCol="0" anchor="t"/>
          <a:lstStyle/>
          <a:p>
            <a:pPr algn="l" indent="0" marL="0">
              <a:lnSpc>
                <a:spcPts val="1907"/>
              </a:lnSpc>
              <a:buNone/>
            </a:pPr>
            <a:r>
              <a:rPr lang="en-US" sz="1688" b="1" spc="-34" kern="0" dirty="0">
                <a:solidFill>
                  <a:srgbClr val="1F2937"/>
                </a:solidFill>
                <a:latin typeface="Carlito" pitchFamily="34" charset="0"/>
                <a:ea typeface="Carlito" pitchFamily="34" charset="-122"/>
                <a:cs typeface="Carlito" pitchFamily="34" charset="-120"/>
              </a:rPr>
              <a:t>Routing and Continuity — </a:t>
            </a:r>
            <a:pPr algn="l" indent="0" marL="0">
              <a:lnSpc>
                <a:spcPts val="1907"/>
              </a:lnSpc>
              <a:buNone/>
            </a:pPr>
            <a:r>
              <a:rPr lang="en-US" sz="1688" b="1" spc="-34" kern="0" dirty="0">
                <a:solidFill>
                  <a:srgbClr val="7C3AED"/>
                </a:solidFill>
                <a:latin typeface="Carlito" pitchFamily="34" charset="0"/>
                <a:ea typeface="Carlito" pitchFamily="34" charset="-122"/>
                <a:cs typeface="Carlito" pitchFamily="34" charset="-120"/>
              </a:rPr>
              <a:t>Customers Never Repeat Themselves Across Any Transfer</a:t>
            </a:r>
            <a:endParaRPr lang="en-US" sz="1688" dirty="0"/>
          </a:p>
        </p:txBody>
      </p:sp>
      <p:sp>
        <p:nvSpPr>
          <p:cNvPr id="8" name="Text 5"/>
          <p:cNvSpPr/>
          <p:nvPr/>
        </p:nvSpPr>
        <p:spPr>
          <a:xfrm>
            <a:off x="457200" y="1412900"/>
            <a:ext cx="400050" cy="21431"/>
          </a:xfrm>
          <a:prstGeom prst="roundRect">
            <a:avLst>
              <a:gd name="adj" fmla="val 88890"/>
            </a:avLst>
          </a:prstGeom>
          <a:solidFill>
            <a:srgbClr val="7C3AED"/>
          </a:solidFill>
          <a:ln/>
        </p:spPr>
        <p:txBody>
          <a:bodyPr wrap="square" rtlCol="0" anchor="ctr"/>
          <a:lstStyle/>
          <a:p>
            <a:pPr indent="0" marL="0">
              <a:buNone/>
            </a:pPr>
            <a:endParaRPr lang="en-US" dirty="0"/>
          </a:p>
        </p:txBody>
      </p:sp>
      <p:sp>
        <p:nvSpPr>
          <p:cNvPr id="9" name="Text 6"/>
          <p:cNvSpPr/>
          <p:nvPr/>
        </p:nvSpPr>
        <p:spPr>
          <a:xfrm>
            <a:off x="460772" y="1537915"/>
            <a:ext cx="1413904" cy="2042554"/>
          </a:xfrm>
          <a:prstGeom prst="roundRect">
            <a:avLst>
              <a:gd name="adj" fmla="val 9431"/>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10" name="Text 7"/>
          <p:cNvSpPr/>
          <p:nvPr/>
        </p:nvSpPr>
        <p:spPr>
          <a:xfrm>
            <a:off x="564356" y="1641500"/>
            <a:ext cx="185738" cy="185738"/>
          </a:xfrm>
          <a:prstGeom prst="roundRect">
            <a:avLst>
              <a:gd name="adj" fmla="val 41026"/>
            </a:avLst>
          </a:prstGeom>
          <a:solidFill>
            <a:srgbClr val="7C3AED"/>
          </a:solidFill>
          <a:ln/>
        </p:spPr>
        <p:txBody>
          <a:bodyPr wrap="square" rtlCol="0" anchor="ctr"/>
          <a:lstStyle/>
          <a:p>
            <a:pPr indent="0" marL="0">
              <a:buNone/>
            </a:pPr>
            <a:endParaRPr lang="en-US" dirty="0"/>
          </a:p>
        </p:txBody>
      </p:sp>
      <p:sp>
        <p:nvSpPr>
          <p:cNvPr id="11" name="Text 8"/>
          <p:cNvSpPr/>
          <p:nvPr/>
        </p:nvSpPr>
        <p:spPr>
          <a:xfrm>
            <a:off x="564356" y="1641500"/>
            <a:ext cx="214313" cy="185738"/>
          </a:xfrm>
          <a:prstGeom prst="rect">
            <a:avLst/>
          </a:prstGeom>
          <a:noFill/>
          <a:ln/>
        </p:spPr>
        <p:txBody>
          <a:bodyPr wrap="none" lIns="0" tIns="0" rIns="0" bIns="0" rtlCol="0" anchor="ctr"/>
          <a:lstStyle/>
          <a:p>
            <a:pPr algn="ctr" indent="0" marL="0">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a:t>
            </a:r>
            <a:endParaRPr lang="en-US" sz="800" dirty="0"/>
          </a:p>
        </p:txBody>
      </p:sp>
      <p:sp>
        <p:nvSpPr>
          <p:cNvPr id="12" name="Text 9"/>
          <p:cNvSpPr/>
          <p:nvPr/>
        </p:nvSpPr>
        <p:spPr>
          <a:xfrm>
            <a:off x="807244" y="1662038"/>
            <a:ext cx="963848" cy="164592"/>
          </a:xfrm>
          <a:prstGeom prst="rect">
            <a:avLst/>
          </a:prstGeom>
          <a:noFill/>
          <a:ln/>
        </p:spPr>
        <p:txBody>
          <a:bodyPr wrap="none" lIns="0" tIns="0" rIns="0" bIns="0" rtlCol="0" anchor="t"/>
          <a:lstStyle/>
          <a:p>
            <a:pPr algn="l" indent="0" marL="0">
              <a:lnSpc>
                <a:spcPts val="1139"/>
              </a:lnSpc>
              <a:buNone/>
            </a:pPr>
            <a:r>
              <a:rPr lang="en-US" sz="800" b="1" spc="-8" kern="0" dirty="0">
                <a:solidFill>
                  <a:srgbClr val="6D28D9"/>
                </a:solidFill>
                <a:latin typeface="Carlito" pitchFamily="34" charset="0"/>
                <a:ea typeface="Carlito" pitchFamily="34" charset="-122"/>
                <a:cs typeface="Carlito" pitchFamily="34" charset="-120"/>
              </a:rPr>
              <a:t>Customer</a:t>
            </a:r>
            <a:endParaRPr lang="en-US" sz="800" dirty="0"/>
          </a:p>
        </p:txBody>
      </p:sp>
      <p:sp>
        <p:nvSpPr>
          <p:cNvPr id="13" name="Text 10"/>
          <p:cNvSpPr/>
          <p:nvPr/>
        </p:nvSpPr>
        <p:spPr>
          <a:xfrm>
            <a:off x="564356" y="1855812"/>
            <a:ext cx="1206736" cy="127945"/>
          </a:xfrm>
          <a:prstGeom prst="rect">
            <a:avLst/>
          </a:prstGeom>
          <a:noFill/>
          <a:ln/>
        </p:spPr>
        <p:txBody>
          <a:bodyPr wrap="none" lIns="0" tIns="0" rIns="0" bIns="0" rtlCol="0" anchor="t">
            <a:normAutofit/>
          </a:bodyPr>
          <a:lstStyle/>
          <a:p>
            <a:pPr algn="l" indent="0" marL="0">
              <a:lnSpc>
                <a:spcPts val="886"/>
              </a:lnSpc>
              <a:buNone/>
            </a:pPr>
            <a:r>
              <a:rPr lang="en-US" sz="600" spc="47" kern="0" dirty="0">
                <a:solidFill>
                  <a:srgbClr val="6B7280"/>
                </a:solidFill>
                <a:latin typeface="Carlito" pitchFamily="34" charset="0"/>
                <a:ea typeface="Carlito" pitchFamily="34" charset="-122"/>
                <a:cs typeface="Carlito" pitchFamily="34" charset="-120"/>
              </a:rPr>
              <a:t>AT THE SERVICE POINT</a:t>
            </a:r>
            <a:endParaRPr lang="en-US" sz="600" dirty="0"/>
          </a:p>
        </p:txBody>
      </p:sp>
      <p:sp>
        <p:nvSpPr>
          <p:cNvPr id="14" name="Text 11"/>
          <p:cNvSpPr/>
          <p:nvPr/>
        </p:nvSpPr>
        <p:spPr>
          <a:xfrm>
            <a:off x="564356" y="2011189"/>
            <a:ext cx="1279140" cy="489597"/>
          </a:xfrm>
          <a:prstGeom prst="rect">
            <a:avLst/>
          </a:prstGeom>
          <a:noFill/>
          <a:ln/>
        </p:spPr>
        <p:txBody>
          <a:bodyPr wrap="square" lIns="0" tIns="0" rIns="0" bIns="0" rtlCol="0" anchor="t">
            <a:normAutofit/>
          </a:bodyPr>
          <a:lstStyle/>
          <a:p>
            <a:pPr algn="l" indent="0" marL="0">
              <a:lnSpc>
                <a:spcPts val="906"/>
              </a:lnSpc>
              <a:buNone/>
            </a:pPr>
            <a:r>
              <a:rPr lang="en-US" sz="800" dirty="0">
                <a:solidFill>
                  <a:srgbClr val="374151"/>
                </a:solidFill>
                <a:latin typeface="Carlito" pitchFamily="34" charset="0"/>
                <a:ea typeface="Carlito" pitchFamily="34" charset="-122"/>
                <a:cs typeface="Carlito" pitchFamily="34" charset="-120"/>
              </a:rPr>
              <a:t>Data captured </a:t>
            </a:r>
            <a:pPr algn="l" indent="0" marL="0">
              <a:lnSpc>
                <a:spcPts val="906"/>
              </a:lnSpc>
              <a:buNone/>
            </a:pPr>
            <a:r>
              <a:rPr lang="en-US" sz="800" i="1" dirty="0">
                <a:solidFill>
                  <a:srgbClr val="374151"/>
                </a:solidFill>
                <a:latin typeface="Carlito" pitchFamily="34" charset="0"/>
                <a:ea typeface="Carlito" pitchFamily="34" charset="-122"/>
                <a:cs typeface="Carlito" pitchFamily="34" charset="-120"/>
              </a:rPr>
              <a:t>before connecting</a:t>
            </a:r>
            <a:pPr algn="l" indent="0" marL="0">
              <a:lnSpc>
                <a:spcPts val="906"/>
              </a:lnSpc>
              <a:buNone/>
            </a:pPr>
            <a:r>
              <a:rPr lang="en-US" sz="800" dirty="0">
                <a:solidFill>
                  <a:srgbClr val="374151"/>
                </a:solidFill>
                <a:latin typeface="Carlito" pitchFamily="34" charset="0"/>
                <a:ea typeface="Carlito" pitchFamily="34" charset="-122"/>
                <a:cs typeface="Carlito" pitchFamily="34" charset="-120"/>
              </a:rPr>
              <a:t>: identity, reason, and context from the service point.</a:t>
            </a:r>
            <a:endParaRPr lang="en-US" sz="800" dirty="0"/>
          </a:p>
        </p:txBody>
      </p:sp>
      <p:sp>
        <p:nvSpPr>
          <p:cNvPr id="15" name="Text 12"/>
          <p:cNvSpPr/>
          <p:nvPr/>
        </p:nvSpPr>
        <p:spPr>
          <a:xfrm>
            <a:off x="564356" y="2519860"/>
            <a:ext cx="405408" cy="156020"/>
          </a:xfrm>
          <a:prstGeom prst="roundRect">
            <a:avLst>
              <a:gd name="adj" fmla="val 24420"/>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16" name="Text 13"/>
          <p:cNvSpPr/>
          <p:nvPr/>
        </p:nvSpPr>
        <p:spPr>
          <a:xfrm>
            <a:off x="493919" y="2528218"/>
            <a:ext cx="546283" cy="139303"/>
          </a:xfrm>
          <a:prstGeom prst="rect">
            <a:avLst/>
          </a:prstGeom>
          <a:noFill/>
          <a:ln/>
        </p:spPr>
        <p:txBody>
          <a:bodyPr wrap="none" lIns="0" tIns="0" rIns="0" bIns="0" rtlCol="0" anchor="ctr"/>
          <a:lstStyle/>
          <a:p>
            <a:pPr algn="ctr" indent="0" marL="0">
              <a:lnSpc>
                <a:spcPts val="759"/>
              </a:lnSpc>
              <a:buNone/>
            </a:pPr>
            <a:r>
              <a:rPr lang="en-US" sz="800" spc="20" kern="0" dirty="0">
                <a:solidFill>
                  <a:srgbClr val="6D28D9"/>
                </a:solidFill>
                <a:latin typeface="Carlito" pitchFamily="34" charset="0"/>
                <a:ea typeface="Carlito" pitchFamily="34" charset="-122"/>
                <a:cs typeface="Carlito" pitchFamily="34" charset="-120"/>
              </a:rPr>
              <a:t>Identity</a:t>
            </a:r>
            <a:endParaRPr lang="en-US" sz="800" dirty="0"/>
          </a:p>
        </p:txBody>
      </p:sp>
      <p:sp>
        <p:nvSpPr>
          <p:cNvPr id="17" name="Text 14"/>
          <p:cNvSpPr/>
          <p:nvPr/>
        </p:nvSpPr>
        <p:spPr>
          <a:xfrm>
            <a:off x="998339" y="2519860"/>
            <a:ext cx="380181" cy="156020"/>
          </a:xfrm>
          <a:prstGeom prst="roundRect">
            <a:avLst>
              <a:gd name="adj" fmla="val 24420"/>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18" name="Text 15"/>
          <p:cNvSpPr/>
          <p:nvPr/>
        </p:nvSpPr>
        <p:spPr>
          <a:xfrm>
            <a:off x="977630" y="2528218"/>
            <a:ext cx="421599" cy="139303"/>
          </a:xfrm>
          <a:prstGeom prst="rect">
            <a:avLst/>
          </a:prstGeom>
          <a:noFill/>
          <a:ln/>
        </p:spPr>
        <p:txBody>
          <a:bodyPr wrap="none" lIns="0" tIns="0" rIns="0" bIns="0" rtlCol="0" anchor="ctr"/>
          <a:lstStyle/>
          <a:p>
            <a:pPr algn="ctr" indent="0" marL="0">
              <a:lnSpc>
                <a:spcPts val="759"/>
              </a:lnSpc>
              <a:buNone/>
            </a:pPr>
            <a:r>
              <a:rPr lang="en-US" sz="800" spc="20" kern="0" dirty="0">
                <a:solidFill>
                  <a:srgbClr val="6D28D9"/>
                </a:solidFill>
                <a:latin typeface="Carlito" pitchFamily="34" charset="0"/>
                <a:ea typeface="Carlito" pitchFamily="34" charset="-122"/>
                <a:cs typeface="Carlito" pitchFamily="34" charset="-120"/>
              </a:rPr>
              <a:t>Reason</a:t>
            </a:r>
            <a:endParaRPr lang="en-US" sz="800" dirty="0"/>
          </a:p>
        </p:txBody>
      </p:sp>
      <p:sp>
        <p:nvSpPr>
          <p:cNvPr id="19" name="Text 16"/>
          <p:cNvSpPr/>
          <p:nvPr/>
        </p:nvSpPr>
        <p:spPr>
          <a:xfrm>
            <a:off x="548287" y="2687738"/>
            <a:ext cx="433862" cy="156020"/>
          </a:xfrm>
          <a:prstGeom prst="roundRect">
            <a:avLst>
              <a:gd name="adj" fmla="val 24420"/>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20" name="Text 17"/>
          <p:cNvSpPr/>
          <p:nvPr/>
        </p:nvSpPr>
        <p:spPr>
          <a:xfrm>
            <a:off x="523248" y="2696096"/>
            <a:ext cx="483941" cy="139303"/>
          </a:xfrm>
          <a:prstGeom prst="rect">
            <a:avLst/>
          </a:prstGeom>
          <a:noFill/>
          <a:ln/>
        </p:spPr>
        <p:txBody>
          <a:bodyPr wrap="none" lIns="0" tIns="0" rIns="0" bIns="0" rtlCol="0" anchor="ctr"/>
          <a:lstStyle/>
          <a:p>
            <a:pPr algn="ctr" indent="0" marL="0">
              <a:lnSpc>
                <a:spcPts val="759"/>
              </a:lnSpc>
              <a:buNone/>
            </a:pPr>
            <a:r>
              <a:rPr lang="en-US" sz="800" spc="20" kern="0" dirty="0">
                <a:solidFill>
                  <a:srgbClr val="6D28D9"/>
                </a:solidFill>
                <a:latin typeface="Carlito" pitchFamily="34" charset="0"/>
                <a:ea typeface="Carlito" pitchFamily="34" charset="-122"/>
                <a:cs typeface="Carlito" pitchFamily="34" charset="-120"/>
              </a:rPr>
              <a:t>Context</a:t>
            </a:r>
            <a:endParaRPr lang="en-US" sz="800" dirty="0"/>
          </a:p>
        </p:txBody>
      </p:sp>
      <p:pic>
        <p:nvPicPr>
          <p:cNvPr id="21" name="Image 1" descr="preencoded.png">    </p:cNvPr>
          <p:cNvPicPr>
            <a:picLocks noChangeAspect="1"/>
          </p:cNvPicPr>
          <p:nvPr/>
        </p:nvPicPr>
        <p:blipFill>
          <a:blip r:embed="rId2"/>
          <a:stretch>
            <a:fillRect/>
          </a:stretch>
        </p:blipFill>
        <p:spPr>
          <a:xfrm>
            <a:off x="1921111" y="2551993"/>
            <a:ext cx="200025" cy="14288"/>
          </a:xfrm>
          <a:prstGeom prst="rect">
            <a:avLst/>
          </a:prstGeom>
        </p:spPr>
      </p:pic>
      <p:sp>
        <p:nvSpPr>
          <p:cNvPr id="22" name="Text 18"/>
          <p:cNvSpPr/>
          <p:nvPr/>
        </p:nvSpPr>
        <p:spPr>
          <a:xfrm>
            <a:off x="2167570" y="1537915"/>
            <a:ext cx="1414016" cy="2042554"/>
          </a:xfrm>
          <a:prstGeom prst="roundRect">
            <a:avLst>
              <a:gd name="adj" fmla="val 9431"/>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23" name="Text 19"/>
          <p:cNvSpPr/>
          <p:nvPr/>
        </p:nvSpPr>
        <p:spPr>
          <a:xfrm>
            <a:off x="2271154" y="1641500"/>
            <a:ext cx="185738" cy="185738"/>
          </a:xfrm>
          <a:prstGeom prst="roundRect">
            <a:avLst>
              <a:gd name="adj" fmla="val 41026"/>
            </a:avLst>
          </a:prstGeom>
          <a:solidFill>
            <a:srgbClr val="7C3AED"/>
          </a:solidFill>
          <a:ln/>
        </p:spPr>
        <p:txBody>
          <a:bodyPr wrap="square" rtlCol="0" anchor="ctr"/>
          <a:lstStyle/>
          <a:p>
            <a:pPr indent="0" marL="0">
              <a:buNone/>
            </a:pPr>
            <a:endParaRPr lang="en-US" dirty="0"/>
          </a:p>
        </p:txBody>
      </p:sp>
      <p:sp>
        <p:nvSpPr>
          <p:cNvPr id="24" name="Text 20"/>
          <p:cNvSpPr/>
          <p:nvPr/>
        </p:nvSpPr>
        <p:spPr>
          <a:xfrm>
            <a:off x="2271154" y="1641500"/>
            <a:ext cx="214313" cy="185738"/>
          </a:xfrm>
          <a:prstGeom prst="rect">
            <a:avLst/>
          </a:prstGeom>
          <a:noFill/>
          <a:ln/>
        </p:spPr>
        <p:txBody>
          <a:bodyPr wrap="none" lIns="0" tIns="0" rIns="0" bIns="0" rtlCol="0" anchor="ctr"/>
          <a:lstStyle/>
          <a:p>
            <a:pPr algn="ctr" indent="0" marL="0">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25" name="Text 21"/>
          <p:cNvSpPr/>
          <p:nvPr/>
        </p:nvSpPr>
        <p:spPr>
          <a:xfrm>
            <a:off x="2514042" y="1662038"/>
            <a:ext cx="963960" cy="164592"/>
          </a:xfrm>
          <a:prstGeom prst="rect">
            <a:avLst/>
          </a:prstGeom>
          <a:noFill/>
          <a:ln/>
        </p:spPr>
        <p:txBody>
          <a:bodyPr wrap="none" lIns="0" tIns="0" rIns="0" bIns="0" rtlCol="0" anchor="t"/>
          <a:lstStyle/>
          <a:p>
            <a:pPr algn="l" indent="0" marL="0">
              <a:lnSpc>
                <a:spcPts val="1139"/>
              </a:lnSpc>
              <a:buNone/>
            </a:pPr>
            <a:r>
              <a:rPr lang="en-US" sz="800" b="1" spc="-8" kern="0" dirty="0">
                <a:solidFill>
                  <a:srgbClr val="6D28D9"/>
                </a:solidFill>
                <a:latin typeface="Carlito" pitchFamily="34" charset="0"/>
                <a:ea typeface="Carlito" pitchFamily="34" charset="-122"/>
                <a:cs typeface="Carlito" pitchFamily="34" charset="-120"/>
              </a:rPr>
              <a:t>Advisor A</a:t>
            </a:r>
            <a:endParaRPr lang="en-US" sz="800" dirty="0"/>
          </a:p>
        </p:txBody>
      </p:sp>
      <p:sp>
        <p:nvSpPr>
          <p:cNvPr id="26" name="Text 22"/>
          <p:cNvSpPr/>
          <p:nvPr/>
        </p:nvSpPr>
        <p:spPr>
          <a:xfrm>
            <a:off x="2271154" y="1855812"/>
            <a:ext cx="1206847" cy="127945"/>
          </a:xfrm>
          <a:prstGeom prst="rect">
            <a:avLst/>
          </a:prstGeom>
          <a:noFill/>
          <a:ln/>
        </p:spPr>
        <p:txBody>
          <a:bodyPr wrap="none" lIns="0" tIns="0" rIns="0" bIns="0" rtlCol="0" anchor="t">
            <a:normAutofit/>
          </a:bodyPr>
          <a:lstStyle/>
          <a:p>
            <a:pPr algn="l" indent="0" marL="0">
              <a:lnSpc>
                <a:spcPts val="886"/>
              </a:lnSpc>
              <a:buNone/>
            </a:pPr>
            <a:r>
              <a:rPr lang="en-US" sz="600" spc="47" kern="0" dirty="0">
                <a:solidFill>
                  <a:srgbClr val="6B7280"/>
                </a:solidFill>
                <a:latin typeface="Carlito" pitchFamily="34" charset="0"/>
                <a:ea typeface="Carlito" pitchFamily="34" charset="-122"/>
                <a:cs typeface="Carlito" pitchFamily="34" charset="-120"/>
              </a:rPr>
              <a:t>RECEIVES IN CONTEXT</a:t>
            </a:r>
            <a:endParaRPr lang="en-US" sz="600" dirty="0"/>
          </a:p>
        </p:txBody>
      </p:sp>
      <p:sp>
        <p:nvSpPr>
          <p:cNvPr id="27" name="Text 23"/>
          <p:cNvSpPr/>
          <p:nvPr/>
        </p:nvSpPr>
        <p:spPr>
          <a:xfrm>
            <a:off x="2271154" y="2011189"/>
            <a:ext cx="1279258" cy="489597"/>
          </a:xfrm>
          <a:prstGeom prst="rect">
            <a:avLst/>
          </a:prstGeom>
          <a:noFill/>
          <a:ln/>
        </p:spPr>
        <p:txBody>
          <a:bodyPr wrap="square" lIns="0" tIns="0" rIns="0" bIns="0" rtlCol="0" anchor="t">
            <a:normAutofit/>
          </a:bodyPr>
          <a:lstStyle/>
          <a:p>
            <a:pPr algn="l" indent="0" marL="0">
              <a:lnSpc>
                <a:spcPts val="906"/>
              </a:lnSpc>
              <a:buNone/>
            </a:pPr>
            <a:r>
              <a:rPr lang="en-US" sz="800" dirty="0">
                <a:solidFill>
                  <a:srgbClr val="374151"/>
                </a:solidFill>
                <a:latin typeface="Carlito" pitchFamily="34" charset="0"/>
                <a:ea typeface="Carlito" pitchFamily="34" charset="-122"/>
                <a:cs typeface="Carlito" pitchFamily="34" charset="-120"/>
              </a:rPr>
              <a:t>Receives the session already in context. Handles it, documents it, and decides whether to escalate.</a:t>
            </a:r>
            <a:endParaRPr lang="en-US" sz="800" dirty="0"/>
          </a:p>
        </p:txBody>
      </p:sp>
      <p:sp>
        <p:nvSpPr>
          <p:cNvPr id="28" name="Text 24"/>
          <p:cNvSpPr/>
          <p:nvPr/>
        </p:nvSpPr>
        <p:spPr>
          <a:xfrm>
            <a:off x="2271154" y="2519860"/>
            <a:ext cx="609674" cy="156020"/>
          </a:xfrm>
          <a:prstGeom prst="roundRect">
            <a:avLst>
              <a:gd name="adj" fmla="val 24420"/>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29" name="Text 25"/>
          <p:cNvSpPr/>
          <p:nvPr/>
        </p:nvSpPr>
        <p:spPr>
          <a:xfrm>
            <a:off x="2178167" y="2528218"/>
            <a:ext cx="795650" cy="139303"/>
          </a:xfrm>
          <a:prstGeom prst="rect">
            <a:avLst/>
          </a:prstGeom>
          <a:noFill/>
          <a:ln/>
        </p:spPr>
        <p:txBody>
          <a:bodyPr wrap="none" lIns="0" tIns="0" rIns="0" bIns="0" rtlCol="0" anchor="ctr"/>
          <a:lstStyle/>
          <a:p>
            <a:pPr algn="ctr" indent="0" marL="0">
              <a:lnSpc>
                <a:spcPts val="759"/>
              </a:lnSpc>
              <a:buNone/>
            </a:pPr>
            <a:r>
              <a:rPr lang="en-US" sz="800" spc="20" kern="0" dirty="0">
                <a:solidFill>
                  <a:srgbClr val="6D28D9"/>
                </a:solidFill>
                <a:latin typeface="Carlito" pitchFamily="34" charset="0"/>
                <a:ea typeface="Carlito" pitchFamily="34" charset="-122"/>
                <a:cs typeface="Carlito" pitchFamily="34" charset="-120"/>
              </a:rPr>
              <a:t>Conversation</a:t>
            </a:r>
            <a:endParaRPr lang="en-US" sz="800" dirty="0"/>
          </a:p>
        </p:txBody>
      </p:sp>
      <p:sp>
        <p:nvSpPr>
          <p:cNvPr id="30" name="Text 26"/>
          <p:cNvSpPr/>
          <p:nvPr/>
        </p:nvSpPr>
        <p:spPr>
          <a:xfrm>
            <a:off x="2909404" y="2519860"/>
            <a:ext cx="529977" cy="156020"/>
          </a:xfrm>
          <a:prstGeom prst="roundRect">
            <a:avLst>
              <a:gd name="adj" fmla="val 24420"/>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31" name="Text 27"/>
          <p:cNvSpPr/>
          <p:nvPr/>
        </p:nvSpPr>
        <p:spPr>
          <a:xfrm>
            <a:off x="2870080" y="2528218"/>
            <a:ext cx="608625" cy="139303"/>
          </a:xfrm>
          <a:prstGeom prst="rect">
            <a:avLst/>
          </a:prstGeom>
          <a:noFill/>
          <a:ln/>
        </p:spPr>
        <p:txBody>
          <a:bodyPr wrap="none" lIns="0" tIns="0" rIns="0" bIns="0" rtlCol="0" anchor="ctr"/>
          <a:lstStyle/>
          <a:p>
            <a:pPr algn="ctr" indent="0" marL="0">
              <a:lnSpc>
                <a:spcPts val="759"/>
              </a:lnSpc>
              <a:buNone/>
            </a:pPr>
            <a:r>
              <a:rPr lang="en-US" sz="800" spc="20" kern="0" dirty="0">
                <a:solidFill>
                  <a:srgbClr val="6D28D9"/>
                </a:solidFill>
                <a:latin typeface="Carlito" pitchFamily="34" charset="0"/>
                <a:ea typeface="Carlito" pitchFamily="34" charset="-122"/>
                <a:cs typeface="Carlito" pitchFamily="34" charset="-120"/>
              </a:rPr>
              <a:t>Documents</a:t>
            </a:r>
            <a:endParaRPr lang="en-US" sz="800" dirty="0"/>
          </a:p>
        </p:txBody>
      </p:sp>
      <p:sp>
        <p:nvSpPr>
          <p:cNvPr id="32" name="Text 28"/>
          <p:cNvSpPr/>
          <p:nvPr/>
        </p:nvSpPr>
        <p:spPr>
          <a:xfrm>
            <a:off x="2258215" y="2687738"/>
            <a:ext cx="349356" cy="156020"/>
          </a:xfrm>
          <a:prstGeom prst="roundRect">
            <a:avLst>
              <a:gd name="adj" fmla="val 24420"/>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33" name="Text 29"/>
          <p:cNvSpPr/>
          <p:nvPr/>
        </p:nvSpPr>
        <p:spPr>
          <a:xfrm>
            <a:off x="2253265" y="2696096"/>
            <a:ext cx="359258" cy="139303"/>
          </a:xfrm>
          <a:prstGeom prst="rect">
            <a:avLst/>
          </a:prstGeom>
          <a:noFill/>
          <a:ln/>
        </p:spPr>
        <p:txBody>
          <a:bodyPr wrap="none" lIns="0" tIns="0" rIns="0" bIns="0" rtlCol="0" anchor="ctr"/>
          <a:lstStyle/>
          <a:p>
            <a:pPr algn="ctr" indent="0" marL="0">
              <a:lnSpc>
                <a:spcPts val="759"/>
              </a:lnSpc>
              <a:buNone/>
            </a:pPr>
            <a:r>
              <a:rPr lang="en-US" sz="800" spc="20" kern="0" dirty="0">
                <a:solidFill>
                  <a:srgbClr val="6D28D9"/>
                </a:solidFill>
                <a:latin typeface="Carlito" pitchFamily="34" charset="0"/>
                <a:ea typeface="Carlito" pitchFamily="34" charset="-122"/>
                <a:cs typeface="Carlito" pitchFamily="34" charset="-120"/>
              </a:rPr>
              <a:t>Notes</a:t>
            </a:r>
            <a:endParaRPr lang="en-US" sz="800" dirty="0"/>
          </a:p>
        </p:txBody>
      </p:sp>
      <p:pic>
        <p:nvPicPr>
          <p:cNvPr id="34" name="Image 2" descr="preencoded.png">    </p:cNvPr>
          <p:cNvPicPr>
            <a:picLocks noChangeAspect="1"/>
          </p:cNvPicPr>
          <p:nvPr/>
        </p:nvPicPr>
        <p:blipFill>
          <a:blip r:embed="rId3"/>
          <a:stretch>
            <a:fillRect/>
          </a:stretch>
        </p:blipFill>
        <p:spPr>
          <a:xfrm>
            <a:off x="3628020" y="2551993"/>
            <a:ext cx="200025" cy="14288"/>
          </a:xfrm>
          <a:prstGeom prst="rect">
            <a:avLst/>
          </a:prstGeom>
        </p:spPr>
      </p:pic>
      <p:sp>
        <p:nvSpPr>
          <p:cNvPr id="35" name="Text 30"/>
          <p:cNvSpPr/>
          <p:nvPr/>
        </p:nvSpPr>
        <p:spPr>
          <a:xfrm>
            <a:off x="3874480" y="1537915"/>
            <a:ext cx="1414016" cy="2042554"/>
          </a:xfrm>
          <a:prstGeom prst="roundRect">
            <a:avLst>
              <a:gd name="adj" fmla="val 9431"/>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36" name="Text 31"/>
          <p:cNvSpPr/>
          <p:nvPr/>
        </p:nvSpPr>
        <p:spPr>
          <a:xfrm>
            <a:off x="3978064" y="1641500"/>
            <a:ext cx="185738" cy="185738"/>
          </a:xfrm>
          <a:prstGeom prst="roundRect">
            <a:avLst>
              <a:gd name="adj" fmla="val 41026"/>
            </a:avLst>
          </a:prstGeom>
          <a:solidFill>
            <a:srgbClr val="7C3AED"/>
          </a:solidFill>
          <a:ln/>
        </p:spPr>
        <p:txBody>
          <a:bodyPr wrap="square" rtlCol="0" anchor="ctr"/>
          <a:lstStyle/>
          <a:p>
            <a:pPr indent="0" marL="0">
              <a:buNone/>
            </a:pPr>
            <a:endParaRPr lang="en-US" dirty="0"/>
          </a:p>
        </p:txBody>
      </p:sp>
      <p:sp>
        <p:nvSpPr>
          <p:cNvPr id="37" name="Text 32"/>
          <p:cNvSpPr/>
          <p:nvPr/>
        </p:nvSpPr>
        <p:spPr>
          <a:xfrm>
            <a:off x="3978064" y="1641500"/>
            <a:ext cx="214313" cy="185738"/>
          </a:xfrm>
          <a:prstGeom prst="rect">
            <a:avLst/>
          </a:prstGeom>
          <a:noFill/>
          <a:ln/>
        </p:spPr>
        <p:txBody>
          <a:bodyPr wrap="none" lIns="0" tIns="0" rIns="0" bIns="0" rtlCol="0" anchor="ctr"/>
          <a:lstStyle/>
          <a:p>
            <a:pPr algn="ctr" indent="0" marL="0">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38" name="Text 33"/>
          <p:cNvSpPr/>
          <p:nvPr/>
        </p:nvSpPr>
        <p:spPr>
          <a:xfrm>
            <a:off x="4220952" y="1662038"/>
            <a:ext cx="963960" cy="164592"/>
          </a:xfrm>
          <a:prstGeom prst="rect">
            <a:avLst/>
          </a:prstGeom>
          <a:noFill/>
          <a:ln/>
        </p:spPr>
        <p:txBody>
          <a:bodyPr wrap="none" lIns="0" tIns="0" rIns="0" bIns="0" rtlCol="0" anchor="t"/>
          <a:lstStyle/>
          <a:p>
            <a:pPr algn="l" indent="0" marL="0">
              <a:lnSpc>
                <a:spcPts val="1139"/>
              </a:lnSpc>
              <a:buNone/>
            </a:pPr>
            <a:r>
              <a:rPr lang="en-US" sz="800" b="1" spc="-8" kern="0" dirty="0">
                <a:solidFill>
                  <a:srgbClr val="6D28D9"/>
                </a:solidFill>
                <a:latin typeface="Carlito" pitchFamily="34" charset="0"/>
                <a:ea typeface="Carlito" pitchFamily="34" charset="-122"/>
                <a:cs typeface="Carlito" pitchFamily="34" charset="-120"/>
              </a:rPr>
              <a:t>Supervisor B</a:t>
            </a:r>
            <a:endParaRPr lang="en-US" sz="800" dirty="0"/>
          </a:p>
        </p:txBody>
      </p:sp>
      <p:sp>
        <p:nvSpPr>
          <p:cNvPr id="39" name="Text 34"/>
          <p:cNvSpPr/>
          <p:nvPr/>
        </p:nvSpPr>
        <p:spPr>
          <a:xfrm>
            <a:off x="3978064" y="1855812"/>
            <a:ext cx="1206847" cy="127945"/>
          </a:xfrm>
          <a:prstGeom prst="rect">
            <a:avLst/>
          </a:prstGeom>
          <a:noFill/>
          <a:ln/>
        </p:spPr>
        <p:txBody>
          <a:bodyPr wrap="none" lIns="0" tIns="0" rIns="0" bIns="0" rtlCol="0" anchor="t">
            <a:normAutofit/>
          </a:bodyPr>
          <a:lstStyle/>
          <a:p>
            <a:pPr algn="l" indent="0" marL="0">
              <a:lnSpc>
                <a:spcPts val="886"/>
              </a:lnSpc>
              <a:buNone/>
            </a:pPr>
            <a:r>
              <a:rPr lang="en-US" sz="600" spc="47" kern="0" dirty="0">
                <a:solidFill>
                  <a:srgbClr val="6B7280"/>
                </a:solidFill>
                <a:latin typeface="Carlito" pitchFamily="34" charset="0"/>
                <a:ea typeface="Carlito" pitchFamily="34" charset="-122"/>
                <a:cs typeface="Carlito" pitchFamily="34" charset="-120"/>
              </a:rPr>
              <a:t>INHERITS FULL SESSION</a:t>
            </a:r>
            <a:endParaRPr lang="en-US" sz="600" dirty="0"/>
          </a:p>
        </p:txBody>
      </p:sp>
      <p:sp>
        <p:nvSpPr>
          <p:cNvPr id="40" name="Text 35"/>
          <p:cNvSpPr/>
          <p:nvPr/>
        </p:nvSpPr>
        <p:spPr>
          <a:xfrm>
            <a:off x="3978064" y="2011189"/>
            <a:ext cx="1279258" cy="489597"/>
          </a:xfrm>
          <a:prstGeom prst="rect">
            <a:avLst/>
          </a:prstGeom>
          <a:noFill/>
          <a:ln/>
        </p:spPr>
        <p:txBody>
          <a:bodyPr wrap="square" lIns="0" tIns="0" rIns="0" bIns="0" rtlCol="0" anchor="t">
            <a:normAutofit/>
          </a:bodyPr>
          <a:lstStyle/>
          <a:p>
            <a:pPr algn="l" indent="0" marL="0">
              <a:lnSpc>
                <a:spcPts val="906"/>
              </a:lnSpc>
              <a:buNone/>
            </a:pPr>
            <a:r>
              <a:rPr lang="en-US" sz="800" dirty="0">
                <a:solidFill>
                  <a:srgbClr val="374151"/>
                </a:solidFill>
                <a:latin typeface="Carlito" pitchFamily="34" charset="0"/>
                <a:ea typeface="Carlito" pitchFamily="34" charset="-122"/>
                <a:cs typeface="Carlito" pitchFamily="34" charset="-120"/>
              </a:rPr>
              <a:t>Inherits the full session: conversation, documents, and data — without dropping the video.</a:t>
            </a:r>
            <a:endParaRPr lang="en-US" sz="800" dirty="0"/>
          </a:p>
        </p:txBody>
      </p:sp>
      <p:sp>
        <p:nvSpPr>
          <p:cNvPr id="41" name="Text 36"/>
          <p:cNvSpPr/>
          <p:nvPr/>
        </p:nvSpPr>
        <p:spPr>
          <a:xfrm>
            <a:off x="3978064" y="2519860"/>
            <a:ext cx="538460" cy="156020"/>
          </a:xfrm>
          <a:prstGeom prst="roundRect">
            <a:avLst>
              <a:gd name="adj" fmla="val 24420"/>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42" name="Text 37"/>
          <p:cNvSpPr/>
          <p:nvPr/>
        </p:nvSpPr>
        <p:spPr>
          <a:xfrm>
            <a:off x="3863856" y="2528218"/>
            <a:ext cx="766877" cy="139303"/>
          </a:xfrm>
          <a:prstGeom prst="rect">
            <a:avLst/>
          </a:prstGeom>
          <a:noFill/>
          <a:ln/>
        </p:spPr>
        <p:txBody>
          <a:bodyPr wrap="none" lIns="0" tIns="0" rIns="0" bIns="0" rtlCol="0" anchor="ctr"/>
          <a:lstStyle/>
          <a:p>
            <a:pPr algn="ctr" indent="0" marL="0">
              <a:lnSpc>
                <a:spcPts val="759"/>
              </a:lnSpc>
              <a:buNone/>
            </a:pPr>
            <a:r>
              <a:rPr lang="en-US" sz="800" spc="20" kern="0" dirty="0">
                <a:solidFill>
                  <a:srgbClr val="6D28D9"/>
                </a:solidFill>
                <a:latin typeface="Carlito" pitchFamily="34" charset="0"/>
                <a:ea typeface="Carlito" pitchFamily="34" charset="-122"/>
                <a:cs typeface="Carlito" pitchFamily="34" charset="-120"/>
              </a:rPr>
              <a:t>Full history</a:t>
            </a:r>
            <a:endParaRPr lang="en-US" sz="800" dirty="0"/>
          </a:p>
        </p:txBody>
      </p:sp>
      <p:sp>
        <p:nvSpPr>
          <p:cNvPr id="43" name="Text 38"/>
          <p:cNvSpPr/>
          <p:nvPr/>
        </p:nvSpPr>
        <p:spPr>
          <a:xfrm>
            <a:off x="4545099" y="2519860"/>
            <a:ext cx="494481" cy="156020"/>
          </a:xfrm>
          <a:prstGeom prst="roundRect">
            <a:avLst>
              <a:gd name="adj" fmla="val 24420"/>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44" name="Text 39"/>
          <p:cNvSpPr/>
          <p:nvPr/>
        </p:nvSpPr>
        <p:spPr>
          <a:xfrm>
            <a:off x="4471243" y="2528218"/>
            <a:ext cx="642193" cy="139303"/>
          </a:xfrm>
          <a:prstGeom prst="rect">
            <a:avLst/>
          </a:prstGeom>
          <a:noFill/>
          <a:ln/>
        </p:spPr>
        <p:txBody>
          <a:bodyPr wrap="none" lIns="0" tIns="0" rIns="0" bIns="0" rtlCol="0" anchor="ctr"/>
          <a:lstStyle/>
          <a:p>
            <a:pPr algn="ctr" indent="0" marL="0">
              <a:lnSpc>
                <a:spcPts val="759"/>
              </a:lnSpc>
              <a:buNone/>
            </a:pPr>
            <a:r>
              <a:rPr lang="en-US" sz="800" spc="20" kern="0" dirty="0">
                <a:solidFill>
                  <a:srgbClr val="6D28D9"/>
                </a:solidFill>
                <a:latin typeface="Carlito" pitchFamily="34" charset="0"/>
                <a:ea typeface="Carlito" pitchFamily="34" charset="-122"/>
                <a:cs typeface="Carlito" pitchFamily="34" charset="-120"/>
              </a:rPr>
              <a:t>Live video</a:t>
            </a:r>
            <a:endParaRPr lang="en-US" sz="800" dirty="0"/>
          </a:p>
        </p:txBody>
      </p:sp>
      <p:sp>
        <p:nvSpPr>
          <p:cNvPr id="45" name="Text 40"/>
          <p:cNvSpPr/>
          <p:nvPr/>
        </p:nvSpPr>
        <p:spPr>
          <a:xfrm>
            <a:off x="457200" y="3669767"/>
            <a:ext cx="4834868" cy="395027"/>
          </a:xfrm>
          <a:prstGeom prst="roundRect">
            <a:avLst>
              <a:gd name="adj" fmla="val 28935"/>
            </a:avLst>
          </a:prstGeom>
          <a:solidFill>
            <a:srgbClr val="7C3AED"/>
          </a:solidFill>
          <a:ln/>
          <a:effectLst>
            <a:outerShdw sx="100000" sy="100000" kx="0" ky="0" algn="bl" rotWithShape="0" blurRad="152400" dist="57150" dir="5400000">
              <a:srgbClr val="7C3AED">
                <a:alpha val="30000"/>
              </a:srgbClr>
            </a:outerShdw>
          </a:effectLst>
        </p:spPr>
        <p:txBody>
          <a:bodyPr wrap="square" rtlCol="0" anchor="ctr"/>
          <a:lstStyle/>
          <a:p>
            <a:pPr indent="0" marL="0">
              <a:buNone/>
            </a:pPr>
            <a:endParaRPr lang="en-US" dirty="0"/>
          </a:p>
        </p:txBody>
      </p:sp>
      <p:sp>
        <p:nvSpPr>
          <p:cNvPr id="46" name="Text 41"/>
          <p:cNvSpPr/>
          <p:nvPr/>
        </p:nvSpPr>
        <p:spPr>
          <a:xfrm>
            <a:off x="571500" y="3788643"/>
            <a:ext cx="157163" cy="157163"/>
          </a:xfrm>
          <a:prstGeom prst="rect">
            <a:avLst/>
          </a:prstGeom>
          <a:noFill/>
          <a:ln/>
        </p:spPr>
        <p:txBody>
          <a:bodyPr wrap="none" lIns="0" tIns="0" rIns="0" bIns="0" rtlCol="0" anchor="ctr"/>
          <a:lstStyle/>
          <a:p>
            <a:pPr algn="ctr" indent="0" marL="0">
              <a:buNone/>
            </a:pPr>
            <a:r>
              <a:rPr lang="en-US" sz="1547" dirty="0">
                <a:solidFill>
                  <a:srgbClr val="FFFFFF"/>
                </a:solidFill>
                <a:latin typeface="Segoe UI Symbol" pitchFamily="34" charset="0"/>
                <a:ea typeface="Segoe UI Symbol" pitchFamily="34" charset="-122"/>
                <a:cs typeface="Segoe UI Symbol" pitchFamily="34" charset="-120"/>
              </a:rPr>
              <a:t>✦</a:t>
            </a:r>
            <a:endParaRPr lang="en-US" sz="1547" dirty="0"/>
          </a:p>
        </p:txBody>
      </p:sp>
      <p:sp>
        <p:nvSpPr>
          <p:cNvPr id="47" name="Text 42"/>
          <p:cNvSpPr/>
          <p:nvPr/>
        </p:nvSpPr>
        <p:spPr>
          <a:xfrm>
            <a:off x="800100" y="3741204"/>
            <a:ext cx="3482578" cy="106848"/>
          </a:xfrm>
          <a:prstGeom prst="rect">
            <a:avLst/>
          </a:prstGeom>
          <a:noFill/>
          <a:ln/>
        </p:spPr>
        <p:txBody>
          <a:bodyPr wrap="square" lIns="0" tIns="0" rIns="0" bIns="0" rtlCol="0" anchor="t">
            <a:normAutofit/>
          </a:bodyPr>
          <a:lstStyle/>
          <a:p>
            <a:pPr algn="l" indent="0" marL="0">
              <a:lnSpc>
                <a:spcPts val="945"/>
              </a:lnSpc>
              <a:buNone/>
            </a:pPr>
            <a:r>
              <a:rPr lang="en-US" sz="788" b="1" dirty="0">
                <a:solidFill>
                  <a:srgbClr val="FFFFFF"/>
                </a:solidFill>
                <a:latin typeface="Carlito" pitchFamily="34" charset="0"/>
                <a:ea typeface="Carlito" pitchFamily="34" charset="-122"/>
                <a:cs typeface="Carlito" pitchFamily="34" charset="-120"/>
              </a:rPr>
              <a:t>Full context carried through the entire chain. Zero repetition.</a:t>
            </a:r>
            <a:endParaRPr lang="en-US" sz="788" dirty="0"/>
          </a:p>
        </p:txBody>
      </p:sp>
      <p:sp>
        <p:nvSpPr>
          <p:cNvPr id="48" name="Text 43"/>
          <p:cNvSpPr/>
          <p:nvPr/>
        </p:nvSpPr>
        <p:spPr>
          <a:xfrm>
            <a:off x="800100" y="3875484"/>
            <a:ext cx="3482578" cy="117872"/>
          </a:xfrm>
          <a:prstGeom prst="rect">
            <a:avLst/>
          </a:prstGeom>
          <a:noFill/>
          <a:ln/>
        </p:spPr>
        <p:txBody>
          <a:bodyPr wrap="square" lIns="0" tIns="0" rIns="0" bIns="0" rtlCol="0" anchor="t"/>
          <a:lstStyle/>
          <a:p>
            <a:pPr algn="l" indent="0" marL="0">
              <a:lnSpc>
                <a:spcPts val="928"/>
              </a:lnSpc>
              <a:buNone/>
            </a:pPr>
            <a:r>
              <a:rPr lang="en-US" sz="619" dirty="0">
                <a:solidFill>
                  <a:srgbClr val="FFFFFF">
                    <a:alpha val="90000"/>
                  </a:srgbClr>
                </a:solidFill>
                <a:latin typeface="Carlito" pitchFamily="34" charset="0"/>
                <a:ea typeface="Carlito" pitchFamily="34" charset="-122"/>
                <a:cs typeface="Carlito" pitchFamily="34" charset="-120"/>
              </a:rPr>
              <a:t>Native ACD routing — Genesys, Cisco, Five9, GoContact, Avaya, and more.</a:t>
            </a:r>
            <a:endParaRPr lang="en-US" sz="619" dirty="0"/>
          </a:p>
        </p:txBody>
      </p:sp>
      <p:pic>
        <p:nvPicPr>
          <p:cNvPr id="49" name="Image 3" descr="preencoded.png">    </p:cNvPr>
          <p:cNvPicPr>
            <a:picLocks noChangeAspect="1"/>
          </p:cNvPicPr>
          <p:nvPr/>
        </p:nvPicPr>
        <p:blipFill>
          <a:blip r:embed="rId4"/>
          <a:stretch>
            <a:fillRect/>
          </a:stretch>
        </p:blipFill>
        <p:spPr>
          <a:xfrm>
            <a:off x="457200" y="4136231"/>
            <a:ext cx="4834868" cy="578644"/>
          </a:xfrm>
          <a:prstGeom prst="rect">
            <a:avLst/>
          </a:prstGeom>
        </p:spPr>
      </p:pic>
      <p:sp>
        <p:nvSpPr>
          <p:cNvPr id="50" name="Shape 44"/>
          <p:cNvSpPr/>
          <p:nvPr/>
        </p:nvSpPr>
        <p:spPr>
          <a:xfrm>
            <a:off x="1270248" y="4371975"/>
            <a:ext cx="0" cy="107156"/>
          </a:xfrm>
          <a:prstGeom prst="line">
            <a:avLst/>
          </a:prstGeom>
          <a:noFill/>
          <a:ln w="7144">
            <a:solidFill>
              <a:srgbClr val="EDE9FE"/>
            </a:solidFill>
            <a:prstDash val="solid"/>
          </a:ln>
        </p:spPr>
      </p:sp>
      <p:sp>
        <p:nvSpPr>
          <p:cNvPr id="51" name="Text 45"/>
          <p:cNvSpPr/>
          <p:nvPr/>
        </p:nvSpPr>
        <p:spPr>
          <a:xfrm>
            <a:off x="571500" y="4371975"/>
            <a:ext cx="752326" cy="164592"/>
          </a:xfrm>
          <a:prstGeom prst="rect">
            <a:avLst/>
          </a:prstGeom>
          <a:noFill/>
          <a:ln/>
        </p:spPr>
        <p:txBody>
          <a:bodyPr wrap="none" lIns="0" tIns="0" rIns="100013" bIns="0" rtlCol="0" anchor="t"/>
          <a:lstStyle/>
          <a:p>
            <a:pPr algn="l" indent="0" marL="0">
              <a:lnSpc>
                <a:spcPts val="844"/>
              </a:lnSpc>
              <a:buNone/>
            </a:pPr>
            <a:r>
              <a:rPr lang="en-US" sz="800" b="1" spc="90" kern="0" dirty="0">
                <a:solidFill>
                  <a:srgbClr val="6D28D9"/>
                </a:solidFill>
                <a:latin typeface="Carlito" pitchFamily="34" charset="0"/>
                <a:ea typeface="Carlito" pitchFamily="34" charset="-122"/>
                <a:cs typeface="Carlito" pitchFamily="34" charset="-120"/>
              </a:rPr>
              <a:t>NATIVE ACD</a:t>
            </a:r>
            <a:endParaRPr lang="en-US" sz="800" dirty="0"/>
          </a:p>
        </p:txBody>
      </p:sp>
      <p:sp>
        <p:nvSpPr>
          <p:cNvPr id="52" name="Text 46"/>
          <p:cNvSpPr/>
          <p:nvPr/>
        </p:nvSpPr>
        <p:spPr>
          <a:xfrm>
            <a:off x="1373832" y="4196310"/>
            <a:ext cx="664704" cy="212027"/>
          </a:xfrm>
          <a:prstGeom prst="roundRect">
            <a:avLst>
              <a:gd name="adj" fmla="val 4487860"/>
            </a:avLst>
          </a:prstGeom>
          <a:solidFill>
            <a:srgbClr val="FFFFFF"/>
          </a:solidFill>
          <a:ln w="7144">
            <a:solidFill>
              <a:srgbClr val="EDE9FE"/>
            </a:solidFill>
            <a:prstDash val="solid"/>
          </a:ln>
        </p:spPr>
        <p:txBody>
          <a:bodyPr wrap="square" rtlCol="0" anchor="ctr"/>
          <a:lstStyle/>
          <a:p>
            <a:pPr indent="0" marL="0">
              <a:buNone/>
            </a:pPr>
            <a:endParaRPr lang="en-US" dirty="0"/>
          </a:p>
        </p:txBody>
      </p:sp>
      <p:sp>
        <p:nvSpPr>
          <p:cNvPr id="53" name="Text 47"/>
          <p:cNvSpPr/>
          <p:nvPr/>
        </p:nvSpPr>
        <p:spPr>
          <a:xfrm>
            <a:off x="1581001" y="4250531"/>
            <a:ext cx="486110" cy="129679"/>
          </a:xfrm>
          <a:prstGeom prst="rect">
            <a:avLst/>
          </a:prstGeom>
          <a:noFill/>
          <a:ln/>
        </p:spPr>
        <p:txBody>
          <a:bodyPr wrap="none" lIns="0" tIns="0" rIns="0" bIns="0" rtlCol="0" anchor="t"/>
          <a:lstStyle/>
          <a:p>
            <a:pPr algn="l" indent="0" marL="0">
              <a:lnSpc>
                <a:spcPts val="928"/>
              </a:lnSpc>
              <a:buNone/>
            </a:pPr>
            <a:r>
              <a:rPr lang="en-US" sz="800" dirty="0">
                <a:solidFill>
                  <a:srgbClr val="6D28D9"/>
                </a:solidFill>
                <a:latin typeface="Carlito" pitchFamily="34" charset="0"/>
                <a:ea typeface="Carlito" pitchFamily="34" charset="-122"/>
                <a:cs typeface="Carlito" pitchFamily="34" charset="-120"/>
              </a:rPr>
              <a:t>Genesys</a:t>
            </a:r>
            <a:endParaRPr lang="en-US" sz="800" dirty="0"/>
          </a:p>
        </p:txBody>
      </p:sp>
      <p:sp>
        <p:nvSpPr>
          <p:cNvPr id="54" name="Text 48"/>
          <p:cNvSpPr/>
          <p:nvPr/>
        </p:nvSpPr>
        <p:spPr>
          <a:xfrm>
            <a:off x="1459557" y="4259461"/>
            <a:ext cx="91440" cy="91440"/>
          </a:xfrm>
          <a:prstGeom prst="rect">
            <a:avLst/>
          </a:prstGeom>
          <a:noFill/>
          <a:ln/>
        </p:spPr>
        <p:txBody>
          <a:bodyPr wrap="none" lIns="0" tIns="0" rIns="0" bIns="0" rtlCol="0" anchor="ctr"/>
          <a:lstStyle/>
          <a:p>
            <a:pPr algn="ctr" indent="0" marL="0">
              <a:buNone/>
            </a:pPr>
            <a:r>
              <a:rPr lang="en-US" sz="844" dirty="0">
                <a:solidFill>
                  <a:srgbClr val="7C3AED"/>
                </a:solidFill>
                <a:latin typeface="Segoe UI Symbol" pitchFamily="34" charset="0"/>
                <a:ea typeface="Segoe UI Symbol" pitchFamily="34" charset="-122"/>
                <a:cs typeface="Segoe UI Symbol" pitchFamily="34" charset="-120"/>
              </a:rPr>
              <a:t>✦</a:t>
            </a:r>
            <a:endParaRPr lang="en-US" sz="844" dirty="0"/>
          </a:p>
        </p:txBody>
      </p:sp>
      <p:sp>
        <p:nvSpPr>
          <p:cNvPr id="55" name="Text 49"/>
          <p:cNvSpPr/>
          <p:nvPr/>
        </p:nvSpPr>
        <p:spPr>
          <a:xfrm>
            <a:off x="2095686" y="4196310"/>
            <a:ext cx="524842" cy="212027"/>
          </a:xfrm>
          <a:prstGeom prst="roundRect">
            <a:avLst>
              <a:gd name="adj" fmla="val 4487860"/>
            </a:avLst>
          </a:prstGeom>
          <a:solidFill>
            <a:srgbClr val="FFFFFF"/>
          </a:solidFill>
          <a:ln w="7144">
            <a:solidFill>
              <a:srgbClr val="EDE9FE"/>
            </a:solidFill>
            <a:prstDash val="solid"/>
          </a:ln>
        </p:spPr>
        <p:txBody>
          <a:bodyPr wrap="square" rtlCol="0" anchor="ctr"/>
          <a:lstStyle/>
          <a:p>
            <a:pPr indent="0" marL="0">
              <a:buNone/>
            </a:pPr>
            <a:endParaRPr lang="en-US" dirty="0"/>
          </a:p>
        </p:txBody>
      </p:sp>
      <p:sp>
        <p:nvSpPr>
          <p:cNvPr id="56" name="Text 50"/>
          <p:cNvSpPr/>
          <p:nvPr/>
        </p:nvSpPr>
        <p:spPr>
          <a:xfrm>
            <a:off x="2296350" y="4250531"/>
            <a:ext cx="359258" cy="129679"/>
          </a:xfrm>
          <a:prstGeom prst="rect">
            <a:avLst/>
          </a:prstGeom>
          <a:noFill/>
          <a:ln/>
        </p:spPr>
        <p:txBody>
          <a:bodyPr wrap="none" lIns="0" tIns="0" rIns="0" bIns="0" rtlCol="0" anchor="t"/>
          <a:lstStyle/>
          <a:p>
            <a:pPr algn="l" indent="0" marL="0">
              <a:lnSpc>
                <a:spcPts val="928"/>
              </a:lnSpc>
              <a:buNone/>
            </a:pPr>
            <a:r>
              <a:rPr lang="en-US" sz="800" dirty="0">
                <a:solidFill>
                  <a:srgbClr val="6D28D9"/>
                </a:solidFill>
                <a:latin typeface="Carlito" pitchFamily="34" charset="0"/>
                <a:ea typeface="Carlito" pitchFamily="34" charset="-122"/>
                <a:cs typeface="Carlito" pitchFamily="34" charset="-120"/>
              </a:rPr>
              <a:t>Cisco</a:t>
            </a:r>
            <a:endParaRPr lang="en-US" sz="800" dirty="0"/>
          </a:p>
        </p:txBody>
      </p:sp>
      <p:sp>
        <p:nvSpPr>
          <p:cNvPr id="57" name="Text 51"/>
          <p:cNvSpPr/>
          <p:nvPr/>
        </p:nvSpPr>
        <p:spPr>
          <a:xfrm>
            <a:off x="2181411" y="4259461"/>
            <a:ext cx="91440" cy="91440"/>
          </a:xfrm>
          <a:prstGeom prst="rect">
            <a:avLst/>
          </a:prstGeom>
          <a:noFill/>
          <a:ln/>
        </p:spPr>
        <p:txBody>
          <a:bodyPr wrap="none" lIns="0" tIns="0" rIns="0" bIns="0" rtlCol="0" anchor="ctr"/>
          <a:lstStyle/>
          <a:p>
            <a:pPr algn="ctr" indent="0" marL="0">
              <a:buNone/>
            </a:pPr>
            <a:r>
              <a:rPr lang="en-US" sz="844" dirty="0">
                <a:solidFill>
                  <a:srgbClr val="7C3AED"/>
                </a:solidFill>
                <a:latin typeface="Segoe UI Symbol" pitchFamily="34" charset="0"/>
                <a:ea typeface="Segoe UI Symbol" pitchFamily="34" charset="-122"/>
                <a:cs typeface="Segoe UI Symbol" pitchFamily="34" charset="-120"/>
              </a:rPr>
              <a:t>✦</a:t>
            </a:r>
            <a:endParaRPr lang="en-US" sz="844" dirty="0"/>
          </a:p>
        </p:txBody>
      </p:sp>
      <p:sp>
        <p:nvSpPr>
          <p:cNvPr id="58" name="Text 52"/>
          <p:cNvSpPr/>
          <p:nvPr/>
        </p:nvSpPr>
        <p:spPr>
          <a:xfrm>
            <a:off x="2677678" y="4196310"/>
            <a:ext cx="557101" cy="212027"/>
          </a:xfrm>
          <a:prstGeom prst="roundRect">
            <a:avLst>
              <a:gd name="adj" fmla="val 4487860"/>
            </a:avLst>
          </a:prstGeom>
          <a:solidFill>
            <a:srgbClr val="FFFFFF"/>
          </a:solidFill>
          <a:ln w="7144">
            <a:solidFill>
              <a:srgbClr val="EDE9FE"/>
            </a:solidFill>
            <a:prstDash val="solid"/>
          </a:ln>
        </p:spPr>
        <p:txBody>
          <a:bodyPr wrap="square" rtlCol="0" anchor="ctr"/>
          <a:lstStyle/>
          <a:p>
            <a:pPr indent="0" marL="0">
              <a:buNone/>
            </a:pPr>
            <a:endParaRPr lang="en-US" dirty="0"/>
          </a:p>
        </p:txBody>
      </p:sp>
      <p:sp>
        <p:nvSpPr>
          <p:cNvPr id="59" name="Text 53"/>
          <p:cNvSpPr/>
          <p:nvPr/>
        </p:nvSpPr>
        <p:spPr>
          <a:xfrm>
            <a:off x="2884847" y="4250531"/>
            <a:ext cx="378507" cy="129679"/>
          </a:xfrm>
          <a:prstGeom prst="rect">
            <a:avLst/>
          </a:prstGeom>
          <a:noFill/>
          <a:ln/>
        </p:spPr>
        <p:txBody>
          <a:bodyPr wrap="none" lIns="0" tIns="0" rIns="0" bIns="0" rtlCol="0" anchor="t"/>
          <a:lstStyle/>
          <a:p>
            <a:pPr algn="l" indent="0" marL="0">
              <a:lnSpc>
                <a:spcPts val="928"/>
              </a:lnSpc>
              <a:buNone/>
            </a:pPr>
            <a:r>
              <a:rPr lang="en-US" sz="800" dirty="0">
                <a:solidFill>
                  <a:srgbClr val="6D28D9"/>
                </a:solidFill>
                <a:latin typeface="Carlito" pitchFamily="34" charset="0"/>
                <a:ea typeface="Carlito" pitchFamily="34" charset="-122"/>
                <a:cs typeface="Carlito" pitchFamily="34" charset="-120"/>
              </a:rPr>
              <a:t>Avaya</a:t>
            </a:r>
            <a:endParaRPr lang="en-US" sz="800" dirty="0"/>
          </a:p>
        </p:txBody>
      </p:sp>
      <p:sp>
        <p:nvSpPr>
          <p:cNvPr id="60" name="Text 54"/>
          <p:cNvSpPr/>
          <p:nvPr/>
        </p:nvSpPr>
        <p:spPr>
          <a:xfrm>
            <a:off x="2763403" y="4259461"/>
            <a:ext cx="91440" cy="91440"/>
          </a:xfrm>
          <a:prstGeom prst="rect">
            <a:avLst/>
          </a:prstGeom>
          <a:noFill/>
          <a:ln/>
        </p:spPr>
        <p:txBody>
          <a:bodyPr wrap="none" lIns="0" tIns="0" rIns="0" bIns="0" rtlCol="0" anchor="ctr"/>
          <a:lstStyle/>
          <a:p>
            <a:pPr algn="ctr" indent="0" marL="0">
              <a:buNone/>
            </a:pPr>
            <a:r>
              <a:rPr lang="en-US" sz="844" dirty="0">
                <a:solidFill>
                  <a:srgbClr val="7C3AED"/>
                </a:solidFill>
                <a:latin typeface="Segoe UI Symbol" pitchFamily="34" charset="0"/>
                <a:ea typeface="Segoe UI Symbol" pitchFamily="34" charset="-122"/>
                <a:cs typeface="Segoe UI Symbol" pitchFamily="34" charset="-120"/>
              </a:rPr>
              <a:t>✦</a:t>
            </a:r>
            <a:endParaRPr lang="en-US" sz="844" dirty="0"/>
          </a:p>
        </p:txBody>
      </p:sp>
      <p:sp>
        <p:nvSpPr>
          <p:cNvPr id="61" name="Text 55"/>
          <p:cNvSpPr/>
          <p:nvPr/>
        </p:nvSpPr>
        <p:spPr>
          <a:xfrm>
            <a:off x="3291929" y="4196310"/>
            <a:ext cx="532767" cy="212027"/>
          </a:xfrm>
          <a:prstGeom prst="roundRect">
            <a:avLst>
              <a:gd name="adj" fmla="val 4487860"/>
            </a:avLst>
          </a:prstGeom>
          <a:solidFill>
            <a:srgbClr val="FFFFFF"/>
          </a:solidFill>
          <a:ln w="7144">
            <a:solidFill>
              <a:srgbClr val="EDE9FE"/>
            </a:solidFill>
            <a:prstDash val="solid"/>
          </a:ln>
        </p:spPr>
        <p:txBody>
          <a:bodyPr wrap="square" rtlCol="0" anchor="ctr"/>
          <a:lstStyle/>
          <a:p>
            <a:pPr indent="0" marL="0">
              <a:buNone/>
            </a:pPr>
            <a:endParaRPr lang="en-US" dirty="0"/>
          </a:p>
        </p:txBody>
      </p:sp>
      <p:sp>
        <p:nvSpPr>
          <p:cNvPr id="62" name="Text 56"/>
          <p:cNvSpPr/>
          <p:nvPr/>
        </p:nvSpPr>
        <p:spPr>
          <a:xfrm>
            <a:off x="3490562" y="4250531"/>
            <a:ext cx="371246" cy="129679"/>
          </a:xfrm>
          <a:prstGeom prst="rect">
            <a:avLst/>
          </a:prstGeom>
          <a:noFill/>
          <a:ln/>
        </p:spPr>
        <p:txBody>
          <a:bodyPr wrap="none" lIns="0" tIns="0" rIns="0" bIns="0" rtlCol="0" anchor="t"/>
          <a:lstStyle/>
          <a:p>
            <a:pPr algn="l" indent="0" marL="0">
              <a:lnSpc>
                <a:spcPts val="928"/>
              </a:lnSpc>
              <a:buNone/>
            </a:pPr>
            <a:r>
              <a:rPr lang="en-US" sz="800" dirty="0">
                <a:solidFill>
                  <a:srgbClr val="6D28D9"/>
                </a:solidFill>
                <a:latin typeface="Liberation Sans Narrow" pitchFamily="34" charset="0"/>
                <a:ea typeface="Liberation Sans Narrow" pitchFamily="34" charset="-122"/>
                <a:cs typeface="Liberation Sans Narrow" pitchFamily="34" charset="-120"/>
              </a:rPr>
              <a:t>Five9</a:t>
            </a:r>
            <a:endParaRPr lang="en-US" sz="800" dirty="0"/>
          </a:p>
        </p:txBody>
      </p:sp>
      <p:sp>
        <p:nvSpPr>
          <p:cNvPr id="63" name="Text 57"/>
          <p:cNvSpPr/>
          <p:nvPr/>
        </p:nvSpPr>
        <p:spPr>
          <a:xfrm>
            <a:off x="3377654" y="4259461"/>
            <a:ext cx="91440" cy="91440"/>
          </a:xfrm>
          <a:prstGeom prst="rect">
            <a:avLst/>
          </a:prstGeom>
          <a:noFill/>
          <a:ln/>
        </p:spPr>
        <p:txBody>
          <a:bodyPr wrap="none" lIns="0" tIns="0" rIns="0" bIns="0" rtlCol="0" anchor="ctr"/>
          <a:lstStyle/>
          <a:p>
            <a:pPr algn="ctr" indent="0" marL="0">
              <a:buNone/>
            </a:pPr>
            <a:r>
              <a:rPr lang="en-US" sz="844" dirty="0">
                <a:solidFill>
                  <a:srgbClr val="7C3AED"/>
                </a:solidFill>
                <a:latin typeface="Segoe UI Symbol" pitchFamily="34" charset="0"/>
                <a:ea typeface="Segoe UI Symbol" pitchFamily="34" charset="-122"/>
                <a:cs typeface="Segoe UI Symbol" pitchFamily="34" charset="-120"/>
              </a:rPr>
              <a:t>✦</a:t>
            </a:r>
            <a:endParaRPr lang="en-US" sz="844" dirty="0"/>
          </a:p>
        </p:txBody>
      </p:sp>
      <p:sp>
        <p:nvSpPr>
          <p:cNvPr id="64" name="Text 58"/>
          <p:cNvSpPr/>
          <p:nvPr/>
        </p:nvSpPr>
        <p:spPr>
          <a:xfrm>
            <a:off x="3881847" y="4196310"/>
            <a:ext cx="753777" cy="212027"/>
          </a:xfrm>
          <a:prstGeom prst="roundRect">
            <a:avLst>
              <a:gd name="adj" fmla="val 4487860"/>
            </a:avLst>
          </a:prstGeom>
          <a:solidFill>
            <a:srgbClr val="FFFFFF"/>
          </a:solidFill>
          <a:ln w="7144">
            <a:solidFill>
              <a:srgbClr val="EDE9FE"/>
            </a:solidFill>
            <a:prstDash val="solid"/>
          </a:ln>
        </p:spPr>
        <p:txBody>
          <a:bodyPr wrap="square" rtlCol="0" anchor="ctr"/>
          <a:lstStyle/>
          <a:p>
            <a:pPr indent="0" marL="0">
              <a:buNone/>
            </a:pPr>
            <a:endParaRPr lang="en-US" dirty="0"/>
          </a:p>
        </p:txBody>
      </p:sp>
      <p:sp>
        <p:nvSpPr>
          <p:cNvPr id="65" name="Text 59"/>
          <p:cNvSpPr/>
          <p:nvPr/>
        </p:nvSpPr>
        <p:spPr>
          <a:xfrm>
            <a:off x="4089016" y="4250531"/>
            <a:ext cx="1088752" cy="129679"/>
          </a:xfrm>
          <a:prstGeom prst="rect">
            <a:avLst/>
          </a:prstGeom>
          <a:noFill/>
          <a:ln/>
        </p:spPr>
        <p:txBody>
          <a:bodyPr wrap="none" lIns="0" tIns="0" rIns="0" bIns="0" rtlCol="0" anchor="t"/>
          <a:lstStyle/>
          <a:p>
            <a:pPr algn="l" indent="0" marL="0">
              <a:lnSpc>
                <a:spcPts val="928"/>
              </a:lnSpc>
              <a:buNone/>
            </a:pPr>
            <a:r>
              <a:rPr lang="en-US" sz="800" dirty="0">
                <a:solidFill>
                  <a:srgbClr val="6D28D9"/>
                </a:solidFill>
                <a:latin typeface="Carlito" pitchFamily="34" charset="0"/>
                <a:ea typeface="Carlito" pitchFamily="34" charset="-122"/>
                <a:cs typeface="Carlito" pitchFamily="34" charset="-120"/>
              </a:rPr>
              <a:t>GoContact</a:t>
            </a:r>
            <a:endParaRPr lang="en-US" sz="800" dirty="0"/>
          </a:p>
        </p:txBody>
      </p:sp>
      <p:sp>
        <p:nvSpPr>
          <p:cNvPr id="66" name="Text 60"/>
          <p:cNvSpPr/>
          <p:nvPr/>
        </p:nvSpPr>
        <p:spPr>
          <a:xfrm>
            <a:off x="3967572" y="4259461"/>
            <a:ext cx="91440" cy="91440"/>
          </a:xfrm>
          <a:prstGeom prst="rect">
            <a:avLst/>
          </a:prstGeom>
          <a:noFill/>
          <a:ln/>
        </p:spPr>
        <p:txBody>
          <a:bodyPr wrap="none" lIns="0" tIns="0" rIns="0" bIns="0" rtlCol="0" anchor="ctr"/>
          <a:lstStyle/>
          <a:p>
            <a:pPr algn="ctr" indent="0" marL="0">
              <a:buNone/>
            </a:pPr>
            <a:r>
              <a:rPr lang="en-US" sz="844" dirty="0">
                <a:solidFill>
                  <a:srgbClr val="7C3AED"/>
                </a:solidFill>
                <a:latin typeface="Segoe UI Symbol" pitchFamily="34" charset="0"/>
                <a:ea typeface="Segoe UI Symbol" pitchFamily="34" charset="-122"/>
                <a:cs typeface="Segoe UI Symbol" pitchFamily="34" charset="-120"/>
              </a:rPr>
              <a:t>✦</a:t>
            </a:r>
            <a:endParaRPr lang="en-US" sz="844" dirty="0"/>
          </a:p>
        </p:txBody>
      </p:sp>
      <p:sp>
        <p:nvSpPr>
          <p:cNvPr id="67" name="Text 61"/>
          <p:cNvSpPr/>
          <p:nvPr/>
        </p:nvSpPr>
        <p:spPr>
          <a:xfrm>
            <a:off x="1350972" y="4442770"/>
            <a:ext cx="662427" cy="212027"/>
          </a:xfrm>
          <a:prstGeom prst="roundRect">
            <a:avLst>
              <a:gd name="adj" fmla="val 4487860"/>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68" name="Text 62"/>
          <p:cNvSpPr/>
          <p:nvPr/>
        </p:nvSpPr>
        <p:spPr>
          <a:xfrm>
            <a:off x="1581001" y="4496991"/>
            <a:ext cx="486110" cy="129679"/>
          </a:xfrm>
          <a:prstGeom prst="rect">
            <a:avLst/>
          </a:prstGeom>
          <a:noFill/>
          <a:ln/>
        </p:spPr>
        <p:txBody>
          <a:bodyPr wrap="none" lIns="0" tIns="0" rIns="0" bIns="0" rtlCol="0" anchor="t"/>
          <a:lstStyle/>
          <a:p>
            <a:pPr algn="l" indent="0" marL="0">
              <a:lnSpc>
                <a:spcPts val="928"/>
              </a:lnSpc>
              <a:buNone/>
            </a:pPr>
            <a:r>
              <a:rPr lang="en-US" sz="800" dirty="0">
                <a:solidFill>
                  <a:srgbClr val="6D28D9"/>
                </a:solidFill>
                <a:latin typeface="Carlito" pitchFamily="34" charset="0"/>
                <a:ea typeface="Carlito" pitchFamily="34" charset="-122"/>
                <a:cs typeface="Carlito" pitchFamily="34" charset="-120"/>
              </a:rPr>
              <a:t>&amp; more</a:t>
            </a:r>
            <a:endParaRPr lang="en-US" sz="800" dirty="0"/>
          </a:p>
        </p:txBody>
      </p:sp>
      <p:sp>
        <p:nvSpPr>
          <p:cNvPr id="69" name="Text 63"/>
          <p:cNvSpPr/>
          <p:nvPr/>
        </p:nvSpPr>
        <p:spPr>
          <a:xfrm>
            <a:off x="1459557" y="4505920"/>
            <a:ext cx="91440" cy="91440"/>
          </a:xfrm>
          <a:prstGeom prst="rect">
            <a:avLst/>
          </a:prstGeom>
          <a:noFill/>
          <a:ln/>
        </p:spPr>
        <p:txBody>
          <a:bodyPr wrap="none" lIns="0" tIns="0" rIns="0" bIns="0" rtlCol="0" anchor="ctr"/>
          <a:lstStyle/>
          <a:p>
            <a:pPr algn="ctr" indent="0" marL="0">
              <a:buNone/>
            </a:pPr>
            <a:r>
              <a:rPr lang="en-US" sz="844" dirty="0">
                <a:solidFill>
                  <a:srgbClr val="7C3AED"/>
                </a:solidFill>
                <a:latin typeface="Segoe UI Symbol" pitchFamily="34" charset="0"/>
                <a:ea typeface="Segoe UI Symbol" pitchFamily="34" charset="-122"/>
                <a:cs typeface="Segoe UI Symbol" pitchFamily="34" charset="-120"/>
              </a:rPr>
              <a:t>＋</a:t>
            </a:r>
            <a:endParaRPr lang="en-US" sz="844" dirty="0"/>
          </a:p>
        </p:txBody>
      </p:sp>
      <p:sp>
        <p:nvSpPr>
          <p:cNvPr id="70" name="Text 64"/>
          <p:cNvSpPr/>
          <p:nvPr/>
        </p:nvSpPr>
        <p:spPr>
          <a:xfrm>
            <a:off x="5467090" y="1537915"/>
            <a:ext cx="3216139" cy="3173388"/>
          </a:xfrm>
          <a:prstGeom prst="roundRect">
            <a:avLst>
              <a:gd name="adj" fmla="val 6603"/>
            </a:avLst>
          </a:prstGeom>
          <a:noFill/>
          <a:ln w="7144">
            <a:solidFill>
              <a:srgbClr val="EDE9FE"/>
            </a:solidFill>
            <a:prstDash val="solid"/>
          </a:ln>
          <a:effectLst>
            <a:outerShdw sx="100000" sy="100000" kx="0" ky="0" algn="bl" rotWithShape="0" blurRad="342900" dist="133350" dir="5400000">
              <a:srgbClr val="7C3AED">
                <a:alpha val="20000"/>
              </a:srgbClr>
            </a:outerShdw>
          </a:effectLst>
        </p:spPr>
        <p:txBody>
          <a:bodyPr wrap="square" rtlCol="0" anchor="ctr"/>
          <a:lstStyle/>
          <a:p>
            <a:pPr indent="0" marL="0">
              <a:buNone/>
            </a:pPr>
            <a:endParaRPr lang="en-US" dirty="0"/>
          </a:p>
        </p:txBody>
      </p:sp>
      <p:pic>
        <p:nvPicPr>
          <p:cNvPr id="71" name="Image 4" descr="/tmp/h2p-fit-1786522339726-gea5tr.png">    </p:cNvPr>
          <p:cNvPicPr>
            <a:picLocks noChangeAspect="1"/>
          </p:cNvPicPr>
          <p:nvPr/>
        </p:nvPicPr>
        <p:blipFill>
          <a:blip r:embed="rId5"/>
          <a:stretch>
            <a:fillRect/>
          </a:stretch>
        </p:blipFill>
        <p:spPr>
          <a:xfrm>
            <a:off x="5470661" y="1541487"/>
            <a:ext cx="3208995" cy="3166244"/>
          </a:xfrm>
          <a:prstGeom prst="rect">
            <a:avLst/>
          </a:prstGeom>
        </p:spPr>
      </p:pic>
      <p:sp>
        <p:nvSpPr>
          <p:cNvPr id="72" name="Text 65"/>
          <p:cNvSpPr/>
          <p:nvPr/>
        </p:nvSpPr>
        <p:spPr>
          <a:xfrm>
            <a:off x="5590676" y="1673647"/>
            <a:ext cx="836444" cy="200025"/>
          </a:xfrm>
          <a:prstGeom prst="roundRect">
            <a:avLst>
              <a:gd name="adj" fmla="val 4757143"/>
            </a:avLst>
          </a:prstGeom>
          <a:solidFill>
            <a:srgbClr val="FFFFFF">
              <a:alpha val="92000"/>
            </a:srgbClr>
          </a:solidFill>
          <a:ln/>
        </p:spPr>
        <p:txBody>
          <a:bodyPr wrap="square" rtlCol="0" anchor="ctr"/>
          <a:lstStyle/>
          <a:p>
            <a:pPr indent="0" marL="0">
              <a:buNone/>
            </a:pPr>
            <a:endParaRPr lang="en-US" dirty="0"/>
          </a:p>
        </p:txBody>
      </p:sp>
      <p:sp>
        <p:nvSpPr>
          <p:cNvPr id="73" name="Text 66"/>
          <p:cNvSpPr/>
          <p:nvPr/>
        </p:nvSpPr>
        <p:spPr>
          <a:xfrm>
            <a:off x="5684974" y="1752228"/>
            <a:ext cx="42863" cy="42863"/>
          </a:xfrm>
          <a:prstGeom prst="roundRect">
            <a:avLst>
              <a:gd name="adj" fmla="val 66666"/>
            </a:avLst>
          </a:prstGeom>
          <a:solidFill>
            <a:srgbClr val="7C3AED"/>
          </a:solidFill>
          <a:ln/>
        </p:spPr>
        <p:txBody>
          <a:bodyPr wrap="square" rtlCol="0" anchor="ctr"/>
          <a:lstStyle/>
          <a:p>
            <a:pPr indent="0" marL="0">
              <a:buNone/>
            </a:pPr>
            <a:endParaRPr lang="en-US" dirty="0"/>
          </a:p>
        </p:txBody>
      </p:sp>
      <p:sp>
        <p:nvSpPr>
          <p:cNvPr id="74" name="Text 67"/>
          <p:cNvSpPr/>
          <p:nvPr/>
        </p:nvSpPr>
        <p:spPr>
          <a:xfrm>
            <a:off x="5594289" y="1684362"/>
            <a:ext cx="829219" cy="178594"/>
          </a:xfrm>
          <a:prstGeom prst="rect">
            <a:avLst/>
          </a:prstGeom>
          <a:noFill/>
          <a:ln/>
        </p:spPr>
        <p:txBody>
          <a:bodyPr wrap="none" lIns="0" tIns="0" rIns="0" bIns="0" rtlCol="0" anchor="ctr"/>
          <a:lstStyle/>
          <a:p>
            <a:pPr algn="ctr" indent="0" marL="0">
              <a:lnSpc>
                <a:spcPts val="844"/>
              </a:lnSpc>
              <a:buNone/>
            </a:pPr>
            <a:r>
              <a:rPr lang="en-US" sz="800" b="1" spc="28" kern="0" dirty="0">
                <a:solidFill>
                  <a:srgbClr val="6D28D9"/>
                </a:solidFill>
                <a:latin typeface="Carlito" pitchFamily="34" charset="0"/>
                <a:ea typeface="Carlito" pitchFamily="34" charset="-122"/>
                <a:cs typeface="Carlito" pitchFamily="34" charset="-120"/>
              </a:rPr>
              <a:t>Live transfer</a:t>
            </a:r>
            <a:endParaRPr lang="en-US" sz="800" dirty="0"/>
          </a:p>
        </p:txBody>
      </p:sp>
      <p:sp>
        <p:nvSpPr>
          <p:cNvPr id="75" name="Text 68"/>
          <p:cNvSpPr/>
          <p:nvPr/>
        </p:nvSpPr>
        <p:spPr>
          <a:xfrm>
            <a:off x="5627824" y="4153533"/>
            <a:ext cx="3126243" cy="149711"/>
          </a:xfrm>
          <a:prstGeom prst="rect">
            <a:avLst/>
          </a:prstGeom>
          <a:noFill/>
          <a:ln/>
        </p:spPr>
        <p:txBody>
          <a:bodyPr wrap="square" lIns="0" tIns="0" rIns="0" bIns="0" rtlCol="0" anchor="t">
            <a:normAutofit/>
          </a:bodyPr>
          <a:lstStyle/>
          <a:p>
            <a:pPr algn="l" indent="0" marL="0">
              <a:lnSpc>
                <a:spcPts val="1170"/>
              </a:lnSpc>
              <a:buNone/>
            </a:pPr>
            <a:r>
              <a:rPr lang="en-US" sz="900" b="1" dirty="0">
                <a:solidFill>
                  <a:srgbClr val="FFFFFF"/>
                </a:solidFill>
                <a:latin typeface="Carlito" pitchFamily="34" charset="0"/>
                <a:ea typeface="Carlito" pitchFamily="34" charset="-122"/>
                <a:cs typeface="Carlito" pitchFamily="34" charset="-120"/>
              </a:rPr>
              <a:t>Transfer without starting over.</a:t>
            </a:r>
            <a:endParaRPr lang="en-US" sz="900" dirty="0"/>
          </a:p>
        </p:txBody>
      </p:sp>
      <p:sp>
        <p:nvSpPr>
          <p:cNvPr id="76" name="Text 69"/>
          <p:cNvSpPr/>
          <p:nvPr/>
        </p:nvSpPr>
        <p:spPr>
          <a:xfrm>
            <a:off x="5627824" y="4330675"/>
            <a:ext cx="2894670" cy="307051"/>
          </a:xfrm>
          <a:prstGeom prst="rect">
            <a:avLst/>
          </a:prstGeom>
          <a:noFill/>
          <a:ln/>
        </p:spPr>
        <p:txBody>
          <a:bodyPr wrap="square" lIns="0" tIns="0" rIns="0" bIns="0" rtlCol="0" anchor="t"/>
          <a:lstStyle/>
          <a:p>
            <a:pPr algn="l" indent="0" marL="0">
              <a:lnSpc>
                <a:spcPts val="866"/>
              </a:lnSpc>
              <a:buNone/>
            </a:pPr>
            <a:r>
              <a:rPr lang="en-US" sz="800" dirty="0">
                <a:solidFill>
                  <a:srgbClr val="FFFFFF">
                    <a:alpha val="85000"/>
                  </a:srgbClr>
                </a:solidFill>
                <a:latin typeface="Carlito" pitchFamily="34" charset="0"/>
                <a:ea typeface="Carlito" pitchFamily="34" charset="-122"/>
                <a:cs typeface="Carlito" pitchFamily="34" charset="-120"/>
              </a:rPr>
              <a:t>Conversation, documents, and data flow with the customer — the video never drops.</a:t>
            </a:r>
            <a:endParaRPr lang="en-US" sz="800" dirty="0"/>
          </a:p>
        </p:txBody>
      </p:sp>
      <p:sp>
        <p:nvSpPr>
          <p:cNvPr id="77" name="Text 70"/>
          <p:cNvSpPr/>
          <p:nvPr/>
        </p:nvSpPr>
        <p:spPr>
          <a:xfrm>
            <a:off x="342900" y="4854178"/>
            <a:ext cx="7019627"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78" name="Text 71"/>
          <p:cNvSpPr/>
          <p:nvPr/>
        </p:nvSpPr>
        <p:spPr>
          <a:xfrm>
            <a:off x="8110389" y="4877395"/>
            <a:ext cx="7144" cy="71438"/>
          </a:xfrm>
          <a:prstGeom prst="rect">
            <a:avLst/>
          </a:prstGeom>
          <a:solidFill>
            <a:srgbClr val="6B7280">
              <a:alpha val="40000"/>
            </a:srgbClr>
          </a:solidFill>
          <a:ln/>
        </p:spPr>
        <p:txBody>
          <a:bodyPr wrap="square" rtlCol="0" anchor="ctr"/>
          <a:lstStyle/>
          <a:p>
            <a:pPr indent="0" marL="0">
              <a:buNone/>
            </a:pPr>
            <a:endParaRPr lang="en-US" dirty="0"/>
          </a:p>
        </p:txBody>
      </p:sp>
      <p:sp>
        <p:nvSpPr>
          <p:cNvPr id="79" name="Text 72"/>
          <p:cNvSpPr/>
          <p:nvPr/>
        </p:nvSpPr>
        <p:spPr>
          <a:xfrm>
            <a:off x="7376815" y="4854178"/>
            <a:ext cx="1767185"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  </a:t>
            </a:r>
            <a:pPr algn="l" indent="0" marL="0">
              <a:lnSpc>
                <a:spcPts val="928"/>
              </a:lnSpc>
              <a:buNone/>
            </a:pPr>
            <a:r>
              <a:rPr lang="en-US" sz="800" spc="25" kern="0" dirty="0">
                <a:solidFill>
                  <a:srgbClr val="6B7280"/>
                </a:solidFill>
                <a:latin typeface="Liberation Sans Narrow" pitchFamily="34" charset="0"/>
                <a:ea typeface="Liberation Sans Narrow" pitchFamily="34" charset="-122"/>
                <a:cs typeface="Liberation Sans Narrow" pitchFamily="34" charset="-120"/>
              </a:rPr>
              <a:t>SLIDE 13 / 24</a:t>
            </a:r>
            <a:endParaRPr lang="en-US" sz="800" dirty="0"/>
          </a:p>
        </p:txBody>
      </p:sp>
      <p:pic>
        <p:nvPicPr>
          <p:cNvPr id="80" name="Image 5" descr="/home/z/my-project/download/slides/massapro-logo.png">    </p:cNvPr>
          <p:cNvPicPr>
            <a:picLocks noChangeAspect="1"/>
          </p:cNvPicPr>
          <p:nvPr/>
        </p:nvPicPr>
        <p:blipFill>
          <a:blip r:embed="rId6"/>
          <a:stretch>
            <a:fillRect/>
          </a:stretch>
        </p:blipFill>
        <p:spPr>
          <a:xfrm>
            <a:off x="342900" y="200025"/>
            <a:ext cx="200025" cy="200025"/>
          </a:xfrm>
          <a:prstGeom prst="rect">
            <a:avLst/>
          </a:prstGeom>
        </p:spPr>
      </p:pic>
      <p:sp>
        <p:nvSpPr>
          <p:cNvPr id="81" name="Text 73"/>
          <p:cNvSpPr/>
          <p:nvPr/>
        </p:nvSpPr>
        <p:spPr>
          <a:xfrm>
            <a:off x="614363" y="219670"/>
            <a:ext cx="769239"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6D28D9"/>
                </a:solidFill>
                <a:latin typeface="Carlito" pitchFamily="34" charset="0"/>
                <a:ea typeface="Carlito" pitchFamily="34" charset="-122"/>
                <a:cs typeface="Carlito" pitchFamily="34" charset="-120"/>
              </a:rPr>
              <a:t>MassaPro</a:t>
            </a:r>
            <a:endParaRPr lang="en-US" sz="844"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572375" y="3714750"/>
            <a:ext cx="2143125" cy="2143125"/>
          </a:xfrm>
          <a:prstGeom prst="rect">
            <a:avLst/>
          </a:prstGeom>
        </p:spPr>
      </p:pic>
      <p:sp>
        <p:nvSpPr>
          <p:cNvPr id="3" name="Text 0"/>
          <p:cNvSpPr/>
          <p:nvPr/>
        </p:nvSpPr>
        <p:spPr>
          <a:xfrm>
            <a:off x="7572375" y="3714750"/>
            <a:ext cx="2143125" cy="2143125"/>
          </a:xfrm>
          <a:prstGeom prst="ellipse">
            <a:avLst/>
          </a:prstGeom>
          <a:solidFill>
            <a:srgbClr val="A78BFA">
              <a:alpha val="0"/>
            </a:srgbClr>
          </a:solidFill>
          <a:ln/>
        </p:spPr>
        <p:txBody>
          <a:bodyPr wrap="square" rtlCol="0" anchor="ctr"/>
          <a:lstStyle/>
          <a:p>
            <a:pPr indent="0" marL="0">
              <a:buNone/>
            </a:pPr>
            <a:endParaRPr lang="en-US" dirty="0"/>
          </a:p>
        </p:txBody>
      </p:sp>
      <p:sp>
        <p:nvSpPr>
          <p:cNvPr id="4" name="Text 1"/>
          <p:cNvSpPr/>
          <p:nvPr/>
        </p:nvSpPr>
        <p:spPr>
          <a:xfrm>
            <a:off x="460772" y="560784"/>
            <a:ext cx="3113224" cy="4150519"/>
          </a:xfrm>
          <a:prstGeom prst="roundRect">
            <a:avLst>
              <a:gd name="adj" fmla="val 6731"/>
            </a:avLst>
          </a:prstGeom>
          <a:noFill/>
          <a:ln w="7144">
            <a:solidFill>
              <a:srgbClr val="EDE9FE"/>
            </a:solidFill>
            <a:prstDash val="solid"/>
          </a:ln>
          <a:effectLst>
            <a:outerShdw sx="100000" sy="100000" kx="0" ky="0" algn="bl" rotWithShape="0" blurRad="342900" dist="133350" dir="5400000">
              <a:srgbClr val="7C3AED">
                <a:alpha val="20000"/>
              </a:srgbClr>
            </a:outerShdw>
          </a:effectLst>
        </p:spPr>
        <p:txBody>
          <a:bodyPr wrap="square" rtlCol="0" anchor="ctr"/>
          <a:lstStyle/>
          <a:p>
            <a:pPr indent="0" marL="0">
              <a:buNone/>
            </a:pPr>
            <a:endParaRPr lang="en-US" dirty="0"/>
          </a:p>
        </p:txBody>
      </p:sp>
      <p:pic>
        <p:nvPicPr>
          <p:cNvPr id="5" name="Image 1" descr="/tmp/h2p-fit-1786522342489-js70v0.png">    </p:cNvPr>
          <p:cNvPicPr>
            <a:picLocks noChangeAspect="1"/>
          </p:cNvPicPr>
          <p:nvPr/>
        </p:nvPicPr>
        <p:blipFill>
          <a:blip r:embed="rId2"/>
          <a:stretch>
            <a:fillRect/>
          </a:stretch>
        </p:blipFill>
        <p:spPr>
          <a:xfrm>
            <a:off x="464344" y="564356"/>
            <a:ext cx="3106080" cy="4143375"/>
          </a:xfrm>
          <a:prstGeom prst="rect">
            <a:avLst/>
          </a:prstGeom>
        </p:spPr>
      </p:pic>
      <p:sp>
        <p:nvSpPr>
          <p:cNvPr id="6" name="Text 2"/>
          <p:cNvSpPr/>
          <p:nvPr/>
        </p:nvSpPr>
        <p:spPr>
          <a:xfrm>
            <a:off x="3752590" y="560784"/>
            <a:ext cx="4930527" cy="221456"/>
          </a:xfrm>
          <a:prstGeom prst="roundRect">
            <a:avLst>
              <a:gd name="adj" fmla="val 4296779"/>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7" name="Text 3"/>
          <p:cNvSpPr/>
          <p:nvPr/>
        </p:nvSpPr>
        <p:spPr>
          <a:xfrm>
            <a:off x="4027624" y="619720"/>
            <a:ext cx="2489039" cy="129679"/>
          </a:xfrm>
          <a:prstGeom prst="rect">
            <a:avLst/>
          </a:prstGeom>
          <a:noFill/>
          <a:ln/>
        </p:spPr>
        <p:txBody>
          <a:bodyPr wrap="square" lIns="85725" tIns="42863" rIns="85725" bIns="42863" rtlCol="0" anchor="t"/>
          <a:lstStyle/>
          <a:p>
            <a:pPr algn="l" indent="0" marL="0">
              <a:lnSpc>
                <a:spcPts val="928"/>
              </a:lnSpc>
              <a:buNone/>
            </a:pPr>
            <a:r>
              <a:rPr lang="en-US" sz="800" b="1" spc="111" kern="0" dirty="0">
                <a:solidFill>
                  <a:srgbClr val="7C3AED"/>
                </a:solidFill>
                <a:latin typeface="Carlito" pitchFamily="34" charset="0"/>
                <a:ea typeface="Carlito" pitchFamily="34" charset="-122"/>
                <a:cs typeface="Carlito" pitchFamily="34" charset="-120"/>
              </a:rPr>
              <a:t>CHAPTER 03 — INTEGRATION &amp; OPERATIONS</a:t>
            </a:r>
            <a:endParaRPr lang="en-US" sz="800" dirty="0"/>
          </a:p>
        </p:txBody>
      </p:sp>
      <p:sp>
        <p:nvSpPr>
          <p:cNvPr id="8" name="Text 4"/>
          <p:cNvSpPr/>
          <p:nvPr/>
        </p:nvSpPr>
        <p:spPr>
          <a:xfrm>
            <a:off x="3841886" y="607219"/>
            <a:ext cx="128588" cy="128588"/>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9" name="Text 5"/>
          <p:cNvSpPr/>
          <p:nvPr/>
        </p:nvSpPr>
        <p:spPr>
          <a:xfrm>
            <a:off x="3749018" y="857250"/>
            <a:ext cx="5394982" cy="487990"/>
          </a:xfrm>
          <a:prstGeom prst="rect">
            <a:avLst/>
          </a:prstGeom>
          <a:noFill/>
          <a:ln/>
        </p:spPr>
        <p:txBody>
          <a:bodyPr wrap="square" lIns="0" tIns="0" rIns="0" bIns="0" rtlCol="0" anchor="t"/>
          <a:lstStyle/>
          <a:p>
            <a:pPr algn="l" indent="0" marL="0">
              <a:lnSpc>
                <a:spcPts val="1780"/>
              </a:lnSpc>
              <a:buNone/>
            </a:pPr>
            <a:r>
              <a:rPr lang="en-US" sz="1575" b="1" spc="-32" kern="0" dirty="0">
                <a:solidFill>
                  <a:srgbClr val="1F2937"/>
                </a:solidFill>
                <a:latin typeface="Carlito" pitchFamily="34" charset="0"/>
                <a:ea typeface="Carlito" pitchFamily="34" charset="-122"/>
                <a:cs typeface="Carlito" pitchFamily="34" charset="-120"/>
              </a:rPr>
              <a:t>Integration with the </a:t>
            </a:r>
            <a:pPr algn="l" indent="0" marL="0">
              <a:lnSpc>
                <a:spcPts val="1780"/>
              </a:lnSpc>
              <a:buNone/>
            </a:pPr>
            <a:r>
              <a:rPr lang="en-US" sz="1575" b="1" spc="-32" kern="0" dirty="0">
                <a:solidFill>
                  <a:srgbClr val="7C3AED"/>
                </a:solidFill>
                <a:latin typeface="Carlito" pitchFamily="34" charset="0"/>
                <a:ea typeface="Carlito" pitchFamily="34" charset="-122"/>
                <a:cs typeface="Carlito" pitchFamily="34" charset="-120"/>
              </a:rPr>
              <a:t>Contact Centre You Already Have</a:t>
            </a:r>
            <a:endParaRPr lang="en-US" sz="1575" dirty="0"/>
          </a:p>
        </p:txBody>
      </p:sp>
      <p:sp>
        <p:nvSpPr>
          <p:cNvPr id="10" name="Text 6"/>
          <p:cNvSpPr/>
          <p:nvPr/>
        </p:nvSpPr>
        <p:spPr>
          <a:xfrm>
            <a:off x="3749018" y="1351955"/>
            <a:ext cx="400050" cy="21431"/>
          </a:xfrm>
          <a:prstGeom prst="roundRect">
            <a:avLst>
              <a:gd name="adj" fmla="val 88890"/>
            </a:avLst>
          </a:prstGeom>
          <a:solidFill>
            <a:srgbClr val="7C3AED"/>
          </a:solidFill>
          <a:ln/>
        </p:spPr>
        <p:txBody>
          <a:bodyPr wrap="square" rtlCol="0" anchor="ctr"/>
          <a:lstStyle/>
          <a:p>
            <a:pPr indent="0" marL="0">
              <a:buNone/>
            </a:pPr>
            <a:endParaRPr lang="en-US" dirty="0"/>
          </a:p>
        </p:txBody>
      </p:sp>
      <p:sp>
        <p:nvSpPr>
          <p:cNvPr id="11" name="Text 7"/>
          <p:cNvSpPr/>
          <p:nvPr/>
        </p:nvSpPr>
        <p:spPr>
          <a:xfrm>
            <a:off x="3752590" y="1476970"/>
            <a:ext cx="2418829" cy="983605"/>
          </a:xfrm>
          <a:prstGeom prst="roundRect">
            <a:avLst>
              <a:gd name="adj" fmla="val 13557"/>
            </a:avLst>
          </a:prstGeom>
          <a:solidFill>
            <a:srgbClr val="FFFFFF"/>
          </a:solidFill>
          <a:ln w="7144">
            <a:solidFill>
              <a:srgbClr val="E5E7EB"/>
            </a:solidFill>
            <a:prstDash val="solid"/>
          </a:ln>
          <a:effectLst>
            <a:outerShdw sx="100000" sy="100000" kx="0" ky="0" algn="bl" rotWithShape="0" blurRad="28575" dist="9525" dir="5400000">
              <a:srgbClr val="7C3AED">
                <a:alpha val="5000"/>
              </a:srgbClr>
            </a:outerShdw>
          </a:effectLst>
        </p:spPr>
        <p:txBody>
          <a:bodyPr wrap="square" rtlCol="0" anchor="ctr"/>
          <a:lstStyle/>
          <a:p>
            <a:pPr indent="0" marL="0">
              <a:buNone/>
            </a:pPr>
            <a:endParaRPr lang="en-US" dirty="0"/>
          </a:p>
        </p:txBody>
      </p:sp>
      <p:sp>
        <p:nvSpPr>
          <p:cNvPr id="12" name="Text 8"/>
          <p:cNvSpPr/>
          <p:nvPr/>
        </p:nvSpPr>
        <p:spPr>
          <a:xfrm>
            <a:off x="3870461" y="1580555"/>
            <a:ext cx="257175" cy="257175"/>
          </a:xfrm>
          <a:prstGeom prst="roundRect">
            <a:avLst>
              <a:gd name="adj" fmla="val 37037"/>
            </a:avLst>
          </a:prstGeom>
          <a:solidFill>
            <a:srgbClr val="F5F3FF"/>
          </a:solidFill>
          <a:ln/>
        </p:spPr>
        <p:txBody>
          <a:bodyPr wrap="square" rtlCol="0" anchor="ctr"/>
          <a:lstStyle/>
          <a:p>
            <a:pPr indent="0" marL="0">
              <a:buNone/>
            </a:pPr>
            <a:endParaRPr lang="en-US" dirty="0"/>
          </a:p>
        </p:txBody>
      </p:sp>
      <p:sp>
        <p:nvSpPr>
          <p:cNvPr id="13" name="Text 9"/>
          <p:cNvSpPr/>
          <p:nvPr/>
        </p:nvSpPr>
        <p:spPr>
          <a:xfrm>
            <a:off x="3916181" y="1626275"/>
            <a:ext cx="165735" cy="165735"/>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14" name="Text 10"/>
          <p:cNvSpPr/>
          <p:nvPr/>
        </p:nvSpPr>
        <p:spPr>
          <a:xfrm>
            <a:off x="4199074" y="1587698"/>
            <a:ext cx="1511556" cy="108299"/>
          </a:xfrm>
          <a:prstGeom prst="rect">
            <a:avLst/>
          </a:prstGeom>
          <a:noFill/>
          <a:ln/>
        </p:spPr>
        <p:txBody>
          <a:bodyPr wrap="none" lIns="0" tIns="0" rIns="0" bIns="0" rtlCol="0" anchor="t">
            <a:normAutofit/>
          </a:bodyPr>
          <a:lstStyle/>
          <a:p>
            <a:pPr algn="l" indent="0" marL="0">
              <a:lnSpc>
                <a:spcPts val="1181"/>
              </a:lnSpc>
              <a:buNone/>
            </a:pPr>
            <a:r>
              <a:rPr lang="en-US" sz="800" b="1" spc="-8" kern="0" dirty="0">
                <a:solidFill>
                  <a:srgbClr val="6D28D9"/>
                </a:solidFill>
                <a:latin typeface="Carlito" pitchFamily="34" charset="0"/>
                <a:ea typeface="Carlito" pitchFamily="34" charset="-122"/>
                <a:cs typeface="Carlito" pitchFamily="34" charset="-120"/>
              </a:rPr>
              <a:t>Distributed Agents</a:t>
            </a:r>
            <a:endParaRPr lang="en-US" sz="800" dirty="0"/>
          </a:p>
        </p:txBody>
      </p:sp>
      <p:sp>
        <p:nvSpPr>
          <p:cNvPr id="15" name="Text 11"/>
          <p:cNvSpPr/>
          <p:nvPr/>
        </p:nvSpPr>
        <p:spPr>
          <a:xfrm>
            <a:off x="4199074" y="1723430"/>
            <a:ext cx="1554743" cy="164592"/>
          </a:xfrm>
          <a:prstGeom prst="rect">
            <a:avLst/>
          </a:prstGeom>
          <a:noFill/>
          <a:ln/>
        </p:spPr>
        <p:txBody>
          <a:bodyPr wrap="square" lIns="0" tIns="0" rIns="0" bIns="0" rtlCol="0" anchor="t"/>
          <a:lstStyle/>
          <a:p>
            <a:pPr algn="l" indent="0" marL="0">
              <a:lnSpc>
                <a:spcPts val="844"/>
              </a:lnSpc>
              <a:buNone/>
            </a:pPr>
            <a:r>
              <a:rPr lang="en-US" sz="600" spc="45" kern="0" dirty="0">
                <a:solidFill>
                  <a:srgbClr val="6B7280"/>
                </a:solidFill>
                <a:latin typeface="Carlito" pitchFamily="34" charset="0"/>
                <a:ea typeface="Carlito" pitchFamily="34" charset="-122"/>
                <a:cs typeface="Carlito" pitchFamily="34" charset="-120"/>
              </a:rPr>
              <a:t>BRANCH · DEALERSHIP · OFFICE</a:t>
            </a:r>
            <a:endParaRPr lang="en-US" sz="600" dirty="0"/>
          </a:p>
        </p:txBody>
      </p:sp>
      <p:sp>
        <p:nvSpPr>
          <p:cNvPr id="16" name="Text 12"/>
          <p:cNvSpPr/>
          <p:nvPr/>
        </p:nvSpPr>
        <p:spPr>
          <a:xfrm>
            <a:off x="3870461" y="1880592"/>
            <a:ext cx="2183085" cy="476399"/>
          </a:xfrm>
          <a:prstGeom prst="rect">
            <a:avLst/>
          </a:prstGeom>
          <a:noFill/>
          <a:ln/>
        </p:spPr>
        <p:txBody>
          <a:bodyPr wrap="square" lIns="0" tIns="0" rIns="0" bIns="0" rtlCol="0" anchor="t"/>
          <a:lstStyle/>
          <a:p>
            <a:pPr algn="l" indent="0" marL="0">
              <a:lnSpc>
                <a:spcPts val="938"/>
              </a:lnSpc>
              <a:buNone/>
            </a:pPr>
            <a:r>
              <a:rPr lang="en-US" sz="800" dirty="0">
                <a:solidFill>
                  <a:srgbClr val="374151"/>
                </a:solidFill>
                <a:latin typeface="Carlito" pitchFamily="34" charset="0"/>
                <a:ea typeface="Carlito" pitchFamily="34" charset="-122"/>
                <a:cs typeface="Carlito" pitchFamily="34" charset="-120"/>
              </a:rPr>
              <a:t>Makes use of advisors already available at offices, dealerships, or branches, between in-person appointments. Idle time at branch locations becomes billable service time.</a:t>
            </a:r>
            <a:endParaRPr lang="en-US" sz="800" dirty="0"/>
          </a:p>
        </p:txBody>
      </p:sp>
      <p:sp>
        <p:nvSpPr>
          <p:cNvPr id="17" name="Text 13"/>
          <p:cNvSpPr/>
          <p:nvPr/>
        </p:nvSpPr>
        <p:spPr>
          <a:xfrm>
            <a:off x="6264287" y="1476970"/>
            <a:ext cx="2418829" cy="983605"/>
          </a:xfrm>
          <a:prstGeom prst="roundRect">
            <a:avLst>
              <a:gd name="adj" fmla="val 13557"/>
            </a:avLst>
          </a:prstGeom>
          <a:solidFill>
            <a:srgbClr val="FFFFFF"/>
          </a:solidFill>
          <a:ln w="7144">
            <a:solidFill>
              <a:srgbClr val="E5E7EB"/>
            </a:solidFill>
            <a:prstDash val="solid"/>
          </a:ln>
          <a:effectLst>
            <a:outerShdw sx="100000" sy="100000" kx="0" ky="0" algn="bl" rotWithShape="0" blurRad="28575" dist="9525" dir="5400000">
              <a:srgbClr val="7C3AED">
                <a:alpha val="5000"/>
              </a:srgbClr>
            </a:outerShdw>
          </a:effectLst>
        </p:spPr>
        <p:txBody>
          <a:bodyPr wrap="square" rtlCol="0" anchor="ctr"/>
          <a:lstStyle/>
          <a:p>
            <a:pPr indent="0" marL="0">
              <a:buNone/>
            </a:pPr>
            <a:endParaRPr lang="en-US" dirty="0"/>
          </a:p>
        </p:txBody>
      </p:sp>
      <p:sp>
        <p:nvSpPr>
          <p:cNvPr id="18" name="Text 14"/>
          <p:cNvSpPr/>
          <p:nvPr/>
        </p:nvSpPr>
        <p:spPr>
          <a:xfrm>
            <a:off x="6382159" y="1580555"/>
            <a:ext cx="257175" cy="257175"/>
          </a:xfrm>
          <a:prstGeom prst="roundRect">
            <a:avLst>
              <a:gd name="adj" fmla="val 37037"/>
            </a:avLst>
          </a:prstGeom>
          <a:solidFill>
            <a:srgbClr val="7C3AED"/>
          </a:solidFill>
          <a:ln/>
        </p:spPr>
        <p:txBody>
          <a:bodyPr wrap="square" rtlCol="0" anchor="ctr"/>
          <a:lstStyle/>
          <a:p>
            <a:pPr indent="0" marL="0">
              <a:buNone/>
            </a:pPr>
            <a:endParaRPr lang="en-US" dirty="0"/>
          </a:p>
        </p:txBody>
      </p:sp>
      <p:sp>
        <p:nvSpPr>
          <p:cNvPr id="19" name="Text 15"/>
          <p:cNvSpPr/>
          <p:nvPr/>
        </p:nvSpPr>
        <p:spPr>
          <a:xfrm>
            <a:off x="6427879" y="1626275"/>
            <a:ext cx="165735" cy="165735"/>
          </a:xfrm>
          <a:prstGeom prst="rect">
            <a:avLst/>
          </a:prstGeom>
          <a:noFill/>
          <a:ln/>
        </p:spPr>
        <p:txBody>
          <a:bodyPr wrap="none" lIns="0" tIns="0" rIns="0" bIns="0" rtlCol="0" anchor="ctr"/>
          <a:lstStyle/>
          <a:p>
            <a:pPr algn="ctr" indent="0" marL="0">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20" name="Text 16"/>
          <p:cNvSpPr/>
          <p:nvPr/>
        </p:nvSpPr>
        <p:spPr>
          <a:xfrm>
            <a:off x="6710772" y="1587698"/>
            <a:ext cx="1614928" cy="108299"/>
          </a:xfrm>
          <a:prstGeom prst="rect">
            <a:avLst/>
          </a:prstGeom>
          <a:noFill/>
          <a:ln/>
        </p:spPr>
        <p:txBody>
          <a:bodyPr wrap="none" lIns="0" tIns="0" rIns="0" bIns="0" rtlCol="0" anchor="t">
            <a:normAutofit/>
          </a:bodyPr>
          <a:lstStyle/>
          <a:p>
            <a:pPr algn="l" indent="0" marL="0">
              <a:lnSpc>
                <a:spcPts val="1181"/>
              </a:lnSpc>
              <a:buNone/>
            </a:pPr>
            <a:r>
              <a:rPr lang="en-US" sz="800" b="1" spc="-8" kern="0" dirty="0">
                <a:solidFill>
                  <a:srgbClr val="6D28D9"/>
                </a:solidFill>
                <a:latin typeface="Carlito" pitchFamily="34" charset="0"/>
                <a:ea typeface="Carlito" pitchFamily="34" charset="-122"/>
                <a:cs typeface="Carlito" pitchFamily="34" charset="-120"/>
              </a:rPr>
              <a:t>Centralised Agents</a:t>
            </a:r>
            <a:endParaRPr lang="en-US" sz="800" dirty="0"/>
          </a:p>
        </p:txBody>
      </p:sp>
      <p:sp>
        <p:nvSpPr>
          <p:cNvPr id="21" name="Text 17"/>
          <p:cNvSpPr/>
          <p:nvPr/>
        </p:nvSpPr>
        <p:spPr>
          <a:xfrm>
            <a:off x="6710772" y="1723430"/>
            <a:ext cx="1661069" cy="164592"/>
          </a:xfrm>
          <a:prstGeom prst="rect">
            <a:avLst/>
          </a:prstGeom>
          <a:noFill/>
          <a:ln/>
        </p:spPr>
        <p:txBody>
          <a:bodyPr wrap="square" lIns="0" tIns="0" rIns="0" bIns="0" rtlCol="0" anchor="t"/>
          <a:lstStyle/>
          <a:p>
            <a:pPr algn="l" indent="0" marL="0">
              <a:lnSpc>
                <a:spcPts val="844"/>
              </a:lnSpc>
              <a:buNone/>
            </a:pPr>
            <a:r>
              <a:rPr lang="en-US" sz="600" spc="45" kern="0" dirty="0">
                <a:solidFill>
                  <a:srgbClr val="6B7280"/>
                </a:solidFill>
                <a:latin typeface="Carlito" pitchFamily="34" charset="0"/>
                <a:ea typeface="Carlito" pitchFamily="34" charset="-122"/>
                <a:cs typeface="Carlito" pitchFamily="34" charset="-120"/>
              </a:rPr>
              <a:t>CONTACT CENTRE · OUTSOURCING</a:t>
            </a:r>
            <a:endParaRPr lang="en-US" sz="600" dirty="0"/>
          </a:p>
        </p:txBody>
      </p:sp>
      <p:sp>
        <p:nvSpPr>
          <p:cNvPr id="22" name="Text 18"/>
          <p:cNvSpPr/>
          <p:nvPr/>
        </p:nvSpPr>
        <p:spPr>
          <a:xfrm>
            <a:off x="6382159" y="1880592"/>
            <a:ext cx="2183085" cy="476399"/>
          </a:xfrm>
          <a:prstGeom prst="rect">
            <a:avLst/>
          </a:prstGeom>
          <a:noFill/>
          <a:ln/>
        </p:spPr>
        <p:txBody>
          <a:bodyPr wrap="square" lIns="0" tIns="0" rIns="0" bIns="0" rtlCol="0" anchor="t"/>
          <a:lstStyle/>
          <a:p>
            <a:pPr algn="l" indent="0" marL="0">
              <a:lnSpc>
                <a:spcPts val="938"/>
              </a:lnSpc>
              <a:buNone/>
            </a:pPr>
            <a:r>
              <a:rPr lang="en-US" sz="800" dirty="0">
                <a:solidFill>
                  <a:srgbClr val="374151"/>
                </a:solidFill>
                <a:latin typeface="Carlito" pitchFamily="34" charset="0"/>
                <a:ea typeface="Carlito" pitchFamily="34" charset="-122"/>
                <a:cs typeface="Carlito" pitchFamily="34" charset="-120"/>
              </a:rPr>
              <a:t>Maximises operations with more shifts, queue-based specialisation, and contact-centre outsourcing. One team serves the entire network.</a:t>
            </a:r>
            <a:endParaRPr lang="en-US" sz="800" dirty="0"/>
          </a:p>
        </p:txBody>
      </p:sp>
      <p:pic>
        <p:nvPicPr>
          <p:cNvPr id="23" name="Image 2" descr="preencoded.png">    </p:cNvPr>
          <p:cNvPicPr>
            <a:picLocks noChangeAspect="1"/>
          </p:cNvPicPr>
          <p:nvPr/>
        </p:nvPicPr>
        <p:blipFill>
          <a:blip r:embed="rId3"/>
          <a:stretch>
            <a:fillRect/>
          </a:stretch>
        </p:blipFill>
        <p:spPr>
          <a:xfrm>
            <a:off x="3749018" y="2535585"/>
            <a:ext cx="4937671" cy="517029"/>
          </a:xfrm>
          <a:prstGeom prst="rect">
            <a:avLst/>
          </a:prstGeom>
        </p:spPr>
      </p:pic>
      <p:sp>
        <p:nvSpPr>
          <p:cNvPr id="24" name="Text 19"/>
          <p:cNvSpPr/>
          <p:nvPr/>
        </p:nvSpPr>
        <p:spPr>
          <a:xfrm>
            <a:off x="3863318" y="2679799"/>
            <a:ext cx="228600" cy="228600"/>
          </a:xfrm>
          <a:prstGeom prst="roundRect">
            <a:avLst>
              <a:gd name="adj" fmla="val 41667"/>
            </a:avLst>
          </a:prstGeom>
          <a:solidFill>
            <a:srgbClr val="FFFFFF">
              <a:alpha val="18000"/>
            </a:srgbClr>
          </a:solidFill>
          <a:ln/>
        </p:spPr>
        <p:txBody>
          <a:bodyPr wrap="square" rtlCol="0" anchor="ctr"/>
          <a:lstStyle/>
          <a:p>
            <a:pPr indent="0" marL="0">
              <a:buNone/>
            </a:pPr>
            <a:endParaRPr lang="en-US" dirty="0"/>
          </a:p>
        </p:txBody>
      </p:sp>
      <p:sp>
        <p:nvSpPr>
          <p:cNvPr id="25" name="Text 20"/>
          <p:cNvSpPr/>
          <p:nvPr/>
        </p:nvSpPr>
        <p:spPr>
          <a:xfrm>
            <a:off x="3894750" y="2711232"/>
            <a:ext cx="165735" cy="165735"/>
          </a:xfrm>
          <a:prstGeom prst="rect">
            <a:avLst/>
          </a:prstGeom>
          <a:noFill/>
          <a:ln/>
        </p:spPr>
        <p:txBody>
          <a:bodyPr wrap="none" lIns="0" tIns="0" rIns="0" bIns="0" rtlCol="0" anchor="ctr"/>
          <a:lstStyle/>
          <a:p>
            <a:pPr algn="ctr" indent="0" marL="0">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26" name="Text 21"/>
          <p:cNvSpPr/>
          <p:nvPr/>
        </p:nvSpPr>
        <p:spPr>
          <a:xfrm>
            <a:off x="4177643" y="2621310"/>
            <a:ext cx="4504474" cy="98253"/>
          </a:xfrm>
          <a:prstGeom prst="rect">
            <a:avLst/>
          </a:prstGeom>
          <a:noFill/>
          <a:ln/>
        </p:spPr>
        <p:txBody>
          <a:bodyPr wrap="square" lIns="0" tIns="0" rIns="0" bIns="0" rtlCol="0" anchor="t">
            <a:normAutofit/>
          </a:bodyPr>
          <a:lstStyle/>
          <a:p>
            <a:pPr algn="l" indent="0" marL="0">
              <a:lnSpc>
                <a:spcPts val="877"/>
              </a:lnSpc>
              <a:buNone/>
            </a:pPr>
            <a:r>
              <a:rPr lang="en-US" sz="800" b="1" dirty="0">
                <a:solidFill>
                  <a:srgbClr val="FFFFFF"/>
                </a:solidFill>
                <a:latin typeface="Carlito" pitchFamily="34" charset="0"/>
                <a:ea typeface="Carlito" pitchFamily="34" charset="-122"/>
                <a:cs typeface="Carlito" pitchFamily="34" charset="-120"/>
              </a:rPr>
              <a:t>Hybrid model — most customers run a hybrid</a:t>
            </a:r>
            <a:endParaRPr lang="en-US" sz="800" dirty="0"/>
          </a:p>
        </p:txBody>
      </p:sp>
      <p:sp>
        <p:nvSpPr>
          <p:cNvPr id="27" name="Text 22"/>
          <p:cNvSpPr/>
          <p:nvPr/>
        </p:nvSpPr>
        <p:spPr>
          <a:xfrm>
            <a:off x="4177643" y="2746995"/>
            <a:ext cx="4394746" cy="219894"/>
          </a:xfrm>
          <a:prstGeom prst="rect">
            <a:avLst/>
          </a:prstGeom>
          <a:noFill/>
          <a:ln/>
        </p:spPr>
        <p:txBody>
          <a:bodyPr wrap="square" lIns="0" tIns="0" rIns="0" bIns="0" rtlCol="0" anchor="t"/>
          <a:lstStyle/>
          <a:p>
            <a:pPr algn="l" indent="0" marL="0">
              <a:lnSpc>
                <a:spcPts val="866"/>
              </a:lnSpc>
              <a:buNone/>
            </a:pPr>
            <a:r>
              <a:rPr lang="en-US" sz="800" dirty="0">
                <a:solidFill>
                  <a:srgbClr val="FFFFFF">
                    <a:alpha val="92000"/>
                  </a:srgbClr>
                </a:solidFill>
                <a:latin typeface="Carlito" pitchFamily="34" charset="0"/>
                <a:ea typeface="Carlito" pitchFamily="34" charset="-122"/>
                <a:cs typeface="Carlito" pitchFamily="34" charset="-120"/>
              </a:rPr>
              <a:t>Branch staff handle sessions during slow hours, centralised staff handle peak hours &amp; after-hours. </a:t>
            </a:r>
            <a:pPr algn="l" indent="0" marL="0">
              <a:lnSpc>
                <a:spcPts val="866"/>
              </a:lnSpc>
              <a:buNone/>
            </a:pPr>
            <a:r>
              <a:rPr lang="en-US" sz="800" b="1" dirty="0">
                <a:solidFill>
                  <a:srgbClr val="FFFFFF">
                    <a:alpha val="92000"/>
                  </a:srgbClr>
                </a:solidFill>
                <a:latin typeface="Carlito" pitchFamily="34" charset="0"/>
                <a:ea typeface="Carlito" pitchFamily="34" charset="-122"/>
                <a:cs typeface="Carlito" pitchFamily="34" charset="-120"/>
              </a:rPr>
              <a:t>MassaPro Flow</a:t>
            </a:r>
            <a:pPr algn="l" indent="0" marL="0">
              <a:lnSpc>
                <a:spcPts val="866"/>
              </a:lnSpc>
              <a:buNone/>
            </a:pPr>
            <a:r>
              <a:rPr lang="en-US" sz="800" dirty="0">
                <a:solidFill>
                  <a:srgbClr val="FFFFFF">
                    <a:alpha val="92000"/>
                  </a:srgbClr>
                </a:solidFill>
                <a:latin typeface="Carlito" pitchFamily="34" charset="0"/>
                <a:ea typeface="Carlito" pitchFamily="34" charset="-122"/>
                <a:cs typeface="Carlito" pitchFamily="34" charset="-120"/>
              </a:rPr>
              <a:t> handles the routing rules.</a:t>
            </a:r>
            <a:endParaRPr lang="en-US" sz="800" dirty="0"/>
          </a:p>
        </p:txBody>
      </p:sp>
      <p:sp>
        <p:nvSpPr>
          <p:cNvPr id="28" name="Text 23"/>
          <p:cNvSpPr/>
          <p:nvPr/>
        </p:nvSpPr>
        <p:spPr>
          <a:xfrm>
            <a:off x="3749018" y="3192810"/>
            <a:ext cx="2043078" cy="164592"/>
          </a:xfrm>
          <a:prstGeom prst="rect">
            <a:avLst/>
          </a:prstGeom>
          <a:noFill/>
          <a:ln/>
        </p:spPr>
        <p:txBody>
          <a:bodyPr wrap="none" lIns="0" tIns="0" rIns="0" bIns="0" rtlCol="0" anchor="t"/>
          <a:lstStyle/>
          <a:p>
            <a:pPr algn="l" indent="0" marL="0">
              <a:lnSpc>
                <a:spcPts val="844"/>
              </a:lnSpc>
              <a:buNone/>
            </a:pPr>
            <a:r>
              <a:rPr lang="en-US" sz="800" b="1" spc="79" kern="0" dirty="0">
                <a:solidFill>
                  <a:srgbClr val="6B7280"/>
                </a:solidFill>
                <a:latin typeface="Carlito" pitchFamily="34" charset="0"/>
                <a:ea typeface="Carlito" pitchFamily="34" charset="-122"/>
                <a:cs typeface="Carlito" pitchFamily="34" charset="-120"/>
              </a:rPr>
              <a:t>MASSAPRO FLOW ROUTES BY →</a:t>
            </a:r>
            <a:endParaRPr lang="en-US" sz="800" dirty="0"/>
          </a:p>
        </p:txBody>
      </p:sp>
      <p:sp>
        <p:nvSpPr>
          <p:cNvPr id="29" name="Text 24"/>
          <p:cNvSpPr/>
          <p:nvPr/>
        </p:nvSpPr>
        <p:spPr>
          <a:xfrm>
            <a:off x="5321312" y="3111250"/>
            <a:ext cx="549622" cy="270277"/>
          </a:xfrm>
          <a:prstGeom prst="roundRect">
            <a:avLst>
              <a:gd name="adj" fmla="val 35242"/>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30" name="Text 25"/>
          <p:cNvSpPr/>
          <p:nvPr/>
        </p:nvSpPr>
        <p:spPr>
          <a:xfrm>
            <a:off x="5399894" y="3203525"/>
            <a:ext cx="91440" cy="91440"/>
          </a:xfrm>
          <a:prstGeom prst="rect">
            <a:avLst/>
          </a:prstGeom>
          <a:noFill/>
          <a:ln/>
        </p:spPr>
        <p:txBody>
          <a:bodyPr wrap="none" lIns="0" tIns="0" rIns="0" bIns="0" rtlCol="0" anchor="ctr"/>
          <a:lstStyle/>
          <a:p>
            <a:pPr algn="ctr" indent="0" marL="0">
              <a:buNone/>
            </a:pPr>
            <a:r>
              <a:rPr lang="en-US" sz="844" dirty="0">
                <a:solidFill>
                  <a:srgbClr val="7C3AED"/>
                </a:solidFill>
                <a:latin typeface="Segoe UI Symbol" pitchFamily="34" charset="0"/>
                <a:ea typeface="Segoe UI Symbol" pitchFamily="34" charset="-122"/>
                <a:cs typeface="Segoe UI Symbol" pitchFamily="34" charset="-120"/>
              </a:rPr>
              <a:t>◯</a:t>
            </a:r>
            <a:endParaRPr lang="en-US" sz="844" dirty="0"/>
          </a:p>
        </p:txBody>
      </p:sp>
      <p:sp>
        <p:nvSpPr>
          <p:cNvPr id="31" name="Text 26"/>
          <p:cNvSpPr/>
          <p:nvPr/>
        </p:nvSpPr>
        <p:spPr>
          <a:xfrm>
            <a:off x="5528481" y="3165378"/>
            <a:ext cx="263872" cy="162020"/>
          </a:xfrm>
          <a:prstGeom prst="roundRect">
            <a:avLst>
              <a:gd name="adj" fmla="val 23516"/>
            </a:avLst>
          </a:prstGeom>
          <a:solidFill>
            <a:srgbClr val="FFFFFF"/>
          </a:solidFill>
          <a:ln w="7144">
            <a:solidFill>
              <a:srgbClr val="EDE9FE"/>
            </a:solidFill>
            <a:prstDash val="solid"/>
          </a:ln>
        </p:spPr>
        <p:txBody>
          <a:bodyPr wrap="square" rtlCol="0" anchor="ctr"/>
          <a:lstStyle/>
          <a:p>
            <a:pPr indent="0" marL="0">
              <a:buNone/>
            </a:pPr>
            <a:endParaRPr lang="en-US" dirty="0"/>
          </a:p>
        </p:txBody>
      </p:sp>
      <p:sp>
        <p:nvSpPr>
          <p:cNvPr id="32" name="Text 27"/>
          <p:cNvSpPr/>
          <p:nvPr/>
        </p:nvSpPr>
        <p:spPr>
          <a:xfrm>
            <a:off x="5480788" y="3174057"/>
            <a:ext cx="359258" cy="144661"/>
          </a:xfrm>
          <a:prstGeom prst="rect">
            <a:avLst/>
          </a:prstGeom>
          <a:noFill/>
          <a:ln/>
        </p:spPr>
        <p:txBody>
          <a:bodyPr wrap="none" lIns="0" tIns="0" rIns="0" bIns="0" rtlCol="0" anchor="ctr"/>
          <a:lstStyle/>
          <a:p>
            <a:pPr algn="ctr" indent="0" marL="0">
              <a:lnSpc>
                <a:spcPts val="802"/>
              </a:lnSpc>
              <a:buNone/>
            </a:pPr>
            <a:r>
              <a:rPr lang="en-US" sz="800" dirty="0">
                <a:solidFill>
                  <a:srgbClr val="6D28D9"/>
                </a:solidFill>
                <a:latin typeface="Carlito" pitchFamily="34" charset="0"/>
                <a:ea typeface="Carlito" pitchFamily="34" charset="-122"/>
                <a:cs typeface="Carlito" pitchFamily="34" charset="-120"/>
              </a:rPr>
              <a:t>Skill</a:t>
            </a:r>
            <a:endParaRPr lang="en-US" sz="800" dirty="0"/>
          </a:p>
        </p:txBody>
      </p:sp>
      <p:sp>
        <p:nvSpPr>
          <p:cNvPr id="33" name="Text 28"/>
          <p:cNvSpPr/>
          <p:nvPr/>
        </p:nvSpPr>
        <p:spPr>
          <a:xfrm>
            <a:off x="5928085" y="3111250"/>
            <a:ext cx="760475" cy="270277"/>
          </a:xfrm>
          <a:prstGeom prst="roundRect">
            <a:avLst>
              <a:gd name="adj" fmla="val 35242"/>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34" name="Text 29"/>
          <p:cNvSpPr/>
          <p:nvPr/>
        </p:nvSpPr>
        <p:spPr>
          <a:xfrm>
            <a:off x="6006666" y="3203525"/>
            <a:ext cx="91440" cy="91440"/>
          </a:xfrm>
          <a:prstGeom prst="rect">
            <a:avLst/>
          </a:prstGeom>
          <a:noFill/>
          <a:ln/>
        </p:spPr>
        <p:txBody>
          <a:bodyPr wrap="none" lIns="0" tIns="0" rIns="0" bIns="0" rtlCol="0" anchor="ctr"/>
          <a:lstStyle/>
          <a:p>
            <a:pPr algn="ctr" indent="0" marL="0">
              <a:buNone/>
            </a:pPr>
            <a:r>
              <a:rPr lang="en-US" sz="844" dirty="0">
                <a:solidFill>
                  <a:srgbClr val="7C3AED"/>
                </a:solidFill>
                <a:latin typeface="Segoe UI Symbol" pitchFamily="34" charset="0"/>
                <a:ea typeface="Segoe UI Symbol" pitchFamily="34" charset="-122"/>
                <a:cs typeface="Segoe UI Symbol" pitchFamily="34" charset="-120"/>
              </a:rPr>
              <a:t>◯</a:t>
            </a:r>
            <a:endParaRPr lang="en-US" sz="844" dirty="0"/>
          </a:p>
        </p:txBody>
      </p:sp>
      <p:sp>
        <p:nvSpPr>
          <p:cNvPr id="35" name="Text 30"/>
          <p:cNvSpPr/>
          <p:nvPr/>
        </p:nvSpPr>
        <p:spPr>
          <a:xfrm>
            <a:off x="6135253" y="3165378"/>
            <a:ext cx="474725" cy="162020"/>
          </a:xfrm>
          <a:prstGeom prst="roundRect">
            <a:avLst>
              <a:gd name="adj" fmla="val 23516"/>
            </a:avLst>
          </a:prstGeom>
          <a:solidFill>
            <a:srgbClr val="FFFFFF"/>
          </a:solidFill>
          <a:ln w="7144">
            <a:solidFill>
              <a:srgbClr val="EDE9FE"/>
            </a:solidFill>
            <a:prstDash val="solid"/>
          </a:ln>
        </p:spPr>
        <p:txBody>
          <a:bodyPr wrap="square" rtlCol="0" anchor="ctr"/>
          <a:lstStyle/>
          <a:p>
            <a:pPr indent="0" marL="0">
              <a:buNone/>
            </a:pPr>
            <a:endParaRPr lang="en-US" dirty="0"/>
          </a:p>
        </p:txBody>
      </p:sp>
      <p:sp>
        <p:nvSpPr>
          <p:cNvPr id="36" name="Text 31"/>
          <p:cNvSpPr/>
          <p:nvPr/>
        </p:nvSpPr>
        <p:spPr>
          <a:xfrm>
            <a:off x="6099474" y="3174057"/>
            <a:ext cx="546283" cy="144661"/>
          </a:xfrm>
          <a:prstGeom prst="rect">
            <a:avLst/>
          </a:prstGeom>
          <a:noFill/>
          <a:ln/>
        </p:spPr>
        <p:txBody>
          <a:bodyPr wrap="none" lIns="0" tIns="0" rIns="0" bIns="0" rtlCol="0" anchor="ctr"/>
          <a:lstStyle/>
          <a:p>
            <a:pPr algn="ctr" indent="0" marL="0">
              <a:lnSpc>
                <a:spcPts val="802"/>
              </a:lnSpc>
              <a:buNone/>
            </a:pPr>
            <a:r>
              <a:rPr lang="en-US" sz="800" dirty="0">
                <a:solidFill>
                  <a:srgbClr val="6D28D9"/>
                </a:solidFill>
                <a:latin typeface="Carlito" pitchFamily="34" charset="0"/>
                <a:ea typeface="Carlito" pitchFamily="34" charset="-122"/>
                <a:cs typeface="Carlito" pitchFamily="34" charset="-120"/>
              </a:rPr>
              <a:t>Language</a:t>
            </a:r>
            <a:endParaRPr lang="en-US" sz="800" dirty="0"/>
          </a:p>
        </p:txBody>
      </p:sp>
      <p:sp>
        <p:nvSpPr>
          <p:cNvPr id="37" name="Text 32"/>
          <p:cNvSpPr/>
          <p:nvPr/>
        </p:nvSpPr>
        <p:spPr>
          <a:xfrm>
            <a:off x="6745709" y="3111250"/>
            <a:ext cx="611460" cy="270277"/>
          </a:xfrm>
          <a:prstGeom prst="roundRect">
            <a:avLst>
              <a:gd name="adj" fmla="val 35242"/>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38" name="Text 33"/>
          <p:cNvSpPr/>
          <p:nvPr/>
        </p:nvSpPr>
        <p:spPr>
          <a:xfrm>
            <a:off x="6824290" y="3203525"/>
            <a:ext cx="91440" cy="91440"/>
          </a:xfrm>
          <a:prstGeom prst="rect">
            <a:avLst/>
          </a:prstGeom>
          <a:noFill/>
          <a:ln/>
        </p:spPr>
        <p:txBody>
          <a:bodyPr wrap="none" lIns="0" tIns="0" rIns="0" bIns="0" rtlCol="0" anchor="ctr"/>
          <a:lstStyle/>
          <a:p>
            <a:pPr algn="ctr" indent="0" marL="0">
              <a:buNone/>
            </a:pPr>
            <a:r>
              <a:rPr lang="en-US" sz="844" dirty="0">
                <a:solidFill>
                  <a:srgbClr val="7C3AED"/>
                </a:solidFill>
                <a:latin typeface="Segoe UI Symbol" pitchFamily="34" charset="0"/>
                <a:ea typeface="Segoe UI Symbol" pitchFamily="34" charset="-122"/>
                <a:cs typeface="Segoe UI Symbol" pitchFamily="34" charset="-120"/>
              </a:rPr>
              <a:t>◔</a:t>
            </a:r>
            <a:endParaRPr lang="en-US" sz="844" dirty="0"/>
          </a:p>
        </p:txBody>
      </p:sp>
      <p:sp>
        <p:nvSpPr>
          <p:cNvPr id="39" name="Text 34"/>
          <p:cNvSpPr/>
          <p:nvPr/>
        </p:nvSpPr>
        <p:spPr>
          <a:xfrm>
            <a:off x="6952878" y="3165378"/>
            <a:ext cx="325710" cy="162020"/>
          </a:xfrm>
          <a:prstGeom prst="roundRect">
            <a:avLst>
              <a:gd name="adj" fmla="val 23516"/>
            </a:avLst>
          </a:prstGeom>
          <a:solidFill>
            <a:srgbClr val="FFFFFF"/>
          </a:solidFill>
          <a:ln w="7144">
            <a:solidFill>
              <a:srgbClr val="EDE9FE"/>
            </a:solidFill>
            <a:prstDash val="solid"/>
          </a:ln>
        </p:spPr>
        <p:txBody>
          <a:bodyPr wrap="square" rtlCol="0" anchor="ctr"/>
          <a:lstStyle/>
          <a:p>
            <a:pPr indent="0" marL="0">
              <a:buNone/>
            </a:pPr>
            <a:endParaRPr lang="en-US" dirty="0"/>
          </a:p>
        </p:txBody>
      </p:sp>
      <p:sp>
        <p:nvSpPr>
          <p:cNvPr id="40" name="Text 35"/>
          <p:cNvSpPr/>
          <p:nvPr/>
        </p:nvSpPr>
        <p:spPr>
          <a:xfrm>
            <a:off x="6936104" y="3174057"/>
            <a:ext cx="359258" cy="144661"/>
          </a:xfrm>
          <a:prstGeom prst="rect">
            <a:avLst/>
          </a:prstGeom>
          <a:noFill/>
          <a:ln/>
        </p:spPr>
        <p:txBody>
          <a:bodyPr wrap="none" lIns="0" tIns="0" rIns="0" bIns="0" rtlCol="0" anchor="ctr"/>
          <a:lstStyle/>
          <a:p>
            <a:pPr algn="ctr" indent="0" marL="0">
              <a:lnSpc>
                <a:spcPts val="802"/>
              </a:lnSpc>
              <a:buNone/>
            </a:pPr>
            <a:r>
              <a:rPr lang="en-US" sz="800" dirty="0">
                <a:solidFill>
                  <a:srgbClr val="6D28D9"/>
                </a:solidFill>
                <a:latin typeface="Carlito" pitchFamily="34" charset="0"/>
                <a:ea typeface="Carlito" pitchFamily="34" charset="-122"/>
                <a:cs typeface="Carlito" pitchFamily="34" charset="-120"/>
              </a:rPr>
              <a:t>Hours</a:t>
            </a:r>
            <a:endParaRPr lang="en-US" sz="800" dirty="0"/>
          </a:p>
        </p:txBody>
      </p:sp>
      <p:sp>
        <p:nvSpPr>
          <p:cNvPr id="41" name="Text 36"/>
          <p:cNvSpPr/>
          <p:nvPr/>
        </p:nvSpPr>
        <p:spPr>
          <a:xfrm>
            <a:off x="7414320" y="3111250"/>
            <a:ext cx="813271" cy="270277"/>
          </a:xfrm>
          <a:prstGeom prst="roundRect">
            <a:avLst>
              <a:gd name="adj" fmla="val 35242"/>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42" name="Text 37"/>
          <p:cNvSpPr/>
          <p:nvPr/>
        </p:nvSpPr>
        <p:spPr>
          <a:xfrm>
            <a:off x="7492901" y="3203525"/>
            <a:ext cx="91440" cy="91440"/>
          </a:xfrm>
          <a:prstGeom prst="rect">
            <a:avLst/>
          </a:prstGeom>
          <a:noFill/>
          <a:ln/>
        </p:spPr>
        <p:txBody>
          <a:bodyPr wrap="none" lIns="0" tIns="0" rIns="0" bIns="0" rtlCol="0" anchor="ctr"/>
          <a:lstStyle/>
          <a:p>
            <a:pPr algn="ctr" indent="0" marL="0">
              <a:buNone/>
            </a:pPr>
            <a:r>
              <a:rPr lang="en-US" sz="844" dirty="0">
                <a:solidFill>
                  <a:srgbClr val="7C3AED"/>
                </a:solidFill>
                <a:latin typeface="Segoe UI Symbol" pitchFamily="34" charset="0"/>
                <a:ea typeface="Segoe UI Symbol" pitchFamily="34" charset="-122"/>
                <a:cs typeface="Segoe UI Symbol" pitchFamily="34" charset="-120"/>
              </a:rPr>
              <a:t>●</a:t>
            </a:r>
            <a:endParaRPr lang="en-US" sz="844" dirty="0"/>
          </a:p>
        </p:txBody>
      </p:sp>
      <p:sp>
        <p:nvSpPr>
          <p:cNvPr id="43" name="Text 38"/>
          <p:cNvSpPr/>
          <p:nvPr/>
        </p:nvSpPr>
        <p:spPr>
          <a:xfrm>
            <a:off x="7621488" y="3165378"/>
            <a:ext cx="527521" cy="162020"/>
          </a:xfrm>
          <a:prstGeom prst="roundRect">
            <a:avLst>
              <a:gd name="adj" fmla="val 23516"/>
            </a:avLst>
          </a:prstGeom>
          <a:solidFill>
            <a:srgbClr val="FFFFFF"/>
          </a:solidFill>
          <a:ln w="7144">
            <a:solidFill>
              <a:srgbClr val="EDE9FE"/>
            </a:solidFill>
            <a:prstDash val="solid"/>
          </a:ln>
        </p:spPr>
        <p:txBody>
          <a:bodyPr wrap="square" rtlCol="0" anchor="ctr"/>
          <a:lstStyle/>
          <a:p>
            <a:pPr indent="0" marL="0">
              <a:buNone/>
            </a:pPr>
            <a:endParaRPr lang="en-US" dirty="0"/>
          </a:p>
        </p:txBody>
      </p:sp>
      <p:sp>
        <p:nvSpPr>
          <p:cNvPr id="44" name="Text 39"/>
          <p:cNvSpPr/>
          <p:nvPr/>
        </p:nvSpPr>
        <p:spPr>
          <a:xfrm>
            <a:off x="7487424" y="3174057"/>
            <a:ext cx="795650" cy="144661"/>
          </a:xfrm>
          <a:prstGeom prst="rect">
            <a:avLst/>
          </a:prstGeom>
          <a:noFill/>
          <a:ln/>
        </p:spPr>
        <p:txBody>
          <a:bodyPr wrap="square" lIns="0" tIns="0" rIns="0" bIns="0" rtlCol="0" anchor="ctr"/>
          <a:lstStyle/>
          <a:p>
            <a:pPr algn="ctr" indent="0" marL="0">
              <a:lnSpc>
                <a:spcPts val="802"/>
              </a:lnSpc>
              <a:buNone/>
            </a:pPr>
            <a:r>
              <a:rPr lang="en-US" sz="800" dirty="0">
                <a:solidFill>
                  <a:srgbClr val="6D28D9"/>
                </a:solidFill>
                <a:latin typeface="Carlito" pitchFamily="34" charset="0"/>
                <a:ea typeface="Carlito" pitchFamily="34" charset="-122"/>
                <a:cs typeface="Carlito" pitchFamily="34" charset="-120"/>
              </a:rPr>
              <a:t>Availability</a:t>
            </a:r>
            <a:endParaRPr lang="en-US" sz="800" dirty="0"/>
          </a:p>
        </p:txBody>
      </p:sp>
      <p:pic>
        <p:nvPicPr>
          <p:cNvPr id="45" name="Image 3" descr="preencoded.png">    </p:cNvPr>
          <p:cNvPicPr>
            <a:picLocks noChangeAspect="1"/>
          </p:cNvPicPr>
          <p:nvPr/>
        </p:nvPicPr>
        <p:blipFill>
          <a:blip r:embed="rId4"/>
          <a:stretch>
            <a:fillRect/>
          </a:stretch>
        </p:blipFill>
        <p:spPr>
          <a:xfrm>
            <a:off x="3749018" y="3440162"/>
            <a:ext cx="4937671" cy="317897"/>
          </a:xfrm>
          <a:prstGeom prst="rect">
            <a:avLst/>
          </a:prstGeom>
        </p:spPr>
      </p:pic>
      <p:sp>
        <p:nvSpPr>
          <p:cNvPr id="46" name="Shape 40"/>
          <p:cNvSpPr/>
          <p:nvPr/>
        </p:nvSpPr>
        <p:spPr>
          <a:xfrm>
            <a:off x="4591534" y="3513386"/>
            <a:ext cx="0" cy="171450"/>
          </a:xfrm>
          <a:prstGeom prst="line">
            <a:avLst/>
          </a:prstGeom>
          <a:noFill/>
          <a:ln w="7144">
            <a:solidFill>
              <a:srgbClr val="EDE9FE"/>
            </a:solidFill>
            <a:prstDash val="solid"/>
          </a:ln>
        </p:spPr>
      </p:sp>
      <p:sp>
        <p:nvSpPr>
          <p:cNvPr id="47" name="Text 41"/>
          <p:cNvSpPr/>
          <p:nvPr/>
        </p:nvSpPr>
        <p:spPr>
          <a:xfrm>
            <a:off x="3849030" y="3513386"/>
            <a:ext cx="788938" cy="173236"/>
          </a:xfrm>
          <a:prstGeom prst="rect">
            <a:avLst/>
          </a:prstGeom>
          <a:noFill/>
          <a:ln/>
        </p:spPr>
        <p:txBody>
          <a:bodyPr wrap="square" lIns="0" tIns="0" rIns="85725" bIns="0" rtlCol="0" anchor="t"/>
          <a:lstStyle/>
          <a:p>
            <a:pPr algn="l" indent="0" marL="0">
              <a:lnSpc>
                <a:spcPts val="675"/>
              </a:lnSpc>
              <a:buNone/>
            </a:pPr>
            <a:r>
              <a:rPr lang="en-US" sz="800" b="1" spc="79" kern="0" dirty="0">
                <a:solidFill>
                  <a:srgbClr val="6D28D9"/>
                </a:solidFill>
                <a:latin typeface="Carlito" pitchFamily="34" charset="0"/>
                <a:ea typeface="Carlito" pitchFamily="34" charset="-122"/>
                <a:cs typeface="Carlito" pitchFamily="34" charset="-120"/>
              </a:rPr>
              <a:t>NATIVE ACD</a:t>
            </a:r>
            <a:endParaRPr lang="en-US" sz="800" dirty="0"/>
          </a:p>
          <a:p>
            <a:pPr algn="l" indent="0" marL="0">
              <a:lnSpc>
                <a:spcPts val="675"/>
              </a:lnSpc>
              <a:buNone/>
            </a:pPr>
            <a:r>
              <a:rPr lang="en-US" sz="800" b="1" spc="79" kern="0" dirty="0">
                <a:solidFill>
                  <a:srgbClr val="6D28D9"/>
                </a:solidFill>
                <a:latin typeface="Carlito" pitchFamily="34" charset="0"/>
                <a:ea typeface="Carlito" pitchFamily="34" charset="-122"/>
                <a:cs typeface="Carlito" pitchFamily="34" charset="-120"/>
              </a:rPr>
              <a:t>INTEGRATION</a:t>
            </a:r>
            <a:endParaRPr lang="en-US" sz="800" dirty="0"/>
          </a:p>
        </p:txBody>
      </p:sp>
      <p:sp>
        <p:nvSpPr>
          <p:cNvPr id="48" name="Text 42"/>
          <p:cNvSpPr/>
          <p:nvPr/>
        </p:nvSpPr>
        <p:spPr>
          <a:xfrm>
            <a:off x="4680831" y="3501098"/>
            <a:ext cx="636129" cy="196025"/>
          </a:xfrm>
          <a:prstGeom prst="roundRect">
            <a:avLst>
              <a:gd name="adj" fmla="val 4854215"/>
            </a:avLst>
          </a:prstGeom>
          <a:solidFill>
            <a:srgbClr val="FFFFFF"/>
          </a:solidFill>
          <a:ln w="7144">
            <a:solidFill>
              <a:srgbClr val="EDE9FE"/>
            </a:solidFill>
            <a:prstDash val="solid"/>
          </a:ln>
        </p:spPr>
        <p:txBody>
          <a:bodyPr wrap="square" rtlCol="0" anchor="ctr"/>
          <a:lstStyle/>
          <a:p>
            <a:pPr indent="0" marL="0">
              <a:buNone/>
            </a:pPr>
            <a:endParaRPr lang="en-US" dirty="0"/>
          </a:p>
        </p:txBody>
      </p:sp>
      <p:sp>
        <p:nvSpPr>
          <p:cNvPr id="49" name="Text 43"/>
          <p:cNvSpPr/>
          <p:nvPr/>
        </p:nvSpPr>
        <p:spPr>
          <a:xfrm>
            <a:off x="4860509" y="3547318"/>
            <a:ext cx="483941" cy="129679"/>
          </a:xfrm>
          <a:prstGeom prst="rect">
            <a:avLst/>
          </a:prstGeom>
          <a:noFill/>
          <a:ln/>
        </p:spPr>
        <p:txBody>
          <a:bodyPr wrap="none" lIns="0" tIns="0" rIns="0" bIns="0" rtlCol="0" anchor="t"/>
          <a:lstStyle/>
          <a:p>
            <a:pPr algn="l" indent="0" marL="0">
              <a:lnSpc>
                <a:spcPts val="928"/>
              </a:lnSpc>
              <a:buNone/>
            </a:pPr>
            <a:r>
              <a:rPr lang="en-US" sz="800" dirty="0">
                <a:solidFill>
                  <a:srgbClr val="6D28D9"/>
                </a:solidFill>
                <a:latin typeface="Carlito" pitchFamily="34" charset="0"/>
                <a:ea typeface="Carlito" pitchFamily="34" charset="-122"/>
                <a:cs typeface="Carlito" pitchFamily="34" charset="-120"/>
              </a:rPr>
              <a:t>Genesys</a:t>
            </a:r>
            <a:endParaRPr lang="en-US" sz="800" dirty="0"/>
          </a:p>
        </p:txBody>
      </p:sp>
      <p:sp>
        <p:nvSpPr>
          <p:cNvPr id="50" name="Text 44"/>
          <p:cNvSpPr/>
          <p:nvPr/>
        </p:nvSpPr>
        <p:spPr>
          <a:xfrm>
            <a:off x="4759412" y="3559820"/>
            <a:ext cx="91440" cy="91440"/>
          </a:xfrm>
          <a:prstGeom prst="rect">
            <a:avLst/>
          </a:prstGeom>
          <a:noFill/>
          <a:ln/>
        </p:spPr>
        <p:txBody>
          <a:bodyPr wrap="none" lIns="0" tIns="0" rIns="0" bIns="0" rtlCol="0" anchor="ctr"/>
          <a:lstStyle/>
          <a:p>
            <a:pPr algn="ctr" indent="0" marL="0">
              <a:buNone/>
            </a:pPr>
            <a:r>
              <a:rPr lang="en-US" sz="800" dirty="0">
                <a:solidFill>
                  <a:srgbClr val="7C3AED"/>
                </a:solidFill>
                <a:latin typeface="Segoe UI Symbol" pitchFamily="34" charset="0"/>
                <a:ea typeface="Segoe UI Symbol" pitchFamily="34" charset="-122"/>
                <a:cs typeface="Segoe UI Symbol" pitchFamily="34" charset="-120"/>
              </a:rPr>
              <a:t>✦</a:t>
            </a:r>
            <a:endParaRPr lang="en-US" sz="800" dirty="0"/>
          </a:p>
        </p:txBody>
      </p:sp>
      <p:sp>
        <p:nvSpPr>
          <p:cNvPr id="51" name="Text 45"/>
          <p:cNvSpPr/>
          <p:nvPr/>
        </p:nvSpPr>
        <p:spPr>
          <a:xfrm>
            <a:off x="5359822" y="3501098"/>
            <a:ext cx="496267" cy="196025"/>
          </a:xfrm>
          <a:prstGeom prst="roundRect">
            <a:avLst>
              <a:gd name="adj" fmla="val 4854215"/>
            </a:avLst>
          </a:prstGeom>
          <a:solidFill>
            <a:srgbClr val="FFFFFF"/>
          </a:solidFill>
          <a:ln w="7144">
            <a:solidFill>
              <a:srgbClr val="EDE9FE"/>
            </a:solidFill>
            <a:prstDash val="solid"/>
          </a:ln>
        </p:spPr>
        <p:txBody>
          <a:bodyPr wrap="square" rtlCol="0" anchor="ctr"/>
          <a:lstStyle/>
          <a:p>
            <a:pPr indent="0" marL="0">
              <a:buNone/>
            </a:pPr>
            <a:endParaRPr lang="en-US" dirty="0"/>
          </a:p>
        </p:txBody>
      </p:sp>
      <p:sp>
        <p:nvSpPr>
          <p:cNvPr id="52" name="Text 46"/>
          <p:cNvSpPr/>
          <p:nvPr/>
        </p:nvSpPr>
        <p:spPr>
          <a:xfrm>
            <a:off x="5531911" y="3547318"/>
            <a:ext cx="359258" cy="129679"/>
          </a:xfrm>
          <a:prstGeom prst="rect">
            <a:avLst/>
          </a:prstGeom>
          <a:noFill/>
          <a:ln/>
        </p:spPr>
        <p:txBody>
          <a:bodyPr wrap="none" lIns="0" tIns="0" rIns="0" bIns="0" rtlCol="0" anchor="t"/>
          <a:lstStyle/>
          <a:p>
            <a:pPr algn="l" indent="0" marL="0">
              <a:lnSpc>
                <a:spcPts val="928"/>
              </a:lnSpc>
              <a:buNone/>
            </a:pPr>
            <a:r>
              <a:rPr lang="en-US" sz="800" dirty="0">
                <a:solidFill>
                  <a:srgbClr val="6D28D9"/>
                </a:solidFill>
                <a:latin typeface="Carlito" pitchFamily="34" charset="0"/>
                <a:ea typeface="Carlito" pitchFamily="34" charset="-122"/>
                <a:cs typeface="Carlito" pitchFamily="34" charset="-120"/>
              </a:rPr>
              <a:t>Cisco</a:t>
            </a:r>
            <a:endParaRPr lang="en-US" sz="800" dirty="0"/>
          </a:p>
        </p:txBody>
      </p:sp>
      <p:sp>
        <p:nvSpPr>
          <p:cNvPr id="53" name="Text 47"/>
          <p:cNvSpPr/>
          <p:nvPr/>
        </p:nvSpPr>
        <p:spPr>
          <a:xfrm>
            <a:off x="5438403" y="3559820"/>
            <a:ext cx="91440" cy="91440"/>
          </a:xfrm>
          <a:prstGeom prst="rect">
            <a:avLst/>
          </a:prstGeom>
          <a:noFill/>
          <a:ln/>
        </p:spPr>
        <p:txBody>
          <a:bodyPr wrap="none" lIns="0" tIns="0" rIns="0" bIns="0" rtlCol="0" anchor="ctr"/>
          <a:lstStyle/>
          <a:p>
            <a:pPr algn="ctr" indent="0" marL="0">
              <a:buNone/>
            </a:pPr>
            <a:r>
              <a:rPr lang="en-US" sz="800" dirty="0">
                <a:solidFill>
                  <a:srgbClr val="7C3AED"/>
                </a:solidFill>
                <a:latin typeface="Segoe UI Symbol" pitchFamily="34" charset="0"/>
                <a:ea typeface="Segoe UI Symbol" pitchFamily="34" charset="-122"/>
                <a:cs typeface="Segoe UI Symbol" pitchFamily="34" charset="-120"/>
              </a:rPr>
              <a:t>✦</a:t>
            </a:r>
            <a:endParaRPr lang="en-US" sz="800" dirty="0"/>
          </a:p>
        </p:txBody>
      </p:sp>
      <p:sp>
        <p:nvSpPr>
          <p:cNvPr id="54" name="Text 48"/>
          <p:cNvSpPr/>
          <p:nvPr/>
        </p:nvSpPr>
        <p:spPr>
          <a:xfrm>
            <a:off x="5898952" y="3501098"/>
            <a:ext cx="528526" cy="196025"/>
          </a:xfrm>
          <a:prstGeom prst="roundRect">
            <a:avLst>
              <a:gd name="adj" fmla="val 4854215"/>
            </a:avLst>
          </a:prstGeom>
          <a:solidFill>
            <a:srgbClr val="FFFFFF"/>
          </a:solidFill>
          <a:ln w="7144">
            <a:solidFill>
              <a:srgbClr val="EDE9FE"/>
            </a:solidFill>
            <a:prstDash val="solid"/>
          </a:ln>
        </p:spPr>
        <p:txBody>
          <a:bodyPr wrap="square" rtlCol="0" anchor="ctr"/>
          <a:lstStyle/>
          <a:p>
            <a:pPr indent="0" marL="0">
              <a:buNone/>
            </a:pPr>
            <a:endParaRPr lang="en-US" dirty="0"/>
          </a:p>
        </p:txBody>
      </p:sp>
      <p:sp>
        <p:nvSpPr>
          <p:cNvPr id="55" name="Text 49"/>
          <p:cNvSpPr/>
          <p:nvPr/>
        </p:nvSpPr>
        <p:spPr>
          <a:xfrm>
            <a:off x="6084689" y="3547318"/>
            <a:ext cx="364220" cy="129679"/>
          </a:xfrm>
          <a:prstGeom prst="rect">
            <a:avLst/>
          </a:prstGeom>
          <a:noFill/>
          <a:ln/>
        </p:spPr>
        <p:txBody>
          <a:bodyPr wrap="none" lIns="0" tIns="0" rIns="0" bIns="0" rtlCol="0" anchor="t"/>
          <a:lstStyle/>
          <a:p>
            <a:pPr algn="l" indent="0" marL="0">
              <a:lnSpc>
                <a:spcPts val="928"/>
              </a:lnSpc>
              <a:buNone/>
            </a:pPr>
            <a:r>
              <a:rPr lang="en-US" sz="800" dirty="0">
                <a:solidFill>
                  <a:srgbClr val="6D28D9"/>
                </a:solidFill>
                <a:latin typeface="Carlito" pitchFamily="34" charset="0"/>
                <a:ea typeface="Carlito" pitchFamily="34" charset="-122"/>
                <a:cs typeface="Carlito" pitchFamily="34" charset="-120"/>
              </a:rPr>
              <a:t>Avaya</a:t>
            </a:r>
            <a:endParaRPr lang="en-US" sz="800" dirty="0"/>
          </a:p>
        </p:txBody>
      </p:sp>
      <p:sp>
        <p:nvSpPr>
          <p:cNvPr id="56" name="Text 50"/>
          <p:cNvSpPr/>
          <p:nvPr/>
        </p:nvSpPr>
        <p:spPr>
          <a:xfrm>
            <a:off x="5977533" y="3559820"/>
            <a:ext cx="91440" cy="91440"/>
          </a:xfrm>
          <a:prstGeom prst="rect">
            <a:avLst/>
          </a:prstGeom>
          <a:noFill/>
          <a:ln/>
        </p:spPr>
        <p:txBody>
          <a:bodyPr wrap="none" lIns="0" tIns="0" rIns="0" bIns="0" rtlCol="0" anchor="ctr"/>
          <a:lstStyle/>
          <a:p>
            <a:pPr algn="ctr" indent="0" marL="0">
              <a:buNone/>
            </a:pPr>
            <a:r>
              <a:rPr lang="en-US" sz="800" dirty="0">
                <a:solidFill>
                  <a:srgbClr val="7C3AED"/>
                </a:solidFill>
                <a:latin typeface="Segoe UI Symbol" pitchFamily="34" charset="0"/>
                <a:ea typeface="Segoe UI Symbol" pitchFamily="34" charset="-122"/>
                <a:cs typeface="Segoe UI Symbol" pitchFamily="34" charset="-120"/>
              </a:rPr>
              <a:t>✦</a:t>
            </a:r>
            <a:endParaRPr lang="en-US" sz="800" dirty="0"/>
          </a:p>
        </p:txBody>
      </p:sp>
      <p:sp>
        <p:nvSpPr>
          <p:cNvPr id="57" name="Text 51"/>
          <p:cNvSpPr/>
          <p:nvPr/>
        </p:nvSpPr>
        <p:spPr>
          <a:xfrm>
            <a:off x="6470340" y="3501098"/>
            <a:ext cx="504192" cy="196025"/>
          </a:xfrm>
          <a:prstGeom prst="roundRect">
            <a:avLst>
              <a:gd name="adj" fmla="val 4854215"/>
            </a:avLst>
          </a:prstGeom>
          <a:solidFill>
            <a:srgbClr val="FFFFFF"/>
          </a:solidFill>
          <a:ln w="7144">
            <a:solidFill>
              <a:srgbClr val="EDE9FE"/>
            </a:solidFill>
            <a:prstDash val="solid"/>
          </a:ln>
        </p:spPr>
        <p:txBody>
          <a:bodyPr wrap="square" rtlCol="0" anchor="ctr"/>
          <a:lstStyle/>
          <a:p>
            <a:pPr indent="0" marL="0">
              <a:buNone/>
            </a:pPr>
            <a:endParaRPr lang="en-US" dirty="0"/>
          </a:p>
        </p:txBody>
      </p:sp>
      <p:sp>
        <p:nvSpPr>
          <p:cNvPr id="58" name="Text 52"/>
          <p:cNvSpPr/>
          <p:nvPr/>
        </p:nvSpPr>
        <p:spPr>
          <a:xfrm>
            <a:off x="6640397" y="3547318"/>
            <a:ext cx="371246" cy="129679"/>
          </a:xfrm>
          <a:prstGeom prst="rect">
            <a:avLst/>
          </a:prstGeom>
          <a:noFill/>
          <a:ln/>
        </p:spPr>
        <p:txBody>
          <a:bodyPr wrap="none" lIns="0" tIns="0" rIns="0" bIns="0" rtlCol="0" anchor="t"/>
          <a:lstStyle/>
          <a:p>
            <a:pPr algn="l" indent="0" marL="0">
              <a:lnSpc>
                <a:spcPts val="928"/>
              </a:lnSpc>
              <a:buNone/>
            </a:pPr>
            <a:r>
              <a:rPr lang="en-US" sz="800" dirty="0">
                <a:solidFill>
                  <a:srgbClr val="6D28D9"/>
                </a:solidFill>
                <a:latin typeface="Liberation Sans Narrow" pitchFamily="34" charset="0"/>
                <a:ea typeface="Liberation Sans Narrow" pitchFamily="34" charset="-122"/>
                <a:cs typeface="Liberation Sans Narrow" pitchFamily="34" charset="-120"/>
              </a:rPr>
              <a:t>Five9</a:t>
            </a:r>
            <a:endParaRPr lang="en-US" sz="800" dirty="0"/>
          </a:p>
        </p:txBody>
      </p:sp>
      <p:sp>
        <p:nvSpPr>
          <p:cNvPr id="59" name="Text 53"/>
          <p:cNvSpPr/>
          <p:nvPr/>
        </p:nvSpPr>
        <p:spPr>
          <a:xfrm>
            <a:off x="6548921" y="3559820"/>
            <a:ext cx="91440" cy="91440"/>
          </a:xfrm>
          <a:prstGeom prst="rect">
            <a:avLst/>
          </a:prstGeom>
          <a:noFill/>
          <a:ln/>
        </p:spPr>
        <p:txBody>
          <a:bodyPr wrap="none" lIns="0" tIns="0" rIns="0" bIns="0" rtlCol="0" anchor="ctr"/>
          <a:lstStyle/>
          <a:p>
            <a:pPr algn="ctr" indent="0" marL="0">
              <a:buNone/>
            </a:pPr>
            <a:r>
              <a:rPr lang="en-US" sz="800" dirty="0">
                <a:solidFill>
                  <a:srgbClr val="7C3AED"/>
                </a:solidFill>
                <a:latin typeface="Segoe UI Symbol" pitchFamily="34" charset="0"/>
                <a:ea typeface="Segoe UI Symbol" pitchFamily="34" charset="-122"/>
                <a:cs typeface="Segoe UI Symbol" pitchFamily="34" charset="-120"/>
              </a:rPr>
              <a:t>✦</a:t>
            </a:r>
            <a:endParaRPr lang="en-US" sz="800" dirty="0"/>
          </a:p>
        </p:txBody>
      </p:sp>
      <p:sp>
        <p:nvSpPr>
          <p:cNvPr id="60" name="Text 54"/>
          <p:cNvSpPr/>
          <p:nvPr/>
        </p:nvSpPr>
        <p:spPr>
          <a:xfrm>
            <a:off x="7017395" y="3501098"/>
            <a:ext cx="725202" cy="196025"/>
          </a:xfrm>
          <a:prstGeom prst="roundRect">
            <a:avLst>
              <a:gd name="adj" fmla="val 4854215"/>
            </a:avLst>
          </a:prstGeom>
          <a:solidFill>
            <a:srgbClr val="FFFFFF"/>
          </a:solidFill>
          <a:ln w="7144">
            <a:solidFill>
              <a:srgbClr val="EDE9FE"/>
            </a:solidFill>
            <a:prstDash val="solid"/>
          </a:ln>
        </p:spPr>
        <p:txBody>
          <a:bodyPr wrap="square" rtlCol="0" anchor="ctr"/>
          <a:lstStyle/>
          <a:p>
            <a:pPr indent="0" marL="0">
              <a:buNone/>
            </a:pPr>
            <a:endParaRPr lang="en-US" dirty="0"/>
          </a:p>
        </p:txBody>
      </p:sp>
      <p:sp>
        <p:nvSpPr>
          <p:cNvPr id="61" name="Text 55"/>
          <p:cNvSpPr/>
          <p:nvPr/>
        </p:nvSpPr>
        <p:spPr>
          <a:xfrm>
            <a:off x="7203132" y="3547318"/>
            <a:ext cx="1383543" cy="129679"/>
          </a:xfrm>
          <a:prstGeom prst="rect">
            <a:avLst/>
          </a:prstGeom>
          <a:noFill/>
          <a:ln/>
        </p:spPr>
        <p:txBody>
          <a:bodyPr wrap="none" lIns="0" tIns="0" rIns="0" bIns="0" rtlCol="0" anchor="t"/>
          <a:lstStyle/>
          <a:p>
            <a:pPr algn="l" indent="0" marL="0">
              <a:lnSpc>
                <a:spcPts val="928"/>
              </a:lnSpc>
              <a:buNone/>
            </a:pPr>
            <a:r>
              <a:rPr lang="en-US" sz="800" dirty="0">
                <a:solidFill>
                  <a:srgbClr val="6D28D9"/>
                </a:solidFill>
                <a:latin typeface="Carlito" pitchFamily="34" charset="0"/>
                <a:ea typeface="Carlito" pitchFamily="34" charset="-122"/>
                <a:cs typeface="Carlito" pitchFamily="34" charset="-120"/>
              </a:rPr>
              <a:t>GoContact</a:t>
            </a:r>
            <a:endParaRPr lang="en-US" sz="800" dirty="0"/>
          </a:p>
        </p:txBody>
      </p:sp>
      <p:sp>
        <p:nvSpPr>
          <p:cNvPr id="62" name="Text 56"/>
          <p:cNvSpPr/>
          <p:nvPr/>
        </p:nvSpPr>
        <p:spPr>
          <a:xfrm>
            <a:off x="7095976" y="3559820"/>
            <a:ext cx="91440" cy="91440"/>
          </a:xfrm>
          <a:prstGeom prst="rect">
            <a:avLst/>
          </a:prstGeom>
          <a:noFill/>
          <a:ln/>
        </p:spPr>
        <p:txBody>
          <a:bodyPr wrap="none" lIns="0" tIns="0" rIns="0" bIns="0" rtlCol="0" anchor="ctr"/>
          <a:lstStyle/>
          <a:p>
            <a:pPr algn="ctr" indent="0" marL="0">
              <a:buNone/>
            </a:pPr>
            <a:r>
              <a:rPr lang="en-US" sz="800" dirty="0">
                <a:solidFill>
                  <a:srgbClr val="7C3AED"/>
                </a:solidFill>
                <a:latin typeface="Segoe UI Symbol" pitchFamily="34" charset="0"/>
                <a:ea typeface="Segoe UI Symbol" pitchFamily="34" charset="-122"/>
                <a:cs typeface="Segoe UI Symbol" pitchFamily="34" charset="-120"/>
              </a:rPr>
              <a:t>✦</a:t>
            </a:r>
            <a:endParaRPr lang="en-US" sz="800" dirty="0"/>
          </a:p>
        </p:txBody>
      </p:sp>
      <p:sp>
        <p:nvSpPr>
          <p:cNvPr id="63" name="Text 57"/>
          <p:cNvSpPr/>
          <p:nvPr/>
        </p:nvSpPr>
        <p:spPr>
          <a:xfrm>
            <a:off x="3749018" y="3815209"/>
            <a:ext cx="2900363" cy="189309"/>
          </a:xfrm>
          <a:prstGeom prst="roundRect">
            <a:avLst>
              <a:gd name="adj" fmla="val 5026425"/>
            </a:avLst>
          </a:prstGeom>
          <a:solidFill>
            <a:srgbClr val="7C3AED"/>
          </a:solidFill>
          <a:ln/>
        </p:spPr>
        <p:txBody>
          <a:bodyPr wrap="square" rtlCol="0" anchor="ctr"/>
          <a:lstStyle/>
          <a:p>
            <a:pPr indent="0" marL="0">
              <a:buNone/>
            </a:pPr>
            <a:endParaRPr lang="en-US" dirty="0"/>
          </a:p>
        </p:txBody>
      </p:sp>
      <p:sp>
        <p:nvSpPr>
          <p:cNvPr id="64" name="Text 58"/>
          <p:cNvSpPr/>
          <p:nvPr/>
        </p:nvSpPr>
        <p:spPr>
          <a:xfrm>
            <a:off x="3977618" y="3858071"/>
            <a:ext cx="2586038" cy="129679"/>
          </a:xfrm>
          <a:prstGeom prst="rect">
            <a:avLst/>
          </a:prstGeom>
          <a:noFill/>
          <a:ln/>
        </p:spPr>
        <p:txBody>
          <a:bodyPr wrap="square" lIns="85725" tIns="35719" rIns="85725" bIns="35719" rtlCol="0" anchor="t"/>
          <a:lstStyle/>
          <a:p>
            <a:pPr algn="l" indent="0" marL="0">
              <a:lnSpc>
                <a:spcPts val="928"/>
              </a:lnSpc>
              <a:buNone/>
            </a:pPr>
            <a:r>
              <a:rPr lang="en-US" sz="619" b="1" spc="25" kern="0" dirty="0">
                <a:solidFill>
                  <a:srgbClr val="FFFFFF"/>
                </a:solidFill>
                <a:latin typeface="Carlito" pitchFamily="34" charset="0"/>
                <a:ea typeface="Carlito" pitchFamily="34" charset="-122"/>
                <a:cs typeface="Carlito" pitchFamily="34" charset="-120"/>
              </a:rPr>
              <a:t>No migration required — your investment is preserved</a:t>
            </a:r>
            <a:endParaRPr lang="en-US" sz="619" dirty="0"/>
          </a:p>
        </p:txBody>
      </p:sp>
      <p:sp>
        <p:nvSpPr>
          <p:cNvPr id="65" name="Text 59"/>
          <p:cNvSpPr/>
          <p:nvPr/>
        </p:nvSpPr>
        <p:spPr>
          <a:xfrm>
            <a:off x="3834743" y="3859857"/>
            <a:ext cx="100013" cy="100013"/>
          </a:xfrm>
          <a:prstGeom prst="rect">
            <a:avLst/>
          </a:prstGeom>
          <a:noFill/>
          <a:ln/>
        </p:spPr>
        <p:txBody>
          <a:bodyPr wrap="none" lIns="0" tIns="0" rIns="0" bIns="0" rtlCol="0" anchor="ctr"/>
          <a:lstStyle/>
          <a:p>
            <a:pPr algn="ctr" indent="0" marL="0">
              <a:buNone/>
            </a:pPr>
            <a:r>
              <a:rPr lang="en-US" sz="984" dirty="0">
                <a:solidFill>
                  <a:srgbClr val="FFFFFF"/>
                </a:solidFill>
                <a:latin typeface="Segoe UI Symbol" pitchFamily="34" charset="0"/>
                <a:ea typeface="Segoe UI Symbol" pitchFamily="34" charset="-122"/>
                <a:cs typeface="Segoe UI Symbol" pitchFamily="34" charset="-120"/>
              </a:rPr>
              <a:t>✓</a:t>
            </a:r>
            <a:endParaRPr lang="en-US" sz="984" dirty="0"/>
          </a:p>
        </p:txBody>
      </p:sp>
      <p:sp>
        <p:nvSpPr>
          <p:cNvPr id="66" name="Text 60"/>
          <p:cNvSpPr/>
          <p:nvPr/>
        </p:nvSpPr>
        <p:spPr>
          <a:xfrm>
            <a:off x="584359" y="696516"/>
            <a:ext cx="1353696" cy="200025"/>
          </a:xfrm>
          <a:prstGeom prst="roundRect">
            <a:avLst>
              <a:gd name="adj" fmla="val 4757143"/>
            </a:avLst>
          </a:prstGeom>
          <a:solidFill>
            <a:srgbClr val="FFFFFF">
              <a:alpha val="92000"/>
            </a:srgbClr>
          </a:solidFill>
          <a:ln/>
        </p:spPr>
        <p:txBody>
          <a:bodyPr wrap="square" rtlCol="0" anchor="ctr"/>
          <a:lstStyle/>
          <a:p>
            <a:pPr indent="0" marL="0">
              <a:buNone/>
            </a:pPr>
            <a:endParaRPr lang="en-US" dirty="0"/>
          </a:p>
        </p:txBody>
      </p:sp>
      <p:sp>
        <p:nvSpPr>
          <p:cNvPr id="67" name="Text 61"/>
          <p:cNvSpPr/>
          <p:nvPr/>
        </p:nvSpPr>
        <p:spPr>
          <a:xfrm>
            <a:off x="678656" y="775097"/>
            <a:ext cx="42863" cy="42863"/>
          </a:xfrm>
          <a:prstGeom prst="roundRect">
            <a:avLst>
              <a:gd name="adj" fmla="val 66666"/>
            </a:avLst>
          </a:prstGeom>
          <a:solidFill>
            <a:srgbClr val="7C3AED"/>
          </a:solidFill>
          <a:ln/>
        </p:spPr>
        <p:txBody>
          <a:bodyPr wrap="square" rtlCol="0" anchor="ctr"/>
          <a:lstStyle/>
          <a:p>
            <a:pPr indent="0" marL="0">
              <a:buNone/>
            </a:pPr>
            <a:endParaRPr lang="en-US" dirty="0"/>
          </a:p>
        </p:txBody>
      </p:sp>
      <p:sp>
        <p:nvSpPr>
          <p:cNvPr id="68" name="Text 62"/>
          <p:cNvSpPr/>
          <p:nvPr/>
        </p:nvSpPr>
        <p:spPr>
          <a:xfrm>
            <a:off x="607219" y="707231"/>
            <a:ext cx="1307976" cy="178594"/>
          </a:xfrm>
          <a:prstGeom prst="rect">
            <a:avLst/>
          </a:prstGeom>
          <a:noFill/>
          <a:ln/>
        </p:spPr>
        <p:txBody>
          <a:bodyPr wrap="none" lIns="0" tIns="0" rIns="0" bIns="0" rtlCol="0" anchor="ctr"/>
          <a:lstStyle/>
          <a:p>
            <a:pPr algn="ctr" indent="0" marL="0">
              <a:lnSpc>
                <a:spcPts val="844"/>
              </a:lnSpc>
              <a:buNone/>
            </a:pPr>
            <a:r>
              <a:rPr lang="en-US" sz="800" b="1" spc="28" kern="0" dirty="0">
                <a:solidFill>
                  <a:srgbClr val="6D28D9"/>
                </a:solidFill>
                <a:latin typeface="Carlito" pitchFamily="34" charset="0"/>
                <a:ea typeface="Carlito" pitchFamily="34" charset="-122"/>
                <a:cs typeface="Carlito" pitchFamily="34" charset="-120"/>
              </a:rPr>
              <a:t>Branch + Contact Centre</a:t>
            </a:r>
            <a:endParaRPr lang="en-US" sz="800" dirty="0"/>
          </a:p>
        </p:txBody>
      </p:sp>
      <p:sp>
        <p:nvSpPr>
          <p:cNvPr id="69" name="Text 63"/>
          <p:cNvSpPr/>
          <p:nvPr/>
        </p:nvSpPr>
        <p:spPr>
          <a:xfrm>
            <a:off x="621506" y="4153533"/>
            <a:ext cx="3015096" cy="149711"/>
          </a:xfrm>
          <a:prstGeom prst="rect">
            <a:avLst/>
          </a:prstGeom>
          <a:noFill/>
          <a:ln/>
        </p:spPr>
        <p:txBody>
          <a:bodyPr wrap="square" lIns="0" tIns="0" rIns="0" bIns="0" rtlCol="0" anchor="t">
            <a:normAutofit/>
          </a:bodyPr>
          <a:lstStyle/>
          <a:p>
            <a:pPr algn="l" indent="0" marL="0">
              <a:lnSpc>
                <a:spcPts val="1170"/>
              </a:lnSpc>
              <a:buNone/>
            </a:pPr>
            <a:r>
              <a:rPr lang="en-US" sz="900" b="1" dirty="0">
                <a:solidFill>
                  <a:srgbClr val="FFFFFF"/>
                </a:solidFill>
                <a:latin typeface="Carlito" pitchFamily="34" charset="0"/>
                <a:ea typeface="Carlito" pitchFamily="34" charset="-122"/>
                <a:cs typeface="Carlito" pitchFamily="34" charset="-120"/>
              </a:rPr>
              <a:t>Plug into what you already have.</a:t>
            </a:r>
            <a:endParaRPr lang="en-US" sz="900" dirty="0"/>
          </a:p>
        </p:txBody>
      </p:sp>
      <p:sp>
        <p:nvSpPr>
          <p:cNvPr id="70" name="Text 64"/>
          <p:cNvSpPr/>
          <p:nvPr/>
        </p:nvSpPr>
        <p:spPr>
          <a:xfrm>
            <a:off x="621506" y="4330675"/>
            <a:ext cx="2791755" cy="307051"/>
          </a:xfrm>
          <a:prstGeom prst="rect">
            <a:avLst/>
          </a:prstGeom>
          <a:noFill/>
          <a:ln/>
        </p:spPr>
        <p:txBody>
          <a:bodyPr wrap="square" lIns="0" tIns="0" rIns="0" bIns="0" rtlCol="0" anchor="t"/>
          <a:lstStyle/>
          <a:p>
            <a:pPr algn="l" indent="0" marL="0">
              <a:lnSpc>
                <a:spcPts val="866"/>
              </a:lnSpc>
              <a:buNone/>
            </a:pPr>
            <a:r>
              <a:rPr lang="en-US" sz="800" dirty="0">
                <a:solidFill>
                  <a:srgbClr val="FFFFFF">
                    <a:alpha val="85000"/>
                  </a:srgbClr>
                </a:solidFill>
                <a:latin typeface="Carlito" pitchFamily="34" charset="0"/>
                <a:ea typeface="Carlito" pitchFamily="34" charset="-122"/>
                <a:cs typeface="Carlito" pitchFamily="34" charset="-120"/>
              </a:rPr>
              <a:t>Branch staff handle sessions between walk-ins. Centralised staff cover peaks &amp; after-hours. Same platform, same advisor console.</a:t>
            </a:r>
            <a:endParaRPr lang="en-US" sz="800" dirty="0"/>
          </a:p>
        </p:txBody>
      </p:sp>
      <p:sp>
        <p:nvSpPr>
          <p:cNvPr id="71" name="Text 65"/>
          <p:cNvSpPr/>
          <p:nvPr/>
        </p:nvSpPr>
        <p:spPr>
          <a:xfrm>
            <a:off x="342900" y="4854178"/>
            <a:ext cx="7019627"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72" name="Text 66"/>
          <p:cNvSpPr/>
          <p:nvPr/>
        </p:nvSpPr>
        <p:spPr>
          <a:xfrm>
            <a:off x="8110389" y="4877395"/>
            <a:ext cx="7144" cy="71438"/>
          </a:xfrm>
          <a:prstGeom prst="rect">
            <a:avLst/>
          </a:prstGeom>
          <a:solidFill>
            <a:srgbClr val="6B7280">
              <a:alpha val="40000"/>
            </a:srgbClr>
          </a:solidFill>
          <a:ln/>
        </p:spPr>
        <p:txBody>
          <a:bodyPr wrap="square" rtlCol="0" anchor="ctr"/>
          <a:lstStyle/>
          <a:p>
            <a:pPr indent="0" marL="0">
              <a:buNone/>
            </a:pPr>
            <a:endParaRPr lang="en-US" dirty="0"/>
          </a:p>
        </p:txBody>
      </p:sp>
      <p:sp>
        <p:nvSpPr>
          <p:cNvPr id="73" name="Text 67"/>
          <p:cNvSpPr/>
          <p:nvPr/>
        </p:nvSpPr>
        <p:spPr>
          <a:xfrm>
            <a:off x="7376815" y="4854178"/>
            <a:ext cx="1767185"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  </a:t>
            </a:r>
            <a:pPr algn="l" indent="0" marL="0">
              <a:lnSpc>
                <a:spcPts val="928"/>
              </a:lnSpc>
              <a:buNone/>
            </a:pPr>
            <a:r>
              <a:rPr lang="en-US" sz="800" spc="25" kern="0" dirty="0">
                <a:solidFill>
                  <a:srgbClr val="6B7280"/>
                </a:solidFill>
                <a:latin typeface="Liberation Sans Narrow" pitchFamily="34" charset="0"/>
                <a:ea typeface="Liberation Sans Narrow" pitchFamily="34" charset="-122"/>
                <a:cs typeface="Liberation Sans Narrow" pitchFamily="34" charset="-120"/>
              </a:rPr>
              <a:t>SLIDE 14 / 24</a:t>
            </a:r>
            <a:endParaRPr lang="en-US" sz="800" dirty="0"/>
          </a:p>
        </p:txBody>
      </p:sp>
      <p:pic>
        <p:nvPicPr>
          <p:cNvPr id="74" name="Image 4" descr="/home/z/my-project/download/slides/massapro-logo.png">    </p:cNvPr>
          <p:cNvPicPr>
            <a:picLocks noChangeAspect="1"/>
          </p:cNvPicPr>
          <p:nvPr/>
        </p:nvPicPr>
        <p:blipFill>
          <a:blip r:embed="rId5"/>
          <a:stretch>
            <a:fillRect/>
          </a:stretch>
        </p:blipFill>
        <p:spPr>
          <a:xfrm>
            <a:off x="342900" y="200025"/>
            <a:ext cx="200025" cy="200025"/>
          </a:xfrm>
          <a:prstGeom prst="rect">
            <a:avLst/>
          </a:prstGeom>
        </p:spPr>
      </p:pic>
      <p:sp>
        <p:nvSpPr>
          <p:cNvPr id="75" name="Text 68"/>
          <p:cNvSpPr/>
          <p:nvPr/>
        </p:nvSpPr>
        <p:spPr>
          <a:xfrm>
            <a:off x="614363" y="219670"/>
            <a:ext cx="769239"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6D28D9"/>
                </a:solidFill>
                <a:latin typeface="Carlito" pitchFamily="34" charset="0"/>
                <a:ea typeface="Carlito" pitchFamily="34" charset="-122"/>
                <a:cs typeface="Carlito" pitchFamily="34" charset="-120"/>
              </a:rPr>
              <a:t>MassaPro</a:t>
            </a:r>
            <a:endParaRPr lang="en-US" sz="844"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2937" y="-642937"/>
            <a:ext cx="2000250" cy="2000250"/>
          </a:xfrm>
          <a:prstGeom prst="rect">
            <a:avLst/>
          </a:prstGeom>
        </p:spPr>
      </p:pic>
      <p:sp>
        <p:nvSpPr>
          <p:cNvPr id="3" name="Text 0"/>
          <p:cNvSpPr/>
          <p:nvPr/>
        </p:nvSpPr>
        <p:spPr>
          <a:xfrm>
            <a:off x="-642937" y="-642937"/>
            <a:ext cx="2000250" cy="2000250"/>
          </a:xfrm>
          <a:prstGeom prst="ellipse">
            <a:avLst/>
          </a:prstGeom>
          <a:solidFill>
            <a:srgbClr val="A78BFA">
              <a:alpha val="0"/>
            </a:srgbClr>
          </a:solidFill>
          <a:ln/>
        </p:spPr>
        <p:txBody>
          <a:bodyPr wrap="square" rtlCol="0" anchor="ctr"/>
          <a:lstStyle/>
          <a:p>
            <a:pPr indent="0" marL="0">
              <a:buNone/>
            </a:pPr>
            <a:endParaRPr lang="en-US" dirty="0"/>
          </a:p>
        </p:txBody>
      </p:sp>
      <p:sp>
        <p:nvSpPr>
          <p:cNvPr id="4" name="Text 1"/>
          <p:cNvSpPr/>
          <p:nvPr/>
        </p:nvSpPr>
        <p:spPr>
          <a:xfrm>
            <a:off x="460772" y="560784"/>
            <a:ext cx="4565972" cy="221456"/>
          </a:xfrm>
          <a:prstGeom prst="roundRect">
            <a:avLst>
              <a:gd name="adj" fmla="val 4296779"/>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5" name="Text 2"/>
          <p:cNvSpPr/>
          <p:nvPr/>
        </p:nvSpPr>
        <p:spPr>
          <a:xfrm>
            <a:off x="735806" y="619720"/>
            <a:ext cx="2489039" cy="129679"/>
          </a:xfrm>
          <a:prstGeom prst="rect">
            <a:avLst/>
          </a:prstGeom>
          <a:noFill/>
          <a:ln/>
        </p:spPr>
        <p:txBody>
          <a:bodyPr wrap="square" lIns="85725" tIns="42863" rIns="85725" bIns="42863" rtlCol="0" anchor="t"/>
          <a:lstStyle/>
          <a:p>
            <a:pPr algn="l" indent="0" marL="0">
              <a:lnSpc>
                <a:spcPts val="928"/>
              </a:lnSpc>
              <a:buNone/>
            </a:pPr>
            <a:r>
              <a:rPr lang="en-US" sz="800" b="1" spc="111" kern="0" dirty="0">
                <a:solidFill>
                  <a:srgbClr val="7C3AED"/>
                </a:solidFill>
                <a:latin typeface="Carlito" pitchFamily="34" charset="0"/>
                <a:ea typeface="Carlito" pitchFamily="34" charset="-122"/>
                <a:cs typeface="Carlito" pitchFamily="34" charset="-120"/>
              </a:rPr>
              <a:t>CHAPTER 03 — INTEGRATION &amp; OPERATIONS</a:t>
            </a:r>
            <a:endParaRPr lang="en-US" sz="800" dirty="0"/>
          </a:p>
        </p:txBody>
      </p:sp>
      <p:sp>
        <p:nvSpPr>
          <p:cNvPr id="6" name="Text 3"/>
          <p:cNvSpPr/>
          <p:nvPr/>
        </p:nvSpPr>
        <p:spPr>
          <a:xfrm>
            <a:off x="550069" y="607219"/>
            <a:ext cx="128588" cy="128588"/>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7" name="Text 4"/>
          <p:cNvSpPr/>
          <p:nvPr/>
        </p:nvSpPr>
        <p:spPr>
          <a:xfrm>
            <a:off x="457200" y="857250"/>
            <a:ext cx="5030428" cy="487990"/>
          </a:xfrm>
          <a:prstGeom prst="rect">
            <a:avLst/>
          </a:prstGeom>
          <a:noFill/>
          <a:ln/>
        </p:spPr>
        <p:txBody>
          <a:bodyPr wrap="square" lIns="0" tIns="0" rIns="0" bIns="0" rtlCol="0" anchor="t"/>
          <a:lstStyle/>
          <a:p>
            <a:pPr algn="l" indent="0" marL="0">
              <a:lnSpc>
                <a:spcPts val="1780"/>
              </a:lnSpc>
              <a:buNone/>
            </a:pPr>
            <a:r>
              <a:rPr lang="en-US" sz="1575" b="1" spc="-32" kern="0" dirty="0">
                <a:solidFill>
                  <a:srgbClr val="1F2937"/>
                </a:solidFill>
                <a:latin typeface="Carlito" pitchFamily="34" charset="0"/>
                <a:ea typeface="Carlito" pitchFamily="34" charset="-122"/>
                <a:cs typeface="Carlito" pitchFamily="34" charset="-120"/>
              </a:rPr>
              <a:t>A Managed Service — </a:t>
            </a:r>
            <a:pPr algn="l" indent="0" marL="0">
              <a:lnSpc>
                <a:spcPts val="1780"/>
              </a:lnSpc>
              <a:buNone/>
            </a:pPr>
            <a:r>
              <a:rPr lang="en-US" sz="1575" b="1" spc="-32" kern="0" dirty="0">
                <a:solidFill>
                  <a:srgbClr val="7C3AED"/>
                </a:solidFill>
                <a:latin typeface="Carlito" pitchFamily="34" charset="0"/>
                <a:ea typeface="Carlito" pitchFamily="34" charset="-122"/>
                <a:cs typeface="Carlito" pitchFamily="34" charset="-120"/>
              </a:rPr>
              <a:t>No Deployment on Your Network</a:t>
            </a:r>
            <a:endParaRPr lang="en-US" sz="1575" dirty="0"/>
          </a:p>
        </p:txBody>
      </p:sp>
      <p:pic>
        <p:nvPicPr>
          <p:cNvPr id="8" name="Image 1" descr="preencoded.png">    </p:cNvPr>
          <p:cNvPicPr>
            <a:picLocks noChangeAspect="1"/>
          </p:cNvPicPr>
          <p:nvPr/>
        </p:nvPicPr>
        <p:blipFill>
          <a:blip r:embed="rId2"/>
          <a:stretch>
            <a:fillRect/>
          </a:stretch>
        </p:blipFill>
        <p:spPr>
          <a:xfrm>
            <a:off x="457200" y="1437680"/>
            <a:ext cx="4573116" cy="258961"/>
          </a:xfrm>
          <a:prstGeom prst="rect">
            <a:avLst/>
          </a:prstGeom>
        </p:spPr>
      </p:pic>
      <p:sp>
        <p:nvSpPr>
          <p:cNvPr id="9" name="Text 5"/>
          <p:cNvSpPr/>
          <p:nvPr/>
        </p:nvSpPr>
        <p:spPr>
          <a:xfrm>
            <a:off x="460772" y="1441252"/>
            <a:ext cx="4565972" cy="251817"/>
          </a:xfrm>
          <a:prstGeom prst="roundRect">
            <a:avLst>
              <a:gd name="adj" fmla="val 30260"/>
            </a:avLst>
          </a:prstGeom>
          <a:noFill/>
          <a:ln w="7144">
            <a:solidFill>
              <a:srgbClr val="EDE9FE"/>
            </a:solidFill>
            <a:prstDash val="solid"/>
          </a:ln>
          <a:effectLst>
            <a:outerShdw sx="100000" sy="100000" kx="0" ky="0" algn="bl" rotWithShape="0" blurRad="114300" dist="38100" dir="5400000">
              <a:srgbClr val="7C3AED">
                <a:alpha val="10000"/>
              </a:srgbClr>
            </a:outerShdw>
          </a:effectLst>
        </p:spPr>
        <p:txBody>
          <a:bodyPr wrap="square" rtlCol="0" anchor="ctr"/>
          <a:lstStyle/>
          <a:p>
            <a:pPr indent="0" marL="0">
              <a:buNone/>
            </a:pPr>
            <a:endParaRPr lang="en-US" dirty="0"/>
          </a:p>
        </p:txBody>
      </p:sp>
      <p:sp>
        <p:nvSpPr>
          <p:cNvPr id="10" name="Text 6"/>
          <p:cNvSpPr/>
          <p:nvPr/>
        </p:nvSpPr>
        <p:spPr>
          <a:xfrm>
            <a:off x="521494" y="1549301"/>
            <a:ext cx="50006" cy="50006"/>
          </a:xfrm>
          <a:prstGeom prst="ellipse">
            <a:avLst/>
          </a:prstGeom>
          <a:solidFill>
            <a:srgbClr val="EF4444"/>
          </a:solidFill>
          <a:ln/>
        </p:spPr>
        <p:txBody>
          <a:bodyPr wrap="square" rtlCol="0" anchor="ctr"/>
          <a:lstStyle/>
          <a:p>
            <a:pPr indent="0" marL="0">
              <a:buNone/>
            </a:pPr>
            <a:endParaRPr lang="en-US" dirty="0"/>
          </a:p>
        </p:txBody>
      </p:sp>
      <p:sp>
        <p:nvSpPr>
          <p:cNvPr id="11" name="Text 7"/>
          <p:cNvSpPr/>
          <p:nvPr/>
        </p:nvSpPr>
        <p:spPr>
          <a:xfrm>
            <a:off x="592931" y="1549301"/>
            <a:ext cx="50006" cy="50006"/>
          </a:xfrm>
          <a:prstGeom prst="ellipse">
            <a:avLst/>
          </a:prstGeom>
          <a:solidFill>
            <a:srgbClr val="F59E0B"/>
          </a:solidFill>
          <a:ln/>
        </p:spPr>
        <p:txBody>
          <a:bodyPr wrap="square" rtlCol="0" anchor="ctr"/>
          <a:lstStyle/>
          <a:p>
            <a:pPr indent="0" marL="0">
              <a:buNone/>
            </a:pPr>
            <a:endParaRPr lang="en-US" dirty="0"/>
          </a:p>
        </p:txBody>
      </p:sp>
      <p:sp>
        <p:nvSpPr>
          <p:cNvPr id="12" name="Text 8"/>
          <p:cNvSpPr/>
          <p:nvPr/>
        </p:nvSpPr>
        <p:spPr>
          <a:xfrm>
            <a:off x="664369" y="1549301"/>
            <a:ext cx="50006" cy="50006"/>
          </a:xfrm>
          <a:prstGeom prst="ellipse">
            <a:avLst/>
          </a:prstGeom>
          <a:solidFill>
            <a:srgbClr val="10B981"/>
          </a:solidFill>
          <a:ln/>
        </p:spPr>
        <p:txBody>
          <a:bodyPr wrap="square" rtlCol="0" anchor="ctr"/>
          <a:lstStyle/>
          <a:p>
            <a:pPr indent="0" marL="0">
              <a:buNone/>
            </a:pPr>
            <a:endParaRPr lang="en-US" dirty="0"/>
          </a:p>
        </p:txBody>
      </p:sp>
      <p:sp>
        <p:nvSpPr>
          <p:cNvPr id="13" name="Text 9"/>
          <p:cNvSpPr/>
          <p:nvPr/>
        </p:nvSpPr>
        <p:spPr>
          <a:xfrm>
            <a:off x="775097" y="1505545"/>
            <a:ext cx="4015904" cy="137517"/>
          </a:xfrm>
          <a:prstGeom prst="roundRect">
            <a:avLst>
              <a:gd name="adj" fmla="val 27706"/>
            </a:avLst>
          </a:prstGeom>
          <a:solidFill>
            <a:srgbClr val="FFFFFF"/>
          </a:solidFill>
          <a:ln w="7144">
            <a:solidFill>
              <a:srgbClr val="E5E7EB"/>
            </a:solidFill>
            <a:prstDash val="solid"/>
          </a:ln>
        </p:spPr>
        <p:txBody>
          <a:bodyPr wrap="square" rtlCol="0" anchor="ctr"/>
          <a:lstStyle/>
          <a:p>
            <a:pPr indent="0" marL="0">
              <a:buNone/>
            </a:pPr>
            <a:endParaRPr lang="en-US" dirty="0"/>
          </a:p>
        </p:txBody>
      </p:sp>
      <p:sp>
        <p:nvSpPr>
          <p:cNvPr id="14" name="Text 10"/>
          <p:cNvSpPr/>
          <p:nvPr/>
        </p:nvSpPr>
        <p:spPr>
          <a:xfrm>
            <a:off x="771525" y="1501973"/>
            <a:ext cx="4051622" cy="144661"/>
          </a:xfrm>
          <a:prstGeom prst="rect">
            <a:avLst/>
          </a:prstGeom>
          <a:noFill/>
          <a:ln/>
        </p:spPr>
        <p:txBody>
          <a:bodyPr wrap="square" lIns="57150" tIns="14288" rIns="57150" bIns="14288" rtlCol="0" anchor="t"/>
          <a:lstStyle/>
          <a:p>
            <a:pPr algn="l" indent="0" marL="0">
              <a:lnSpc>
                <a:spcPts val="802"/>
              </a:lnSpc>
              <a:buNone/>
            </a:pPr>
            <a:r>
              <a:rPr lang="en-US" sz="800" dirty="0">
                <a:solidFill>
                  <a:srgbClr val="6B7280"/>
                </a:solidFill>
                <a:latin typeface="Courier New" pitchFamily="34" charset="0"/>
                <a:ea typeface="Courier New" pitchFamily="34" charset="-122"/>
                <a:cs typeface="Courier New" pitchFamily="34" charset="-120"/>
              </a:rPr>
              <a:t>massapro.cloud/advisor · Chrome · Edge · Safari · zero install</a:t>
            </a:r>
            <a:endParaRPr lang="en-US" sz="800" dirty="0"/>
          </a:p>
        </p:txBody>
      </p:sp>
      <p:sp>
        <p:nvSpPr>
          <p:cNvPr id="15" name="Text 11"/>
          <p:cNvSpPr/>
          <p:nvPr/>
        </p:nvSpPr>
        <p:spPr>
          <a:xfrm>
            <a:off x="4851722" y="1517154"/>
            <a:ext cx="114300" cy="114300"/>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16" name="Text 12"/>
          <p:cNvSpPr/>
          <p:nvPr/>
        </p:nvSpPr>
        <p:spPr>
          <a:xfrm>
            <a:off x="460772" y="1771650"/>
            <a:ext cx="2236552" cy="1117550"/>
          </a:xfrm>
          <a:prstGeom prst="roundRect">
            <a:avLst>
              <a:gd name="adj" fmla="val 11932"/>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17" name="Text 13"/>
          <p:cNvSpPr/>
          <p:nvPr/>
        </p:nvSpPr>
        <p:spPr>
          <a:xfrm>
            <a:off x="578644" y="1875234"/>
            <a:ext cx="271463" cy="271463"/>
          </a:xfrm>
          <a:prstGeom prst="roundRect">
            <a:avLst>
              <a:gd name="adj" fmla="val 35088"/>
            </a:avLst>
          </a:prstGeom>
          <a:solidFill>
            <a:srgbClr val="F5F3FF"/>
          </a:solidFill>
          <a:ln/>
        </p:spPr>
        <p:txBody>
          <a:bodyPr wrap="square" rtlCol="0" anchor="ctr"/>
          <a:lstStyle/>
          <a:p>
            <a:pPr indent="0" marL="0">
              <a:buNone/>
            </a:pPr>
            <a:endParaRPr lang="en-US" dirty="0"/>
          </a:p>
        </p:txBody>
      </p:sp>
      <p:sp>
        <p:nvSpPr>
          <p:cNvPr id="18" name="Text 14"/>
          <p:cNvSpPr/>
          <p:nvPr/>
        </p:nvSpPr>
        <p:spPr>
          <a:xfrm>
            <a:off x="631508" y="1928098"/>
            <a:ext cx="165735" cy="165735"/>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19" name="Text 15"/>
          <p:cNvSpPr/>
          <p:nvPr/>
        </p:nvSpPr>
        <p:spPr>
          <a:xfrm>
            <a:off x="935831" y="1875234"/>
            <a:ext cx="1643621" cy="276177"/>
          </a:xfrm>
          <a:prstGeom prst="rect">
            <a:avLst/>
          </a:prstGeom>
          <a:noFill/>
          <a:ln/>
        </p:spPr>
        <p:txBody>
          <a:bodyPr wrap="square" lIns="0" tIns="0" rIns="0" bIns="0" rtlCol="0" anchor="t">
            <a:normAutofit/>
          </a:bodyPr>
          <a:lstStyle/>
          <a:p>
            <a:pPr algn="l" indent="0" marL="0">
              <a:lnSpc>
                <a:spcPts val="1139"/>
              </a:lnSpc>
              <a:buNone/>
            </a:pPr>
            <a:r>
              <a:rPr lang="en-US" sz="800" b="1" spc="-8" kern="0" dirty="0">
                <a:solidFill>
                  <a:srgbClr val="6D28D9"/>
                </a:solidFill>
                <a:latin typeface="Carlito" pitchFamily="34" charset="0"/>
                <a:ea typeface="Carlito" pitchFamily="34" charset="-122"/>
                <a:cs typeface="Carlito" pitchFamily="34" charset="-120"/>
              </a:rPr>
              <a:t>Browser-based Advisor Console</a:t>
            </a:r>
            <a:endParaRPr lang="en-US" sz="800" dirty="0"/>
          </a:p>
        </p:txBody>
      </p:sp>
      <p:sp>
        <p:nvSpPr>
          <p:cNvPr id="20" name="Text 16"/>
          <p:cNvSpPr/>
          <p:nvPr/>
        </p:nvSpPr>
        <p:spPr>
          <a:xfrm>
            <a:off x="935831" y="2178844"/>
            <a:ext cx="1643621" cy="102941"/>
          </a:xfrm>
          <a:prstGeom prst="rect">
            <a:avLst/>
          </a:prstGeom>
          <a:noFill/>
          <a:ln/>
        </p:spPr>
        <p:txBody>
          <a:bodyPr wrap="none" lIns="0" tIns="0" rIns="0" bIns="0" rtlCol="0" anchor="t">
            <a:normAutofit/>
          </a:bodyPr>
          <a:lstStyle/>
          <a:p>
            <a:pPr algn="l" indent="0" marL="0">
              <a:lnSpc>
                <a:spcPts val="802"/>
              </a:lnSpc>
              <a:buNone/>
            </a:pPr>
            <a:r>
              <a:rPr lang="en-US" sz="800" spc="53" kern="0" dirty="0">
                <a:solidFill>
                  <a:srgbClr val="6B7280"/>
                </a:solidFill>
                <a:latin typeface="Carlito" pitchFamily="34" charset="0"/>
                <a:ea typeface="Carlito" pitchFamily="34" charset="-122"/>
                <a:cs typeface="Carlito" pitchFamily="34" charset="-120"/>
              </a:rPr>
              <a:t>ZERO INSTALL</a:t>
            </a:r>
            <a:endParaRPr lang="en-US" sz="800" dirty="0"/>
          </a:p>
        </p:txBody>
      </p:sp>
      <p:sp>
        <p:nvSpPr>
          <p:cNvPr id="21" name="Text 17"/>
          <p:cNvSpPr/>
          <p:nvPr/>
        </p:nvSpPr>
        <p:spPr>
          <a:xfrm>
            <a:off x="935831" y="2309217"/>
            <a:ext cx="1643621" cy="476399"/>
          </a:xfrm>
          <a:prstGeom prst="rect">
            <a:avLst/>
          </a:prstGeom>
          <a:noFill/>
          <a:ln/>
        </p:spPr>
        <p:txBody>
          <a:bodyPr wrap="square" lIns="0" tIns="0" rIns="0" bIns="0" rtlCol="0" anchor="t"/>
          <a:lstStyle/>
          <a:p>
            <a:pPr algn="l" indent="0" marL="0">
              <a:lnSpc>
                <a:spcPts val="938"/>
              </a:lnSpc>
              <a:buNone/>
            </a:pPr>
            <a:r>
              <a:rPr lang="en-US" sz="800" dirty="0">
                <a:solidFill>
                  <a:srgbClr val="374151"/>
                </a:solidFill>
                <a:latin typeface="Carlito" pitchFamily="34" charset="0"/>
                <a:ea typeface="Carlito" pitchFamily="34" charset="-122"/>
                <a:cs typeface="Carlito" pitchFamily="34" charset="-120"/>
              </a:rPr>
              <a:t>Runs in Chrome, Edge, or Safari. The advisor logs in, picks up sessions, shares documents, and ends calls — all in the browser.</a:t>
            </a:r>
            <a:endParaRPr lang="en-US" sz="800" dirty="0"/>
          </a:p>
        </p:txBody>
      </p:sp>
      <p:sp>
        <p:nvSpPr>
          <p:cNvPr id="22" name="Text 18"/>
          <p:cNvSpPr/>
          <p:nvPr/>
        </p:nvSpPr>
        <p:spPr>
          <a:xfrm>
            <a:off x="2790192" y="1771650"/>
            <a:ext cx="2236552" cy="1117550"/>
          </a:xfrm>
          <a:prstGeom prst="roundRect">
            <a:avLst>
              <a:gd name="adj" fmla="val 11932"/>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23" name="Text 19"/>
          <p:cNvSpPr/>
          <p:nvPr/>
        </p:nvSpPr>
        <p:spPr>
          <a:xfrm>
            <a:off x="2908064" y="1875234"/>
            <a:ext cx="271463" cy="271463"/>
          </a:xfrm>
          <a:prstGeom prst="roundRect">
            <a:avLst>
              <a:gd name="adj" fmla="val 35088"/>
            </a:avLst>
          </a:prstGeom>
          <a:solidFill>
            <a:srgbClr val="F5F3FF"/>
          </a:solidFill>
          <a:ln/>
        </p:spPr>
        <p:txBody>
          <a:bodyPr wrap="square" rtlCol="0" anchor="ctr"/>
          <a:lstStyle/>
          <a:p>
            <a:pPr indent="0" marL="0">
              <a:buNone/>
            </a:pPr>
            <a:endParaRPr lang="en-US" dirty="0"/>
          </a:p>
        </p:txBody>
      </p:sp>
      <p:sp>
        <p:nvSpPr>
          <p:cNvPr id="24" name="Text 20"/>
          <p:cNvSpPr/>
          <p:nvPr/>
        </p:nvSpPr>
        <p:spPr>
          <a:xfrm>
            <a:off x="2960928" y="1928098"/>
            <a:ext cx="165735" cy="165735"/>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25" name="Text 21"/>
          <p:cNvSpPr/>
          <p:nvPr/>
        </p:nvSpPr>
        <p:spPr>
          <a:xfrm>
            <a:off x="3265252" y="1875234"/>
            <a:ext cx="1742238" cy="131516"/>
          </a:xfrm>
          <a:prstGeom prst="rect">
            <a:avLst/>
          </a:prstGeom>
          <a:noFill/>
          <a:ln/>
        </p:spPr>
        <p:txBody>
          <a:bodyPr wrap="square" lIns="0" tIns="0" rIns="0" bIns="0" rtlCol="0" anchor="t">
            <a:normAutofit/>
          </a:bodyPr>
          <a:lstStyle/>
          <a:p>
            <a:pPr algn="l" indent="0" marL="0">
              <a:lnSpc>
                <a:spcPts val="1139"/>
              </a:lnSpc>
              <a:buNone/>
            </a:pPr>
            <a:r>
              <a:rPr lang="en-US" sz="800" b="1" spc="-8" kern="0" dirty="0">
                <a:solidFill>
                  <a:srgbClr val="6D28D9"/>
                </a:solidFill>
                <a:latin typeface="Carlito" pitchFamily="34" charset="0"/>
                <a:ea typeface="Carlito" pitchFamily="34" charset="-122"/>
                <a:cs typeface="Carlito" pitchFamily="34" charset="-120"/>
              </a:rPr>
              <a:t>Kiosk Manager — Centralised</a:t>
            </a:r>
            <a:endParaRPr lang="en-US" sz="800" dirty="0"/>
          </a:p>
        </p:txBody>
      </p:sp>
      <p:sp>
        <p:nvSpPr>
          <p:cNvPr id="26" name="Text 22"/>
          <p:cNvSpPr/>
          <p:nvPr/>
        </p:nvSpPr>
        <p:spPr>
          <a:xfrm>
            <a:off x="3265252" y="2034183"/>
            <a:ext cx="1643621" cy="102941"/>
          </a:xfrm>
          <a:prstGeom prst="rect">
            <a:avLst/>
          </a:prstGeom>
          <a:noFill/>
          <a:ln/>
        </p:spPr>
        <p:txBody>
          <a:bodyPr wrap="none" lIns="0" tIns="0" rIns="0" bIns="0" rtlCol="0" anchor="t">
            <a:normAutofit/>
          </a:bodyPr>
          <a:lstStyle/>
          <a:p>
            <a:pPr algn="l" indent="0" marL="0">
              <a:lnSpc>
                <a:spcPts val="802"/>
              </a:lnSpc>
              <a:buNone/>
            </a:pPr>
            <a:r>
              <a:rPr lang="en-US" sz="800" spc="53" kern="0" dirty="0">
                <a:solidFill>
                  <a:srgbClr val="6B7280"/>
                </a:solidFill>
                <a:latin typeface="Carlito" pitchFamily="34" charset="0"/>
                <a:ea typeface="Carlito" pitchFamily="34" charset="-122"/>
                <a:cs typeface="Carlito" pitchFamily="34" charset="-120"/>
              </a:rPr>
              <a:t>NETWORK OVERSIGHT</a:t>
            </a:r>
            <a:endParaRPr lang="en-US" sz="800" dirty="0"/>
          </a:p>
        </p:txBody>
      </p:sp>
      <p:sp>
        <p:nvSpPr>
          <p:cNvPr id="27" name="Text 23"/>
          <p:cNvSpPr/>
          <p:nvPr/>
        </p:nvSpPr>
        <p:spPr>
          <a:xfrm>
            <a:off x="3265252" y="2164556"/>
            <a:ext cx="1643621" cy="621060"/>
          </a:xfrm>
          <a:prstGeom prst="rect">
            <a:avLst/>
          </a:prstGeom>
          <a:noFill/>
          <a:ln/>
        </p:spPr>
        <p:txBody>
          <a:bodyPr wrap="square" lIns="0" tIns="0" rIns="0" bIns="0" rtlCol="0" anchor="t"/>
          <a:lstStyle/>
          <a:p>
            <a:pPr algn="l" indent="0" marL="0">
              <a:lnSpc>
                <a:spcPts val="938"/>
              </a:lnSpc>
              <a:buNone/>
            </a:pPr>
            <a:r>
              <a:rPr lang="en-US" sz="800" dirty="0">
                <a:solidFill>
                  <a:srgbClr val="374151"/>
                </a:solidFill>
                <a:latin typeface="Carlito" pitchFamily="34" charset="0"/>
                <a:ea typeface="Carlito" pitchFamily="34" charset="-122"/>
                <a:cs typeface="Carlito" pitchFamily="34" charset="-120"/>
              </a:rPr>
              <a:t>Add/remove locations, configure content, logos &amp; advertising per kiosk, manage supervisor roles, apply remote configuration.</a:t>
            </a:r>
            <a:endParaRPr lang="en-US" sz="800" dirty="0"/>
          </a:p>
        </p:txBody>
      </p:sp>
      <p:sp>
        <p:nvSpPr>
          <p:cNvPr id="28" name="Text 24"/>
          <p:cNvSpPr/>
          <p:nvPr/>
        </p:nvSpPr>
        <p:spPr>
          <a:xfrm>
            <a:off x="460772" y="2982069"/>
            <a:ext cx="2236552" cy="1340793"/>
          </a:xfrm>
          <a:prstGeom prst="roundRect">
            <a:avLst>
              <a:gd name="adj" fmla="val 9946"/>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29" name="Text 25"/>
          <p:cNvSpPr/>
          <p:nvPr/>
        </p:nvSpPr>
        <p:spPr>
          <a:xfrm>
            <a:off x="578644" y="3085654"/>
            <a:ext cx="271463" cy="271463"/>
          </a:xfrm>
          <a:prstGeom prst="roundRect">
            <a:avLst>
              <a:gd name="adj" fmla="val 35088"/>
            </a:avLst>
          </a:prstGeom>
          <a:solidFill>
            <a:srgbClr val="F5F3FF"/>
          </a:solidFill>
          <a:ln/>
        </p:spPr>
        <p:txBody>
          <a:bodyPr wrap="square" rtlCol="0" anchor="ctr"/>
          <a:lstStyle/>
          <a:p>
            <a:pPr indent="0" marL="0">
              <a:buNone/>
            </a:pPr>
            <a:endParaRPr lang="en-US" dirty="0"/>
          </a:p>
        </p:txBody>
      </p:sp>
      <p:sp>
        <p:nvSpPr>
          <p:cNvPr id="30" name="Text 26"/>
          <p:cNvSpPr/>
          <p:nvPr/>
        </p:nvSpPr>
        <p:spPr>
          <a:xfrm>
            <a:off x="631508" y="3138517"/>
            <a:ext cx="165735" cy="165735"/>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31" name="Text 27"/>
          <p:cNvSpPr/>
          <p:nvPr/>
        </p:nvSpPr>
        <p:spPr>
          <a:xfrm>
            <a:off x="935831" y="3085654"/>
            <a:ext cx="1643621" cy="276177"/>
          </a:xfrm>
          <a:prstGeom prst="rect">
            <a:avLst/>
          </a:prstGeom>
          <a:noFill/>
          <a:ln/>
        </p:spPr>
        <p:txBody>
          <a:bodyPr wrap="square" lIns="0" tIns="0" rIns="0" bIns="0" rtlCol="0" anchor="t">
            <a:normAutofit/>
          </a:bodyPr>
          <a:lstStyle/>
          <a:p>
            <a:pPr algn="l" indent="0" marL="0">
              <a:lnSpc>
                <a:spcPts val="1139"/>
              </a:lnSpc>
              <a:buNone/>
            </a:pPr>
            <a:r>
              <a:rPr lang="en-US" sz="800" b="1" spc="-8" kern="0" dirty="0">
                <a:solidFill>
                  <a:srgbClr val="6D28D9"/>
                </a:solidFill>
                <a:latin typeface="Carlito" pitchFamily="34" charset="0"/>
                <a:ea typeface="Carlito" pitchFamily="34" charset="-122"/>
                <a:cs typeface="Carlito" pitchFamily="34" charset="-120"/>
              </a:rPr>
              <a:t>MassaPro Flow — Orchestration</a:t>
            </a:r>
            <a:endParaRPr lang="en-US" sz="800" dirty="0"/>
          </a:p>
        </p:txBody>
      </p:sp>
      <p:sp>
        <p:nvSpPr>
          <p:cNvPr id="32" name="Text 28"/>
          <p:cNvSpPr/>
          <p:nvPr/>
        </p:nvSpPr>
        <p:spPr>
          <a:xfrm>
            <a:off x="935831" y="3389263"/>
            <a:ext cx="1643621" cy="102941"/>
          </a:xfrm>
          <a:prstGeom prst="rect">
            <a:avLst/>
          </a:prstGeom>
          <a:noFill/>
          <a:ln/>
        </p:spPr>
        <p:txBody>
          <a:bodyPr wrap="none" lIns="0" tIns="0" rIns="0" bIns="0" rtlCol="0" anchor="t">
            <a:normAutofit/>
          </a:bodyPr>
          <a:lstStyle/>
          <a:p>
            <a:pPr algn="l" indent="0" marL="0">
              <a:lnSpc>
                <a:spcPts val="802"/>
              </a:lnSpc>
              <a:buNone/>
            </a:pPr>
            <a:r>
              <a:rPr lang="en-US" sz="800" spc="53" kern="0" dirty="0">
                <a:solidFill>
                  <a:srgbClr val="6B7280"/>
                </a:solidFill>
                <a:latin typeface="Carlito" pitchFamily="34" charset="0"/>
                <a:ea typeface="Carlito" pitchFamily="34" charset="-122"/>
                <a:cs typeface="Carlito" pitchFamily="34" charset="-120"/>
              </a:rPr>
              <a:t>DRAG-AND-DROP</a:t>
            </a:r>
            <a:endParaRPr lang="en-US" sz="800" dirty="0"/>
          </a:p>
        </p:txBody>
      </p:sp>
      <p:sp>
        <p:nvSpPr>
          <p:cNvPr id="33" name="Text 29"/>
          <p:cNvSpPr/>
          <p:nvPr/>
        </p:nvSpPr>
        <p:spPr>
          <a:xfrm>
            <a:off x="935831" y="3519636"/>
            <a:ext cx="1643621" cy="477227"/>
          </a:xfrm>
          <a:prstGeom prst="rect">
            <a:avLst/>
          </a:prstGeom>
          <a:noFill/>
          <a:ln/>
        </p:spPr>
        <p:txBody>
          <a:bodyPr wrap="square" lIns="0" tIns="0" rIns="0" bIns="0" rtlCol="0" anchor="t"/>
          <a:lstStyle/>
          <a:p>
            <a:pPr algn="l" indent="0" marL="0">
              <a:lnSpc>
                <a:spcPts val="938"/>
              </a:lnSpc>
              <a:buNone/>
            </a:pPr>
            <a:r>
              <a:rPr lang="en-US" sz="800" dirty="0">
                <a:solidFill>
                  <a:srgbClr val="374151"/>
                </a:solidFill>
                <a:latin typeface="Carlito" pitchFamily="34" charset="0"/>
                <a:ea typeface="Carlito" pitchFamily="34" charset="-122"/>
                <a:cs typeface="Carlito" pitchFamily="34" charset="-120"/>
              </a:rPr>
              <a:t>Workflow builder for customer journeys across channels. Routes by skill, language, topic, or availability.</a:t>
            </a:r>
            <a:endParaRPr lang="en-US" sz="800" dirty="0"/>
          </a:p>
        </p:txBody>
      </p:sp>
      <p:sp>
        <p:nvSpPr>
          <p:cNvPr id="34" name="Text 30"/>
          <p:cNvSpPr/>
          <p:nvPr/>
        </p:nvSpPr>
        <p:spPr>
          <a:xfrm>
            <a:off x="2790192" y="2982069"/>
            <a:ext cx="2236552" cy="1340793"/>
          </a:xfrm>
          <a:prstGeom prst="roundRect">
            <a:avLst>
              <a:gd name="adj" fmla="val 9946"/>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35" name="Text 31"/>
          <p:cNvSpPr/>
          <p:nvPr/>
        </p:nvSpPr>
        <p:spPr>
          <a:xfrm>
            <a:off x="2908064" y="3085654"/>
            <a:ext cx="271463" cy="271463"/>
          </a:xfrm>
          <a:prstGeom prst="roundRect">
            <a:avLst>
              <a:gd name="adj" fmla="val 35088"/>
            </a:avLst>
          </a:prstGeom>
          <a:solidFill>
            <a:srgbClr val="7C3AED"/>
          </a:solidFill>
          <a:ln/>
        </p:spPr>
        <p:txBody>
          <a:bodyPr wrap="square" rtlCol="0" anchor="ctr"/>
          <a:lstStyle/>
          <a:p>
            <a:pPr indent="0" marL="0">
              <a:buNone/>
            </a:pPr>
            <a:endParaRPr lang="en-US" dirty="0"/>
          </a:p>
        </p:txBody>
      </p:sp>
      <p:sp>
        <p:nvSpPr>
          <p:cNvPr id="36" name="Text 32"/>
          <p:cNvSpPr/>
          <p:nvPr/>
        </p:nvSpPr>
        <p:spPr>
          <a:xfrm>
            <a:off x="2960928" y="3138517"/>
            <a:ext cx="165735" cy="165735"/>
          </a:xfrm>
          <a:prstGeom prst="rect">
            <a:avLst/>
          </a:prstGeom>
          <a:noFill/>
          <a:ln/>
        </p:spPr>
        <p:txBody>
          <a:bodyPr wrap="none" lIns="0" tIns="0" rIns="0" bIns="0" rtlCol="0" anchor="ctr"/>
          <a:lstStyle/>
          <a:p>
            <a:pPr algn="ctr" indent="0" marL="0">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37" name="Text 33"/>
          <p:cNvSpPr/>
          <p:nvPr/>
        </p:nvSpPr>
        <p:spPr>
          <a:xfrm>
            <a:off x="3265252" y="3085654"/>
            <a:ext cx="1742238" cy="131516"/>
          </a:xfrm>
          <a:prstGeom prst="rect">
            <a:avLst/>
          </a:prstGeom>
          <a:noFill/>
          <a:ln/>
        </p:spPr>
        <p:txBody>
          <a:bodyPr wrap="square" lIns="0" tIns="0" rIns="0" bIns="0" rtlCol="0" anchor="t">
            <a:normAutofit/>
          </a:bodyPr>
          <a:lstStyle/>
          <a:p>
            <a:pPr algn="l" indent="0" marL="0">
              <a:lnSpc>
                <a:spcPts val="1139"/>
              </a:lnSpc>
              <a:buNone/>
            </a:pPr>
            <a:r>
              <a:rPr lang="en-US" sz="800" b="1" spc="-8" kern="0" dirty="0">
                <a:solidFill>
                  <a:srgbClr val="6D28D9"/>
                </a:solidFill>
                <a:latin typeface="Carlito" pitchFamily="34" charset="0"/>
                <a:ea typeface="Carlito" pitchFamily="34" charset="-122"/>
                <a:cs typeface="Carlito" pitchFamily="34" charset="-120"/>
              </a:rPr>
              <a:t>AWS-hosted, Fully Managed</a:t>
            </a:r>
            <a:endParaRPr lang="en-US" sz="800" dirty="0"/>
          </a:p>
        </p:txBody>
      </p:sp>
      <p:sp>
        <p:nvSpPr>
          <p:cNvPr id="38" name="Text 34"/>
          <p:cNvSpPr/>
          <p:nvPr/>
        </p:nvSpPr>
        <p:spPr>
          <a:xfrm>
            <a:off x="3265252" y="3244602"/>
            <a:ext cx="1643621" cy="102941"/>
          </a:xfrm>
          <a:prstGeom prst="rect">
            <a:avLst/>
          </a:prstGeom>
          <a:noFill/>
          <a:ln/>
        </p:spPr>
        <p:txBody>
          <a:bodyPr wrap="none" lIns="0" tIns="0" rIns="0" bIns="0" rtlCol="0" anchor="t">
            <a:normAutofit/>
          </a:bodyPr>
          <a:lstStyle/>
          <a:p>
            <a:pPr algn="l" indent="0" marL="0">
              <a:lnSpc>
                <a:spcPts val="802"/>
              </a:lnSpc>
              <a:buNone/>
            </a:pPr>
            <a:r>
              <a:rPr lang="en-US" sz="800" spc="53" kern="0" dirty="0">
                <a:solidFill>
                  <a:srgbClr val="6B7280"/>
                </a:solidFill>
                <a:latin typeface="Carlito" pitchFamily="34" charset="0"/>
                <a:ea typeface="Carlito" pitchFamily="34" charset="-122"/>
                <a:cs typeface="Carlito" pitchFamily="34" charset="-120"/>
              </a:rPr>
              <a:t>MASSAPRO RUNS THE INFRA</a:t>
            </a:r>
            <a:endParaRPr lang="en-US" sz="800" dirty="0"/>
          </a:p>
        </p:txBody>
      </p:sp>
      <p:sp>
        <p:nvSpPr>
          <p:cNvPr id="39" name="Text 35"/>
          <p:cNvSpPr/>
          <p:nvPr/>
        </p:nvSpPr>
        <p:spPr>
          <a:xfrm>
            <a:off x="3265252" y="3374975"/>
            <a:ext cx="1643621" cy="491829"/>
          </a:xfrm>
          <a:prstGeom prst="rect">
            <a:avLst/>
          </a:prstGeom>
          <a:noFill/>
          <a:ln/>
        </p:spPr>
        <p:txBody>
          <a:bodyPr wrap="square" lIns="0" tIns="0" rIns="0" bIns="0" rtlCol="0" anchor="t">
            <a:normAutofit/>
          </a:bodyPr>
          <a:lstStyle/>
          <a:p>
            <a:pPr algn="l" indent="0" marL="0">
              <a:lnSpc>
                <a:spcPts val="938"/>
              </a:lnSpc>
              <a:buNone/>
            </a:pPr>
            <a:r>
              <a:rPr lang="en-US" sz="800" dirty="0">
                <a:solidFill>
                  <a:srgbClr val="374151"/>
                </a:solidFill>
                <a:latin typeface="Carlito" pitchFamily="34" charset="0"/>
                <a:ea typeface="Carlito" pitchFamily="34" charset="-122"/>
                <a:cs typeface="Carlito" pitchFamily="34" charset="-120"/>
              </a:rPr>
              <a:t>Full data isolation, encryption, per-client segregation. MassaPro never accesses end-user data. You get the service; we run the infrastructure.</a:t>
            </a:r>
            <a:endParaRPr lang="en-US" sz="800" dirty="0"/>
          </a:p>
        </p:txBody>
      </p:sp>
      <p:sp>
        <p:nvSpPr>
          <p:cNvPr id="40" name="Text 36"/>
          <p:cNvSpPr/>
          <p:nvPr/>
        </p:nvSpPr>
        <p:spPr>
          <a:xfrm>
            <a:off x="3265252" y="3885557"/>
            <a:ext cx="355178" cy="162020"/>
          </a:xfrm>
          <a:prstGeom prst="roundRect">
            <a:avLst>
              <a:gd name="adj" fmla="val 23516"/>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41" name="Text 37"/>
          <p:cNvSpPr/>
          <p:nvPr/>
        </p:nvSpPr>
        <p:spPr>
          <a:xfrm>
            <a:off x="3259616" y="3894237"/>
            <a:ext cx="366451" cy="144661"/>
          </a:xfrm>
          <a:prstGeom prst="rect">
            <a:avLst/>
          </a:prstGeom>
          <a:noFill/>
          <a:ln/>
        </p:spPr>
        <p:txBody>
          <a:bodyPr wrap="none" lIns="0" tIns="0" rIns="0" bIns="0" rtlCol="0" anchor="ctr"/>
          <a:lstStyle/>
          <a:p>
            <a:pPr algn="ctr" indent="0" marL="0">
              <a:lnSpc>
                <a:spcPts val="802"/>
              </a:lnSpc>
              <a:buNone/>
            </a:pPr>
            <a:r>
              <a:rPr lang="en-US" sz="800" b="1" spc="21" kern="0" dirty="0">
                <a:solidFill>
                  <a:srgbClr val="6D28D9"/>
                </a:solidFill>
                <a:latin typeface="Liberation Sans Narrow" pitchFamily="34" charset="0"/>
                <a:ea typeface="Liberation Sans Narrow" pitchFamily="34" charset="-122"/>
                <a:cs typeface="Liberation Sans Narrow" pitchFamily="34" charset="-120"/>
              </a:rPr>
              <a:t>SOC 2</a:t>
            </a:r>
            <a:endParaRPr lang="en-US" sz="800" dirty="0"/>
          </a:p>
        </p:txBody>
      </p:sp>
      <p:sp>
        <p:nvSpPr>
          <p:cNvPr id="42" name="Text 38"/>
          <p:cNvSpPr/>
          <p:nvPr/>
        </p:nvSpPr>
        <p:spPr>
          <a:xfrm>
            <a:off x="3656149" y="3885557"/>
            <a:ext cx="530312" cy="162020"/>
          </a:xfrm>
          <a:prstGeom prst="roundRect">
            <a:avLst>
              <a:gd name="adj" fmla="val 23516"/>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43" name="Text 39"/>
          <p:cNvSpPr/>
          <p:nvPr/>
        </p:nvSpPr>
        <p:spPr>
          <a:xfrm>
            <a:off x="3589418" y="3894237"/>
            <a:ext cx="663773" cy="144661"/>
          </a:xfrm>
          <a:prstGeom prst="rect">
            <a:avLst/>
          </a:prstGeom>
          <a:noFill/>
          <a:ln/>
        </p:spPr>
        <p:txBody>
          <a:bodyPr wrap="none" lIns="0" tIns="0" rIns="0" bIns="0" rtlCol="0" anchor="ctr"/>
          <a:lstStyle/>
          <a:p>
            <a:pPr algn="ctr" indent="0" marL="0">
              <a:lnSpc>
                <a:spcPts val="802"/>
              </a:lnSpc>
              <a:buNone/>
            </a:pPr>
            <a:r>
              <a:rPr lang="en-US" sz="800" b="1" spc="21" kern="0" dirty="0">
                <a:solidFill>
                  <a:srgbClr val="6D28D9"/>
                </a:solidFill>
                <a:latin typeface="Liberation Sans Narrow" pitchFamily="34" charset="0"/>
                <a:ea typeface="Liberation Sans Narrow" pitchFamily="34" charset="-122"/>
                <a:cs typeface="Liberation Sans Narrow" pitchFamily="34" charset="-120"/>
              </a:rPr>
              <a:t>ISO 27001</a:t>
            </a:r>
            <a:endParaRPr lang="en-US" sz="800" dirty="0"/>
          </a:p>
        </p:txBody>
      </p:sp>
      <p:sp>
        <p:nvSpPr>
          <p:cNvPr id="44" name="Text 40"/>
          <p:cNvSpPr/>
          <p:nvPr/>
        </p:nvSpPr>
        <p:spPr>
          <a:xfrm>
            <a:off x="4222179" y="3885557"/>
            <a:ext cx="339217" cy="162020"/>
          </a:xfrm>
          <a:prstGeom prst="roundRect">
            <a:avLst>
              <a:gd name="adj" fmla="val 23516"/>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45" name="Text 41"/>
          <p:cNvSpPr/>
          <p:nvPr/>
        </p:nvSpPr>
        <p:spPr>
          <a:xfrm>
            <a:off x="4222179" y="3894237"/>
            <a:ext cx="339217" cy="144661"/>
          </a:xfrm>
          <a:prstGeom prst="rect">
            <a:avLst/>
          </a:prstGeom>
          <a:noFill/>
          <a:ln/>
        </p:spPr>
        <p:txBody>
          <a:bodyPr wrap="none" lIns="0" tIns="0" rIns="0" bIns="0" rtlCol="0" anchor="ctr"/>
          <a:lstStyle/>
          <a:p>
            <a:pPr algn="ctr" indent="0" marL="0">
              <a:lnSpc>
                <a:spcPts val="802"/>
              </a:lnSpc>
              <a:buNone/>
            </a:pPr>
            <a:r>
              <a:rPr lang="en-US" sz="800" b="1" spc="21" kern="0" dirty="0">
                <a:solidFill>
                  <a:srgbClr val="6D28D9"/>
                </a:solidFill>
                <a:latin typeface="Carlito" pitchFamily="34" charset="0"/>
                <a:ea typeface="Carlito" pitchFamily="34" charset="-122"/>
                <a:cs typeface="Carlito" pitchFamily="34" charset="-120"/>
              </a:rPr>
              <a:t>GDPR</a:t>
            </a:r>
            <a:endParaRPr lang="en-US" sz="800" dirty="0"/>
          </a:p>
        </p:txBody>
      </p:sp>
      <p:sp>
        <p:nvSpPr>
          <p:cNvPr id="46" name="Text 42"/>
          <p:cNvSpPr/>
          <p:nvPr/>
        </p:nvSpPr>
        <p:spPr>
          <a:xfrm>
            <a:off x="3265252" y="4065937"/>
            <a:ext cx="358527" cy="162020"/>
          </a:xfrm>
          <a:prstGeom prst="roundRect">
            <a:avLst>
              <a:gd name="adj" fmla="val 23516"/>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47" name="Text 43"/>
          <p:cNvSpPr/>
          <p:nvPr/>
        </p:nvSpPr>
        <p:spPr>
          <a:xfrm>
            <a:off x="3240909" y="4074616"/>
            <a:ext cx="407213" cy="144661"/>
          </a:xfrm>
          <a:prstGeom prst="rect">
            <a:avLst/>
          </a:prstGeom>
          <a:noFill/>
          <a:ln/>
        </p:spPr>
        <p:txBody>
          <a:bodyPr wrap="none" lIns="0" tIns="0" rIns="0" bIns="0" rtlCol="0" anchor="ctr"/>
          <a:lstStyle/>
          <a:p>
            <a:pPr algn="ctr" indent="0" marL="0">
              <a:lnSpc>
                <a:spcPts val="802"/>
              </a:lnSpc>
              <a:buNone/>
            </a:pPr>
            <a:r>
              <a:rPr lang="en-US" sz="800" b="1" spc="21" kern="0" dirty="0">
                <a:solidFill>
                  <a:srgbClr val="6D28D9"/>
                </a:solidFill>
                <a:latin typeface="Carlito" pitchFamily="34" charset="0"/>
                <a:ea typeface="Carlito" pitchFamily="34" charset="-122"/>
                <a:cs typeface="Carlito" pitchFamily="34" charset="-120"/>
              </a:rPr>
              <a:t>HIPAA</a:t>
            </a:r>
            <a:endParaRPr lang="en-US" sz="800" dirty="0"/>
          </a:p>
        </p:txBody>
      </p:sp>
      <p:sp>
        <p:nvSpPr>
          <p:cNvPr id="48" name="Text 44"/>
          <p:cNvSpPr/>
          <p:nvPr/>
        </p:nvSpPr>
        <p:spPr>
          <a:xfrm>
            <a:off x="3659498" y="4065937"/>
            <a:ext cx="437331" cy="162020"/>
          </a:xfrm>
          <a:prstGeom prst="roundRect">
            <a:avLst>
              <a:gd name="adj" fmla="val 23516"/>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49" name="Text 45"/>
          <p:cNvSpPr/>
          <p:nvPr/>
        </p:nvSpPr>
        <p:spPr>
          <a:xfrm>
            <a:off x="3610417" y="4074616"/>
            <a:ext cx="535493" cy="144661"/>
          </a:xfrm>
          <a:prstGeom prst="rect">
            <a:avLst/>
          </a:prstGeom>
          <a:noFill/>
          <a:ln/>
        </p:spPr>
        <p:txBody>
          <a:bodyPr wrap="none" lIns="0" tIns="0" rIns="0" bIns="0" rtlCol="0" anchor="ctr"/>
          <a:lstStyle/>
          <a:p>
            <a:pPr algn="ctr" indent="0" marL="0">
              <a:lnSpc>
                <a:spcPts val="802"/>
              </a:lnSpc>
              <a:buNone/>
            </a:pPr>
            <a:r>
              <a:rPr lang="en-US" sz="800" b="1" spc="21" kern="0" dirty="0">
                <a:solidFill>
                  <a:srgbClr val="6D28D9"/>
                </a:solidFill>
                <a:latin typeface="Carlito" pitchFamily="34" charset="0"/>
                <a:ea typeface="Carlito" pitchFamily="34" charset="-122"/>
                <a:cs typeface="Carlito" pitchFamily="34" charset="-120"/>
              </a:rPr>
              <a:t>PCI-DSS</a:t>
            </a:r>
            <a:endParaRPr lang="en-US" sz="800" dirty="0"/>
          </a:p>
        </p:txBody>
      </p:sp>
      <p:pic>
        <p:nvPicPr>
          <p:cNvPr id="50" name="Image 2" descr="preencoded.png">    </p:cNvPr>
          <p:cNvPicPr>
            <a:picLocks noChangeAspect="1"/>
          </p:cNvPicPr>
          <p:nvPr/>
        </p:nvPicPr>
        <p:blipFill>
          <a:blip r:embed="rId3"/>
          <a:stretch>
            <a:fillRect/>
          </a:stretch>
        </p:blipFill>
        <p:spPr>
          <a:xfrm>
            <a:off x="457200" y="4397871"/>
            <a:ext cx="4573116" cy="386432"/>
          </a:xfrm>
          <a:prstGeom prst="rect">
            <a:avLst/>
          </a:prstGeom>
        </p:spPr>
      </p:pic>
      <p:sp>
        <p:nvSpPr>
          <p:cNvPr id="51" name="Shape 46"/>
          <p:cNvSpPr/>
          <p:nvPr/>
        </p:nvSpPr>
        <p:spPr>
          <a:xfrm>
            <a:off x="471488" y="4397871"/>
            <a:ext cx="0" cy="386432"/>
          </a:xfrm>
          <a:prstGeom prst="line">
            <a:avLst/>
          </a:prstGeom>
          <a:noFill/>
          <a:ln w="28575">
            <a:solidFill>
              <a:srgbClr val="7C3AED"/>
            </a:solidFill>
            <a:prstDash val="solid"/>
          </a:ln>
        </p:spPr>
      </p:sp>
      <p:sp>
        <p:nvSpPr>
          <p:cNvPr id="52" name="Text 47"/>
          <p:cNvSpPr/>
          <p:nvPr/>
        </p:nvSpPr>
        <p:spPr>
          <a:xfrm>
            <a:off x="585788" y="4512506"/>
            <a:ext cx="157163" cy="157163"/>
          </a:xfrm>
          <a:prstGeom prst="rect">
            <a:avLst/>
          </a:prstGeom>
          <a:noFill/>
          <a:ln/>
        </p:spPr>
        <p:txBody>
          <a:bodyPr wrap="none" lIns="0" tIns="0" rIns="0" bIns="0" rtlCol="0" anchor="ctr"/>
          <a:lstStyle/>
          <a:p>
            <a:pPr algn="ctr" indent="0" marL="0">
              <a:buNone/>
            </a:pPr>
            <a:r>
              <a:rPr lang="en-US" sz="1547" dirty="0">
                <a:solidFill>
                  <a:srgbClr val="7C3AED"/>
                </a:solidFill>
                <a:latin typeface="Segoe UI Symbol" pitchFamily="34" charset="0"/>
                <a:ea typeface="Segoe UI Symbol" pitchFamily="34" charset="-122"/>
                <a:cs typeface="Segoe UI Symbol" pitchFamily="34" charset="-120"/>
              </a:rPr>
              <a:t>◫</a:t>
            </a:r>
            <a:endParaRPr lang="en-US" sz="1547" dirty="0"/>
          </a:p>
        </p:txBody>
      </p:sp>
      <p:sp>
        <p:nvSpPr>
          <p:cNvPr id="53" name="Text 48"/>
          <p:cNvSpPr/>
          <p:nvPr/>
        </p:nvSpPr>
        <p:spPr>
          <a:xfrm>
            <a:off x="814388" y="4469309"/>
            <a:ext cx="3601231" cy="98253"/>
          </a:xfrm>
          <a:prstGeom prst="rect">
            <a:avLst/>
          </a:prstGeom>
          <a:noFill/>
          <a:ln/>
        </p:spPr>
        <p:txBody>
          <a:bodyPr wrap="square" lIns="0" tIns="0" rIns="0" bIns="0" rtlCol="0" anchor="t">
            <a:normAutofit/>
          </a:bodyPr>
          <a:lstStyle/>
          <a:p>
            <a:pPr algn="l" indent="0" marL="0">
              <a:lnSpc>
                <a:spcPts val="877"/>
              </a:lnSpc>
              <a:buNone/>
            </a:pPr>
            <a:r>
              <a:rPr lang="en-US" sz="731" b="1" dirty="0">
                <a:solidFill>
                  <a:srgbClr val="1F2937"/>
                </a:solidFill>
                <a:latin typeface="Carlito" pitchFamily="34" charset="0"/>
                <a:ea typeface="Carlito" pitchFamily="34" charset="-122"/>
                <a:cs typeface="Carlito" pitchFamily="34" charset="-120"/>
              </a:rPr>
              <a:t>Total cost of ownership = subscription fee + kiosk hardware (if any).</a:t>
            </a:r>
            <a:endParaRPr lang="en-US" sz="731" dirty="0"/>
          </a:p>
        </p:txBody>
      </p:sp>
      <p:sp>
        <p:nvSpPr>
          <p:cNvPr id="54" name="Text 49"/>
          <p:cNvSpPr/>
          <p:nvPr/>
        </p:nvSpPr>
        <p:spPr>
          <a:xfrm>
            <a:off x="814388" y="4594994"/>
            <a:ext cx="3601231" cy="117872"/>
          </a:xfrm>
          <a:prstGeom prst="rect">
            <a:avLst/>
          </a:prstGeom>
          <a:noFill/>
          <a:ln/>
        </p:spPr>
        <p:txBody>
          <a:bodyPr wrap="square" lIns="0" tIns="0" rIns="0" bIns="0" rtlCol="0" anchor="t"/>
          <a:lstStyle/>
          <a:p>
            <a:pPr algn="l" indent="0" marL="0">
              <a:lnSpc>
                <a:spcPts val="928"/>
              </a:lnSpc>
              <a:buNone/>
            </a:pPr>
            <a:r>
              <a:rPr lang="en-US" sz="619" dirty="0">
                <a:solidFill>
                  <a:srgbClr val="374151"/>
                </a:solidFill>
                <a:latin typeface="Carlito" pitchFamily="34" charset="0"/>
                <a:ea typeface="Carlito" pitchFamily="34" charset="-122"/>
                <a:cs typeface="Carlito" pitchFamily="34" charset="-120"/>
              </a:rPr>
              <a:t>No servers. No SBCs. No gateways. No dedicated headcount. No annual maintenance fee.</a:t>
            </a:r>
            <a:endParaRPr lang="en-US" sz="619" dirty="0"/>
          </a:p>
        </p:txBody>
      </p:sp>
      <p:sp>
        <p:nvSpPr>
          <p:cNvPr id="55" name="Text 50"/>
          <p:cNvSpPr/>
          <p:nvPr/>
        </p:nvSpPr>
        <p:spPr>
          <a:xfrm>
            <a:off x="5233913" y="560784"/>
            <a:ext cx="3449203" cy="4150519"/>
          </a:xfrm>
          <a:prstGeom prst="roundRect">
            <a:avLst>
              <a:gd name="adj" fmla="val 6075"/>
            </a:avLst>
          </a:prstGeom>
          <a:noFill/>
          <a:ln w="7144">
            <a:solidFill>
              <a:srgbClr val="EDE9FE"/>
            </a:solidFill>
            <a:prstDash val="solid"/>
          </a:ln>
          <a:effectLst>
            <a:outerShdw sx="100000" sy="100000" kx="0" ky="0" algn="bl" rotWithShape="0" blurRad="342900" dist="133350" dir="5400000">
              <a:srgbClr val="7C3AED">
                <a:alpha val="20000"/>
              </a:srgbClr>
            </a:outerShdw>
          </a:effectLst>
        </p:spPr>
        <p:txBody>
          <a:bodyPr wrap="square" rtlCol="0" anchor="ctr"/>
          <a:lstStyle/>
          <a:p>
            <a:pPr indent="0" marL="0">
              <a:buNone/>
            </a:pPr>
            <a:endParaRPr lang="en-US" dirty="0"/>
          </a:p>
        </p:txBody>
      </p:sp>
      <p:pic>
        <p:nvPicPr>
          <p:cNvPr id="56" name="Image 3" descr="/tmp/h2p-fit-1786522342593-yiq3h9.png">    </p:cNvPr>
          <p:cNvPicPr>
            <a:picLocks noChangeAspect="1"/>
          </p:cNvPicPr>
          <p:nvPr/>
        </p:nvPicPr>
        <p:blipFill>
          <a:blip r:embed="rId4"/>
          <a:stretch>
            <a:fillRect/>
          </a:stretch>
        </p:blipFill>
        <p:spPr>
          <a:xfrm>
            <a:off x="5237485" y="564356"/>
            <a:ext cx="3442060" cy="4143375"/>
          </a:xfrm>
          <a:prstGeom prst="rect">
            <a:avLst/>
          </a:prstGeom>
        </p:spPr>
      </p:pic>
      <p:sp>
        <p:nvSpPr>
          <p:cNvPr id="57" name="Text 51"/>
          <p:cNvSpPr/>
          <p:nvPr/>
        </p:nvSpPr>
        <p:spPr>
          <a:xfrm>
            <a:off x="5357500" y="696516"/>
            <a:ext cx="1009903" cy="200025"/>
          </a:xfrm>
          <a:prstGeom prst="roundRect">
            <a:avLst>
              <a:gd name="adj" fmla="val 4757143"/>
            </a:avLst>
          </a:prstGeom>
          <a:solidFill>
            <a:srgbClr val="FFFFFF">
              <a:alpha val="92000"/>
            </a:srgbClr>
          </a:solidFill>
          <a:ln/>
        </p:spPr>
        <p:txBody>
          <a:bodyPr wrap="square" rtlCol="0" anchor="ctr"/>
          <a:lstStyle/>
          <a:p>
            <a:pPr indent="0" marL="0">
              <a:buNone/>
            </a:pPr>
            <a:endParaRPr lang="en-US" dirty="0"/>
          </a:p>
        </p:txBody>
      </p:sp>
      <p:sp>
        <p:nvSpPr>
          <p:cNvPr id="58" name="Text 52"/>
          <p:cNvSpPr/>
          <p:nvPr/>
        </p:nvSpPr>
        <p:spPr>
          <a:xfrm>
            <a:off x="5451797" y="775097"/>
            <a:ext cx="42863" cy="42863"/>
          </a:xfrm>
          <a:prstGeom prst="roundRect">
            <a:avLst>
              <a:gd name="adj" fmla="val 66666"/>
            </a:avLst>
          </a:prstGeom>
          <a:solidFill>
            <a:srgbClr val="7C3AED"/>
          </a:solidFill>
          <a:ln/>
        </p:spPr>
        <p:txBody>
          <a:bodyPr wrap="square" rtlCol="0" anchor="ctr"/>
          <a:lstStyle/>
          <a:p>
            <a:pPr indent="0" marL="0">
              <a:buNone/>
            </a:pPr>
            <a:endParaRPr lang="en-US" dirty="0"/>
          </a:p>
        </p:txBody>
      </p:sp>
      <p:sp>
        <p:nvSpPr>
          <p:cNvPr id="59" name="Text 53"/>
          <p:cNvSpPr/>
          <p:nvPr/>
        </p:nvSpPr>
        <p:spPr>
          <a:xfrm>
            <a:off x="5380360" y="707231"/>
            <a:ext cx="964183" cy="178594"/>
          </a:xfrm>
          <a:prstGeom prst="rect">
            <a:avLst/>
          </a:prstGeom>
          <a:noFill/>
          <a:ln/>
        </p:spPr>
        <p:txBody>
          <a:bodyPr wrap="none" lIns="0" tIns="0" rIns="0" bIns="0" rtlCol="0" anchor="ctr"/>
          <a:lstStyle/>
          <a:p>
            <a:pPr algn="ctr" indent="0" marL="0">
              <a:lnSpc>
                <a:spcPts val="844"/>
              </a:lnSpc>
              <a:buNone/>
            </a:pPr>
            <a:r>
              <a:rPr lang="en-US" sz="800" b="1" spc="28" kern="0" dirty="0">
                <a:solidFill>
                  <a:srgbClr val="6D28D9"/>
                </a:solidFill>
                <a:latin typeface="Carlito" pitchFamily="34" charset="0"/>
                <a:ea typeface="Carlito" pitchFamily="34" charset="-122"/>
                <a:cs typeface="Carlito" pitchFamily="34" charset="-120"/>
              </a:rPr>
              <a:t>Managed service</a:t>
            </a:r>
            <a:endParaRPr lang="en-US" sz="800" dirty="0"/>
          </a:p>
        </p:txBody>
      </p:sp>
      <p:sp>
        <p:nvSpPr>
          <p:cNvPr id="60" name="Text 54"/>
          <p:cNvSpPr/>
          <p:nvPr/>
        </p:nvSpPr>
        <p:spPr>
          <a:xfrm>
            <a:off x="5394647" y="4153533"/>
            <a:ext cx="3377953" cy="149711"/>
          </a:xfrm>
          <a:prstGeom prst="rect">
            <a:avLst/>
          </a:prstGeom>
          <a:noFill/>
          <a:ln/>
        </p:spPr>
        <p:txBody>
          <a:bodyPr wrap="square" lIns="0" tIns="0" rIns="0" bIns="0" rtlCol="0" anchor="t">
            <a:normAutofit/>
          </a:bodyPr>
          <a:lstStyle/>
          <a:p>
            <a:pPr algn="l" indent="0" marL="0">
              <a:lnSpc>
                <a:spcPts val="1170"/>
              </a:lnSpc>
              <a:buNone/>
            </a:pPr>
            <a:r>
              <a:rPr lang="en-US" sz="900" b="1" dirty="0">
                <a:solidFill>
                  <a:srgbClr val="FFFFFF"/>
                </a:solidFill>
                <a:latin typeface="Carlito" pitchFamily="34" charset="0"/>
                <a:ea typeface="Carlito" pitchFamily="34" charset="-122"/>
                <a:cs typeface="Carlito" pitchFamily="34" charset="-120"/>
              </a:rPr>
              <a:t>We run the platform. You run the service.</a:t>
            </a:r>
            <a:endParaRPr lang="en-US" sz="900" dirty="0"/>
          </a:p>
        </p:txBody>
      </p:sp>
      <p:sp>
        <p:nvSpPr>
          <p:cNvPr id="61" name="Text 55"/>
          <p:cNvSpPr/>
          <p:nvPr/>
        </p:nvSpPr>
        <p:spPr>
          <a:xfrm>
            <a:off x="5394647" y="4330675"/>
            <a:ext cx="3127735" cy="307051"/>
          </a:xfrm>
          <a:prstGeom prst="rect">
            <a:avLst/>
          </a:prstGeom>
          <a:noFill/>
          <a:ln/>
        </p:spPr>
        <p:txBody>
          <a:bodyPr wrap="square" lIns="0" tIns="0" rIns="0" bIns="0" rtlCol="0" anchor="t"/>
          <a:lstStyle/>
          <a:p>
            <a:pPr algn="l" indent="0" marL="0">
              <a:lnSpc>
                <a:spcPts val="866"/>
              </a:lnSpc>
              <a:buNone/>
            </a:pPr>
            <a:r>
              <a:rPr lang="en-US" sz="800" dirty="0">
                <a:solidFill>
                  <a:srgbClr val="FFFFFF">
                    <a:alpha val="85000"/>
                  </a:srgbClr>
                </a:solidFill>
                <a:latin typeface="Carlito" pitchFamily="34" charset="0"/>
                <a:ea typeface="Carlito" pitchFamily="34" charset="-122"/>
                <a:cs typeface="Carlito" pitchFamily="34" charset="-120"/>
              </a:rPr>
              <a:t>Browser console. AWS-hosted. Fully managed. Nothing deployed on your network — and no team needed to keep it running.</a:t>
            </a:r>
            <a:endParaRPr lang="en-US" sz="800" dirty="0"/>
          </a:p>
        </p:txBody>
      </p:sp>
      <p:sp>
        <p:nvSpPr>
          <p:cNvPr id="62" name="Text 56"/>
          <p:cNvSpPr/>
          <p:nvPr/>
        </p:nvSpPr>
        <p:spPr>
          <a:xfrm>
            <a:off x="342900" y="4854178"/>
            <a:ext cx="7019627"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63" name="Text 57"/>
          <p:cNvSpPr/>
          <p:nvPr/>
        </p:nvSpPr>
        <p:spPr>
          <a:xfrm>
            <a:off x="8110389" y="4877395"/>
            <a:ext cx="7144" cy="71438"/>
          </a:xfrm>
          <a:prstGeom prst="rect">
            <a:avLst/>
          </a:prstGeom>
          <a:solidFill>
            <a:srgbClr val="6B7280">
              <a:alpha val="40000"/>
            </a:srgbClr>
          </a:solidFill>
          <a:ln/>
        </p:spPr>
        <p:txBody>
          <a:bodyPr wrap="square" rtlCol="0" anchor="ctr"/>
          <a:lstStyle/>
          <a:p>
            <a:pPr indent="0" marL="0">
              <a:buNone/>
            </a:pPr>
            <a:endParaRPr lang="en-US" dirty="0"/>
          </a:p>
        </p:txBody>
      </p:sp>
      <p:sp>
        <p:nvSpPr>
          <p:cNvPr id="64" name="Text 58"/>
          <p:cNvSpPr/>
          <p:nvPr/>
        </p:nvSpPr>
        <p:spPr>
          <a:xfrm>
            <a:off x="7376815" y="4854178"/>
            <a:ext cx="1767185"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  </a:t>
            </a:r>
            <a:pPr algn="l" indent="0" marL="0">
              <a:lnSpc>
                <a:spcPts val="928"/>
              </a:lnSpc>
              <a:buNone/>
            </a:pPr>
            <a:r>
              <a:rPr lang="en-US" sz="800" spc="25" kern="0" dirty="0">
                <a:solidFill>
                  <a:srgbClr val="6B7280"/>
                </a:solidFill>
                <a:latin typeface="Liberation Sans Narrow" pitchFamily="34" charset="0"/>
                <a:ea typeface="Liberation Sans Narrow" pitchFamily="34" charset="-122"/>
                <a:cs typeface="Liberation Sans Narrow" pitchFamily="34" charset="-120"/>
              </a:rPr>
              <a:t>SLIDE 15 / 24</a:t>
            </a:r>
            <a:endParaRPr lang="en-US" sz="800" dirty="0"/>
          </a:p>
        </p:txBody>
      </p:sp>
      <p:pic>
        <p:nvPicPr>
          <p:cNvPr id="65" name="Image 4" descr="/home/z/my-project/download/slides/massapro-logo.png">    </p:cNvPr>
          <p:cNvPicPr>
            <a:picLocks noChangeAspect="1"/>
          </p:cNvPicPr>
          <p:nvPr/>
        </p:nvPicPr>
        <p:blipFill>
          <a:blip r:embed="rId5"/>
          <a:stretch>
            <a:fillRect/>
          </a:stretch>
        </p:blipFill>
        <p:spPr>
          <a:xfrm>
            <a:off x="342900" y="200025"/>
            <a:ext cx="200025" cy="200025"/>
          </a:xfrm>
          <a:prstGeom prst="rect">
            <a:avLst/>
          </a:prstGeom>
        </p:spPr>
      </p:pic>
      <p:sp>
        <p:nvSpPr>
          <p:cNvPr id="66" name="Text 59"/>
          <p:cNvSpPr/>
          <p:nvPr/>
        </p:nvSpPr>
        <p:spPr>
          <a:xfrm>
            <a:off x="614363" y="219670"/>
            <a:ext cx="769239"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6D28D9"/>
                </a:solidFill>
                <a:latin typeface="Carlito" pitchFamily="34" charset="0"/>
                <a:ea typeface="Carlito" pitchFamily="34" charset="-122"/>
                <a:cs typeface="Carlito" pitchFamily="34" charset="-120"/>
              </a:rPr>
              <a:t>MassaPro</a:t>
            </a:r>
            <a:endParaRPr lang="en-US" sz="844"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tmp/h2p-fit-1786522341544-2c7c20.png">    </p:cNvPr>
          <p:cNvPicPr>
            <a:picLocks noChangeAspect="1"/>
          </p:cNvPicPr>
          <p:nvPr/>
        </p:nvPicPr>
        <p:blipFill>
          <a:blip r:embed="rId1"/>
          <a:stretch>
            <a:fillRect/>
          </a:stretch>
        </p:blipFill>
        <p:spPr>
          <a:xfrm>
            <a:off x="8358188" y="0"/>
            <a:ext cx="785813" cy="5143500"/>
          </a:xfrm>
          <a:prstGeom prst="rect">
            <a:avLst/>
          </a:prstGeom>
        </p:spPr>
      </p:pic>
      <p:pic>
        <p:nvPicPr>
          <p:cNvPr id="3" name="Image 1" descr="preencoded.png">    </p:cNvPr>
          <p:cNvPicPr>
            <a:picLocks noChangeAspect="1"/>
          </p:cNvPicPr>
          <p:nvPr/>
        </p:nvPicPr>
        <p:blipFill>
          <a:blip r:embed="rId2"/>
          <a:stretch>
            <a:fillRect/>
          </a:stretch>
        </p:blipFill>
        <p:spPr>
          <a:xfrm>
            <a:off x="-714375" y="-714375"/>
            <a:ext cx="2000250" cy="2000250"/>
          </a:xfrm>
          <a:prstGeom prst="rect">
            <a:avLst/>
          </a:prstGeom>
        </p:spPr>
      </p:pic>
      <p:sp>
        <p:nvSpPr>
          <p:cNvPr id="4" name="Text 0"/>
          <p:cNvSpPr/>
          <p:nvPr/>
        </p:nvSpPr>
        <p:spPr>
          <a:xfrm>
            <a:off x="-714375" y="-714375"/>
            <a:ext cx="2000250" cy="2000250"/>
          </a:xfrm>
          <a:prstGeom prst="ellipse">
            <a:avLst/>
          </a:prstGeom>
          <a:solidFill>
            <a:srgbClr val="A78BFA">
              <a:alpha val="0"/>
            </a:srgbClr>
          </a:solidFill>
          <a:ln/>
        </p:spPr>
        <p:txBody>
          <a:bodyPr wrap="square" rtlCol="0" anchor="ctr"/>
          <a:lstStyle/>
          <a:p>
            <a:pPr indent="0" marL="0">
              <a:buNone/>
            </a:pPr>
            <a:endParaRPr lang="en-US" dirty="0"/>
          </a:p>
        </p:txBody>
      </p:sp>
      <p:sp>
        <p:nvSpPr>
          <p:cNvPr id="5" name="Text 1"/>
          <p:cNvSpPr/>
          <p:nvPr/>
        </p:nvSpPr>
        <p:spPr>
          <a:xfrm>
            <a:off x="460772" y="560784"/>
            <a:ext cx="2853370" cy="221456"/>
          </a:xfrm>
          <a:prstGeom prst="roundRect">
            <a:avLst>
              <a:gd name="adj" fmla="val 4296779"/>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6" name="Text 2"/>
          <p:cNvSpPr/>
          <p:nvPr/>
        </p:nvSpPr>
        <p:spPr>
          <a:xfrm>
            <a:off x="735806" y="619720"/>
            <a:ext cx="2489039" cy="129679"/>
          </a:xfrm>
          <a:prstGeom prst="rect">
            <a:avLst/>
          </a:prstGeom>
          <a:noFill/>
          <a:ln/>
        </p:spPr>
        <p:txBody>
          <a:bodyPr wrap="square" lIns="85725" tIns="42863" rIns="85725" bIns="42863" rtlCol="0" anchor="t"/>
          <a:lstStyle/>
          <a:p>
            <a:pPr algn="l" indent="0" marL="0">
              <a:lnSpc>
                <a:spcPts val="928"/>
              </a:lnSpc>
              <a:buNone/>
            </a:pPr>
            <a:r>
              <a:rPr lang="en-US" sz="800" b="1" spc="111" kern="0" dirty="0">
                <a:solidFill>
                  <a:srgbClr val="7C3AED"/>
                </a:solidFill>
                <a:latin typeface="Carlito" pitchFamily="34" charset="0"/>
                <a:ea typeface="Carlito" pitchFamily="34" charset="-122"/>
                <a:cs typeface="Carlito" pitchFamily="34" charset="-120"/>
              </a:rPr>
              <a:t>CHAPTER 03 — INTEGRATION &amp; OPERATIONS</a:t>
            </a:r>
            <a:endParaRPr lang="en-US" sz="800" dirty="0"/>
          </a:p>
        </p:txBody>
      </p:sp>
      <p:sp>
        <p:nvSpPr>
          <p:cNvPr id="7" name="Text 3"/>
          <p:cNvSpPr/>
          <p:nvPr/>
        </p:nvSpPr>
        <p:spPr>
          <a:xfrm>
            <a:off x="550069" y="607219"/>
            <a:ext cx="128588" cy="128588"/>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8" name="Text 4"/>
          <p:cNvSpPr/>
          <p:nvPr/>
        </p:nvSpPr>
        <p:spPr>
          <a:xfrm>
            <a:off x="457200" y="857250"/>
            <a:ext cx="7229475" cy="522949"/>
          </a:xfrm>
          <a:prstGeom prst="rect">
            <a:avLst/>
          </a:prstGeom>
          <a:noFill/>
          <a:ln/>
        </p:spPr>
        <p:txBody>
          <a:bodyPr wrap="square" lIns="0" tIns="0" rIns="0" bIns="0" rtlCol="0" anchor="t"/>
          <a:lstStyle/>
          <a:p>
            <a:pPr algn="l" indent="0" marL="0">
              <a:lnSpc>
                <a:spcPts val="1907"/>
              </a:lnSpc>
              <a:buNone/>
            </a:pPr>
            <a:r>
              <a:rPr lang="en-US" sz="1688" b="1" spc="-34" kern="0" dirty="0">
                <a:solidFill>
                  <a:srgbClr val="1F2937"/>
                </a:solidFill>
                <a:latin typeface="Carlito" pitchFamily="34" charset="0"/>
                <a:ea typeface="Carlito" pitchFamily="34" charset="-122"/>
                <a:cs typeface="Carlito" pitchFamily="34" charset="-120"/>
              </a:rPr>
              <a:t>Operational Impact — </a:t>
            </a:r>
            <a:pPr algn="l" indent="0" marL="0">
              <a:lnSpc>
                <a:spcPts val="1907"/>
              </a:lnSpc>
              <a:buNone/>
            </a:pPr>
            <a:r>
              <a:rPr lang="en-US" sz="1688" b="1" spc="-34" kern="0" dirty="0">
                <a:solidFill>
                  <a:srgbClr val="7C3AED"/>
                </a:solidFill>
                <a:latin typeface="Carlito" pitchFamily="34" charset="0"/>
                <a:ea typeface="Carlito" pitchFamily="34" charset="-122"/>
                <a:cs typeface="Carlito" pitchFamily="34" charset="-120"/>
              </a:rPr>
              <a:t>More Coverage on Less Infrastructure</a:t>
            </a:r>
            <a:endParaRPr lang="en-US" sz="1688" dirty="0"/>
          </a:p>
        </p:txBody>
      </p:sp>
      <p:sp>
        <p:nvSpPr>
          <p:cNvPr id="9" name="Text 5"/>
          <p:cNvSpPr/>
          <p:nvPr/>
        </p:nvSpPr>
        <p:spPr>
          <a:xfrm>
            <a:off x="457200" y="1412900"/>
            <a:ext cx="400050" cy="21431"/>
          </a:xfrm>
          <a:prstGeom prst="roundRect">
            <a:avLst>
              <a:gd name="adj" fmla="val 88890"/>
            </a:avLst>
          </a:prstGeom>
          <a:solidFill>
            <a:srgbClr val="7C3AED"/>
          </a:solidFill>
          <a:ln/>
        </p:spPr>
        <p:txBody>
          <a:bodyPr wrap="square" rtlCol="0" anchor="ctr"/>
          <a:lstStyle/>
          <a:p>
            <a:pPr indent="0" marL="0">
              <a:buNone/>
            </a:pPr>
            <a:endParaRPr lang="en-US" dirty="0"/>
          </a:p>
        </p:txBody>
      </p:sp>
      <p:sp>
        <p:nvSpPr>
          <p:cNvPr id="10" name="Text 6"/>
          <p:cNvSpPr/>
          <p:nvPr/>
        </p:nvSpPr>
        <p:spPr>
          <a:xfrm>
            <a:off x="460772" y="1537915"/>
            <a:ext cx="2659819" cy="1551645"/>
          </a:xfrm>
          <a:prstGeom prst="roundRect">
            <a:avLst>
              <a:gd name="adj" fmla="val 11050"/>
            </a:avLst>
          </a:prstGeom>
          <a:solidFill>
            <a:srgbClr val="FFFFFF"/>
          </a:solidFill>
          <a:ln w="7144">
            <a:solidFill>
              <a:srgbClr val="E5E7EB"/>
            </a:solidFill>
            <a:prstDash val="solid"/>
          </a:ln>
          <a:effectLst>
            <a:outerShdw sx="100000" sy="100000" kx="0" ky="0" algn="bl" rotWithShape="0" blurRad="133350" dist="38100" dir="5400000">
              <a:srgbClr val="7C3AED">
                <a:alpha val="6000"/>
              </a:srgbClr>
            </a:outerShdw>
          </a:effectLst>
        </p:spPr>
        <p:txBody>
          <a:bodyPr wrap="square" rtlCol="0" anchor="ctr"/>
          <a:lstStyle/>
          <a:p>
            <a:pPr indent="0" marL="0">
              <a:buNone/>
            </a:pPr>
            <a:endParaRPr lang="en-US" dirty="0"/>
          </a:p>
        </p:txBody>
      </p:sp>
      <p:sp>
        <p:nvSpPr>
          <p:cNvPr id="11" name="Text 7"/>
          <p:cNvSpPr/>
          <p:nvPr/>
        </p:nvSpPr>
        <p:spPr>
          <a:xfrm>
            <a:off x="2774119" y="1670075"/>
            <a:ext cx="228600" cy="228600"/>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12" name="Text 8"/>
          <p:cNvSpPr/>
          <p:nvPr/>
        </p:nvSpPr>
        <p:spPr>
          <a:xfrm>
            <a:off x="2805552" y="1701507"/>
            <a:ext cx="165735" cy="165735"/>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13" name="Text 9"/>
          <p:cNvSpPr/>
          <p:nvPr/>
        </p:nvSpPr>
        <p:spPr>
          <a:xfrm>
            <a:off x="621506" y="1698650"/>
            <a:ext cx="2338350" cy="122587"/>
          </a:xfrm>
          <a:prstGeom prst="rect">
            <a:avLst/>
          </a:prstGeom>
          <a:noFill/>
          <a:ln/>
        </p:spPr>
        <p:txBody>
          <a:bodyPr wrap="none" lIns="0" tIns="0" rIns="0" bIns="0" rtlCol="0" anchor="t">
            <a:normAutofit/>
          </a:bodyPr>
          <a:lstStyle/>
          <a:p>
            <a:pPr algn="l" indent="0" marL="0">
              <a:lnSpc>
                <a:spcPts val="844"/>
              </a:lnSpc>
              <a:buNone/>
            </a:pPr>
            <a:r>
              <a:rPr lang="en-US" sz="800" b="1" spc="101" kern="0" dirty="0">
                <a:solidFill>
                  <a:srgbClr val="6D28D9"/>
                </a:solidFill>
                <a:latin typeface="Carlito" pitchFamily="34" charset="0"/>
                <a:ea typeface="Carlito" pitchFamily="34" charset="-122"/>
                <a:cs typeface="Carlito" pitchFamily="34" charset="-120"/>
              </a:rPr>
              <a:t>AVAILABILITY</a:t>
            </a:r>
            <a:endParaRPr lang="en-US" sz="800" dirty="0"/>
          </a:p>
        </p:txBody>
      </p:sp>
      <p:sp>
        <p:nvSpPr>
          <p:cNvPr id="14" name="Text 10"/>
          <p:cNvSpPr/>
          <p:nvPr/>
        </p:nvSpPr>
        <p:spPr>
          <a:xfrm>
            <a:off x="621506" y="1848669"/>
            <a:ext cx="2338350" cy="531120"/>
          </a:xfrm>
          <a:prstGeom prst="rect">
            <a:avLst/>
          </a:prstGeom>
          <a:noFill/>
          <a:ln/>
        </p:spPr>
        <p:txBody>
          <a:bodyPr wrap="none" lIns="0" tIns="0" rIns="0" bIns="0" rtlCol="0" anchor="t">
            <a:normAutofit/>
          </a:bodyPr>
          <a:lstStyle/>
          <a:p>
            <a:pPr algn="l" indent="0" marL="0">
              <a:lnSpc>
                <a:spcPts val="4061"/>
              </a:lnSpc>
              <a:buNone/>
            </a:pPr>
            <a:r>
              <a:rPr lang="en-US" sz="4275" b="1" spc="-171" kern="0" dirty="0">
                <a:solidFill>
                  <a:srgbClr val="7C3AED"/>
                </a:solidFill>
                <a:latin typeface="Liberation Sans Narrow" pitchFamily="34" charset="0"/>
                <a:ea typeface="Liberation Sans Narrow" pitchFamily="34" charset="-122"/>
                <a:cs typeface="Liberation Sans Narrow" pitchFamily="34" charset="-120"/>
              </a:rPr>
              <a:t>24/7</a:t>
            </a:r>
            <a:endParaRPr lang="en-US" sz="4275" dirty="0"/>
          </a:p>
        </p:txBody>
      </p:sp>
      <p:sp>
        <p:nvSpPr>
          <p:cNvPr id="15" name="Text 11"/>
          <p:cNvSpPr/>
          <p:nvPr/>
        </p:nvSpPr>
        <p:spPr>
          <a:xfrm>
            <a:off x="621506" y="2407221"/>
            <a:ext cx="2338350" cy="151162"/>
          </a:xfrm>
          <a:prstGeom prst="rect">
            <a:avLst/>
          </a:prstGeom>
          <a:noFill/>
          <a:ln/>
        </p:spPr>
        <p:txBody>
          <a:bodyPr wrap="none" lIns="0" tIns="0" rIns="0" bIns="0" rtlCol="0" anchor="t">
            <a:normAutofit/>
          </a:bodyPr>
          <a:lstStyle/>
          <a:p>
            <a:pPr algn="l" indent="0" marL="0">
              <a:lnSpc>
                <a:spcPts val="1181"/>
              </a:lnSpc>
              <a:buNone/>
            </a:pPr>
            <a:r>
              <a:rPr lang="en-US" sz="800" b="1" spc="-8" kern="0" dirty="0">
                <a:solidFill>
                  <a:srgbClr val="1F2937"/>
                </a:solidFill>
                <a:latin typeface="Carlito" pitchFamily="34" charset="0"/>
                <a:ea typeface="Carlito" pitchFamily="34" charset="-122"/>
                <a:cs typeface="Carlito" pitchFamily="34" charset="-120"/>
              </a:rPr>
              <a:t>Continuous availability</a:t>
            </a:r>
            <a:endParaRPr lang="en-US" sz="800" dirty="0"/>
          </a:p>
        </p:txBody>
      </p:sp>
      <p:sp>
        <p:nvSpPr>
          <p:cNvPr id="16" name="Text 12"/>
          <p:cNvSpPr/>
          <p:nvPr/>
        </p:nvSpPr>
        <p:spPr>
          <a:xfrm>
            <a:off x="621506" y="2585814"/>
            <a:ext cx="2338350" cy="357299"/>
          </a:xfrm>
          <a:prstGeom prst="rect">
            <a:avLst/>
          </a:prstGeom>
          <a:noFill/>
          <a:ln/>
        </p:spPr>
        <p:txBody>
          <a:bodyPr wrap="square" lIns="0" tIns="0" rIns="0" bIns="0" rtlCol="0" anchor="t"/>
          <a:lstStyle/>
          <a:p>
            <a:pPr algn="l" indent="0" marL="0">
              <a:lnSpc>
                <a:spcPts val="938"/>
              </a:lnSpc>
              <a:buNone/>
            </a:pPr>
            <a:r>
              <a:rPr lang="en-US" sz="800" dirty="0">
                <a:solidFill>
                  <a:srgbClr val="374151"/>
                </a:solidFill>
                <a:latin typeface="Carlito" pitchFamily="34" charset="0"/>
                <a:ea typeface="Carlito" pitchFamily="34" charset="-122"/>
                <a:cs typeface="Carlito" pitchFamily="34" charset="-120"/>
              </a:rPr>
              <a:t>Shifts &amp; outsourcing cover time slots no physical branch could sustain on its own. The service point is open even when the building is closed.</a:t>
            </a:r>
            <a:endParaRPr lang="en-US" sz="800" dirty="0"/>
          </a:p>
        </p:txBody>
      </p:sp>
      <p:sp>
        <p:nvSpPr>
          <p:cNvPr id="17" name="Text 13"/>
          <p:cNvSpPr/>
          <p:nvPr/>
        </p:nvSpPr>
        <p:spPr>
          <a:xfrm>
            <a:off x="3242035" y="1537915"/>
            <a:ext cx="2659819" cy="1551645"/>
          </a:xfrm>
          <a:prstGeom prst="roundRect">
            <a:avLst>
              <a:gd name="adj" fmla="val 11050"/>
            </a:avLst>
          </a:prstGeom>
          <a:solidFill>
            <a:srgbClr val="FFFFFF"/>
          </a:solidFill>
          <a:ln w="7144">
            <a:solidFill>
              <a:srgbClr val="E5E7EB"/>
            </a:solidFill>
            <a:prstDash val="solid"/>
          </a:ln>
          <a:effectLst>
            <a:outerShdw sx="100000" sy="100000" kx="0" ky="0" algn="bl" rotWithShape="0" blurRad="133350" dist="38100" dir="5400000">
              <a:srgbClr val="7C3AED">
                <a:alpha val="6000"/>
              </a:srgbClr>
            </a:outerShdw>
          </a:effectLst>
        </p:spPr>
        <p:txBody>
          <a:bodyPr wrap="square" rtlCol="0" anchor="ctr"/>
          <a:lstStyle/>
          <a:p>
            <a:pPr indent="0" marL="0">
              <a:buNone/>
            </a:pPr>
            <a:endParaRPr lang="en-US" dirty="0"/>
          </a:p>
        </p:txBody>
      </p:sp>
      <p:sp>
        <p:nvSpPr>
          <p:cNvPr id="18" name="Text 14"/>
          <p:cNvSpPr/>
          <p:nvPr/>
        </p:nvSpPr>
        <p:spPr>
          <a:xfrm>
            <a:off x="5555382" y="1670075"/>
            <a:ext cx="228600" cy="228600"/>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19" name="Text 15"/>
          <p:cNvSpPr/>
          <p:nvPr/>
        </p:nvSpPr>
        <p:spPr>
          <a:xfrm>
            <a:off x="5586814" y="1701507"/>
            <a:ext cx="165735" cy="165735"/>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20" name="Text 16"/>
          <p:cNvSpPr/>
          <p:nvPr/>
        </p:nvSpPr>
        <p:spPr>
          <a:xfrm>
            <a:off x="3402769" y="1698650"/>
            <a:ext cx="2338350" cy="122587"/>
          </a:xfrm>
          <a:prstGeom prst="rect">
            <a:avLst/>
          </a:prstGeom>
          <a:noFill/>
          <a:ln/>
        </p:spPr>
        <p:txBody>
          <a:bodyPr wrap="none" lIns="0" tIns="0" rIns="0" bIns="0" rtlCol="0" anchor="t">
            <a:normAutofit/>
          </a:bodyPr>
          <a:lstStyle/>
          <a:p>
            <a:pPr algn="l" indent="0" marL="0">
              <a:lnSpc>
                <a:spcPts val="844"/>
              </a:lnSpc>
              <a:buNone/>
            </a:pPr>
            <a:r>
              <a:rPr lang="en-US" sz="800" b="1" spc="101" kern="0" dirty="0">
                <a:solidFill>
                  <a:srgbClr val="6D28D9"/>
                </a:solidFill>
                <a:latin typeface="Carlito" pitchFamily="34" charset="0"/>
                <a:ea typeface="Carlito" pitchFamily="34" charset="-122"/>
                <a:cs typeface="Carlito" pitchFamily="34" charset="-120"/>
              </a:rPr>
              <a:t>LEVERAGE</a:t>
            </a:r>
            <a:endParaRPr lang="en-US" sz="800" dirty="0"/>
          </a:p>
        </p:txBody>
      </p:sp>
      <p:sp>
        <p:nvSpPr>
          <p:cNvPr id="21" name="Text 17"/>
          <p:cNvSpPr/>
          <p:nvPr/>
        </p:nvSpPr>
        <p:spPr>
          <a:xfrm>
            <a:off x="3402769" y="1848669"/>
            <a:ext cx="2338350" cy="531120"/>
          </a:xfrm>
          <a:prstGeom prst="rect">
            <a:avLst/>
          </a:prstGeom>
          <a:noFill/>
          <a:ln/>
        </p:spPr>
        <p:txBody>
          <a:bodyPr wrap="none" lIns="0" tIns="0" rIns="0" bIns="0" rtlCol="0" anchor="t">
            <a:normAutofit/>
          </a:bodyPr>
          <a:lstStyle/>
          <a:p>
            <a:pPr algn="l" indent="0" marL="0">
              <a:lnSpc>
                <a:spcPts val="4061"/>
              </a:lnSpc>
              <a:buNone/>
            </a:pPr>
            <a:r>
              <a:rPr lang="en-US" sz="4275" b="1" spc="-171" kern="0" dirty="0">
                <a:solidFill>
                  <a:srgbClr val="7C3AED"/>
                </a:solidFill>
                <a:latin typeface="Liberation Sans Narrow" pitchFamily="34" charset="0"/>
                <a:ea typeface="Liberation Sans Narrow" pitchFamily="34" charset="-122"/>
                <a:cs typeface="Liberation Sans Narrow" pitchFamily="34" charset="-120"/>
              </a:rPr>
              <a:t>1:N</a:t>
            </a:r>
            <a:endParaRPr lang="en-US" sz="4275" dirty="0"/>
          </a:p>
        </p:txBody>
      </p:sp>
      <p:sp>
        <p:nvSpPr>
          <p:cNvPr id="22" name="Text 18"/>
          <p:cNvSpPr/>
          <p:nvPr/>
        </p:nvSpPr>
        <p:spPr>
          <a:xfrm>
            <a:off x="3402769" y="2407221"/>
            <a:ext cx="2448078" cy="151162"/>
          </a:xfrm>
          <a:prstGeom prst="rect">
            <a:avLst/>
          </a:prstGeom>
          <a:noFill/>
          <a:ln/>
        </p:spPr>
        <p:txBody>
          <a:bodyPr wrap="square" lIns="0" tIns="0" rIns="0" bIns="0" rtlCol="0" anchor="t">
            <a:normAutofit/>
          </a:bodyPr>
          <a:lstStyle/>
          <a:p>
            <a:pPr algn="l" indent="0" marL="0">
              <a:lnSpc>
                <a:spcPts val="1181"/>
              </a:lnSpc>
              <a:buNone/>
            </a:pPr>
            <a:r>
              <a:rPr lang="en-US" sz="800" b="1" spc="-8" kern="0" dirty="0">
                <a:solidFill>
                  <a:srgbClr val="1F2937"/>
                </a:solidFill>
                <a:latin typeface="Carlito" pitchFamily="34" charset="0"/>
                <a:ea typeface="Carlito" pitchFamily="34" charset="-122"/>
                <a:cs typeface="Carlito" pitchFamily="34" charset="-120"/>
              </a:rPr>
              <a:t>One team, the entire network</a:t>
            </a:r>
            <a:endParaRPr lang="en-US" sz="800" dirty="0"/>
          </a:p>
        </p:txBody>
      </p:sp>
      <p:sp>
        <p:nvSpPr>
          <p:cNvPr id="23" name="Text 19"/>
          <p:cNvSpPr/>
          <p:nvPr/>
        </p:nvSpPr>
        <p:spPr>
          <a:xfrm>
            <a:off x="3402769" y="2585814"/>
            <a:ext cx="2338350" cy="357299"/>
          </a:xfrm>
          <a:prstGeom prst="rect">
            <a:avLst/>
          </a:prstGeom>
          <a:noFill/>
          <a:ln/>
        </p:spPr>
        <p:txBody>
          <a:bodyPr wrap="square" lIns="0" tIns="0" rIns="0" bIns="0" rtlCol="0" anchor="t"/>
          <a:lstStyle/>
          <a:p>
            <a:pPr algn="l" indent="0" marL="0">
              <a:lnSpc>
                <a:spcPts val="938"/>
              </a:lnSpc>
              <a:buNone/>
            </a:pPr>
            <a:r>
              <a:rPr lang="en-US" sz="800" dirty="0">
                <a:solidFill>
                  <a:srgbClr val="374151"/>
                </a:solidFill>
                <a:latin typeface="Carlito" pitchFamily="34" charset="0"/>
                <a:ea typeface="Carlito" pitchFamily="34" charset="-122"/>
                <a:cs typeface="Carlito" pitchFamily="34" charset="-120"/>
              </a:rPr>
              <a:t>The same group of advisors serves every contact point at once, cutting operating costs. A specialist at HQ can serve any branch, kiosk, or QR sticker.</a:t>
            </a:r>
            <a:endParaRPr lang="en-US" sz="800" dirty="0"/>
          </a:p>
        </p:txBody>
      </p:sp>
      <p:sp>
        <p:nvSpPr>
          <p:cNvPr id="24" name="Text 20"/>
          <p:cNvSpPr/>
          <p:nvPr/>
        </p:nvSpPr>
        <p:spPr>
          <a:xfrm>
            <a:off x="6023297" y="1537915"/>
            <a:ext cx="2659931" cy="1551645"/>
          </a:xfrm>
          <a:prstGeom prst="roundRect">
            <a:avLst>
              <a:gd name="adj" fmla="val 11050"/>
            </a:avLst>
          </a:prstGeom>
          <a:solidFill>
            <a:srgbClr val="FFFFFF"/>
          </a:solidFill>
          <a:ln w="7144">
            <a:solidFill>
              <a:srgbClr val="E5E7EB"/>
            </a:solidFill>
            <a:prstDash val="solid"/>
          </a:ln>
          <a:effectLst>
            <a:outerShdw sx="100000" sy="100000" kx="0" ky="0" algn="bl" rotWithShape="0" blurRad="133350" dist="38100" dir="5400000">
              <a:srgbClr val="7C3AED">
                <a:alpha val="6000"/>
              </a:srgbClr>
            </a:outerShdw>
          </a:effectLst>
        </p:spPr>
        <p:txBody>
          <a:bodyPr wrap="square" rtlCol="0" anchor="ctr"/>
          <a:lstStyle/>
          <a:p>
            <a:pPr indent="0" marL="0">
              <a:buNone/>
            </a:pPr>
            <a:endParaRPr lang="en-US" dirty="0"/>
          </a:p>
        </p:txBody>
      </p:sp>
      <p:sp>
        <p:nvSpPr>
          <p:cNvPr id="25" name="Text 21"/>
          <p:cNvSpPr/>
          <p:nvPr/>
        </p:nvSpPr>
        <p:spPr>
          <a:xfrm>
            <a:off x="8336756" y="1670075"/>
            <a:ext cx="228600" cy="228600"/>
          </a:xfrm>
          <a:prstGeom prst="roundRect">
            <a:avLst>
              <a:gd name="adj" fmla="val 33333"/>
            </a:avLst>
          </a:prstGeom>
          <a:solidFill>
            <a:srgbClr val="F5F3FF"/>
          </a:solidFill>
          <a:ln/>
        </p:spPr>
        <p:txBody>
          <a:bodyPr wrap="square" rtlCol="0" anchor="ctr"/>
          <a:lstStyle/>
          <a:p>
            <a:pPr indent="0" marL="0">
              <a:buNone/>
            </a:pPr>
            <a:endParaRPr lang="en-US" dirty="0"/>
          </a:p>
        </p:txBody>
      </p:sp>
      <p:sp>
        <p:nvSpPr>
          <p:cNvPr id="26" name="Text 22"/>
          <p:cNvSpPr/>
          <p:nvPr/>
        </p:nvSpPr>
        <p:spPr>
          <a:xfrm>
            <a:off x="8368189" y="1701507"/>
            <a:ext cx="165735" cy="165735"/>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27" name="Text 23"/>
          <p:cNvSpPr/>
          <p:nvPr/>
        </p:nvSpPr>
        <p:spPr>
          <a:xfrm>
            <a:off x="6184032" y="1698650"/>
            <a:ext cx="2338462" cy="122587"/>
          </a:xfrm>
          <a:prstGeom prst="rect">
            <a:avLst/>
          </a:prstGeom>
          <a:noFill/>
          <a:ln/>
        </p:spPr>
        <p:txBody>
          <a:bodyPr wrap="none" lIns="0" tIns="0" rIns="0" bIns="0" rtlCol="0" anchor="t">
            <a:normAutofit/>
          </a:bodyPr>
          <a:lstStyle/>
          <a:p>
            <a:pPr algn="l" indent="0" marL="0">
              <a:lnSpc>
                <a:spcPts val="844"/>
              </a:lnSpc>
              <a:buNone/>
            </a:pPr>
            <a:r>
              <a:rPr lang="en-US" sz="800" b="1" spc="101" kern="0" dirty="0">
                <a:solidFill>
                  <a:srgbClr val="6D28D9"/>
                </a:solidFill>
                <a:latin typeface="Carlito" pitchFamily="34" charset="0"/>
                <a:ea typeface="Carlito" pitchFamily="34" charset="-122"/>
                <a:cs typeface="Carlito" pitchFamily="34" charset="-120"/>
              </a:rPr>
              <a:t>FOOTPRINT</a:t>
            </a:r>
            <a:endParaRPr lang="en-US" sz="800" dirty="0"/>
          </a:p>
        </p:txBody>
      </p:sp>
      <p:sp>
        <p:nvSpPr>
          <p:cNvPr id="28" name="Text 24"/>
          <p:cNvSpPr/>
          <p:nvPr/>
        </p:nvSpPr>
        <p:spPr>
          <a:xfrm>
            <a:off x="6184032" y="1848669"/>
            <a:ext cx="2338462" cy="531120"/>
          </a:xfrm>
          <a:prstGeom prst="rect">
            <a:avLst/>
          </a:prstGeom>
          <a:noFill/>
          <a:ln/>
        </p:spPr>
        <p:txBody>
          <a:bodyPr wrap="none" lIns="0" tIns="0" rIns="0" bIns="0" rtlCol="0" anchor="t">
            <a:normAutofit/>
          </a:bodyPr>
          <a:lstStyle/>
          <a:p>
            <a:pPr algn="l" indent="0" marL="0">
              <a:lnSpc>
                <a:spcPts val="4061"/>
              </a:lnSpc>
              <a:buNone/>
            </a:pPr>
            <a:r>
              <a:rPr lang="en-US" sz="4275" b="1" spc="-171" kern="0" dirty="0">
                <a:solidFill>
                  <a:srgbClr val="7C3AED"/>
                </a:solidFill>
                <a:latin typeface="Liberation Sans Narrow" pitchFamily="34" charset="0"/>
                <a:ea typeface="Liberation Sans Narrow" pitchFamily="34" charset="-122"/>
                <a:cs typeface="Liberation Sans Narrow" pitchFamily="34" charset="-120"/>
              </a:rPr>
              <a:t>+0</a:t>
            </a:r>
            <a:endParaRPr lang="en-US" sz="4275" dirty="0"/>
          </a:p>
        </p:txBody>
      </p:sp>
      <p:sp>
        <p:nvSpPr>
          <p:cNvPr id="29" name="Text 25"/>
          <p:cNvSpPr/>
          <p:nvPr/>
        </p:nvSpPr>
        <p:spPr>
          <a:xfrm>
            <a:off x="6184032" y="2407221"/>
            <a:ext cx="2338462" cy="151162"/>
          </a:xfrm>
          <a:prstGeom prst="rect">
            <a:avLst/>
          </a:prstGeom>
          <a:noFill/>
          <a:ln/>
        </p:spPr>
        <p:txBody>
          <a:bodyPr wrap="none" lIns="0" tIns="0" rIns="0" bIns="0" rtlCol="0" anchor="t">
            <a:normAutofit/>
          </a:bodyPr>
          <a:lstStyle/>
          <a:p>
            <a:pPr algn="l" indent="0" marL="0">
              <a:lnSpc>
                <a:spcPts val="1181"/>
              </a:lnSpc>
              <a:buNone/>
            </a:pPr>
            <a:r>
              <a:rPr lang="en-US" sz="800" b="1" spc="-8" kern="0" dirty="0">
                <a:solidFill>
                  <a:srgbClr val="1F2937"/>
                </a:solidFill>
                <a:latin typeface="Carlito" pitchFamily="34" charset="0"/>
                <a:ea typeface="Carlito" pitchFamily="34" charset="-122"/>
                <a:cs typeface="Carlito" pitchFamily="34" charset="-120"/>
              </a:rPr>
              <a:t>Staff at the point</a:t>
            </a:r>
            <a:endParaRPr lang="en-US" sz="800" dirty="0"/>
          </a:p>
        </p:txBody>
      </p:sp>
      <p:sp>
        <p:nvSpPr>
          <p:cNvPr id="30" name="Text 26"/>
          <p:cNvSpPr/>
          <p:nvPr/>
        </p:nvSpPr>
        <p:spPr>
          <a:xfrm>
            <a:off x="6184032" y="2585814"/>
            <a:ext cx="2338462" cy="357299"/>
          </a:xfrm>
          <a:prstGeom prst="rect">
            <a:avLst/>
          </a:prstGeom>
          <a:noFill/>
          <a:ln/>
        </p:spPr>
        <p:txBody>
          <a:bodyPr wrap="square" lIns="0" tIns="0" rIns="0" bIns="0" rtlCol="0" anchor="t"/>
          <a:lstStyle/>
          <a:p>
            <a:pPr algn="l" indent="0" marL="0">
              <a:lnSpc>
                <a:spcPts val="938"/>
              </a:lnSpc>
              <a:buNone/>
            </a:pPr>
            <a:r>
              <a:rPr lang="en-US" sz="800" dirty="0">
                <a:solidFill>
                  <a:srgbClr val="374151"/>
                </a:solidFill>
                <a:latin typeface="Carlito" pitchFamily="34" charset="0"/>
                <a:ea typeface="Carlito" pitchFamily="34" charset="-122"/>
                <a:cs typeface="Carlito" pitchFamily="34" charset="-120"/>
              </a:rPr>
              <a:t>The service point works even with no assigned staff. Just a screen and connectivity. The fixed cost drops to hardware and bandwidth.</a:t>
            </a:r>
            <a:endParaRPr lang="en-US" sz="800" dirty="0"/>
          </a:p>
        </p:txBody>
      </p:sp>
      <p:pic>
        <p:nvPicPr>
          <p:cNvPr id="31" name="Image 2" descr="preencoded.png">    </p:cNvPr>
          <p:cNvPicPr>
            <a:picLocks noChangeAspect="1"/>
          </p:cNvPicPr>
          <p:nvPr/>
        </p:nvPicPr>
        <p:blipFill>
          <a:blip r:embed="rId3"/>
          <a:stretch>
            <a:fillRect/>
          </a:stretch>
        </p:blipFill>
        <p:spPr>
          <a:xfrm>
            <a:off x="457200" y="3193145"/>
            <a:ext cx="8229600" cy="750094"/>
          </a:xfrm>
          <a:prstGeom prst="rect">
            <a:avLst/>
          </a:prstGeom>
        </p:spPr>
      </p:pic>
      <p:pic>
        <p:nvPicPr>
          <p:cNvPr id="32" name="Image 3" descr="preencoded.png">    </p:cNvPr>
          <p:cNvPicPr>
            <a:picLocks noChangeAspect="1"/>
          </p:cNvPicPr>
          <p:nvPr/>
        </p:nvPicPr>
        <p:blipFill>
          <a:blip r:embed="rId4"/>
          <a:stretch>
            <a:fillRect/>
          </a:stretch>
        </p:blipFill>
        <p:spPr>
          <a:xfrm>
            <a:off x="585788" y="3293157"/>
            <a:ext cx="400050" cy="400050"/>
          </a:xfrm>
          <a:prstGeom prst="rect">
            <a:avLst/>
          </a:prstGeom>
        </p:spPr>
      </p:pic>
      <p:sp>
        <p:nvSpPr>
          <p:cNvPr id="33" name="Text 27"/>
          <p:cNvSpPr/>
          <p:nvPr/>
        </p:nvSpPr>
        <p:spPr>
          <a:xfrm>
            <a:off x="702945" y="3410315"/>
            <a:ext cx="165735" cy="165735"/>
          </a:xfrm>
          <a:prstGeom prst="rect">
            <a:avLst/>
          </a:prstGeom>
          <a:noFill/>
          <a:ln/>
        </p:spPr>
        <p:txBody>
          <a:bodyPr wrap="none" lIns="0" tIns="0" rIns="0" bIns="0" rtlCol="0" anchor="ctr"/>
          <a:lstStyle/>
          <a:p>
            <a:pPr algn="ctr" indent="0" marL="0">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34" name="Text 28"/>
          <p:cNvSpPr/>
          <p:nvPr/>
        </p:nvSpPr>
        <p:spPr>
          <a:xfrm>
            <a:off x="615032" y="3736070"/>
            <a:ext cx="461063" cy="107156"/>
          </a:xfrm>
          <a:prstGeom prst="rect">
            <a:avLst/>
          </a:prstGeom>
          <a:noFill/>
          <a:ln/>
        </p:spPr>
        <p:txBody>
          <a:bodyPr wrap="none" lIns="0" tIns="0" rIns="0" bIns="0" rtlCol="0" anchor="t"/>
          <a:lstStyle/>
          <a:p>
            <a:pPr algn="l" indent="0" marL="0">
              <a:lnSpc>
                <a:spcPts val="844"/>
              </a:lnSpc>
              <a:buNone/>
            </a:pPr>
            <a:r>
              <a:rPr lang="en-US" sz="800" b="1" spc="56" kern="0" dirty="0">
                <a:solidFill>
                  <a:srgbClr val="6D28D9"/>
                </a:solidFill>
                <a:latin typeface="Liberation Sans Narrow" pitchFamily="34" charset="0"/>
                <a:ea typeface="Liberation Sans Narrow" pitchFamily="34" charset="-122"/>
                <a:cs typeface="Liberation Sans Narrow" pitchFamily="34" charset="-120"/>
              </a:rPr>
              <a:t>1 TEAM</a:t>
            </a:r>
            <a:endParaRPr lang="en-US" sz="800" dirty="0"/>
          </a:p>
        </p:txBody>
      </p:sp>
      <p:sp>
        <p:nvSpPr>
          <p:cNvPr id="35" name="Text 29"/>
          <p:cNvSpPr/>
          <p:nvPr/>
        </p:nvSpPr>
        <p:spPr>
          <a:xfrm>
            <a:off x="1537804" y="3446748"/>
            <a:ext cx="242888" cy="242888"/>
          </a:xfrm>
          <a:prstGeom prst="roundRect">
            <a:avLst>
              <a:gd name="adj" fmla="val 39216"/>
            </a:avLst>
          </a:prstGeom>
          <a:solidFill>
            <a:srgbClr val="FFFFFF"/>
          </a:solidFill>
          <a:ln w="14288">
            <a:solidFill>
              <a:srgbClr val="7C3AED"/>
            </a:solidFill>
            <a:prstDash val="solid"/>
          </a:ln>
          <a:effectLst>
            <a:outerShdw sx="100000" sy="100000" kx="0" ky="0" algn="bl" rotWithShape="0" blurRad="95250" dist="38100" dir="5400000">
              <a:srgbClr val="7C3AED">
                <a:alpha val="15000"/>
              </a:srgbClr>
            </a:outerShdw>
          </a:effectLst>
        </p:spPr>
        <p:txBody>
          <a:bodyPr wrap="square" rtlCol="0" anchor="ctr"/>
          <a:lstStyle/>
          <a:p>
            <a:pPr indent="0" marL="0">
              <a:buNone/>
            </a:pPr>
            <a:endParaRPr lang="en-US" dirty="0"/>
          </a:p>
        </p:txBody>
      </p:sp>
      <p:sp>
        <p:nvSpPr>
          <p:cNvPr id="36" name="Text 30"/>
          <p:cNvSpPr/>
          <p:nvPr/>
        </p:nvSpPr>
        <p:spPr>
          <a:xfrm>
            <a:off x="1566022" y="3474966"/>
            <a:ext cx="186452" cy="186452"/>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37" name="Text 31"/>
          <p:cNvSpPr/>
          <p:nvPr/>
        </p:nvSpPr>
        <p:spPr>
          <a:xfrm>
            <a:off x="2627561" y="3446748"/>
            <a:ext cx="242888" cy="242888"/>
          </a:xfrm>
          <a:prstGeom prst="roundRect">
            <a:avLst>
              <a:gd name="adj" fmla="val 39216"/>
            </a:avLst>
          </a:prstGeom>
          <a:solidFill>
            <a:srgbClr val="FFFFFF"/>
          </a:solidFill>
          <a:ln w="14288">
            <a:solidFill>
              <a:srgbClr val="7C3AED"/>
            </a:solidFill>
            <a:prstDash val="solid"/>
          </a:ln>
          <a:effectLst>
            <a:outerShdw sx="100000" sy="100000" kx="0" ky="0" algn="bl" rotWithShape="0" blurRad="95250" dist="38100" dir="5400000">
              <a:srgbClr val="7C3AED">
                <a:alpha val="15000"/>
              </a:srgbClr>
            </a:outerShdw>
          </a:effectLst>
        </p:spPr>
        <p:txBody>
          <a:bodyPr wrap="square" rtlCol="0" anchor="ctr"/>
          <a:lstStyle/>
          <a:p>
            <a:pPr indent="0" marL="0">
              <a:buNone/>
            </a:pPr>
            <a:endParaRPr lang="en-US" dirty="0"/>
          </a:p>
        </p:txBody>
      </p:sp>
      <p:sp>
        <p:nvSpPr>
          <p:cNvPr id="38" name="Text 32"/>
          <p:cNvSpPr/>
          <p:nvPr/>
        </p:nvSpPr>
        <p:spPr>
          <a:xfrm>
            <a:off x="2655778" y="3474966"/>
            <a:ext cx="186452" cy="186452"/>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39" name="Text 33"/>
          <p:cNvSpPr/>
          <p:nvPr/>
        </p:nvSpPr>
        <p:spPr>
          <a:xfrm>
            <a:off x="3717429" y="3446748"/>
            <a:ext cx="242888" cy="242888"/>
          </a:xfrm>
          <a:prstGeom prst="roundRect">
            <a:avLst>
              <a:gd name="adj" fmla="val 39216"/>
            </a:avLst>
          </a:prstGeom>
          <a:solidFill>
            <a:srgbClr val="FFFFFF"/>
          </a:solidFill>
          <a:ln w="14288">
            <a:solidFill>
              <a:srgbClr val="7C3AED"/>
            </a:solidFill>
            <a:prstDash val="solid"/>
          </a:ln>
          <a:effectLst>
            <a:outerShdw sx="100000" sy="100000" kx="0" ky="0" algn="bl" rotWithShape="0" blurRad="95250" dist="38100" dir="5400000">
              <a:srgbClr val="7C3AED">
                <a:alpha val="15000"/>
              </a:srgbClr>
            </a:outerShdw>
          </a:effectLst>
        </p:spPr>
        <p:txBody>
          <a:bodyPr wrap="square" rtlCol="0" anchor="ctr"/>
          <a:lstStyle/>
          <a:p>
            <a:pPr indent="0" marL="0">
              <a:buNone/>
            </a:pPr>
            <a:endParaRPr lang="en-US" dirty="0"/>
          </a:p>
        </p:txBody>
      </p:sp>
      <p:sp>
        <p:nvSpPr>
          <p:cNvPr id="40" name="Text 34"/>
          <p:cNvSpPr/>
          <p:nvPr/>
        </p:nvSpPr>
        <p:spPr>
          <a:xfrm>
            <a:off x="3745647" y="3474966"/>
            <a:ext cx="186452" cy="186452"/>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41" name="Text 35"/>
          <p:cNvSpPr/>
          <p:nvPr/>
        </p:nvSpPr>
        <p:spPr>
          <a:xfrm>
            <a:off x="4807186" y="3446748"/>
            <a:ext cx="242888" cy="242888"/>
          </a:xfrm>
          <a:prstGeom prst="roundRect">
            <a:avLst>
              <a:gd name="adj" fmla="val 39216"/>
            </a:avLst>
          </a:prstGeom>
          <a:solidFill>
            <a:srgbClr val="FFFFFF"/>
          </a:solidFill>
          <a:ln w="14288">
            <a:solidFill>
              <a:srgbClr val="7C3AED"/>
            </a:solidFill>
            <a:prstDash val="solid"/>
          </a:ln>
          <a:effectLst>
            <a:outerShdw sx="100000" sy="100000" kx="0" ky="0" algn="bl" rotWithShape="0" blurRad="95250" dist="38100" dir="5400000">
              <a:srgbClr val="7C3AED">
                <a:alpha val="15000"/>
              </a:srgbClr>
            </a:outerShdw>
          </a:effectLst>
        </p:spPr>
        <p:txBody>
          <a:bodyPr wrap="square" rtlCol="0" anchor="ctr"/>
          <a:lstStyle/>
          <a:p>
            <a:pPr indent="0" marL="0">
              <a:buNone/>
            </a:pPr>
            <a:endParaRPr lang="en-US" dirty="0"/>
          </a:p>
        </p:txBody>
      </p:sp>
      <p:sp>
        <p:nvSpPr>
          <p:cNvPr id="42" name="Text 36"/>
          <p:cNvSpPr/>
          <p:nvPr/>
        </p:nvSpPr>
        <p:spPr>
          <a:xfrm>
            <a:off x="4835403" y="3474966"/>
            <a:ext cx="186452" cy="186452"/>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43" name="Text 37"/>
          <p:cNvSpPr/>
          <p:nvPr/>
        </p:nvSpPr>
        <p:spPr>
          <a:xfrm>
            <a:off x="5896942" y="3446748"/>
            <a:ext cx="242888" cy="242888"/>
          </a:xfrm>
          <a:prstGeom prst="roundRect">
            <a:avLst>
              <a:gd name="adj" fmla="val 39216"/>
            </a:avLst>
          </a:prstGeom>
          <a:solidFill>
            <a:srgbClr val="FFFFFF"/>
          </a:solidFill>
          <a:ln w="14288">
            <a:solidFill>
              <a:srgbClr val="7C3AED"/>
            </a:solidFill>
            <a:prstDash val="solid"/>
          </a:ln>
          <a:effectLst>
            <a:outerShdw sx="100000" sy="100000" kx="0" ky="0" algn="bl" rotWithShape="0" blurRad="95250" dist="38100" dir="5400000">
              <a:srgbClr val="7C3AED">
                <a:alpha val="15000"/>
              </a:srgbClr>
            </a:outerShdw>
          </a:effectLst>
        </p:spPr>
        <p:txBody>
          <a:bodyPr wrap="square" rtlCol="0" anchor="ctr"/>
          <a:lstStyle/>
          <a:p>
            <a:pPr indent="0" marL="0">
              <a:buNone/>
            </a:pPr>
            <a:endParaRPr lang="en-US" dirty="0"/>
          </a:p>
        </p:txBody>
      </p:sp>
      <p:sp>
        <p:nvSpPr>
          <p:cNvPr id="44" name="Text 38"/>
          <p:cNvSpPr/>
          <p:nvPr/>
        </p:nvSpPr>
        <p:spPr>
          <a:xfrm>
            <a:off x="5925160" y="3474966"/>
            <a:ext cx="186452" cy="186452"/>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45" name="Text 39"/>
          <p:cNvSpPr/>
          <p:nvPr/>
        </p:nvSpPr>
        <p:spPr>
          <a:xfrm>
            <a:off x="6986811" y="3446748"/>
            <a:ext cx="242888" cy="242888"/>
          </a:xfrm>
          <a:prstGeom prst="roundRect">
            <a:avLst>
              <a:gd name="adj" fmla="val 39216"/>
            </a:avLst>
          </a:prstGeom>
          <a:solidFill>
            <a:srgbClr val="FFFFFF"/>
          </a:solidFill>
          <a:ln w="14288">
            <a:solidFill>
              <a:srgbClr val="7C3AED"/>
            </a:solidFill>
            <a:prstDash val="solid"/>
          </a:ln>
          <a:effectLst>
            <a:outerShdw sx="100000" sy="100000" kx="0" ky="0" algn="bl" rotWithShape="0" blurRad="95250" dist="38100" dir="5400000">
              <a:srgbClr val="7C3AED">
                <a:alpha val="15000"/>
              </a:srgbClr>
            </a:outerShdw>
          </a:effectLst>
        </p:spPr>
        <p:txBody>
          <a:bodyPr wrap="square" rtlCol="0" anchor="ctr"/>
          <a:lstStyle/>
          <a:p>
            <a:pPr indent="0" marL="0">
              <a:buNone/>
            </a:pPr>
            <a:endParaRPr lang="en-US" dirty="0"/>
          </a:p>
        </p:txBody>
      </p:sp>
      <p:sp>
        <p:nvSpPr>
          <p:cNvPr id="46" name="Text 40"/>
          <p:cNvSpPr/>
          <p:nvPr/>
        </p:nvSpPr>
        <p:spPr>
          <a:xfrm>
            <a:off x="7015029" y="3474966"/>
            <a:ext cx="186452" cy="186452"/>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47" name="Text 41"/>
          <p:cNvSpPr/>
          <p:nvPr/>
        </p:nvSpPr>
        <p:spPr>
          <a:xfrm>
            <a:off x="7781776" y="3396742"/>
            <a:ext cx="776436" cy="370332"/>
          </a:xfrm>
          <a:prstGeom prst="rect">
            <a:avLst/>
          </a:prstGeom>
          <a:noFill/>
          <a:ln/>
        </p:spPr>
        <p:txBody>
          <a:bodyPr wrap="square" lIns="0" tIns="0" rIns="0" bIns="0" rtlCol="0" anchor="t"/>
          <a:lstStyle/>
          <a:p>
            <a:pPr algn="r" indent="0" marL="0">
              <a:lnSpc>
                <a:spcPts val="1350"/>
              </a:lnSpc>
              <a:buNone/>
            </a:pPr>
            <a:r>
              <a:rPr lang="en-US" sz="900" b="1" dirty="0">
                <a:solidFill>
                  <a:srgbClr val="6D28D9"/>
                </a:solidFill>
                <a:latin typeface="Carlito" pitchFamily="34" charset="0"/>
                <a:ea typeface="Carlito" pitchFamily="34" charset="-122"/>
                <a:cs typeface="Carlito" pitchFamily="34" charset="-120"/>
              </a:rPr>
              <a:t>N Points</a:t>
            </a:r>
            <a:endParaRPr lang="en-US" sz="900" dirty="0"/>
          </a:p>
          <a:p>
            <a:pPr algn="r" indent="0" marL="0">
              <a:lnSpc>
                <a:spcPts val="1350"/>
              </a:lnSpc>
              <a:buNone/>
            </a:pPr>
            <a:r>
              <a:rPr lang="en-US" sz="800" b="1" spc="56" kern="0" dirty="0">
                <a:solidFill>
                  <a:srgbClr val="6B7280"/>
                </a:solidFill>
                <a:latin typeface="Carlito" pitchFamily="34" charset="0"/>
                <a:ea typeface="Carlito" pitchFamily="34" charset="-122"/>
                <a:cs typeface="Carlito" pitchFamily="34" charset="-120"/>
              </a:rPr>
              <a:t>SAME PLATFORM</a:t>
            </a:r>
            <a:endParaRPr lang="en-US" sz="900" dirty="0"/>
          </a:p>
        </p:txBody>
      </p:sp>
      <p:sp>
        <p:nvSpPr>
          <p:cNvPr id="48" name="Text 42"/>
          <p:cNvSpPr/>
          <p:nvPr/>
        </p:nvSpPr>
        <p:spPr>
          <a:xfrm>
            <a:off x="457200" y="4028963"/>
            <a:ext cx="8229600" cy="447154"/>
          </a:xfrm>
          <a:prstGeom prst="roundRect">
            <a:avLst>
              <a:gd name="adj" fmla="val 29822"/>
            </a:avLst>
          </a:prstGeom>
          <a:solidFill>
            <a:srgbClr val="7C3AED"/>
          </a:solidFill>
          <a:ln/>
          <a:effectLst>
            <a:outerShdw sx="100000" sy="100000" kx="0" ky="0" algn="bl" rotWithShape="0" blurRad="190500" dist="76200" dir="5400000">
              <a:srgbClr val="7C3AED">
                <a:alpha val="30000"/>
              </a:srgbClr>
            </a:outerShdw>
          </a:effectLst>
        </p:spPr>
        <p:txBody>
          <a:bodyPr wrap="square" rtlCol="0" anchor="ctr"/>
          <a:lstStyle/>
          <a:p>
            <a:pPr indent="0" marL="0">
              <a:buNone/>
            </a:pPr>
            <a:endParaRPr lang="en-US" dirty="0"/>
          </a:p>
        </p:txBody>
      </p:sp>
      <p:sp>
        <p:nvSpPr>
          <p:cNvPr id="49" name="Text 43"/>
          <p:cNvSpPr/>
          <p:nvPr/>
        </p:nvSpPr>
        <p:spPr>
          <a:xfrm>
            <a:off x="585788" y="4123953"/>
            <a:ext cx="257175" cy="257175"/>
          </a:xfrm>
          <a:prstGeom prst="roundRect">
            <a:avLst>
              <a:gd name="adj" fmla="val 37037"/>
            </a:avLst>
          </a:prstGeom>
          <a:solidFill>
            <a:srgbClr val="FFFFFF">
              <a:alpha val="18000"/>
            </a:srgbClr>
          </a:solidFill>
          <a:ln/>
        </p:spPr>
        <p:txBody>
          <a:bodyPr wrap="square" rtlCol="0" anchor="ctr"/>
          <a:lstStyle/>
          <a:p>
            <a:pPr indent="0" marL="0">
              <a:buNone/>
            </a:pPr>
            <a:endParaRPr lang="en-US" dirty="0"/>
          </a:p>
        </p:txBody>
      </p:sp>
      <p:sp>
        <p:nvSpPr>
          <p:cNvPr id="50" name="Text 44"/>
          <p:cNvSpPr/>
          <p:nvPr/>
        </p:nvSpPr>
        <p:spPr>
          <a:xfrm>
            <a:off x="631508" y="4169673"/>
            <a:ext cx="165735" cy="165735"/>
          </a:xfrm>
          <a:prstGeom prst="rect">
            <a:avLst/>
          </a:prstGeom>
          <a:noFill/>
          <a:ln/>
        </p:spPr>
        <p:txBody>
          <a:bodyPr wrap="none" lIns="0" tIns="0" rIns="0" bIns="0" rtlCol="0" anchor="ctr"/>
          <a:lstStyle/>
          <a:p>
            <a:pPr algn="ctr" indent="0" marL="0">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51" name="Text 45"/>
          <p:cNvSpPr/>
          <p:nvPr/>
        </p:nvSpPr>
        <p:spPr>
          <a:xfrm>
            <a:off x="928688" y="4114688"/>
            <a:ext cx="7629525" cy="141116"/>
          </a:xfrm>
          <a:prstGeom prst="rect">
            <a:avLst/>
          </a:prstGeom>
          <a:noFill/>
          <a:ln/>
        </p:spPr>
        <p:txBody>
          <a:bodyPr wrap="square" lIns="0" tIns="0" rIns="0" bIns="0" rtlCol="0" anchor="t">
            <a:normAutofit/>
          </a:bodyPr>
          <a:lstStyle/>
          <a:p>
            <a:pPr algn="l" indent="0" marL="0">
              <a:lnSpc>
                <a:spcPts val="1103"/>
              </a:lnSpc>
              <a:buNone/>
            </a:pPr>
            <a:r>
              <a:rPr lang="en-US" sz="788" i="1" dirty="0">
                <a:solidFill>
                  <a:srgbClr val="FFFFFF"/>
                </a:solidFill>
                <a:latin typeface="Tinos" pitchFamily="34" charset="0"/>
                <a:ea typeface="Tinos" pitchFamily="34" charset="-122"/>
                <a:cs typeface="Tinos" pitchFamily="34" charset="-120"/>
              </a:rPr>
              <a:t>"The platform scales to hundreds of thousands of interactions per month on the same infrastructure — with no need to physically replicate service points."</a:t>
            </a:r>
            <a:endParaRPr lang="en-US" sz="788" dirty="0"/>
          </a:p>
        </p:txBody>
      </p:sp>
      <p:sp>
        <p:nvSpPr>
          <p:cNvPr id="52" name="Text 46"/>
          <p:cNvSpPr/>
          <p:nvPr/>
        </p:nvSpPr>
        <p:spPr>
          <a:xfrm>
            <a:off x="928688" y="4283236"/>
            <a:ext cx="7739253" cy="107156"/>
          </a:xfrm>
          <a:prstGeom prst="rect">
            <a:avLst/>
          </a:prstGeom>
          <a:noFill/>
          <a:ln/>
        </p:spPr>
        <p:txBody>
          <a:bodyPr wrap="square" lIns="0" tIns="0" rIns="0" bIns="0" rtlCol="0" anchor="t"/>
          <a:lstStyle/>
          <a:p>
            <a:pPr algn="l" indent="0" marL="0">
              <a:lnSpc>
                <a:spcPts val="844"/>
              </a:lnSpc>
              <a:buNone/>
            </a:pPr>
            <a:r>
              <a:rPr lang="en-US" sz="800" b="1" spc="90" kern="0" dirty="0">
                <a:solidFill>
                  <a:srgbClr val="FFFFFF">
                    <a:alpha val="85000"/>
                  </a:srgbClr>
                </a:solidFill>
                <a:latin typeface="Carlito" pitchFamily="34" charset="0"/>
                <a:ea typeface="Carlito" pitchFamily="34" charset="-122"/>
                <a:cs typeface="Carlito" pitchFamily="34" charset="-120"/>
              </a:rPr>
              <a:t>SCALABILITY · MASSAPRO IVR</a:t>
            </a:r>
            <a:endParaRPr lang="en-US" sz="800" dirty="0"/>
          </a:p>
        </p:txBody>
      </p:sp>
      <p:sp>
        <p:nvSpPr>
          <p:cNvPr id="53" name="Text 47"/>
          <p:cNvSpPr/>
          <p:nvPr/>
        </p:nvSpPr>
        <p:spPr>
          <a:xfrm>
            <a:off x="342900" y="4854178"/>
            <a:ext cx="7019627"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54" name="Text 48"/>
          <p:cNvSpPr/>
          <p:nvPr/>
        </p:nvSpPr>
        <p:spPr>
          <a:xfrm>
            <a:off x="8110389" y="4877395"/>
            <a:ext cx="7144" cy="71438"/>
          </a:xfrm>
          <a:prstGeom prst="rect">
            <a:avLst/>
          </a:prstGeom>
          <a:solidFill>
            <a:srgbClr val="6B7280">
              <a:alpha val="40000"/>
            </a:srgbClr>
          </a:solidFill>
          <a:ln/>
        </p:spPr>
        <p:txBody>
          <a:bodyPr wrap="square" rtlCol="0" anchor="ctr"/>
          <a:lstStyle/>
          <a:p>
            <a:pPr indent="0" marL="0">
              <a:buNone/>
            </a:pPr>
            <a:endParaRPr lang="en-US" dirty="0"/>
          </a:p>
        </p:txBody>
      </p:sp>
      <p:sp>
        <p:nvSpPr>
          <p:cNvPr id="55" name="Text 49"/>
          <p:cNvSpPr/>
          <p:nvPr/>
        </p:nvSpPr>
        <p:spPr>
          <a:xfrm>
            <a:off x="7376815" y="4854178"/>
            <a:ext cx="1767185"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  </a:t>
            </a:r>
            <a:pPr algn="l" indent="0" marL="0">
              <a:lnSpc>
                <a:spcPts val="928"/>
              </a:lnSpc>
              <a:buNone/>
            </a:pPr>
            <a:r>
              <a:rPr lang="en-US" sz="800" spc="25" kern="0" dirty="0">
                <a:solidFill>
                  <a:srgbClr val="6B7280"/>
                </a:solidFill>
                <a:latin typeface="Liberation Sans Narrow" pitchFamily="34" charset="0"/>
                <a:ea typeface="Liberation Sans Narrow" pitchFamily="34" charset="-122"/>
                <a:cs typeface="Liberation Sans Narrow" pitchFamily="34" charset="-120"/>
              </a:rPr>
              <a:t>SLIDE 16 / 24</a:t>
            </a:r>
            <a:endParaRPr lang="en-US" sz="800" dirty="0"/>
          </a:p>
        </p:txBody>
      </p:sp>
      <p:pic>
        <p:nvPicPr>
          <p:cNvPr id="56" name="Image 4" descr="/home/z/my-project/download/slides/massapro-logo.png">    </p:cNvPr>
          <p:cNvPicPr>
            <a:picLocks noChangeAspect="1"/>
          </p:cNvPicPr>
          <p:nvPr/>
        </p:nvPicPr>
        <p:blipFill>
          <a:blip r:embed="rId5"/>
          <a:stretch>
            <a:fillRect/>
          </a:stretch>
        </p:blipFill>
        <p:spPr>
          <a:xfrm>
            <a:off x="342900" y="200025"/>
            <a:ext cx="200025" cy="200025"/>
          </a:xfrm>
          <a:prstGeom prst="rect">
            <a:avLst/>
          </a:prstGeom>
        </p:spPr>
      </p:pic>
      <p:sp>
        <p:nvSpPr>
          <p:cNvPr id="57" name="Text 50"/>
          <p:cNvSpPr/>
          <p:nvPr/>
        </p:nvSpPr>
        <p:spPr>
          <a:xfrm>
            <a:off x="614363" y="219670"/>
            <a:ext cx="769239"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6D28D9"/>
                </a:solidFill>
                <a:latin typeface="Carlito" pitchFamily="34" charset="0"/>
                <a:ea typeface="Carlito" pitchFamily="34" charset="-122"/>
                <a:cs typeface="Carlito" pitchFamily="34" charset="-120"/>
              </a:rPr>
              <a:t>MassaPro</a:t>
            </a:r>
            <a:endParaRPr lang="en-US" sz="844"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312061" y="200025"/>
            <a:ext cx="2831939" cy="164592"/>
          </a:xfrm>
          <a:prstGeom prst="rect">
            <a:avLst/>
          </a:prstGeom>
          <a:noFill/>
          <a:ln/>
        </p:spPr>
        <p:txBody>
          <a:bodyPr wrap="square" lIns="0" tIns="0" rIns="0" bIns="0" rtlCol="0" anchor="t"/>
          <a:lstStyle/>
          <a:p>
            <a:pPr algn="l" indent="0" marL="0">
              <a:lnSpc>
                <a:spcPts val="928"/>
              </a:lnSpc>
              <a:buNone/>
            </a:pPr>
            <a:r>
              <a:rPr lang="en-US" sz="800" b="1" spc="111" kern="0" dirty="0">
                <a:solidFill>
                  <a:srgbClr val="6B7280"/>
                </a:solidFill>
                <a:latin typeface="Carlito" pitchFamily="34" charset="0"/>
                <a:ea typeface="Carlito" pitchFamily="34" charset="-122"/>
                <a:cs typeface="Carlito" pitchFamily="34" charset="-120"/>
              </a:rPr>
              <a:t>CHAPTER 03 — INTEGRATION &amp; OPERATIONS</a:t>
            </a:r>
            <a:endParaRPr lang="en-US" sz="800" dirty="0"/>
          </a:p>
        </p:txBody>
      </p:sp>
      <p:sp>
        <p:nvSpPr>
          <p:cNvPr id="3" name="Text 1"/>
          <p:cNvSpPr/>
          <p:nvPr/>
        </p:nvSpPr>
        <p:spPr>
          <a:xfrm>
            <a:off x="432197" y="575072"/>
            <a:ext cx="2713732" cy="210741"/>
          </a:xfrm>
          <a:prstGeom prst="roundRect">
            <a:avLst>
              <a:gd name="adj" fmla="val 4515246"/>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4" name="Text 2"/>
          <p:cNvSpPr/>
          <p:nvPr/>
        </p:nvSpPr>
        <p:spPr>
          <a:xfrm>
            <a:off x="678656" y="628650"/>
            <a:ext cx="2377976" cy="129679"/>
          </a:xfrm>
          <a:prstGeom prst="rect">
            <a:avLst/>
          </a:prstGeom>
          <a:noFill/>
          <a:ln/>
        </p:spPr>
        <p:txBody>
          <a:bodyPr wrap="square" lIns="85725" tIns="42863" rIns="85725" bIns="42863" rtlCol="0" anchor="t"/>
          <a:lstStyle/>
          <a:p>
            <a:pPr algn="l" indent="0" marL="0">
              <a:lnSpc>
                <a:spcPts val="928"/>
              </a:lnSpc>
              <a:buNone/>
            </a:pPr>
            <a:r>
              <a:rPr lang="en-US" sz="800" b="1" spc="111" kern="0" dirty="0">
                <a:solidFill>
                  <a:srgbClr val="7C3AED"/>
                </a:solidFill>
                <a:latin typeface="Carlito" pitchFamily="34" charset="0"/>
                <a:ea typeface="Carlito" pitchFamily="34" charset="-122"/>
                <a:cs typeface="Carlito" pitchFamily="34" charset="-120"/>
              </a:rPr>
              <a:t>TRADITIONAL MODEL VS PHYGITAL MODEL</a:t>
            </a:r>
            <a:endParaRPr lang="en-US" sz="800" dirty="0"/>
          </a:p>
        </p:txBody>
      </p:sp>
      <p:sp>
        <p:nvSpPr>
          <p:cNvPr id="5" name="Text 3"/>
          <p:cNvSpPr/>
          <p:nvPr/>
        </p:nvSpPr>
        <p:spPr>
          <a:xfrm>
            <a:off x="521494" y="630436"/>
            <a:ext cx="100013" cy="100013"/>
          </a:xfrm>
          <a:prstGeom prst="rect">
            <a:avLst/>
          </a:prstGeom>
          <a:noFill/>
          <a:ln/>
        </p:spPr>
        <p:txBody>
          <a:bodyPr wrap="none" lIns="0" tIns="0" rIns="0" bIns="0" rtlCol="0" anchor="ctr"/>
          <a:lstStyle/>
          <a:p>
            <a:pPr algn="ctr" indent="0" marL="0">
              <a:buNone/>
            </a:pPr>
            <a:r>
              <a:rPr lang="en-US" sz="984" dirty="0">
                <a:solidFill>
                  <a:srgbClr val="7C3AED"/>
                </a:solidFill>
                <a:latin typeface="Segoe UI Symbol" pitchFamily="34" charset="0"/>
                <a:ea typeface="Segoe UI Symbol" pitchFamily="34" charset="-122"/>
                <a:cs typeface="Segoe UI Symbol" pitchFamily="34" charset="-120"/>
              </a:rPr>
              <a:t>⇄</a:t>
            </a:r>
            <a:endParaRPr lang="en-US" sz="984" dirty="0"/>
          </a:p>
        </p:txBody>
      </p:sp>
      <p:sp>
        <p:nvSpPr>
          <p:cNvPr id="6" name="Text 4"/>
          <p:cNvSpPr/>
          <p:nvPr/>
        </p:nvSpPr>
        <p:spPr>
          <a:xfrm>
            <a:off x="428625" y="875109"/>
            <a:ext cx="7999571" cy="307766"/>
          </a:xfrm>
          <a:prstGeom prst="rect">
            <a:avLst/>
          </a:prstGeom>
          <a:noFill/>
          <a:ln/>
        </p:spPr>
        <p:txBody>
          <a:bodyPr wrap="square" lIns="0" tIns="0" rIns="0" bIns="0" rtlCol="0" anchor="t"/>
          <a:lstStyle/>
          <a:p>
            <a:pPr algn="l" indent="0" marL="0">
              <a:lnSpc>
                <a:spcPts val="2244"/>
              </a:lnSpc>
              <a:buNone/>
            </a:pPr>
            <a:r>
              <a:rPr lang="en-US" sz="2138" b="1" spc="-43" kern="0" dirty="0">
                <a:solidFill>
                  <a:srgbClr val="6D28D9"/>
                </a:solidFill>
                <a:latin typeface="Carlito" pitchFamily="34" charset="0"/>
                <a:ea typeface="Carlito" pitchFamily="34" charset="-122"/>
                <a:cs typeface="Carlito" pitchFamily="34" charset="-120"/>
              </a:rPr>
              <a:t>Every Remote Point Reduces Operating Cost</a:t>
            </a:r>
            <a:endParaRPr lang="en-US" sz="2138" dirty="0"/>
          </a:p>
        </p:txBody>
      </p:sp>
      <p:sp>
        <p:nvSpPr>
          <p:cNvPr id="7" name="Text 5"/>
          <p:cNvSpPr/>
          <p:nvPr/>
        </p:nvSpPr>
        <p:spPr>
          <a:xfrm>
            <a:off x="428625" y="1217228"/>
            <a:ext cx="7272338" cy="164592"/>
          </a:xfrm>
          <a:prstGeom prst="rect">
            <a:avLst/>
          </a:prstGeom>
          <a:noFill/>
          <a:ln/>
        </p:spPr>
        <p:txBody>
          <a:bodyPr wrap="square" lIns="0" tIns="0" rIns="0" bIns="0" rtlCol="0" anchor="t"/>
          <a:lstStyle/>
          <a:p>
            <a:pPr algn="l" indent="0" marL="0">
              <a:lnSpc>
                <a:spcPts val="1181"/>
              </a:lnSpc>
              <a:buNone/>
            </a:pPr>
            <a:r>
              <a:rPr lang="en-US" sz="800" dirty="0">
                <a:solidFill>
                  <a:srgbClr val="6B7280"/>
                </a:solidFill>
                <a:latin typeface="Carlito" pitchFamily="34" charset="0"/>
                <a:ea typeface="Carlito" pitchFamily="34" charset="-122"/>
                <a:cs typeface="Carlito" pitchFamily="34" charset="-120"/>
              </a:rPr>
              <a:t>The same five operational dimensions, two economic models.</a:t>
            </a:r>
            <a:endParaRPr lang="en-US" sz="800" dirty="0"/>
          </a:p>
        </p:txBody>
      </p:sp>
      <p:pic>
        <p:nvPicPr>
          <p:cNvPr id="8" name="Image 0" descr="/tmp/h2p-fit-1786522343951-hquhn3.png">    </p:cNvPr>
          <p:cNvPicPr>
            <a:picLocks noChangeAspect="1"/>
          </p:cNvPicPr>
          <p:nvPr/>
        </p:nvPicPr>
        <p:blipFill>
          <a:blip r:embed="rId1"/>
          <a:stretch>
            <a:fillRect/>
          </a:stretch>
        </p:blipFill>
        <p:spPr>
          <a:xfrm>
            <a:off x="7929563" y="581434"/>
            <a:ext cx="785813" cy="785813"/>
          </a:xfrm>
          <a:prstGeom prst="rect">
            <a:avLst/>
          </a:prstGeom>
          <a:effectLst>
            <a:outerShdw sx="100000" sy="100000" kx="0" ky="0" algn="bl" rotWithShape="0" blurRad="133350" dist="38100" dir="5400000">
              <a:srgbClr val="7C3AED">
                <a:alpha val="10000"/>
              </a:srgbClr>
            </a:outerShdw>
          </a:effectLst>
        </p:spPr>
      </p:pic>
      <p:sp>
        <p:nvSpPr>
          <p:cNvPr id="9" name="Text 6"/>
          <p:cNvSpPr/>
          <p:nvPr/>
        </p:nvSpPr>
        <p:spPr>
          <a:xfrm>
            <a:off x="432197" y="1775222"/>
            <a:ext cx="8279606" cy="2132409"/>
          </a:xfrm>
          <a:prstGeom prst="roundRect">
            <a:avLst>
              <a:gd name="adj" fmla="val 5360"/>
            </a:avLst>
          </a:prstGeom>
          <a:no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10" name="Text 7"/>
          <p:cNvSpPr/>
          <p:nvPr/>
        </p:nvSpPr>
        <p:spPr>
          <a:xfrm>
            <a:off x="435769" y="1778794"/>
            <a:ext cx="8272463" cy="339328"/>
          </a:xfrm>
          <a:prstGeom prst="rect">
            <a:avLst/>
          </a:prstGeom>
          <a:solidFill>
            <a:srgbClr val="FFFFFF"/>
          </a:solidFill>
          <a:ln/>
        </p:spPr>
        <p:txBody>
          <a:bodyPr wrap="square" rtlCol="0" anchor="ctr"/>
          <a:lstStyle/>
          <a:p>
            <a:pPr indent="0" marL="0">
              <a:buNone/>
            </a:pPr>
            <a:endParaRPr lang="en-US" dirty="0"/>
          </a:p>
        </p:txBody>
      </p:sp>
      <p:sp>
        <p:nvSpPr>
          <p:cNvPr id="11" name="Text 8"/>
          <p:cNvSpPr/>
          <p:nvPr/>
        </p:nvSpPr>
        <p:spPr>
          <a:xfrm>
            <a:off x="435769" y="1765992"/>
            <a:ext cx="1428750" cy="364931"/>
          </a:xfrm>
          <a:prstGeom prst="rect">
            <a:avLst/>
          </a:prstGeom>
          <a:solidFill>
            <a:srgbClr val="F3F4F6"/>
          </a:solidFill>
          <a:ln/>
        </p:spPr>
        <p:txBody>
          <a:bodyPr wrap="square" rtlCol="0" anchor="ctr"/>
          <a:lstStyle/>
          <a:p>
            <a:pPr indent="0" marL="0">
              <a:buNone/>
            </a:pPr>
            <a:endParaRPr lang="en-US" dirty="0"/>
          </a:p>
        </p:txBody>
      </p:sp>
      <p:sp>
        <p:nvSpPr>
          <p:cNvPr id="12" name="Text 9"/>
          <p:cNvSpPr/>
          <p:nvPr/>
        </p:nvSpPr>
        <p:spPr>
          <a:xfrm>
            <a:off x="435769" y="1778794"/>
            <a:ext cx="1428750" cy="339328"/>
          </a:xfrm>
          <a:prstGeom prst="rect">
            <a:avLst/>
          </a:prstGeom>
          <a:noFill/>
          <a:ln/>
        </p:spPr>
        <p:txBody>
          <a:bodyPr wrap="none" lIns="128588" tIns="100013" rIns="128588" bIns="100013" rtlCol="0" anchor="t"/>
          <a:lstStyle/>
          <a:p>
            <a:pPr algn="l" indent="0" marL="0">
              <a:lnSpc>
                <a:spcPts val="1097"/>
              </a:lnSpc>
              <a:buNone/>
            </a:pPr>
            <a:r>
              <a:rPr lang="en-US" sz="800" spc="44" kern="0" dirty="0">
                <a:solidFill>
                  <a:srgbClr val="6B7280"/>
                </a:solidFill>
                <a:latin typeface="Carlito" pitchFamily="34" charset="0"/>
                <a:ea typeface="Carlito" pitchFamily="34" charset="-122"/>
                <a:cs typeface="Carlito" pitchFamily="34" charset="-120"/>
              </a:rPr>
              <a:t>DIMENSION</a:t>
            </a:r>
            <a:endParaRPr lang="en-US" sz="800" dirty="0"/>
          </a:p>
        </p:txBody>
      </p:sp>
      <p:sp>
        <p:nvSpPr>
          <p:cNvPr id="13" name="Text 10"/>
          <p:cNvSpPr/>
          <p:nvPr/>
        </p:nvSpPr>
        <p:spPr>
          <a:xfrm>
            <a:off x="1864519" y="1778794"/>
            <a:ext cx="3421856" cy="339328"/>
          </a:xfrm>
          <a:prstGeom prst="rect">
            <a:avLst/>
          </a:prstGeom>
          <a:solidFill>
            <a:srgbClr val="F4F1FA"/>
          </a:solidFill>
          <a:ln/>
        </p:spPr>
        <p:txBody>
          <a:bodyPr wrap="square" rtlCol="0" anchor="ctr"/>
          <a:lstStyle/>
          <a:p>
            <a:pPr indent="0" marL="0">
              <a:buNone/>
            </a:pPr>
            <a:endParaRPr lang="en-US" dirty="0"/>
          </a:p>
        </p:txBody>
      </p:sp>
      <p:sp>
        <p:nvSpPr>
          <p:cNvPr id="14" name="Text 11"/>
          <p:cNvSpPr/>
          <p:nvPr/>
        </p:nvSpPr>
        <p:spPr>
          <a:xfrm>
            <a:off x="2164556" y="1893094"/>
            <a:ext cx="2416373" cy="125016"/>
          </a:xfrm>
          <a:prstGeom prst="rect">
            <a:avLst/>
          </a:prstGeom>
          <a:noFill/>
          <a:ln/>
        </p:spPr>
        <p:txBody>
          <a:bodyPr wrap="none" lIns="0" tIns="0" rIns="0" bIns="0" rtlCol="0" anchor="t"/>
          <a:lstStyle/>
          <a:p>
            <a:pPr algn="l" indent="0" marL="0">
              <a:lnSpc>
                <a:spcPts val="1097"/>
              </a:lnSpc>
              <a:buNone/>
            </a:pPr>
            <a:r>
              <a:rPr lang="en-US" sz="800" spc="44" kern="0" dirty="0">
                <a:solidFill>
                  <a:srgbClr val="6B5478"/>
                </a:solidFill>
                <a:latin typeface="Carlito" pitchFamily="34" charset="0"/>
                <a:ea typeface="Carlito" pitchFamily="34" charset="-122"/>
                <a:cs typeface="Carlito" pitchFamily="34" charset="-120"/>
              </a:rPr>
              <a:t>TRADITIONAL MODEL</a:t>
            </a:r>
            <a:endParaRPr lang="en-US" sz="800" dirty="0"/>
          </a:p>
        </p:txBody>
      </p:sp>
      <p:sp>
        <p:nvSpPr>
          <p:cNvPr id="15" name="Text 12"/>
          <p:cNvSpPr/>
          <p:nvPr/>
        </p:nvSpPr>
        <p:spPr>
          <a:xfrm>
            <a:off x="1993106" y="1891308"/>
            <a:ext cx="114300" cy="114300"/>
          </a:xfrm>
          <a:prstGeom prst="rect">
            <a:avLst/>
          </a:prstGeom>
          <a:noFill/>
          <a:ln/>
        </p:spPr>
        <p:txBody>
          <a:bodyPr wrap="none" lIns="0" tIns="0" rIns="0" bIns="0" rtlCol="0" anchor="ctr"/>
          <a:lstStyle/>
          <a:p>
            <a:pPr algn="ctr" indent="0" marL="0">
              <a:buNone/>
            </a:pPr>
            <a:r>
              <a:rPr lang="en-US" sz="1125" dirty="0">
                <a:solidFill>
                  <a:srgbClr val="DC2626"/>
                </a:solidFill>
                <a:latin typeface="Segoe UI Symbol" pitchFamily="34" charset="0"/>
                <a:ea typeface="Segoe UI Symbol" pitchFamily="34" charset="-122"/>
                <a:cs typeface="Segoe UI Symbol" pitchFamily="34" charset="-120"/>
              </a:rPr>
              <a:t>✕</a:t>
            </a:r>
            <a:endParaRPr lang="en-US" sz="1125" dirty="0"/>
          </a:p>
        </p:txBody>
      </p:sp>
      <p:sp>
        <p:nvSpPr>
          <p:cNvPr id="16" name="Text 13"/>
          <p:cNvSpPr/>
          <p:nvPr/>
        </p:nvSpPr>
        <p:spPr>
          <a:xfrm>
            <a:off x="4595217" y="1894880"/>
            <a:ext cx="562570" cy="123230"/>
          </a:xfrm>
          <a:prstGeom prst="rect">
            <a:avLst/>
          </a:prstGeom>
          <a:noFill/>
          <a:ln/>
        </p:spPr>
        <p:txBody>
          <a:bodyPr wrap="none" lIns="0" tIns="0" rIns="0" bIns="0" rtlCol="0" anchor="t"/>
          <a:lstStyle/>
          <a:p>
            <a:pPr algn="l" indent="0" marL="0">
              <a:lnSpc>
                <a:spcPts val="844"/>
              </a:lnSpc>
              <a:buNone/>
            </a:pPr>
            <a:r>
              <a:rPr lang="en-US" sz="600" b="1" spc="68" kern="0" dirty="0">
                <a:solidFill>
                  <a:srgbClr val="9C8AA8"/>
                </a:solidFill>
                <a:latin typeface="Carlito" pitchFamily="34" charset="0"/>
                <a:ea typeface="Carlito" pitchFamily="34" charset="-122"/>
                <a:cs typeface="Carlito" pitchFamily="34" charset="-120"/>
              </a:rPr>
              <a:t>FIXED COST</a:t>
            </a:r>
            <a:endParaRPr lang="en-US" sz="600" dirty="0"/>
          </a:p>
        </p:txBody>
      </p:sp>
      <p:sp>
        <p:nvSpPr>
          <p:cNvPr id="17" name="Text 14"/>
          <p:cNvSpPr/>
          <p:nvPr/>
        </p:nvSpPr>
        <p:spPr>
          <a:xfrm>
            <a:off x="5286375" y="1778794"/>
            <a:ext cx="3421856" cy="339328"/>
          </a:xfrm>
          <a:prstGeom prst="rect">
            <a:avLst/>
          </a:prstGeom>
          <a:solidFill>
            <a:srgbClr val="EDE9FE"/>
          </a:solidFill>
          <a:ln/>
        </p:spPr>
        <p:txBody>
          <a:bodyPr wrap="square" rtlCol="0" anchor="ctr"/>
          <a:lstStyle/>
          <a:p>
            <a:pPr indent="0" marL="0">
              <a:buNone/>
            </a:pPr>
            <a:endParaRPr lang="en-US" dirty="0"/>
          </a:p>
        </p:txBody>
      </p:sp>
      <p:sp>
        <p:nvSpPr>
          <p:cNvPr id="18" name="Text 15"/>
          <p:cNvSpPr/>
          <p:nvPr/>
        </p:nvSpPr>
        <p:spPr>
          <a:xfrm>
            <a:off x="5586413" y="1893094"/>
            <a:ext cx="2458901" cy="125016"/>
          </a:xfrm>
          <a:prstGeom prst="rect">
            <a:avLst/>
          </a:prstGeom>
          <a:noFill/>
          <a:ln/>
        </p:spPr>
        <p:txBody>
          <a:bodyPr wrap="none" lIns="0" tIns="0" rIns="0" bIns="0" rtlCol="0" anchor="t"/>
          <a:lstStyle/>
          <a:p>
            <a:pPr algn="l" indent="0" marL="0">
              <a:lnSpc>
                <a:spcPts val="1097"/>
              </a:lnSpc>
              <a:buNone/>
            </a:pPr>
            <a:r>
              <a:rPr lang="en-US" sz="800" spc="44" kern="0" dirty="0">
                <a:solidFill>
                  <a:srgbClr val="6D28D9"/>
                </a:solidFill>
                <a:latin typeface="Carlito" pitchFamily="34" charset="0"/>
                <a:ea typeface="Carlito" pitchFamily="34" charset="-122"/>
                <a:cs typeface="Carlito" pitchFamily="34" charset="-120"/>
              </a:rPr>
              <a:t>PHYGITAL MODEL</a:t>
            </a:r>
            <a:endParaRPr lang="en-US" sz="800" dirty="0"/>
          </a:p>
        </p:txBody>
      </p:sp>
      <p:sp>
        <p:nvSpPr>
          <p:cNvPr id="19" name="Text 16"/>
          <p:cNvSpPr/>
          <p:nvPr/>
        </p:nvSpPr>
        <p:spPr>
          <a:xfrm>
            <a:off x="5414963" y="1891308"/>
            <a:ext cx="114300" cy="114300"/>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20" name="Text 17"/>
          <p:cNvSpPr/>
          <p:nvPr/>
        </p:nvSpPr>
        <p:spPr>
          <a:xfrm>
            <a:off x="8059601" y="1894880"/>
            <a:ext cx="520043" cy="123230"/>
          </a:xfrm>
          <a:prstGeom prst="rect">
            <a:avLst/>
          </a:prstGeom>
          <a:noFill/>
          <a:ln/>
        </p:spPr>
        <p:txBody>
          <a:bodyPr wrap="none" lIns="0" tIns="0" rIns="0" bIns="0" rtlCol="0" anchor="t"/>
          <a:lstStyle/>
          <a:p>
            <a:pPr algn="l" indent="0" marL="0">
              <a:lnSpc>
                <a:spcPts val="844"/>
              </a:lnSpc>
              <a:buNone/>
            </a:pPr>
            <a:r>
              <a:rPr lang="en-US" sz="600" b="1" spc="68" kern="0" dirty="0">
                <a:solidFill>
                  <a:srgbClr val="7C3AED"/>
                </a:solidFill>
                <a:latin typeface="Carlito" pitchFamily="34" charset="0"/>
                <a:ea typeface="Carlito" pitchFamily="34" charset="-122"/>
                <a:cs typeface="Carlito" pitchFamily="34" charset="-120"/>
              </a:rPr>
              <a:t>REAL COST</a:t>
            </a:r>
            <a:endParaRPr lang="en-US" sz="600" dirty="0"/>
          </a:p>
        </p:txBody>
      </p:sp>
      <p:sp>
        <p:nvSpPr>
          <p:cNvPr id="21" name="Shape 18"/>
          <p:cNvSpPr/>
          <p:nvPr/>
        </p:nvSpPr>
        <p:spPr>
          <a:xfrm>
            <a:off x="435769" y="2121694"/>
            <a:ext cx="8272463" cy="0"/>
          </a:xfrm>
          <a:prstGeom prst="line">
            <a:avLst/>
          </a:prstGeom>
          <a:noFill/>
          <a:ln w="7144">
            <a:solidFill>
              <a:srgbClr val="E5E7EB"/>
            </a:solidFill>
            <a:prstDash val="solid"/>
          </a:ln>
        </p:spPr>
      </p:sp>
      <p:sp>
        <p:nvSpPr>
          <p:cNvPr id="22" name="Text 19"/>
          <p:cNvSpPr/>
          <p:nvPr/>
        </p:nvSpPr>
        <p:spPr>
          <a:xfrm>
            <a:off x="435769" y="2125266"/>
            <a:ext cx="1428750" cy="350044"/>
          </a:xfrm>
          <a:prstGeom prst="rect">
            <a:avLst/>
          </a:prstGeom>
          <a:solidFill>
            <a:srgbClr val="F3F4F6"/>
          </a:solidFill>
          <a:ln/>
        </p:spPr>
        <p:txBody>
          <a:bodyPr wrap="square" rtlCol="0" anchor="ctr"/>
          <a:lstStyle/>
          <a:p>
            <a:pPr indent="0" marL="0">
              <a:buNone/>
            </a:pPr>
            <a:endParaRPr lang="en-US" dirty="0"/>
          </a:p>
        </p:txBody>
      </p:sp>
      <p:sp>
        <p:nvSpPr>
          <p:cNvPr id="23" name="Text 20"/>
          <p:cNvSpPr/>
          <p:nvPr/>
        </p:nvSpPr>
        <p:spPr>
          <a:xfrm>
            <a:off x="435769" y="2125266"/>
            <a:ext cx="1428750" cy="350044"/>
          </a:xfrm>
          <a:prstGeom prst="rect">
            <a:avLst/>
          </a:prstGeom>
          <a:noFill/>
          <a:ln/>
        </p:spPr>
        <p:txBody>
          <a:bodyPr wrap="none" lIns="128588" tIns="100013" rIns="128588" bIns="100013" rtlCol="0" anchor="t"/>
          <a:lstStyle/>
          <a:p>
            <a:pPr algn="l" indent="0" marL="0">
              <a:lnSpc>
                <a:spcPts val="1097"/>
              </a:lnSpc>
              <a:buNone/>
            </a:pPr>
            <a:r>
              <a:rPr lang="en-US" sz="800" spc="44" kern="0" dirty="0">
                <a:solidFill>
                  <a:srgbClr val="6B7280"/>
                </a:solidFill>
                <a:latin typeface="Carlito" pitchFamily="34" charset="0"/>
                <a:ea typeface="Carlito" pitchFamily="34" charset="-122"/>
                <a:cs typeface="Carlito" pitchFamily="34" charset="-120"/>
              </a:rPr>
              <a:t>PAYROLL</a:t>
            </a:r>
            <a:endParaRPr lang="en-US" sz="800" dirty="0"/>
          </a:p>
        </p:txBody>
      </p:sp>
      <p:sp>
        <p:nvSpPr>
          <p:cNvPr id="24" name="Text 21"/>
          <p:cNvSpPr/>
          <p:nvPr/>
        </p:nvSpPr>
        <p:spPr>
          <a:xfrm>
            <a:off x="1864519" y="2125266"/>
            <a:ext cx="3421856" cy="350044"/>
          </a:xfrm>
          <a:prstGeom prst="rect">
            <a:avLst/>
          </a:prstGeom>
          <a:solidFill>
            <a:srgbClr val="FAFAFC"/>
          </a:solidFill>
          <a:ln/>
        </p:spPr>
        <p:txBody>
          <a:bodyPr wrap="square" rtlCol="0" anchor="ctr"/>
          <a:lstStyle/>
          <a:p>
            <a:pPr indent="0" marL="0">
              <a:buNone/>
            </a:pPr>
            <a:endParaRPr lang="en-US" dirty="0"/>
          </a:p>
        </p:txBody>
      </p:sp>
      <p:sp>
        <p:nvSpPr>
          <p:cNvPr id="25" name="Text 22"/>
          <p:cNvSpPr/>
          <p:nvPr/>
        </p:nvSpPr>
        <p:spPr>
          <a:xfrm>
            <a:off x="2193131" y="2239566"/>
            <a:ext cx="1653890" cy="125403"/>
          </a:xfrm>
          <a:prstGeom prst="rect">
            <a:avLst/>
          </a:prstGeom>
          <a:noFill/>
          <a:ln/>
        </p:spPr>
        <p:txBody>
          <a:bodyPr wrap="square" lIns="128588" tIns="100013" rIns="128588" bIns="100013" rtlCol="0" anchor="t"/>
          <a:lstStyle/>
          <a:p>
            <a:pPr algn="l" indent="0" marL="0">
              <a:lnSpc>
                <a:spcPts val="1181"/>
              </a:lnSpc>
              <a:buNone/>
            </a:pPr>
            <a:r>
              <a:rPr lang="en-US" sz="788" dirty="0">
                <a:solidFill>
                  <a:srgbClr val="374151"/>
                </a:solidFill>
                <a:latin typeface="Carlito" pitchFamily="34" charset="0"/>
                <a:ea typeface="Carlito" pitchFamily="34" charset="-122"/>
                <a:cs typeface="Carlito" pitchFamily="34" charset="-120"/>
              </a:rPr>
              <a:t>Active payroll with no interaction</a:t>
            </a:r>
            <a:endParaRPr lang="en-US" sz="788" dirty="0"/>
          </a:p>
        </p:txBody>
      </p:sp>
      <p:sp>
        <p:nvSpPr>
          <p:cNvPr id="26" name="Text 23"/>
          <p:cNvSpPr/>
          <p:nvPr/>
        </p:nvSpPr>
        <p:spPr>
          <a:xfrm>
            <a:off x="1993106" y="2232422"/>
            <a:ext cx="128588" cy="128588"/>
          </a:xfrm>
          <a:prstGeom prst="rect">
            <a:avLst/>
          </a:prstGeom>
          <a:noFill/>
          <a:ln/>
        </p:spPr>
        <p:txBody>
          <a:bodyPr wrap="none" lIns="0" tIns="0" rIns="0" bIns="0" rtlCol="0" anchor="ctr"/>
          <a:lstStyle/>
          <a:p>
            <a:pPr algn="ctr" indent="0" marL="0">
              <a:buNone/>
            </a:pPr>
            <a:r>
              <a:rPr lang="en-US" sz="1266" dirty="0">
                <a:solidFill>
                  <a:srgbClr val="DC2626"/>
                </a:solidFill>
                <a:latin typeface="Segoe UI Symbol" pitchFamily="34" charset="0"/>
                <a:ea typeface="Segoe UI Symbol" pitchFamily="34" charset="-122"/>
                <a:cs typeface="Segoe UI Symbol" pitchFamily="34" charset="-120"/>
              </a:rPr>
              <a:t>✕</a:t>
            </a:r>
            <a:endParaRPr lang="en-US" sz="1266" dirty="0"/>
          </a:p>
        </p:txBody>
      </p:sp>
      <p:sp>
        <p:nvSpPr>
          <p:cNvPr id="27" name="Text 24"/>
          <p:cNvSpPr/>
          <p:nvPr/>
        </p:nvSpPr>
        <p:spPr>
          <a:xfrm>
            <a:off x="5286375" y="2125266"/>
            <a:ext cx="3421856" cy="350044"/>
          </a:xfrm>
          <a:prstGeom prst="rect">
            <a:avLst/>
          </a:prstGeom>
          <a:solidFill>
            <a:srgbClr val="F5F3FF"/>
          </a:solidFill>
          <a:ln/>
        </p:spPr>
        <p:txBody>
          <a:bodyPr wrap="square" rtlCol="0" anchor="ctr"/>
          <a:lstStyle/>
          <a:p>
            <a:pPr indent="0" marL="0">
              <a:buNone/>
            </a:pPr>
            <a:endParaRPr lang="en-US" dirty="0"/>
          </a:p>
        </p:txBody>
      </p:sp>
      <p:sp>
        <p:nvSpPr>
          <p:cNvPr id="28" name="Text 25"/>
          <p:cNvSpPr/>
          <p:nvPr/>
        </p:nvSpPr>
        <p:spPr>
          <a:xfrm>
            <a:off x="5614988" y="2239566"/>
            <a:ext cx="1717179" cy="125403"/>
          </a:xfrm>
          <a:prstGeom prst="rect">
            <a:avLst/>
          </a:prstGeom>
          <a:noFill/>
          <a:ln/>
        </p:spPr>
        <p:txBody>
          <a:bodyPr wrap="none" lIns="128588" tIns="100013" rIns="128588" bIns="100013" rtlCol="0" anchor="t"/>
          <a:lstStyle/>
          <a:p>
            <a:pPr algn="l" indent="0" marL="0">
              <a:lnSpc>
                <a:spcPts val="1181"/>
              </a:lnSpc>
              <a:buNone/>
            </a:pPr>
            <a:r>
              <a:rPr lang="en-US" sz="788" dirty="0">
                <a:solidFill>
                  <a:srgbClr val="1F2937"/>
                </a:solidFill>
                <a:latin typeface="Carlito" pitchFamily="34" charset="0"/>
                <a:ea typeface="Carlito" pitchFamily="34" charset="-122"/>
                <a:cs typeface="Carlito" pitchFamily="34" charset="-120"/>
              </a:rPr>
              <a:t>Capacity based on real occupancy</a:t>
            </a:r>
            <a:endParaRPr lang="en-US" sz="788" dirty="0"/>
          </a:p>
        </p:txBody>
      </p:sp>
      <p:sp>
        <p:nvSpPr>
          <p:cNvPr id="29" name="Text 26"/>
          <p:cNvSpPr/>
          <p:nvPr/>
        </p:nvSpPr>
        <p:spPr>
          <a:xfrm>
            <a:off x="5414963" y="2232422"/>
            <a:ext cx="128588" cy="128588"/>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30" name="Shape 27"/>
          <p:cNvSpPr/>
          <p:nvPr/>
        </p:nvSpPr>
        <p:spPr>
          <a:xfrm>
            <a:off x="435769" y="2478881"/>
            <a:ext cx="8272463" cy="0"/>
          </a:xfrm>
          <a:prstGeom prst="line">
            <a:avLst/>
          </a:prstGeom>
          <a:noFill/>
          <a:ln w="7144">
            <a:solidFill>
              <a:srgbClr val="E5E7EB"/>
            </a:solidFill>
            <a:prstDash val="solid"/>
          </a:ln>
        </p:spPr>
      </p:sp>
      <p:sp>
        <p:nvSpPr>
          <p:cNvPr id="31" name="Text 28"/>
          <p:cNvSpPr/>
          <p:nvPr/>
        </p:nvSpPr>
        <p:spPr>
          <a:xfrm>
            <a:off x="435769" y="2482453"/>
            <a:ext cx="1428750" cy="350044"/>
          </a:xfrm>
          <a:prstGeom prst="rect">
            <a:avLst/>
          </a:prstGeom>
          <a:solidFill>
            <a:srgbClr val="F3F4F6"/>
          </a:solidFill>
          <a:ln/>
        </p:spPr>
        <p:txBody>
          <a:bodyPr wrap="square" rtlCol="0" anchor="ctr"/>
          <a:lstStyle/>
          <a:p>
            <a:pPr indent="0" marL="0">
              <a:buNone/>
            </a:pPr>
            <a:endParaRPr lang="en-US" dirty="0"/>
          </a:p>
        </p:txBody>
      </p:sp>
      <p:sp>
        <p:nvSpPr>
          <p:cNvPr id="32" name="Text 29"/>
          <p:cNvSpPr/>
          <p:nvPr/>
        </p:nvSpPr>
        <p:spPr>
          <a:xfrm>
            <a:off x="435769" y="2482453"/>
            <a:ext cx="1428750" cy="350044"/>
          </a:xfrm>
          <a:prstGeom prst="rect">
            <a:avLst/>
          </a:prstGeom>
          <a:noFill/>
          <a:ln/>
        </p:spPr>
        <p:txBody>
          <a:bodyPr wrap="none" lIns="128588" tIns="100013" rIns="128588" bIns="100013" rtlCol="0" anchor="t"/>
          <a:lstStyle/>
          <a:p>
            <a:pPr algn="l" indent="0" marL="0">
              <a:lnSpc>
                <a:spcPts val="1097"/>
              </a:lnSpc>
              <a:buNone/>
            </a:pPr>
            <a:r>
              <a:rPr lang="en-US" sz="800" spc="44" kern="0" dirty="0">
                <a:solidFill>
                  <a:srgbClr val="6B7280"/>
                </a:solidFill>
                <a:latin typeface="Carlito" pitchFamily="34" charset="0"/>
                <a:ea typeface="Carlito" pitchFamily="34" charset="-122"/>
                <a:cs typeface="Carlito" pitchFamily="34" charset="-120"/>
              </a:rPr>
              <a:t>INFRASTRUCTURE</a:t>
            </a:r>
            <a:endParaRPr lang="en-US" sz="800" dirty="0"/>
          </a:p>
        </p:txBody>
      </p:sp>
      <p:sp>
        <p:nvSpPr>
          <p:cNvPr id="33" name="Text 30"/>
          <p:cNvSpPr/>
          <p:nvPr/>
        </p:nvSpPr>
        <p:spPr>
          <a:xfrm>
            <a:off x="1864519" y="2482453"/>
            <a:ext cx="3421856" cy="350044"/>
          </a:xfrm>
          <a:prstGeom prst="rect">
            <a:avLst/>
          </a:prstGeom>
          <a:solidFill>
            <a:srgbClr val="FAFAFC"/>
          </a:solidFill>
          <a:ln/>
        </p:spPr>
        <p:txBody>
          <a:bodyPr wrap="square" rtlCol="0" anchor="ctr"/>
          <a:lstStyle/>
          <a:p>
            <a:pPr indent="0" marL="0">
              <a:buNone/>
            </a:pPr>
            <a:endParaRPr lang="en-US" dirty="0"/>
          </a:p>
        </p:txBody>
      </p:sp>
      <p:sp>
        <p:nvSpPr>
          <p:cNvPr id="34" name="Text 31"/>
          <p:cNvSpPr/>
          <p:nvPr/>
        </p:nvSpPr>
        <p:spPr>
          <a:xfrm>
            <a:off x="2193131" y="2596753"/>
            <a:ext cx="1655564" cy="125403"/>
          </a:xfrm>
          <a:prstGeom prst="rect">
            <a:avLst/>
          </a:prstGeom>
          <a:noFill/>
          <a:ln/>
        </p:spPr>
        <p:txBody>
          <a:bodyPr wrap="square" lIns="128588" tIns="100013" rIns="128588" bIns="100013" rtlCol="0" anchor="t"/>
          <a:lstStyle/>
          <a:p>
            <a:pPr algn="l" indent="0" marL="0">
              <a:lnSpc>
                <a:spcPts val="1181"/>
              </a:lnSpc>
              <a:buNone/>
            </a:pPr>
            <a:r>
              <a:rPr lang="en-US" sz="788" dirty="0">
                <a:solidFill>
                  <a:srgbClr val="374151"/>
                </a:solidFill>
                <a:latin typeface="Carlito" pitchFamily="34" charset="0"/>
                <a:ea typeface="Carlito" pitchFamily="34" charset="-122"/>
                <a:cs typeface="Carlito" pitchFamily="34" charset="-120"/>
              </a:rPr>
              <a:t>Infrastructure running regardless</a:t>
            </a:r>
            <a:endParaRPr lang="en-US" sz="788" dirty="0"/>
          </a:p>
        </p:txBody>
      </p:sp>
      <p:sp>
        <p:nvSpPr>
          <p:cNvPr id="35" name="Text 32"/>
          <p:cNvSpPr/>
          <p:nvPr/>
        </p:nvSpPr>
        <p:spPr>
          <a:xfrm>
            <a:off x="1993106" y="2589609"/>
            <a:ext cx="128588" cy="128588"/>
          </a:xfrm>
          <a:prstGeom prst="rect">
            <a:avLst/>
          </a:prstGeom>
          <a:noFill/>
          <a:ln/>
        </p:spPr>
        <p:txBody>
          <a:bodyPr wrap="none" lIns="0" tIns="0" rIns="0" bIns="0" rtlCol="0" anchor="ctr"/>
          <a:lstStyle/>
          <a:p>
            <a:pPr algn="ctr" indent="0" marL="0">
              <a:buNone/>
            </a:pPr>
            <a:r>
              <a:rPr lang="en-US" sz="1266" dirty="0">
                <a:solidFill>
                  <a:srgbClr val="DC2626"/>
                </a:solidFill>
                <a:latin typeface="Segoe UI Symbol" pitchFamily="34" charset="0"/>
                <a:ea typeface="Segoe UI Symbol" pitchFamily="34" charset="-122"/>
                <a:cs typeface="Segoe UI Symbol" pitchFamily="34" charset="-120"/>
              </a:rPr>
              <a:t>✕</a:t>
            </a:r>
            <a:endParaRPr lang="en-US" sz="1266" dirty="0"/>
          </a:p>
        </p:txBody>
      </p:sp>
      <p:sp>
        <p:nvSpPr>
          <p:cNvPr id="36" name="Text 33"/>
          <p:cNvSpPr/>
          <p:nvPr/>
        </p:nvSpPr>
        <p:spPr>
          <a:xfrm>
            <a:off x="5286375" y="2482453"/>
            <a:ext cx="3421856" cy="350044"/>
          </a:xfrm>
          <a:prstGeom prst="rect">
            <a:avLst/>
          </a:prstGeom>
          <a:solidFill>
            <a:srgbClr val="F5F3FF"/>
          </a:solidFill>
          <a:ln/>
        </p:spPr>
        <p:txBody>
          <a:bodyPr wrap="square" rtlCol="0" anchor="ctr"/>
          <a:lstStyle/>
          <a:p>
            <a:pPr indent="0" marL="0">
              <a:buNone/>
            </a:pPr>
            <a:endParaRPr lang="en-US" dirty="0"/>
          </a:p>
        </p:txBody>
      </p:sp>
      <p:sp>
        <p:nvSpPr>
          <p:cNvPr id="37" name="Text 34"/>
          <p:cNvSpPr/>
          <p:nvPr/>
        </p:nvSpPr>
        <p:spPr>
          <a:xfrm>
            <a:off x="5614988" y="2596753"/>
            <a:ext cx="2919561" cy="125403"/>
          </a:xfrm>
          <a:prstGeom prst="rect">
            <a:avLst/>
          </a:prstGeom>
          <a:noFill/>
          <a:ln/>
        </p:spPr>
        <p:txBody>
          <a:bodyPr wrap="square" lIns="128588" tIns="100013" rIns="128588" bIns="100013" rtlCol="0" anchor="t"/>
          <a:lstStyle/>
          <a:p>
            <a:pPr algn="l" indent="0" marL="0">
              <a:lnSpc>
                <a:spcPts val="1181"/>
              </a:lnSpc>
              <a:buNone/>
            </a:pPr>
            <a:r>
              <a:rPr lang="en-US" sz="788" dirty="0">
                <a:solidFill>
                  <a:srgbClr val="1F2937"/>
                </a:solidFill>
                <a:latin typeface="Carlito" pitchFamily="34" charset="0"/>
                <a:ea typeface="Carlito" pitchFamily="34" charset="-122"/>
                <a:cs typeface="Carlito" pitchFamily="34" charset="-120"/>
              </a:rPr>
              <a:t>The point carries no staff — just a screen and connectivity</a:t>
            </a:r>
            <a:endParaRPr lang="en-US" sz="788" dirty="0"/>
          </a:p>
        </p:txBody>
      </p:sp>
      <p:sp>
        <p:nvSpPr>
          <p:cNvPr id="38" name="Text 35"/>
          <p:cNvSpPr/>
          <p:nvPr/>
        </p:nvSpPr>
        <p:spPr>
          <a:xfrm>
            <a:off x="5414963" y="2589609"/>
            <a:ext cx="128588" cy="128588"/>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39" name="Shape 36"/>
          <p:cNvSpPr/>
          <p:nvPr/>
        </p:nvSpPr>
        <p:spPr>
          <a:xfrm>
            <a:off x="435769" y="2836069"/>
            <a:ext cx="8272463" cy="0"/>
          </a:xfrm>
          <a:prstGeom prst="line">
            <a:avLst/>
          </a:prstGeom>
          <a:noFill/>
          <a:ln w="7144">
            <a:solidFill>
              <a:srgbClr val="E5E7EB"/>
            </a:solidFill>
            <a:prstDash val="solid"/>
          </a:ln>
        </p:spPr>
      </p:sp>
      <p:sp>
        <p:nvSpPr>
          <p:cNvPr id="40" name="Text 37"/>
          <p:cNvSpPr/>
          <p:nvPr/>
        </p:nvSpPr>
        <p:spPr>
          <a:xfrm>
            <a:off x="435769" y="2839641"/>
            <a:ext cx="1428750" cy="350044"/>
          </a:xfrm>
          <a:prstGeom prst="rect">
            <a:avLst/>
          </a:prstGeom>
          <a:solidFill>
            <a:srgbClr val="F3F4F6"/>
          </a:solidFill>
          <a:ln/>
        </p:spPr>
        <p:txBody>
          <a:bodyPr wrap="square" rtlCol="0" anchor="ctr"/>
          <a:lstStyle/>
          <a:p>
            <a:pPr indent="0" marL="0">
              <a:buNone/>
            </a:pPr>
            <a:endParaRPr lang="en-US" dirty="0"/>
          </a:p>
        </p:txBody>
      </p:sp>
      <p:sp>
        <p:nvSpPr>
          <p:cNvPr id="41" name="Text 38"/>
          <p:cNvSpPr/>
          <p:nvPr/>
        </p:nvSpPr>
        <p:spPr>
          <a:xfrm>
            <a:off x="435769" y="2839641"/>
            <a:ext cx="1428750" cy="350044"/>
          </a:xfrm>
          <a:prstGeom prst="rect">
            <a:avLst/>
          </a:prstGeom>
          <a:noFill/>
          <a:ln/>
        </p:spPr>
        <p:txBody>
          <a:bodyPr wrap="none" lIns="128588" tIns="100013" rIns="128588" bIns="100013" rtlCol="0" anchor="t"/>
          <a:lstStyle/>
          <a:p>
            <a:pPr algn="l" indent="0" marL="0">
              <a:lnSpc>
                <a:spcPts val="1097"/>
              </a:lnSpc>
              <a:buNone/>
            </a:pPr>
            <a:r>
              <a:rPr lang="en-US" sz="800" spc="44" kern="0" dirty="0">
                <a:solidFill>
                  <a:srgbClr val="6B7280"/>
                </a:solidFill>
                <a:latin typeface="Carlito" pitchFamily="34" charset="0"/>
                <a:ea typeface="Carlito" pitchFamily="34" charset="-122"/>
                <a:cs typeface="Carlito" pitchFamily="34" charset="-120"/>
              </a:rPr>
              <a:t>TRANSIT TIME</a:t>
            </a:r>
            <a:endParaRPr lang="en-US" sz="800" dirty="0"/>
          </a:p>
        </p:txBody>
      </p:sp>
      <p:sp>
        <p:nvSpPr>
          <p:cNvPr id="42" name="Text 39"/>
          <p:cNvSpPr/>
          <p:nvPr/>
        </p:nvSpPr>
        <p:spPr>
          <a:xfrm>
            <a:off x="1864519" y="2839641"/>
            <a:ext cx="3421856" cy="350044"/>
          </a:xfrm>
          <a:prstGeom prst="rect">
            <a:avLst/>
          </a:prstGeom>
          <a:solidFill>
            <a:srgbClr val="FAFAFC"/>
          </a:solidFill>
          <a:ln/>
        </p:spPr>
        <p:txBody>
          <a:bodyPr wrap="square" rtlCol="0" anchor="ctr"/>
          <a:lstStyle/>
          <a:p>
            <a:pPr indent="0" marL="0">
              <a:buNone/>
            </a:pPr>
            <a:endParaRPr lang="en-US" dirty="0"/>
          </a:p>
        </p:txBody>
      </p:sp>
      <p:sp>
        <p:nvSpPr>
          <p:cNvPr id="43" name="Text 40"/>
          <p:cNvSpPr/>
          <p:nvPr/>
        </p:nvSpPr>
        <p:spPr>
          <a:xfrm>
            <a:off x="2193131" y="2953941"/>
            <a:ext cx="1861282" cy="125403"/>
          </a:xfrm>
          <a:prstGeom prst="rect">
            <a:avLst/>
          </a:prstGeom>
          <a:noFill/>
          <a:ln/>
        </p:spPr>
        <p:txBody>
          <a:bodyPr wrap="square" lIns="128588" tIns="100013" rIns="128588" bIns="100013" rtlCol="0" anchor="t"/>
          <a:lstStyle/>
          <a:p>
            <a:pPr algn="l" indent="0" marL="0">
              <a:lnSpc>
                <a:spcPts val="1181"/>
              </a:lnSpc>
              <a:buNone/>
            </a:pPr>
            <a:r>
              <a:rPr lang="en-US" sz="788" dirty="0">
                <a:solidFill>
                  <a:srgbClr val="374151"/>
                </a:solidFill>
                <a:latin typeface="Carlito" pitchFamily="34" charset="0"/>
                <a:ea typeface="Carlito" pitchFamily="34" charset="-122"/>
                <a:cs typeface="Carlito" pitchFamily="34" charset="-120"/>
              </a:rPr>
              <a:t>Transit time that produces no service</a:t>
            </a:r>
            <a:endParaRPr lang="en-US" sz="788" dirty="0"/>
          </a:p>
        </p:txBody>
      </p:sp>
      <p:sp>
        <p:nvSpPr>
          <p:cNvPr id="44" name="Text 41"/>
          <p:cNvSpPr/>
          <p:nvPr/>
        </p:nvSpPr>
        <p:spPr>
          <a:xfrm>
            <a:off x="1993106" y="2946797"/>
            <a:ext cx="128588" cy="128588"/>
          </a:xfrm>
          <a:prstGeom prst="rect">
            <a:avLst/>
          </a:prstGeom>
          <a:noFill/>
          <a:ln/>
        </p:spPr>
        <p:txBody>
          <a:bodyPr wrap="none" lIns="0" tIns="0" rIns="0" bIns="0" rtlCol="0" anchor="ctr"/>
          <a:lstStyle/>
          <a:p>
            <a:pPr algn="ctr" indent="0" marL="0">
              <a:buNone/>
            </a:pPr>
            <a:r>
              <a:rPr lang="en-US" sz="1266" dirty="0">
                <a:solidFill>
                  <a:srgbClr val="DC2626"/>
                </a:solidFill>
                <a:latin typeface="Segoe UI Symbol" pitchFamily="34" charset="0"/>
                <a:ea typeface="Segoe UI Symbol" pitchFamily="34" charset="-122"/>
                <a:cs typeface="Segoe UI Symbol" pitchFamily="34" charset="-120"/>
              </a:rPr>
              <a:t>✕</a:t>
            </a:r>
            <a:endParaRPr lang="en-US" sz="1266" dirty="0"/>
          </a:p>
        </p:txBody>
      </p:sp>
      <p:sp>
        <p:nvSpPr>
          <p:cNvPr id="45" name="Text 42"/>
          <p:cNvSpPr/>
          <p:nvPr/>
        </p:nvSpPr>
        <p:spPr>
          <a:xfrm>
            <a:off x="5286375" y="2839641"/>
            <a:ext cx="3421856" cy="350044"/>
          </a:xfrm>
          <a:prstGeom prst="rect">
            <a:avLst/>
          </a:prstGeom>
          <a:solidFill>
            <a:srgbClr val="F5F3FF"/>
          </a:solidFill>
          <a:ln/>
        </p:spPr>
        <p:txBody>
          <a:bodyPr wrap="square" rtlCol="0" anchor="ctr"/>
          <a:lstStyle/>
          <a:p>
            <a:pPr indent="0" marL="0">
              <a:buNone/>
            </a:pPr>
            <a:endParaRPr lang="en-US" dirty="0"/>
          </a:p>
        </p:txBody>
      </p:sp>
      <p:sp>
        <p:nvSpPr>
          <p:cNvPr id="46" name="Text 43"/>
          <p:cNvSpPr/>
          <p:nvPr/>
        </p:nvSpPr>
        <p:spPr>
          <a:xfrm>
            <a:off x="5614988" y="2953941"/>
            <a:ext cx="843855" cy="125403"/>
          </a:xfrm>
          <a:prstGeom prst="rect">
            <a:avLst/>
          </a:prstGeom>
          <a:noFill/>
          <a:ln/>
        </p:spPr>
        <p:txBody>
          <a:bodyPr wrap="none" lIns="128588" tIns="100013" rIns="128588" bIns="100013" rtlCol="0" anchor="t"/>
          <a:lstStyle/>
          <a:p>
            <a:pPr algn="l" indent="0" marL="0">
              <a:lnSpc>
                <a:spcPts val="1181"/>
              </a:lnSpc>
              <a:buNone/>
            </a:pPr>
            <a:r>
              <a:rPr lang="en-US" sz="788" dirty="0">
                <a:solidFill>
                  <a:srgbClr val="1F2937"/>
                </a:solidFill>
                <a:latin typeface="Carlito" pitchFamily="34" charset="0"/>
                <a:ea typeface="Carlito" pitchFamily="34" charset="-122"/>
                <a:cs typeface="Carlito" pitchFamily="34" charset="-120"/>
              </a:rPr>
              <a:t>Zero transit time</a:t>
            </a:r>
            <a:endParaRPr lang="en-US" sz="788" dirty="0"/>
          </a:p>
        </p:txBody>
      </p:sp>
      <p:sp>
        <p:nvSpPr>
          <p:cNvPr id="47" name="Text 44"/>
          <p:cNvSpPr/>
          <p:nvPr/>
        </p:nvSpPr>
        <p:spPr>
          <a:xfrm>
            <a:off x="5414963" y="2946797"/>
            <a:ext cx="128588" cy="128588"/>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48" name="Shape 45"/>
          <p:cNvSpPr/>
          <p:nvPr/>
        </p:nvSpPr>
        <p:spPr>
          <a:xfrm>
            <a:off x="435769" y="3193256"/>
            <a:ext cx="8272463" cy="0"/>
          </a:xfrm>
          <a:prstGeom prst="line">
            <a:avLst/>
          </a:prstGeom>
          <a:noFill/>
          <a:ln w="7144">
            <a:solidFill>
              <a:srgbClr val="E5E7EB"/>
            </a:solidFill>
            <a:prstDash val="solid"/>
          </a:ln>
        </p:spPr>
      </p:sp>
      <p:sp>
        <p:nvSpPr>
          <p:cNvPr id="49" name="Text 46"/>
          <p:cNvSpPr/>
          <p:nvPr/>
        </p:nvSpPr>
        <p:spPr>
          <a:xfrm>
            <a:off x="435769" y="3196828"/>
            <a:ext cx="1428750" cy="350044"/>
          </a:xfrm>
          <a:prstGeom prst="rect">
            <a:avLst/>
          </a:prstGeom>
          <a:solidFill>
            <a:srgbClr val="F3F4F6"/>
          </a:solidFill>
          <a:ln/>
        </p:spPr>
        <p:txBody>
          <a:bodyPr wrap="square" rtlCol="0" anchor="ctr"/>
          <a:lstStyle/>
          <a:p>
            <a:pPr indent="0" marL="0">
              <a:buNone/>
            </a:pPr>
            <a:endParaRPr lang="en-US" dirty="0"/>
          </a:p>
        </p:txBody>
      </p:sp>
      <p:sp>
        <p:nvSpPr>
          <p:cNvPr id="50" name="Text 47"/>
          <p:cNvSpPr/>
          <p:nvPr/>
        </p:nvSpPr>
        <p:spPr>
          <a:xfrm>
            <a:off x="435769" y="3196828"/>
            <a:ext cx="1428750" cy="350044"/>
          </a:xfrm>
          <a:prstGeom prst="rect">
            <a:avLst/>
          </a:prstGeom>
          <a:noFill/>
          <a:ln/>
        </p:spPr>
        <p:txBody>
          <a:bodyPr wrap="none" lIns="128588" tIns="100013" rIns="128588" bIns="100013" rtlCol="0" anchor="t"/>
          <a:lstStyle/>
          <a:p>
            <a:pPr algn="l" indent="0" marL="0">
              <a:lnSpc>
                <a:spcPts val="1097"/>
              </a:lnSpc>
              <a:buNone/>
            </a:pPr>
            <a:r>
              <a:rPr lang="en-US" sz="800" spc="44" kern="0" dirty="0">
                <a:solidFill>
                  <a:srgbClr val="6B7280"/>
                </a:solidFill>
                <a:latin typeface="Carlito" pitchFamily="34" charset="0"/>
                <a:ea typeface="Carlito" pitchFamily="34" charset="-122"/>
                <a:cs typeface="Carlito" pitchFamily="34" charset="-120"/>
              </a:rPr>
              <a:t>ABSENCES</a:t>
            </a:r>
            <a:endParaRPr lang="en-US" sz="800" dirty="0"/>
          </a:p>
        </p:txBody>
      </p:sp>
      <p:sp>
        <p:nvSpPr>
          <p:cNvPr id="51" name="Text 48"/>
          <p:cNvSpPr/>
          <p:nvPr/>
        </p:nvSpPr>
        <p:spPr>
          <a:xfrm>
            <a:off x="1864519" y="3196828"/>
            <a:ext cx="3421856" cy="350044"/>
          </a:xfrm>
          <a:prstGeom prst="rect">
            <a:avLst/>
          </a:prstGeom>
          <a:solidFill>
            <a:srgbClr val="FAFAFC"/>
          </a:solidFill>
          <a:ln/>
        </p:spPr>
        <p:txBody>
          <a:bodyPr wrap="square" rtlCol="0" anchor="ctr"/>
          <a:lstStyle/>
          <a:p>
            <a:pPr indent="0" marL="0">
              <a:buNone/>
            </a:pPr>
            <a:endParaRPr lang="en-US" dirty="0"/>
          </a:p>
        </p:txBody>
      </p:sp>
      <p:sp>
        <p:nvSpPr>
          <p:cNvPr id="52" name="Text 49"/>
          <p:cNvSpPr/>
          <p:nvPr/>
        </p:nvSpPr>
        <p:spPr>
          <a:xfrm>
            <a:off x="2193131" y="3311128"/>
            <a:ext cx="1638374" cy="125403"/>
          </a:xfrm>
          <a:prstGeom prst="rect">
            <a:avLst/>
          </a:prstGeom>
          <a:noFill/>
          <a:ln/>
        </p:spPr>
        <p:txBody>
          <a:bodyPr wrap="none" lIns="128588" tIns="100013" rIns="128588" bIns="100013" rtlCol="0" anchor="t"/>
          <a:lstStyle/>
          <a:p>
            <a:pPr algn="l" indent="0" marL="0">
              <a:lnSpc>
                <a:spcPts val="1181"/>
              </a:lnSpc>
              <a:buNone/>
            </a:pPr>
            <a:r>
              <a:rPr lang="en-US" sz="788" dirty="0">
                <a:solidFill>
                  <a:srgbClr val="374151"/>
                </a:solidFill>
                <a:latin typeface="Carlito" pitchFamily="34" charset="0"/>
                <a:ea typeface="Carlito" pitchFamily="34" charset="-122"/>
                <a:cs typeface="Carlito" pitchFamily="34" charset="-120"/>
              </a:rPr>
              <a:t>Absences covered point by point</a:t>
            </a:r>
            <a:endParaRPr lang="en-US" sz="788" dirty="0"/>
          </a:p>
        </p:txBody>
      </p:sp>
      <p:sp>
        <p:nvSpPr>
          <p:cNvPr id="53" name="Text 50"/>
          <p:cNvSpPr/>
          <p:nvPr/>
        </p:nvSpPr>
        <p:spPr>
          <a:xfrm>
            <a:off x="1993106" y="3303984"/>
            <a:ext cx="128588" cy="128588"/>
          </a:xfrm>
          <a:prstGeom prst="rect">
            <a:avLst/>
          </a:prstGeom>
          <a:noFill/>
          <a:ln/>
        </p:spPr>
        <p:txBody>
          <a:bodyPr wrap="none" lIns="0" tIns="0" rIns="0" bIns="0" rtlCol="0" anchor="ctr"/>
          <a:lstStyle/>
          <a:p>
            <a:pPr algn="ctr" indent="0" marL="0">
              <a:buNone/>
            </a:pPr>
            <a:r>
              <a:rPr lang="en-US" sz="1266" dirty="0">
                <a:solidFill>
                  <a:srgbClr val="DC2626"/>
                </a:solidFill>
                <a:latin typeface="Segoe UI Symbol" pitchFamily="34" charset="0"/>
                <a:ea typeface="Segoe UI Symbol" pitchFamily="34" charset="-122"/>
                <a:cs typeface="Segoe UI Symbol" pitchFamily="34" charset="-120"/>
              </a:rPr>
              <a:t>✕</a:t>
            </a:r>
            <a:endParaRPr lang="en-US" sz="1266" dirty="0"/>
          </a:p>
        </p:txBody>
      </p:sp>
      <p:sp>
        <p:nvSpPr>
          <p:cNvPr id="54" name="Text 51"/>
          <p:cNvSpPr/>
          <p:nvPr/>
        </p:nvSpPr>
        <p:spPr>
          <a:xfrm>
            <a:off x="5286375" y="3196828"/>
            <a:ext cx="3421856" cy="350044"/>
          </a:xfrm>
          <a:prstGeom prst="rect">
            <a:avLst/>
          </a:prstGeom>
          <a:solidFill>
            <a:srgbClr val="F5F3FF"/>
          </a:solidFill>
          <a:ln/>
        </p:spPr>
        <p:txBody>
          <a:bodyPr wrap="square" rtlCol="0" anchor="ctr"/>
          <a:lstStyle/>
          <a:p>
            <a:pPr indent="0" marL="0">
              <a:buNone/>
            </a:pPr>
            <a:endParaRPr lang="en-US" dirty="0"/>
          </a:p>
        </p:txBody>
      </p:sp>
      <p:sp>
        <p:nvSpPr>
          <p:cNvPr id="55" name="Text 52"/>
          <p:cNvSpPr/>
          <p:nvPr/>
        </p:nvSpPr>
        <p:spPr>
          <a:xfrm>
            <a:off x="5614988" y="3311128"/>
            <a:ext cx="1618729" cy="125403"/>
          </a:xfrm>
          <a:prstGeom prst="rect">
            <a:avLst/>
          </a:prstGeom>
          <a:noFill/>
          <a:ln/>
        </p:spPr>
        <p:txBody>
          <a:bodyPr wrap="none" lIns="128588" tIns="100013" rIns="128588" bIns="100013" rtlCol="0" anchor="t"/>
          <a:lstStyle/>
          <a:p>
            <a:pPr algn="l" indent="0" marL="0">
              <a:lnSpc>
                <a:spcPts val="1181"/>
              </a:lnSpc>
              <a:buNone/>
            </a:pPr>
            <a:r>
              <a:rPr lang="en-US" sz="800" dirty="0">
                <a:solidFill>
                  <a:srgbClr val="1F2937"/>
                </a:solidFill>
                <a:latin typeface="Carlito" pitchFamily="34" charset="0"/>
                <a:ea typeface="Carlito" pitchFamily="34" charset="-122"/>
                <a:cs typeface="Carlito" pitchFamily="34" charset="-120"/>
              </a:rPr>
              <a:t>Absences absorbed by the team</a:t>
            </a:r>
            <a:endParaRPr lang="en-US" sz="800" dirty="0"/>
          </a:p>
        </p:txBody>
      </p:sp>
      <p:sp>
        <p:nvSpPr>
          <p:cNvPr id="56" name="Text 53"/>
          <p:cNvSpPr/>
          <p:nvPr/>
        </p:nvSpPr>
        <p:spPr>
          <a:xfrm>
            <a:off x="5414963" y="3303984"/>
            <a:ext cx="128588" cy="128588"/>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57" name="Shape 54"/>
          <p:cNvSpPr/>
          <p:nvPr/>
        </p:nvSpPr>
        <p:spPr>
          <a:xfrm>
            <a:off x="435769" y="3550444"/>
            <a:ext cx="8272463" cy="0"/>
          </a:xfrm>
          <a:prstGeom prst="line">
            <a:avLst/>
          </a:prstGeom>
          <a:noFill/>
          <a:ln w="7144">
            <a:solidFill>
              <a:srgbClr val="E5E7EB"/>
            </a:solidFill>
            <a:prstDash val="solid"/>
          </a:ln>
        </p:spPr>
      </p:sp>
      <p:sp>
        <p:nvSpPr>
          <p:cNvPr id="58" name="Text 55"/>
          <p:cNvSpPr/>
          <p:nvPr/>
        </p:nvSpPr>
        <p:spPr>
          <a:xfrm>
            <a:off x="435769" y="3554016"/>
            <a:ext cx="1428750" cy="350044"/>
          </a:xfrm>
          <a:prstGeom prst="rect">
            <a:avLst/>
          </a:prstGeom>
          <a:solidFill>
            <a:srgbClr val="F3F4F6"/>
          </a:solidFill>
          <a:ln/>
        </p:spPr>
        <p:txBody>
          <a:bodyPr wrap="square" rtlCol="0" anchor="ctr"/>
          <a:lstStyle/>
          <a:p>
            <a:pPr indent="0" marL="0">
              <a:buNone/>
            </a:pPr>
            <a:endParaRPr lang="en-US" dirty="0"/>
          </a:p>
        </p:txBody>
      </p:sp>
      <p:sp>
        <p:nvSpPr>
          <p:cNvPr id="59" name="Text 56"/>
          <p:cNvSpPr/>
          <p:nvPr/>
        </p:nvSpPr>
        <p:spPr>
          <a:xfrm>
            <a:off x="435769" y="3554016"/>
            <a:ext cx="1428750" cy="350044"/>
          </a:xfrm>
          <a:prstGeom prst="rect">
            <a:avLst/>
          </a:prstGeom>
          <a:noFill/>
          <a:ln/>
        </p:spPr>
        <p:txBody>
          <a:bodyPr wrap="none" lIns="128588" tIns="100013" rIns="128588" bIns="100013" rtlCol="0" anchor="t"/>
          <a:lstStyle/>
          <a:p>
            <a:pPr algn="l" indent="0" marL="0">
              <a:lnSpc>
                <a:spcPts val="1097"/>
              </a:lnSpc>
              <a:buNone/>
            </a:pPr>
            <a:r>
              <a:rPr lang="en-US" sz="800" spc="44" kern="0" dirty="0">
                <a:solidFill>
                  <a:srgbClr val="6B7280"/>
                </a:solidFill>
                <a:latin typeface="Carlito" pitchFamily="34" charset="0"/>
                <a:ea typeface="Carlito" pitchFamily="34" charset="-122"/>
                <a:cs typeface="Carlito" pitchFamily="34" charset="-120"/>
              </a:rPr>
              <a:t>TALENT</a:t>
            </a:r>
            <a:endParaRPr lang="en-US" sz="800" dirty="0"/>
          </a:p>
        </p:txBody>
      </p:sp>
      <p:sp>
        <p:nvSpPr>
          <p:cNvPr id="60" name="Text 57"/>
          <p:cNvSpPr/>
          <p:nvPr/>
        </p:nvSpPr>
        <p:spPr>
          <a:xfrm>
            <a:off x="1864519" y="3554016"/>
            <a:ext cx="3421856" cy="350044"/>
          </a:xfrm>
          <a:prstGeom prst="rect">
            <a:avLst/>
          </a:prstGeom>
          <a:solidFill>
            <a:srgbClr val="FAFAFC"/>
          </a:solidFill>
          <a:ln/>
        </p:spPr>
        <p:txBody>
          <a:bodyPr wrap="square" rtlCol="0" anchor="ctr"/>
          <a:lstStyle/>
          <a:p>
            <a:pPr indent="0" marL="0">
              <a:buNone/>
            </a:pPr>
            <a:endParaRPr lang="en-US" dirty="0"/>
          </a:p>
        </p:txBody>
      </p:sp>
      <p:sp>
        <p:nvSpPr>
          <p:cNvPr id="61" name="Text 58"/>
          <p:cNvSpPr/>
          <p:nvPr/>
        </p:nvSpPr>
        <p:spPr>
          <a:xfrm>
            <a:off x="2193131" y="3668316"/>
            <a:ext cx="1223702" cy="125403"/>
          </a:xfrm>
          <a:prstGeom prst="rect">
            <a:avLst/>
          </a:prstGeom>
          <a:noFill/>
          <a:ln/>
        </p:spPr>
        <p:txBody>
          <a:bodyPr wrap="none" lIns="128588" tIns="100013" rIns="128588" bIns="100013" rtlCol="0" anchor="t"/>
          <a:lstStyle/>
          <a:p>
            <a:pPr algn="l" indent="0" marL="0">
              <a:lnSpc>
                <a:spcPts val="1181"/>
              </a:lnSpc>
              <a:buNone/>
            </a:pPr>
            <a:r>
              <a:rPr lang="en-US" sz="788" dirty="0">
                <a:solidFill>
                  <a:srgbClr val="374151"/>
                </a:solidFill>
                <a:latin typeface="Carlito" pitchFamily="34" charset="0"/>
                <a:ea typeface="Carlito" pitchFamily="34" charset="-122"/>
                <a:cs typeface="Carlito" pitchFamily="34" charset="-120"/>
              </a:rPr>
              <a:t>Talent tied to geography</a:t>
            </a:r>
            <a:endParaRPr lang="en-US" sz="788" dirty="0"/>
          </a:p>
        </p:txBody>
      </p:sp>
      <p:sp>
        <p:nvSpPr>
          <p:cNvPr id="62" name="Text 59"/>
          <p:cNvSpPr/>
          <p:nvPr/>
        </p:nvSpPr>
        <p:spPr>
          <a:xfrm>
            <a:off x="1993106" y="3661172"/>
            <a:ext cx="128588" cy="128588"/>
          </a:xfrm>
          <a:prstGeom prst="rect">
            <a:avLst/>
          </a:prstGeom>
          <a:noFill/>
          <a:ln/>
        </p:spPr>
        <p:txBody>
          <a:bodyPr wrap="none" lIns="0" tIns="0" rIns="0" bIns="0" rtlCol="0" anchor="ctr"/>
          <a:lstStyle/>
          <a:p>
            <a:pPr algn="ctr" indent="0" marL="0">
              <a:buNone/>
            </a:pPr>
            <a:r>
              <a:rPr lang="en-US" sz="1266" dirty="0">
                <a:solidFill>
                  <a:srgbClr val="DC2626"/>
                </a:solidFill>
                <a:latin typeface="Segoe UI Symbol" pitchFamily="34" charset="0"/>
                <a:ea typeface="Segoe UI Symbol" pitchFamily="34" charset="-122"/>
                <a:cs typeface="Segoe UI Symbol" pitchFamily="34" charset="-120"/>
              </a:rPr>
              <a:t>✕</a:t>
            </a:r>
            <a:endParaRPr lang="en-US" sz="1266" dirty="0"/>
          </a:p>
        </p:txBody>
      </p:sp>
      <p:sp>
        <p:nvSpPr>
          <p:cNvPr id="63" name="Text 60"/>
          <p:cNvSpPr/>
          <p:nvPr/>
        </p:nvSpPr>
        <p:spPr>
          <a:xfrm>
            <a:off x="5286375" y="3554016"/>
            <a:ext cx="3421856" cy="350044"/>
          </a:xfrm>
          <a:prstGeom prst="rect">
            <a:avLst/>
          </a:prstGeom>
          <a:solidFill>
            <a:srgbClr val="F5F3FF"/>
          </a:solidFill>
          <a:ln/>
        </p:spPr>
        <p:txBody>
          <a:bodyPr wrap="square" rtlCol="0" anchor="ctr"/>
          <a:lstStyle/>
          <a:p>
            <a:pPr indent="0" marL="0">
              <a:buNone/>
            </a:pPr>
            <a:endParaRPr lang="en-US" dirty="0"/>
          </a:p>
        </p:txBody>
      </p:sp>
      <p:sp>
        <p:nvSpPr>
          <p:cNvPr id="64" name="Text 61"/>
          <p:cNvSpPr/>
          <p:nvPr/>
        </p:nvSpPr>
        <p:spPr>
          <a:xfrm>
            <a:off x="5614988" y="3668316"/>
            <a:ext cx="1504094" cy="125403"/>
          </a:xfrm>
          <a:prstGeom prst="rect">
            <a:avLst/>
          </a:prstGeom>
          <a:noFill/>
          <a:ln/>
        </p:spPr>
        <p:txBody>
          <a:bodyPr wrap="none" lIns="128588" tIns="100013" rIns="128588" bIns="100013" rtlCol="0" anchor="t"/>
          <a:lstStyle/>
          <a:p>
            <a:pPr algn="l" indent="0" marL="0">
              <a:lnSpc>
                <a:spcPts val="1181"/>
              </a:lnSpc>
              <a:buNone/>
            </a:pPr>
            <a:r>
              <a:rPr lang="en-US" sz="788" dirty="0">
                <a:solidFill>
                  <a:srgbClr val="1F2937"/>
                </a:solidFill>
                <a:latin typeface="Carlito" pitchFamily="34" charset="0"/>
                <a:ea typeface="Carlito" pitchFamily="34" charset="-122"/>
                <a:cs typeface="Carlito" pitchFamily="34" charset="-120"/>
              </a:rPr>
              <a:t>Talent with no geographic ties</a:t>
            </a:r>
            <a:endParaRPr lang="en-US" sz="788" dirty="0"/>
          </a:p>
        </p:txBody>
      </p:sp>
      <p:sp>
        <p:nvSpPr>
          <p:cNvPr id="65" name="Text 62"/>
          <p:cNvSpPr/>
          <p:nvPr/>
        </p:nvSpPr>
        <p:spPr>
          <a:xfrm>
            <a:off x="5414963" y="3661172"/>
            <a:ext cx="128588" cy="128588"/>
          </a:xfrm>
          <a:prstGeom prst="rect">
            <a:avLst/>
          </a:prstGeom>
          <a:noFill/>
          <a:ln/>
        </p:spPr>
        <p:txBody>
          <a:bodyPr wrap="none" lIns="0" tIns="0" rIns="0" bIns="0" rtlCol="0" anchor="ctr"/>
          <a:lstStyle/>
          <a:p>
            <a:pPr algn="ctr" indent="0" marL="0">
              <a:buNone/>
            </a:pPr>
            <a:r>
              <a:rPr lang="en-US" sz="1266" dirty="0">
                <a:solidFill>
                  <a:srgbClr val="7C3AED"/>
                </a:solidFill>
                <a:latin typeface="Segoe UI Symbol" pitchFamily="34" charset="0"/>
                <a:ea typeface="Segoe UI Symbol" pitchFamily="34" charset="-122"/>
                <a:cs typeface="Segoe UI Symbol" pitchFamily="34" charset="-120"/>
              </a:rPr>
              <a:t>✓</a:t>
            </a:r>
            <a:endParaRPr lang="en-US" sz="1266" dirty="0"/>
          </a:p>
        </p:txBody>
      </p:sp>
      <p:sp>
        <p:nvSpPr>
          <p:cNvPr id="66" name="Text 63"/>
          <p:cNvSpPr/>
          <p:nvPr/>
        </p:nvSpPr>
        <p:spPr>
          <a:xfrm>
            <a:off x="428625" y="4196953"/>
            <a:ext cx="5861893" cy="517922"/>
          </a:xfrm>
          <a:prstGeom prst="roundRect">
            <a:avLst>
              <a:gd name="adj" fmla="val 14713"/>
            </a:avLst>
          </a:prstGeom>
          <a:solidFill>
            <a:srgbClr val="F5F3FF"/>
          </a:solidFill>
          <a:ln/>
        </p:spPr>
        <p:txBody>
          <a:bodyPr wrap="square" rtlCol="0" anchor="ctr"/>
          <a:lstStyle/>
          <a:p>
            <a:pPr indent="0" marL="0">
              <a:buNone/>
            </a:pPr>
            <a:endParaRPr lang="en-US" dirty="0"/>
          </a:p>
        </p:txBody>
      </p:sp>
      <p:sp>
        <p:nvSpPr>
          <p:cNvPr id="67" name="Shape 64"/>
          <p:cNvSpPr/>
          <p:nvPr/>
        </p:nvSpPr>
        <p:spPr>
          <a:xfrm>
            <a:off x="442913" y="4196953"/>
            <a:ext cx="0" cy="517922"/>
          </a:xfrm>
          <a:prstGeom prst="line">
            <a:avLst/>
          </a:prstGeom>
          <a:noFill/>
          <a:ln w="28575">
            <a:solidFill>
              <a:srgbClr val="7C3AED"/>
            </a:solidFill>
            <a:prstDash val="solid"/>
          </a:ln>
        </p:spPr>
      </p:sp>
      <p:sp>
        <p:nvSpPr>
          <p:cNvPr id="68" name="Text 65"/>
          <p:cNvSpPr/>
          <p:nvPr/>
        </p:nvSpPr>
        <p:spPr>
          <a:xfrm>
            <a:off x="600075" y="4363045"/>
            <a:ext cx="185738" cy="185738"/>
          </a:xfrm>
          <a:prstGeom prst="rect">
            <a:avLst/>
          </a:prstGeom>
          <a:noFill/>
          <a:ln/>
        </p:spPr>
        <p:txBody>
          <a:bodyPr wrap="none" lIns="0" tIns="0" rIns="0" bIns="0" rtlCol="0" anchor="ctr"/>
          <a:lstStyle/>
          <a:p>
            <a:pPr algn="ctr" indent="0" marL="0">
              <a:buNone/>
            </a:pPr>
            <a:r>
              <a:rPr lang="en-US" sz="1828" dirty="0">
                <a:solidFill>
                  <a:srgbClr val="7C3AED"/>
                </a:solidFill>
                <a:latin typeface="Segoe UI Symbol" pitchFamily="34" charset="0"/>
                <a:ea typeface="Segoe UI Symbol" pitchFamily="34" charset="-122"/>
                <a:cs typeface="Segoe UI Symbol" pitchFamily="34" charset="-120"/>
              </a:rPr>
              <a:t>◫</a:t>
            </a:r>
            <a:endParaRPr lang="en-US" sz="1828" dirty="0"/>
          </a:p>
        </p:txBody>
      </p:sp>
      <p:sp>
        <p:nvSpPr>
          <p:cNvPr id="69" name="Text 66"/>
          <p:cNvSpPr/>
          <p:nvPr/>
        </p:nvSpPr>
        <p:spPr>
          <a:xfrm>
            <a:off x="900113" y="4311253"/>
            <a:ext cx="5247531" cy="289322"/>
          </a:xfrm>
          <a:prstGeom prst="rect">
            <a:avLst/>
          </a:prstGeom>
          <a:noFill/>
          <a:ln/>
        </p:spPr>
        <p:txBody>
          <a:bodyPr wrap="square" lIns="0" tIns="0" rIns="0" bIns="0" rtlCol="0" anchor="t"/>
          <a:lstStyle/>
          <a:p>
            <a:pPr algn="l" indent="0" marL="0">
              <a:lnSpc>
                <a:spcPts val="1139"/>
              </a:lnSpc>
              <a:buNone/>
            </a:pPr>
            <a:r>
              <a:rPr lang="en-US" sz="844" dirty="0">
                <a:solidFill>
                  <a:srgbClr val="6D28D9"/>
                </a:solidFill>
                <a:latin typeface="Carlito" pitchFamily="34" charset="0"/>
                <a:ea typeface="Carlito" pitchFamily="34" charset="-122"/>
                <a:cs typeface="Carlito" pitchFamily="34" charset="-120"/>
              </a:rPr>
              <a:t>The real savings are the payroll, infrastructure, and geography that no longer limit the service.</a:t>
            </a:r>
            <a:endParaRPr lang="en-US" sz="844" dirty="0"/>
          </a:p>
        </p:txBody>
      </p:sp>
      <p:sp>
        <p:nvSpPr>
          <p:cNvPr id="70" name="Text 67"/>
          <p:cNvSpPr/>
          <p:nvPr/>
        </p:nvSpPr>
        <p:spPr>
          <a:xfrm>
            <a:off x="6408390" y="4268391"/>
            <a:ext cx="2303413" cy="375047"/>
          </a:xfrm>
          <a:prstGeom prst="roundRect">
            <a:avLst>
              <a:gd name="adj" fmla="val 20317"/>
            </a:avLst>
          </a:prstGeom>
          <a:solidFill>
            <a:srgbClr val="ECFDF5"/>
          </a:solidFill>
          <a:ln w="7144">
            <a:solidFill>
              <a:srgbClr val="A7F3D0"/>
            </a:solidFill>
            <a:prstDash val="solid"/>
          </a:ln>
        </p:spPr>
        <p:txBody>
          <a:bodyPr wrap="square" rtlCol="0" anchor="ctr"/>
          <a:lstStyle/>
          <a:p>
            <a:pPr indent="0" marL="0">
              <a:buNone/>
            </a:pPr>
            <a:endParaRPr lang="en-US" dirty="0"/>
          </a:p>
        </p:txBody>
      </p:sp>
      <p:sp>
        <p:nvSpPr>
          <p:cNvPr id="71" name="Text 68"/>
          <p:cNvSpPr/>
          <p:nvPr/>
        </p:nvSpPr>
        <p:spPr>
          <a:xfrm>
            <a:off x="6526262" y="4377333"/>
            <a:ext cx="157163" cy="157163"/>
          </a:xfrm>
          <a:prstGeom prst="rect">
            <a:avLst/>
          </a:prstGeom>
          <a:noFill/>
          <a:ln/>
        </p:spPr>
        <p:txBody>
          <a:bodyPr wrap="none" lIns="0" tIns="0" rIns="0" bIns="0" rtlCol="0" anchor="ctr"/>
          <a:lstStyle/>
          <a:p>
            <a:pPr algn="ctr" indent="0" marL="0">
              <a:buNone/>
            </a:pPr>
            <a:r>
              <a:rPr lang="en-US" sz="1547" dirty="0">
                <a:solidFill>
                  <a:srgbClr val="059669"/>
                </a:solidFill>
                <a:latin typeface="Segoe UI Symbol" pitchFamily="34" charset="0"/>
                <a:ea typeface="Segoe UI Symbol" pitchFamily="34" charset="-122"/>
                <a:cs typeface="Segoe UI Symbol" pitchFamily="34" charset="-120"/>
              </a:rPr>
              <a:t>✿</a:t>
            </a:r>
            <a:endParaRPr lang="en-US" sz="1547" dirty="0"/>
          </a:p>
        </p:txBody>
      </p:sp>
      <p:sp>
        <p:nvSpPr>
          <p:cNvPr id="72" name="Text 69"/>
          <p:cNvSpPr/>
          <p:nvPr/>
        </p:nvSpPr>
        <p:spPr>
          <a:xfrm>
            <a:off x="6754862" y="4357688"/>
            <a:ext cx="1839069" cy="196453"/>
          </a:xfrm>
          <a:prstGeom prst="rect">
            <a:avLst/>
          </a:prstGeom>
          <a:noFill/>
          <a:ln/>
        </p:spPr>
        <p:txBody>
          <a:bodyPr wrap="square" lIns="0" tIns="0" rIns="0" bIns="0" rtlCol="0" anchor="t"/>
          <a:lstStyle/>
          <a:p>
            <a:pPr algn="l" indent="0" marL="0">
              <a:lnSpc>
                <a:spcPts val="773"/>
              </a:lnSpc>
              <a:buNone/>
            </a:pPr>
            <a:r>
              <a:rPr lang="en-US" sz="800" dirty="0">
                <a:solidFill>
                  <a:srgbClr val="065F46"/>
                </a:solidFill>
                <a:latin typeface="Carlito" pitchFamily="34" charset="0"/>
                <a:ea typeface="Carlito" pitchFamily="34" charset="-122"/>
                <a:cs typeface="Carlito" pitchFamily="34" charset="-120"/>
              </a:rPr>
              <a:t>Positive environmental impact</a:t>
            </a:r>
            <a:endParaRPr lang="en-US" sz="800" dirty="0"/>
          </a:p>
          <a:p>
            <a:pPr algn="l" indent="0" marL="0">
              <a:lnSpc>
                <a:spcPts val="773"/>
              </a:lnSpc>
              <a:buNone/>
            </a:pPr>
            <a:r>
              <a:rPr lang="en-US" sz="800" dirty="0">
                <a:solidFill>
                  <a:srgbClr val="065F46">
                    <a:alpha val="80000"/>
                  </a:srgbClr>
                </a:solidFill>
                <a:latin typeface="Carlito" pitchFamily="34" charset="0"/>
                <a:ea typeface="Carlito" pitchFamily="34" charset="-122"/>
                <a:cs typeface="Carlito" pitchFamily="34" charset="-120"/>
              </a:rPr>
              <a:t>fewer commutes · smaller real-estate footprint</a:t>
            </a:r>
            <a:endParaRPr lang="en-US" sz="800" dirty="0"/>
          </a:p>
        </p:txBody>
      </p:sp>
      <p:sp>
        <p:nvSpPr>
          <p:cNvPr id="73" name="Text 70"/>
          <p:cNvSpPr/>
          <p:nvPr/>
        </p:nvSpPr>
        <p:spPr>
          <a:xfrm>
            <a:off x="342900" y="4854178"/>
            <a:ext cx="4267609"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74" name="Text 71"/>
          <p:cNvSpPr/>
          <p:nvPr/>
        </p:nvSpPr>
        <p:spPr>
          <a:xfrm>
            <a:off x="4624797" y="4854178"/>
            <a:ext cx="3592748"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a:t>
            </a:r>
            <a:endParaRPr lang="en-US" sz="800" dirty="0"/>
          </a:p>
        </p:txBody>
      </p:sp>
      <p:sp>
        <p:nvSpPr>
          <p:cNvPr id="75" name="Text 72"/>
          <p:cNvSpPr/>
          <p:nvPr/>
        </p:nvSpPr>
        <p:spPr>
          <a:xfrm>
            <a:off x="8231832" y="4854178"/>
            <a:ext cx="684793" cy="164592"/>
          </a:xfrm>
          <a:prstGeom prst="rect">
            <a:avLst/>
          </a:prstGeom>
          <a:noFill/>
          <a:ln/>
        </p:spPr>
        <p:txBody>
          <a:bodyPr wrap="none" lIns="0" tIns="0" rIns="0" bIns="0" rtlCol="0" anchor="t"/>
          <a:lstStyle/>
          <a:p>
            <a:pPr algn="l" indent="0" marL="0">
              <a:lnSpc>
                <a:spcPts val="928"/>
              </a:lnSpc>
              <a:buNone/>
            </a:pPr>
            <a:r>
              <a:rPr lang="en-US" sz="619" spc="25" kern="0" dirty="0">
                <a:solidFill>
                  <a:srgbClr val="6B7280"/>
                </a:solidFill>
                <a:latin typeface="Liberation Sans Narrow" pitchFamily="34" charset="0"/>
                <a:ea typeface="Liberation Sans Narrow" pitchFamily="34" charset="-122"/>
                <a:cs typeface="Liberation Sans Narrow" pitchFamily="34" charset="-120"/>
              </a:rPr>
              <a:t>SLIDE 17 / 24</a:t>
            </a:r>
            <a:endParaRPr lang="en-US" sz="619" dirty="0"/>
          </a:p>
        </p:txBody>
      </p:sp>
      <p:pic>
        <p:nvPicPr>
          <p:cNvPr id="76" name="Image 1" descr="/home/z/my-project/download/slides/massapro-logo.png">    </p:cNvPr>
          <p:cNvPicPr>
            <a:picLocks noChangeAspect="1"/>
          </p:cNvPicPr>
          <p:nvPr/>
        </p:nvPicPr>
        <p:blipFill>
          <a:blip r:embed="rId2"/>
          <a:stretch>
            <a:fillRect/>
          </a:stretch>
        </p:blipFill>
        <p:spPr>
          <a:xfrm>
            <a:off x="342900" y="200025"/>
            <a:ext cx="200025" cy="200025"/>
          </a:xfrm>
          <a:prstGeom prst="rect">
            <a:avLst/>
          </a:prstGeom>
        </p:spPr>
      </p:pic>
      <p:sp>
        <p:nvSpPr>
          <p:cNvPr id="77" name="Text 73"/>
          <p:cNvSpPr/>
          <p:nvPr/>
        </p:nvSpPr>
        <p:spPr>
          <a:xfrm>
            <a:off x="614363" y="219670"/>
            <a:ext cx="769239"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6D28D9"/>
                </a:solidFill>
                <a:latin typeface="Carlito" pitchFamily="34" charset="0"/>
                <a:ea typeface="Carlito" pitchFamily="34" charset="-122"/>
                <a:cs typeface="Carlito" pitchFamily="34" charset="-120"/>
              </a:rPr>
              <a:t>MassaPro</a:t>
            </a:r>
            <a:endParaRPr lang="en-US" sz="844"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FF"/>
        </a:solidFill>
      </p:bgPr>
    </p:bg>
    <p:spTree>
      <p:nvGrpSpPr>
        <p:cNvPr id="1" name=""/>
        <p:cNvGrpSpPr/>
        <p:nvPr/>
      </p:nvGrpSpPr>
      <p:grpSpPr>
        <a:xfrm>
          <a:off x="0" y="0"/>
          <a:ext cx="0" cy="0"/>
          <a:chOff x="0" y="0"/>
          <a:chExt cx="0" cy="0"/>
        </a:xfrm>
      </p:grpSpPr>
      <p:sp>
        <p:nvSpPr>
          <p:cNvPr id="2" name="Text 0"/>
          <p:cNvSpPr/>
          <p:nvPr/>
        </p:nvSpPr>
        <p:spPr>
          <a:xfrm>
            <a:off x="6312061" y="200025"/>
            <a:ext cx="2831939" cy="164592"/>
          </a:xfrm>
          <a:prstGeom prst="rect">
            <a:avLst/>
          </a:prstGeom>
          <a:noFill/>
          <a:ln/>
        </p:spPr>
        <p:txBody>
          <a:bodyPr wrap="square" lIns="0" tIns="0" rIns="0" bIns="0" rtlCol="0" anchor="t"/>
          <a:lstStyle/>
          <a:p>
            <a:pPr algn="l" indent="0" marL="0">
              <a:lnSpc>
                <a:spcPts val="928"/>
              </a:lnSpc>
              <a:buNone/>
            </a:pPr>
            <a:r>
              <a:rPr lang="en-US" sz="800" b="1" spc="111" kern="0" dirty="0">
                <a:solidFill>
                  <a:srgbClr val="6B7280"/>
                </a:solidFill>
                <a:latin typeface="Carlito" pitchFamily="34" charset="0"/>
                <a:ea typeface="Carlito" pitchFamily="34" charset="-122"/>
                <a:cs typeface="Carlito" pitchFamily="34" charset="-120"/>
              </a:rPr>
              <a:t>CHAPTER 03 — INTEGRATION &amp; OPERATIONS</a:t>
            </a:r>
            <a:endParaRPr lang="en-US" sz="800" dirty="0"/>
          </a:p>
        </p:txBody>
      </p:sp>
      <p:sp>
        <p:nvSpPr>
          <p:cNvPr id="3" name="Text 1"/>
          <p:cNvSpPr/>
          <p:nvPr/>
        </p:nvSpPr>
        <p:spPr>
          <a:xfrm>
            <a:off x="432197" y="575072"/>
            <a:ext cx="1917204" cy="210741"/>
          </a:xfrm>
          <a:prstGeom prst="roundRect">
            <a:avLst>
              <a:gd name="adj" fmla="val 4515246"/>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4" name="Text 2"/>
          <p:cNvSpPr/>
          <p:nvPr/>
        </p:nvSpPr>
        <p:spPr>
          <a:xfrm>
            <a:off x="678656" y="628650"/>
            <a:ext cx="1581448" cy="129679"/>
          </a:xfrm>
          <a:prstGeom prst="rect">
            <a:avLst/>
          </a:prstGeom>
          <a:noFill/>
          <a:ln/>
        </p:spPr>
        <p:txBody>
          <a:bodyPr wrap="none" lIns="0" tIns="0" rIns="0" bIns="0" rtlCol="0" anchor="t"/>
          <a:lstStyle/>
          <a:p>
            <a:pPr algn="l" indent="0" marL="0">
              <a:lnSpc>
                <a:spcPts val="928"/>
              </a:lnSpc>
              <a:buNone/>
            </a:pPr>
            <a:r>
              <a:rPr lang="en-US" sz="800" b="1" spc="111" kern="0" dirty="0">
                <a:solidFill>
                  <a:srgbClr val="7C3AED"/>
                </a:solidFill>
                <a:latin typeface="Carlito" pitchFamily="34" charset="0"/>
                <a:ea typeface="Carlito" pitchFamily="34" charset="-122"/>
                <a:cs typeface="Carlito" pitchFamily="34" charset="-120"/>
              </a:rPr>
              <a:t>SECURITY AND COMPLIANCE</a:t>
            </a:r>
            <a:endParaRPr lang="en-US" sz="800" dirty="0"/>
          </a:p>
        </p:txBody>
      </p:sp>
      <p:sp>
        <p:nvSpPr>
          <p:cNvPr id="5" name="Text 3"/>
          <p:cNvSpPr/>
          <p:nvPr/>
        </p:nvSpPr>
        <p:spPr>
          <a:xfrm>
            <a:off x="521494" y="630436"/>
            <a:ext cx="100013" cy="100013"/>
          </a:xfrm>
          <a:prstGeom prst="rect">
            <a:avLst/>
          </a:prstGeom>
          <a:noFill/>
          <a:ln/>
        </p:spPr>
        <p:txBody>
          <a:bodyPr wrap="none" lIns="0" tIns="0" rIns="0" bIns="0" rtlCol="0" anchor="ctr"/>
          <a:lstStyle/>
          <a:p>
            <a:pPr algn="ctr" indent="0" marL="0">
              <a:buNone/>
            </a:pPr>
            <a:r>
              <a:rPr lang="en-US" sz="984" dirty="0">
                <a:solidFill>
                  <a:srgbClr val="7C3AED"/>
                </a:solidFill>
                <a:latin typeface="Segoe UI Symbol" pitchFamily="34" charset="0"/>
                <a:ea typeface="Segoe UI Symbol" pitchFamily="34" charset="-122"/>
                <a:cs typeface="Segoe UI Symbol" pitchFamily="34" charset="-120"/>
              </a:rPr>
              <a:t>⛨</a:t>
            </a:r>
            <a:endParaRPr lang="en-US" sz="984" dirty="0"/>
          </a:p>
        </p:txBody>
      </p:sp>
      <p:sp>
        <p:nvSpPr>
          <p:cNvPr id="6" name="Text 4"/>
          <p:cNvSpPr/>
          <p:nvPr/>
        </p:nvSpPr>
        <p:spPr>
          <a:xfrm>
            <a:off x="428625" y="875109"/>
            <a:ext cx="6428683" cy="569741"/>
          </a:xfrm>
          <a:prstGeom prst="rect">
            <a:avLst/>
          </a:prstGeom>
          <a:noFill/>
          <a:ln/>
        </p:spPr>
        <p:txBody>
          <a:bodyPr wrap="square" lIns="0" tIns="0" rIns="0" bIns="0" rtlCol="0" anchor="t">
            <a:normAutofit/>
          </a:bodyPr>
          <a:lstStyle/>
          <a:p>
            <a:pPr algn="l" indent="0" marL="0">
              <a:lnSpc>
                <a:spcPts val="2126"/>
              </a:lnSpc>
              <a:buNone/>
            </a:pPr>
            <a:r>
              <a:rPr lang="en-US" sz="2025" b="1" spc="-40" kern="0" dirty="0">
                <a:solidFill>
                  <a:srgbClr val="6D28D9"/>
                </a:solidFill>
                <a:latin typeface="Carlito" pitchFamily="34" charset="0"/>
                <a:ea typeface="Carlito" pitchFamily="34" charset="-122"/>
                <a:cs typeface="Carlito" pitchFamily="34" charset="-120"/>
              </a:rPr>
              <a:t>Enterprise-Grade, from the Infrastructure Up</a:t>
            </a:r>
            <a:endParaRPr lang="en-US" sz="2025" dirty="0"/>
          </a:p>
        </p:txBody>
      </p:sp>
      <p:sp>
        <p:nvSpPr>
          <p:cNvPr id="7" name="Text 5"/>
          <p:cNvSpPr/>
          <p:nvPr/>
        </p:nvSpPr>
        <p:spPr>
          <a:xfrm>
            <a:off x="428625" y="1472282"/>
            <a:ext cx="5844257" cy="164592"/>
          </a:xfrm>
          <a:prstGeom prst="rect">
            <a:avLst/>
          </a:prstGeom>
          <a:noFill/>
          <a:ln/>
        </p:spPr>
        <p:txBody>
          <a:bodyPr wrap="square" lIns="0" tIns="0" rIns="0" bIns="0" rtlCol="0" anchor="t"/>
          <a:lstStyle/>
          <a:p>
            <a:pPr algn="l" indent="0" marL="0">
              <a:lnSpc>
                <a:spcPts val="1181"/>
              </a:lnSpc>
              <a:buNone/>
            </a:pPr>
            <a:r>
              <a:rPr lang="en-US" sz="800" dirty="0">
                <a:solidFill>
                  <a:srgbClr val="6B7280"/>
                </a:solidFill>
                <a:latin typeface="Carlito" pitchFamily="34" charset="0"/>
                <a:ea typeface="Carlito" pitchFamily="34" charset="-122"/>
                <a:cs typeface="Carlito" pitchFamily="34" charset="-120"/>
              </a:rPr>
              <a:t>Engineered for high-compliance sectors — legal, healthcare, finance, government.</a:t>
            </a:r>
            <a:endParaRPr lang="en-US" sz="800" dirty="0"/>
          </a:p>
        </p:txBody>
      </p:sp>
      <p:sp>
        <p:nvSpPr>
          <p:cNvPr id="8" name="Text 6"/>
          <p:cNvSpPr/>
          <p:nvPr/>
        </p:nvSpPr>
        <p:spPr>
          <a:xfrm>
            <a:off x="6202892" y="1347267"/>
            <a:ext cx="2512483" cy="108299"/>
          </a:xfrm>
          <a:prstGeom prst="rect">
            <a:avLst/>
          </a:prstGeom>
          <a:noFill/>
          <a:ln/>
        </p:spPr>
        <p:txBody>
          <a:bodyPr wrap="square" lIns="0" tIns="0" rIns="0" bIns="0" rtlCol="0" anchor="t">
            <a:normAutofit/>
          </a:bodyPr>
          <a:lstStyle/>
          <a:p>
            <a:pPr algn="r" indent="0" marL="0">
              <a:lnSpc>
                <a:spcPts val="844"/>
              </a:lnSpc>
              <a:buNone/>
            </a:pPr>
            <a:r>
              <a:rPr lang="en-US" sz="800" b="1" spc="79" kern="0" dirty="0">
                <a:solidFill>
                  <a:srgbClr val="7C3AED"/>
                </a:solidFill>
                <a:latin typeface="Carlito" pitchFamily="34" charset="0"/>
                <a:ea typeface="Carlito" pitchFamily="34" charset="-122"/>
                <a:cs typeface="Carlito" pitchFamily="34" charset="-120"/>
              </a:rPr>
              <a:t>COMPLIANCE CERTIFICATIONS</a:t>
            </a:r>
            <a:endParaRPr lang="en-US" sz="800" dirty="0"/>
          </a:p>
        </p:txBody>
      </p:sp>
      <p:sp>
        <p:nvSpPr>
          <p:cNvPr id="9" name="Text 7"/>
          <p:cNvSpPr/>
          <p:nvPr/>
        </p:nvSpPr>
        <p:spPr>
          <a:xfrm>
            <a:off x="6262649" y="1482998"/>
            <a:ext cx="2452726" cy="164592"/>
          </a:xfrm>
          <a:prstGeom prst="rect">
            <a:avLst/>
          </a:prstGeom>
          <a:noFill/>
          <a:ln/>
        </p:spPr>
        <p:txBody>
          <a:bodyPr wrap="square" lIns="0" tIns="0" rIns="0" bIns="0" rtlCol="0" anchor="t"/>
          <a:lstStyle/>
          <a:p>
            <a:pPr algn="r" indent="0" marL="0">
              <a:lnSpc>
                <a:spcPts val="1097"/>
              </a:lnSpc>
              <a:buNone/>
            </a:pPr>
            <a:r>
              <a:rPr lang="en-US" sz="731" dirty="0">
                <a:solidFill>
                  <a:srgbClr val="374151"/>
                </a:solidFill>
                <a:latin typeface="Carlito" pitchFamily="34" charset="0"/>
                <a:ea typeface="Carlito" pitchFamily="34" charset="-122"/>
                <a:cs typeface="Carlito" pitchFamily="34" charset="-120"/>
              </a:rPr>
              <a:t>SOC 2 · ISO 27001 · GDPR · HIPAA · PCI-DSS</a:t>
            </a:r>
            <a:endParaRPr lang="en-US" sz="731" dirty="0"/>
          </a:p>
        </p:txBody>
      </p:sp>
      <p:sp>
        <p:nvSpPr>
          <p:cNvPr id="10" name="Text 8"/>
          <p:cNvSpPr/>
          <p:nvPr/>
        </p:nvSpPr>
        <p:spPr>
          <a:xfrm>
            <a:off x="435769" y="1564481"/>
            <a:ext cx="642938" cy="642938"/>
          </a:xfrm>
          <a:prstGeom prst="ellipse">
            <a:avLst/>
          </a:prstGeom>
          <a:solidFill>
            <a:srgbClr val="FFFFFF"/>
          </a:solidFill>
          <a:ln w="14288">
            <a:solidFill>
              <a:srgbClr val="7C3AED"/>
            </a:solidFill>
            <a:prstDash val="solid"/>
          </a:ln>
          <a:effectLst>
            <a:outerShdw sx="100000" sy="100000" kx="0" ky="0" algn="bl" rotWithShape="0" blurRad="133350" dist="38100" dir="5400000">
              <a:srgbClr val="7C3AED">
                <a:alpha val="10000"/>
              </a:srgbClr>
            </a:outerShdw>
          </a:effectLst>
        </p:spPr>
        <p:txBody>
          <a:bodyPr wrap="square" rtlCol="0" anchor="ctr"/>
          <a:lstStyle/>
          <a:p>
            <a:pPr indent="0" marL="0">
              <a:buNone/>
            </a:pPr>
            <a:endParaRPr lang="en-US" dirty="0"/>
          </a:p>
        </p:txBody>
      </p:sp>
      <p:sp>
        <p:nvSpPr>
          <p:cNvPr id="11" name="Text 9"/>
          <p:cNvSpPr/>
          <p:nvPr/>
        </p:nvSpPr>
        <p:spPr>
          <a:xfrm>
            <a:off x="608893" y="1771650"/>
            <a:ext cx="398537" cy="91440"/>
          </a:xfrm>
          <a:prstGeom prst="rect">
            <a:avLst/>
          </a:prstGeom>
          <a:noFill/>
          <a:ln/>
        </p:spPr>
        <p:txBody>
          <a:bodyPr wrap="none" lIns="0" tIns="0" rIns="0" bIns="0" rtlCol="0" anchor="t">
            <a:normAutofit/>
          </a:bodyPr>
          <a:lstStyle/>
          <a:p>
            <a:pPr algn="l" indent="0" marL="0">
              <a:lnSpc>
                <a:spcPts val="759"/>
              </a:lnSpc>
              <a:buNone/>
            </a:pPr>
            <a:r>
              <a:rPr lang="en-US" sz="600" b="1" spc="51" kern="0" dirty="0">
                <a:solidFill>
                  <a:srgbClr val="7C3AED"/>
                </a:solidFill>
                <a:latin typeface="Carlito" pitchFamily="34" charset="0"/>
                <a:ea typeface="Carlito" pitchFamily="34" charset="-122"/>
                <a:cs typeface="Carlito" pitchFamily="34" charset="-120"/>
              </a:rPr>
              <a:t>TYPE II</a:t>
            </a:r>
            <a:endParaRPr lang="en-US" sz="600" dirty="0"/>
          </a:p>
        </p:txBody>
      </p:sp>
      <p:sp>
        <p:nvSpPr>
          <p:cNvPr id="12" name="Text 10"/>
          <p:cNvSpPr/>
          <p:nvPr/>
        </p:nvSpPr>
        <p:spPr>
          <a:xfrm>
            <a:off x="473681" y="1882378"/>
            <a:ext cx="567002" cy="127302"/>
          </a:xfrm>
          <a:prstGeom prst="rect">
            <a:avLst/>
          </a:prstGeom>
          <a:noFill/>
          <a:ln/>
        </p:spPr>
        <p:txBody>
          <a:bodyPr wrap="none" lIns="0" tIns="0" rIns="0" bIns="0" rtlCol="0" anchor="t"/>
          <a:lstStyle/>
          <a:p>
            <a:pPr algn="ctr" indent="0" marL="0">
              <a:lnSpc>
                <a:spcPts val="928"/>
              </a:lnSpc>
              <a:buNone/>
            </a:pPr>
            <a:r>
              <a:rPr lang="en-US" sz="844" b="1" dirty="0">
                <a:solidFill>
                  <a:srgbClr val="6D28D9"/>
                </a:solidFill>
                <a:latin typeface="Liberation Sans Narrow" pitchFamily="34" charset="0"/>
                <a:ea typeface="Liberation Sans Narrow" pitchFamily="34" charset="-122"/>
                <a:cs typeface="Liberation Sans Narrow" pitchFamily="34" charset="-120"/>
              </a:rPr>
              <a:t>SOC 2</a:t>
            </a:r>
            <a:endParaRPr lang="en-US" sz="844" dirty="0"/>
          </a:p>
        </p:txBody>
      </p:sp>
      <p:sp>
        <p:nvSpPr>
          <p:cNvPr id="13" name="Text 11"/>
          <p:cNvSpPr/>
          <p:nvPr/>
        </p:nvSpPr>
        <p:spPr>
          <a:xfrm>
            <a:off x="1207294" y="1564481"/>
            <a:ext cx="642938" cy="642938"/>
          </a:xfrm>
          <a:prstGeom prst="ellipse">
            <a:avLst/>
          </a:prstGeom>
          <a:solidFill>
            <a:srgbClr val="FFFFFF"/>
          </a:solidFill>
          <a:ln w="14288">
            <a:solidFill>
              <a:srgbClr val="7C3AED"/>
            </a:solidFill>
            <a:prstDash val="solid"/>
          </a:ln>
          <a:effectLst>
            <a:outerShdw sx="100000" sy="100000" kx="0" ky="0" algn="bl" rotWithShape="0" blurRad="133350" dist="38100" dir="5400000">
              <a:srgbClr val="7C3AED">
                <a:alpha val="10000"/>
              </a:srgbClr>
            </a:outerShdw>
          </a:effectLst>
        </p:spPr>
        <p:txBody>
          <a:bodyPr wrap="square" rtlCol="0" anchor="ctr"/>
          <a:lstStyle/>
          <a:p>
            <a:pPr indent="0" marL="0">
              <a:buNone/>
            </a:pPr>
            <a:endParaRPr lang="en-US" dirty="0"/>
          </a:p>
        </p:txBody>
      </p:sp>
      <p:sp>
        <p:nvSpPr>
          <p:cNvPr id="14" name="Text 12"/>
          <p:cNvSpPr/>
          <p:nvPr/>
        </p:nvSpPr>
        <p:spPr>
          <a:xfrm>
            <a:off x="1442751" y="1771650"/>
            <a:ext cx="258552" cy="91440"/>
          </a:xfrm>
          <a:prstGeom prst="rect">
            <a:avLst/>
          </a:prstGeom>
          <a:noFill/>
          <a:ln/>
        </p:spPr>
        <p:txBody>
          <a:bodyPr wrap="square" lIns="0" tIns="0" rIns="0" bIns="0" rtlCol="0" anchor="t">
            <a:normAutofit/>
          </a:bodyPr>
          <a:lstStyle/>
          <a:p>
            <a:pPr algn="l" indent="0" marL="0">
              <a:lnSpc>
                <a:spcPts val="759"/>
              </a:lnSpc>
              <a:buNone/>
            </a:pPr>
            <a:r>
              <a:rPr lang="en-US" sz="800" b="1" spc="51" kern="0" dirty="0">
                <a:solidFill>
                  <a:srgbClr val="7C3AED"/>
                </a:solidFill>
                <a:latin typeface="Carlito" pitchFamily="34" charset="0"/>
                <a:ea typeface="Carlito" pitchFamily="34" charset="-122"/>
                <a:cs typeface="Carlito" pitchFamily="34" charset="-120"/>
              </a:rPr>
              <a:t>ISO</a:t>
            </a:r>
            <a:endParaRPr lang="en-US" sz="800" dirty="0"/>
          </a:p>
        </p:txBody>
      </p:sp>
      <p:sp>
        <p:nvSpPr>
          <p:cNvPr id="15" name="Text 13"/>
          <p:cNvSpPr/>
          <p:nvPr/>
        </p:nvSpPr>
        <p:spPr>
          <a:xfrm>
            <a:off x="1230511" y="1882378"/>
            <a:ext cx="596503" cy="127302"/>
          </a:xfrm>
          <a:prstGeom prst="rect">
            <a:avLst/>
          </a:prstGeom>
          <a:noFill/>
          <a:ln/>
        </p:spPr>
        <p:txBody>
          <a:bodyPr wrap="none" lIns="0" tIns="0" rIns="0" bIns="0" rtlCol="0" anchor="t"/>
          <a:lstStyle/>
          <a:p>
            <a:pPr algn="ctr" indent="0" marL="0">
              <a:lnSpc>
                <a:spcPts val="928"/>
              </a:lnSpc>
              <a:buNone/>
            </a:pPr>
            <a:r>
              <a:rPr lang="en-US" sz="844" b="1" dirty="0">
                <a:solidFill>
                  <a:srgbClr val="6D28D9"/>
                </a:solidFill>
                <a:latin typeface="Liberation Sans Narrow" pitchFamily="34" charset="0"/>
                <a:ea typeface="Liberation Sans Narrow" pitchFamily="34" charset="-122"/>
                <a:cs typeface="Liberation Sans Narrow" pitchFamily="34" charset="-120"/>
              </a:rPr>
              <a:t>27001</a:t>
            </a:r>
            <a:endParaRPr lang="en-US" sz="844" dirty="0"/>
          </a:p>
        </p:txBody>
      </p:sp>
      <p:sp>
        <p:nvSpPr>
          <p:cNvPr id="16" name="Text 14"/>
          <p:cNvSpPr/>
          <p:nvPr/>
        </p:nvSpPr>
        <p:spPr>
          <a:xfrm>
            <a:off x="1978819" y="1564481"/>
            <a:ext cx="642938" cy="642938"/>
          </a:xfrm>
          <a:prstGeom prst="ellipse">
            <a:avLst/>
          </a:prstGeom>
          <a:solidFill>
            <a:srgbClr val="FFFFFF"/>
          </a:solidFill>
          <a:ln w="14288">
            <a:solidFill>
              <a:srgbClr val="7C3AED"/>
            </a:solidFill>
            <a:prstDash val="solid"/>
          </a:ln>
          <a:effectLst>
            <a:outerShdw sx="100000" sy="100000" kx="0" ky="0" algn="bl" rotWithShape="0" blurRad="133350" dist="38100" dir="5400000">
              <a:srgbClr val="7C3AED">
                <a:alpha val="10000"/>
              </a:srgbClr>
            </a:outerShdw>
          </a:effectLst>
        </p:spPr>
        <p:txBody>
          <a:bodyPr wrap="square" rtlCol="0" anchor="ctr"/>
          <a:lstStyle/>
          <a:p>
            <a:pPr indent="0" marL="0">
              <a:buNone/>
            </a:pPr>
            <a:endParaRPr lang="en-US" dirty="0"/>
          </a:p>
        </p:txBody>
      </p:sp>
      <p:sp>
        <p:nvSpPr>
          <p:cNvPr id="17" name="Text 15"/>
          <p:cNvSpPr/>
          <p:nvPr/>
        </p:nvSpPr>
        <p:spPr>
          <a:xfrm>
            <a:off x="2240837" y="1771650"/>
            <a:ext cx="184221" cy="91440"/>
          </a:xfrm>
          <a:prstGeom prst="rect">
            <a:avLst/>
          </a:prstGeom>
          <a:noFill/>
          <a:ln/>
        </p:spPr>
        <p:txBody>
          <a:bodyPr wrap="square" lIns="0" tIns="0" rIns="0" bIns="0" rtlCol="0" anchor="t">
            <a:normAutofit/>
          </a:bodyPr>
          <a:lstStyle/>
          <a:p>
            <a:pPr algn="l" indent="0" marL="0">
              <a:lnSpc>
                <a:spcPts val="759"/>
              </a:lnSpc>
              <a:buNone/>
            </a:pPr>
            <a:r>
              <a:rPr lang="en-US" sz="800" b="1" spc="51" kern="0" dirty="0">
                <a:solidFill>
                  <a:srgbClr val="7C3AED"/>
                </a:solidFill>
                <a:latin typeface="Carlito" pitchFamily="34" charset="0"/>
                <a:ea typeface="Carlito" pitchFamily="34" charset="-122"/>
                <a:cs typeface="Carlito" pitchFamily="34" charset="-120"/>
              </a:rPr>
              <a:t>EU</a:t>
            </a:r>
            <a:endParaRPr lang="en-US" sz="800" dirty="0"/>
          </a:p>
        </p:txBody>
      </p:sp>
      <p:sp>
        <p:nvSpPr>
          <p:cNvPr id="18" name="Text 16"/>
          <p:cNvSpPr/>
          <p:nvPr/>
        </p:nvSpPr>
        <p:spPr>
          <a:xfrm>
            <a:off x="2033276" y="1882378"/>
            <a:ext cx="534022" cy="127302"/>
          </a:xfrm>
          <a:prstGeom prst="rect">
            <a:avLst/>
          </a:prstGeom>
          <a:noFill/>
          <a:ln/>
        </p:spPr>
        <p:txBody>
          <a:bodyPr wrap="none" lIns="0" tIns="0" rIns="0" bIns="0" rtlCol="0" anchor="t"/>
          <a:lstStyle/>
          <a:p>
            <a:pPr algn="ctr" indent="0" marL="0">
              <a:lnSpc>
                <a:spcPts val="928"/>
              </a:lnSpc>
              <a:buNone/>
            </a:pPr>
            <a:r>
              <a:rPr lang="en-US" sz="844" b="1" dirty="0">
                <a:solidFill>
                  <a:srgbClr val="6D28D9"/>
                </a:solidFill>
                <a:latin typeface="Carlito" pitchFamily="34" charset="0"/>
                <a:ea typeface="Carlito" pitchFamily="34" charset="-122"/>
                <a:cs typeface="Carlito" pitchFamily="34" charset="-120"/>
              </a:rPr>
              <a:t>GDPR</a:t>
            </a:r>
            <a:endParaRPr lang="en-US" sz="844" dirty="0"/>
          </a:p>
        </p:txBody>
      </p:sp>
      <p:sp>
        <p:nvSpPr>
          <p:cNvPr id="19" name="Text 17"/>
          <p:cNvSpPr/>
          <p:nvPr/>
        </p:nvSpPr>
        <p:spPr>
          <a:xfrm>
            <a:off x="2750344" y="1564481"/>
            <a:ext cx="642938" cy="642938"/>
          </a:xfrm>
          <a:prstGeom prst="ellipse">
            <a:avLst/>
          </a:prstGeom>
          <a:solidFill>
            <a:srgbClr val="FFFFFF"/>
          </a:solidFill>
          <a:ln w="14288">
            <a:solidFill>
              <a:srgbClr val="7C3AED"/>
            </a:solidFill>
            <a:prstDash val="solid"/>
          </a:ln>
          <a:effectLst>
            <a:outerShdw sx="100000" sy="100000" kx="0" ky="0" algn="bl" rotWithShape="0" blurRad="133350" dist="38100" dir="5400000">
              <a:srgbClr val="7C3AED">
                <a:alpha val="10000"/>
              </a:srgbClr>
            </a:outerShdw>
          </a:effectLst>
        </p:spPr>
        <p:txBody>
          <a:bodyPr wrap="square" rtlCol="0" anchor="ctr"/>
          <a:lstStyle/>
          <a:p>
            <a:pPr indent="0" marL="0">
              <a:buNone/>
            </a:pPr>
            <a:endParaRPr lang="en-US" dirty="0"/>
          </a:p>
        </p:txBody>
      </p:sp>
      <p:sp>
        <p:nvSpPr>
          <p:cNvPr id="20" name="Text 18"/>
          <p:cNvSpPr/>
          <p:nvPr/>
        </p:nvSpPr>
        <p:spPr>
          <a:xfrm>
            <a:off x="3016114" y="1771650"/>
            <a:ext cx="178237" cy="91440"/>
          </a:xfrm>
          <a:prstGeom prst="rect">
            <a:avLst/>
          </a:prstGeom>
          <a:noFill/>
          <a:ln/>
        </p:spPr>
        <p:txBody>
          <a:bodyPr wrap="none" lIns="0" tIns="0" rIns="0" bIns="0" rtlCol="0" anchor="t">
            <a:normAutofit/>
          </a:bodyPr>
          <a:lstStyle/>
          <a:p>
            <a:pPr algn="l" indent="0" marL="0">
              <a:lnSpc>
                <a:spcPts val="759"/>
              </a:lnSpc>
              <a:buNone/>
            </a:pPr>
            <a:r>
              <a:rPr lang="en-US" sz="800" b="1" spc="51" kern="0" dirty="0">
                <a:solidFill>
                  <a:srgbClr val="7C3AED"/>
                </a:solidFill>
                <a:latin typeface="Carlito" pitchFamily="34" charset="0"/>
                <a:ea typeface="Carlito" pitchFamily="34" charset="-122"/>
                <a:cs typeface="Carlito" pitchFamily="34" charset="-120"/>
              </a:rPr>
              <a:t>US</a:t>
            </a:r>
            <a:endParaRPr lang="en-US" sz="800" dirty="0"/>
          </a:p>
        </p:txBody>
      </p:sp>
      <p:sp>
        <p:nvSpPr>
          <p:cNvPr id="21" name="Text 19"/>
          <p:cNvSpPr/>
          <p:nvPr/>
        </p:nvSpPr>
        <p:spPr>
          <a:xfrm>
            <a:off x="2784023" y="1882378"/>
            <a:ext cx="575467" cy="127302"/>
          </a:xfrm>
          <a:prstGeom prst="rect">
            <a:avLst/>
          </a:prstGeom>
          <a:noFill/>
          <a:ln/>
        </p:spPr>
        <p:txBody>
          <a:bodyPr wrap="none" lIns="0" tIns="0" rIns="0" bIns="0" rtlCol="0" anchor="t"/>
          <a:lstStyle/>
          <a:p>
            <a:pPr algn="ctr" indent="0" marL="0">
              <a:lnSpc>
                <a:spcPts val="928"/>
              </a:lnSpc>
              <a:buNone/>
            </a:pPr>
            <a:r>
              <a:rPr lang="en-US" sz="844" b="1" dirty="0">
                <a:solidFill>
                  <a:srgbClr val="6D28D9"/>
                </a:solidFill>
                <a:latin typeface="Carlito" pitchFamily="34" charset="0"/>
                <a:ea typeface="Carlito" pitchFamily="34" charset="-122"/>
                <a:cs typeface="Carlito" pitchFamily="34" charset="-120"/>
              </a:rPr>
              <a:t>HIPAA</a:t>
            </a:r>
            <a:endParaRPr lang="en-US" sz="844" dirty="0"/>
          </a:p>
        </p:txBody>
      </p:sp>
      <p:sp>
        <p:nvSpPr>
          <p:cNvPr id="22" name="Text 20"/>
          <p:cNvSpPr/>
          <p:nvPr/>
        </p:nvSpPr>
        <p:spPr>
          <a:xfrm>
            <a:off x="3521869" y="1564481"/>
            <a:ext cx="642938" cy="642938"/>
          </a:xfrm>
          <a:prstGeom prst="ellipse">
            <a:avLst/>
          </a:prstGeom>
          <a:solidFill>
            <a:srgbClr val="FFFFFF"/>
          </a:solidFill>
          <a:ln w="14288">
            <a:solidFill>
              <a:srgbClr val="7C3AED"/>
            </a:solidFill>
            <a:prstDash val="solid"/>
          </a:ln>
          <a:effectLst>
            <a:outerShdw sx="100000" sy="100000" kx="0" ky="0" algn="bl" rotWithShape="0" blurRad="133350" dist="38100" dir="5400000">
              <a:srgbClr val="7C3AED">
                <a:alpha val="10000"/>
              </a:srgbClr>
            </a:outerShdw>
          </a:effectLst>
        </p:spPr>
        <p:txBody>
          <a:bodyPr wrap="square" rtlCol="0" anchor="ctr"/>
          <a:lstStyle/>
          <a:p>
            <a:pPr indent="0" marL="0">
              <a:buNone/>
            </a:pPr>
            <a:endParaRPr lang="en-US" dirty="0"/>
          </a:p>
        </p:txBody>
      </p:sp>
      <p:sp>
        <p:nvSpPr>
          <p:cNvPr id="23" name="Text 21"/>
          <p:cNvSpPr/>
          <p:nvPr/>
        </p:nvSpPr>
        <p:spPr>
          <a:xfrm>
            <a:off x="3755317" y="1771650"/>
            <a:ext cx="258552" cy="91440"/>
          </a:xfrm>
          <a:prstGeom prst="rect">
            <a:avLst/>
          </a:prstGeom>
          <a:noFill/>
          <a:ln/>
        </p:spPr>
        <p:txBody>
          <a:bodyPr wrap="square" lIns="0" tIns="0" rIns="0" bIns="0" rtlCol="0" anchor="t">
            <a:normAutofit/>
          </a:bodyPr>
          <a:lstStyle/>
          <a:p>
            <a:pPr algn="l" indent="0" marL="0">
              <a:lnSpc>
                <a:spcPts val="759"/>
              </a:lnSpc>
              <a:buNone/>
            </a:pPr>
            <a:r>
              <a:rPr lang="en-US" sz="800" b="1" spc="51" kern="0" dirty="0">
                <a:solidFill>
                  <a:srgbClr val="7C3AED"/>
                </a:solidFill>
                <a:latin typeface="Carlito" pitchFamily="34" charset="0"/>
                <a:ea typeface="Carlito" pitchFamily="34" charset="-122"/>
                <a:cs typeface="Carlito" pitchFamily="34" charset="-120"/>
              </a:rPr>
              <a:t>PCI</a:t>
            </a:r>
            <a:endParaRPr lang="en-US" sz="800" dirty="0"/>
          </a:p>
        </p:txBody>
      </p:sp>
      <p:sp>
        <p:nvSpPr>
          <p:cNvPr id="24" name="Text 22"/>
          <p:cNvSpPr/>
          <p:nvPr/>
        </p:nvSpPr>
        <p:spPr>
          <a:xfrm>
            <a:off x="3654840" y="1882378"/>
            <a:ext cx="376884" cy="127302"/>
          </a:xfrm>
          <a:prstGeom prst="rect">
            <a:avLst/>
          </a:prstGeom>
          <a:noFill/>
          <a:ln/>
        </p:spPr>
        <p:txBody>
          <a:bodyPr wrap="none" lIns="0" tIns="0" rIns="0" bIns="0" rtlCol="0" anchor="t"/>
          <a:lstStyle/>
          <a:p>
            <a:pPr algn="ctr" indent="0" marL="0">
              <a:lnSpc>
                <a:spcPts val="928"/>
              </a:lnSpc>
              <a:buNone/>
            </a:pPr>
            <a:r>
              <a:rPr lang="en-US" sz="844" b="1" dirty="0">
                <a:solidFill>
                  <a:srgbClr val="6D28D9"/>
                </a:solidFill>
                <a:latin typeface="Carlito" pitchFamily="34" charset="0"/>
                <a:ea typeface="Carlito" pitchFamily="34" charset="-122"/>
                <a:cs typeface="Carlito" pitchFamily="34" charset="-120"/>
              </a:rPr>
              <a:t>DSS</a:t>
            </a:r>
            <a:endParaRPr lang="en-US" sz="844" dirty="0"/>
          </a:p>
        </p:txBody>
      </p:sp>
      <p:sp>
        <p:nvSpPr>
          <p:cNvPr id="25" name="Text 23"/>
          <p:cNvSpPr/>
          <p:nvPr/>
        </p:nvSpPr>
        <p:spPr>
          <a:xfrm>
            <a:off x="4346972" y="1689497"/>
            <a:ext cx="4364831" cy="392906"/>
          </a:xfrm>
          <a:prstGeom prst="roundRect">
            <a:avLst>
              <a:gd name="adj" fmla="val 19394"/>
            </a:avLst>
          </a:prstGeom>
          <a:solidFill>
            <a:srgbClr val="FFFFFF"/>
          </a:solidFill>
          <a:ln w="7144">
            <a:solidFill>
              <a:srgbClr val="EDE9FE"/>
            </a:solidFill>
            <a:prstDash val="solid"/>
          </a:ln>
        </p:spPr>
        <p:txBody>
          <a:bodyPr wrap="square" rtlCol="0" anchor="ctr"/>
          <a:lstStyle/>
          <a:p>
            <a:pPr indent="0" marL="0">
              <a:buNone/>
            </a:pPr>
            <a:endParaRPr lang="en-US" dirty="0"/>
          </a:p>
        </p:txBody>
      </p:sp>
      <p:sp>
        <p:nvSpPr>
          <p:cNvPr id="26" name="Text 24"/>
          <p:cNvSpPr/>
          <p:nvPr/>
        </p:nvSpPr>
        <p:spPr>
          <a:xfrm>
            <a:off x="4464844" y="1807369"/>
            <a:ext cx="157163" cy="157163"/>
          </a:xfrm>
          <a:prstGeom prst="rect">
            <a:avLst/>
          </a:prstGeom>
          <a:noFill/>
          <a:ln/>
        </p:spPr>
        <p:txBody>
          <a:bodyPr wrap="none" lIns="0" tIns="0" rIns="0" bIns="0" rtlCol="0" anchor="ctr"/>
          <a:lstStyle/>
          <a:p>
            <a:pPr algn="ctr" indent="0" marL="0">
              <a:buNone/>
            </a:pPr>
            <a:r>
              <a:rPr lang="en-US" sz="1547" dirty="0">
                <a:solidFill>
                  <a:srgbClr val="7C3AED"/>
                </a:solidFill>
                <a:latin typeface="Segoe UI Symbol" pitchFamily="34" charset="0"/>
                <a:ea typeface="Segoe UI Symbol" pitchFamily="34" charset="-122"/>
                <a:cs typeface="Segoe UI Symbol" pitchFamily="34" charset="-120"/>
              </a:rPr>
              <a:t>✓</a:t>
            </a:r>
            <a:endParaRPr lang="en-US" sz="1547" dirty="0"/>
          </a:p>
        </p:txBody>
      </p:sp>
      <p:sp>
        <p:nvSpPr>
          <p:cNvPr id="27" name="Text 25"/>
          <p:cNvSpPr/>
          <p:nvPr/>
        </p:nvSpPr>
        <p:spPr>
          <a:xfrm>
            <a:off x="4707731" y="1778794"/>
            <a:ext cx="3886200" cy="214313"/>
          </a:xfrm>
          <a:prstGeom prst="rect">
            <a:avLst/>
          </a:prstGeom>
          <a:noFill/>
          <a:ln/>
        </p:spPr>
        <p:txBody>
          <a:bodyPr wrap="square" lIns="0" tIns="0" rIns="0" bIns="0" rtlCol="0" anchor="t"/>
          <a:lstStyle/>
          <a:p>
            <a:pPr algn="l" indent="0" marL="0">
              <a:lnSpc>
                <a:spcPts val="844"/>
              </a:lnSpc>
              <a:buNone/>
            </a:pPr>
            <a:r>
              <a:rPr lang="en-US" sz="800" dirty="0">
                <a:solidFill>
                  <a:srgbClr val="374151"/>
                </a:solidFill>
                <a:latin typeface="Carlito" pitchFamily="34" charset="0"/>
                <a:ea typeface="Carlito" pitchFamily="34" charset="-122"/>
                <a:cs typeface="Carlito" pitchFamily="34" charset="-120"/>
              </a:rPr>
              <a:t>Platform engineered for high-compliance sectors: </a:t>
            </a:r>
            <a:pPr algn="l" indent="0" marL="0">
              <a:lnSpc>
                <a:spcPts val="844"/>
              </a:lnSpc>
              <a:buNone/>
            </a:pPr>
            <a:r>
              <a:rPr lang="en-US" sz="800" dirty="0">
                <a:solidFill>
                  <a:srgbClr val="6D28D9"/>
                </a:solidFill>
                <a:latin typeface="Carlito" pitchFamily="34" charset="0"/>
                <a:ea typeface="Carlito" pitchFamily="34" charset="-122"/>
                <a:cs typeface="Carlito" pitchFamily="34" charset="-120"/>
              </a:rPr>
              <a:t>legal, healthcare, finance, and government.</a:t>
            </a:r>
            <a:endParaRPr lang="en-US" sz="800" dirty="0"/>
          </a:p>
        </p:txBody>
      </p:sp>
      <p:sp>
        <p:nvSpPr>
          <p:cNvPr id="28" name="Text 26"/>
          <p:cNvSpPr/>
          <p:nvPr/>
        </p:nvSpPr>
        <p:spPr>
          <a:xfrm>
            <a:off x="432197" y="2432447"/>
            <a:ext cx="2069232" cy="1484002"/>
          </a:xfrm>
          <a:prstGeom prst="roundRect">
            <a:avLst>
              <a:gd name="adj" fmla="val 7702"/>
            </a:avLst>
          </a:prstGeom>
          <a:solidFill>
            <a:srgbClr val="FFFFFF"/>
          </a:solidFill>
          <a:ln w="7144">
            <a:solidFill>
              <a:srgbClr val="E5E7EB"/>
            </a:solidFill>
            <a:prstDash val="solid"/>
          </a:ln>
        </p:spPr>
        <p:txBody>
          <a:bodyPr wrap="square" rtlCol="0" anchor="ctr"/>
          <a:lstStyle/>
          <a:p>
            <a:pPr indent="0" marL="0">
              <a:buNone/>
            </a:pPr>
            <a:endParaRPr lang="en-US" dirty="0"/>
          </a:p>
        </p:txBody>
      </p:sp>
      <p:sp>
        <p:nvSpPr>
          <p:cNvPr id="29" name="Text 27"/>
          <p:cNvSpPr/>
          <p:nvPr/>
        </p:nvSpPr>
        <p:spPr>
          <a:xfrm>
            <a:off x="564356" y="2582466"/>
            <a:ext cx="257175" cy="257175"/>
          </a:xfrm>
          <a:prstGeom prst="roundRect">
            <a:avLst>
              <a:gd name="adj" fmla="val 29630"/>
            </a:avLst>
          </a:prstGeom>
          <a:solidFill>
            <a:srgbClr val="F5F3FF"/>
          </a:solidFill>
          <a:ln/>
        </p:spPr>
        <p:txBody>
          <a:bodyPr wrap="square" rtlCol="0" anchor="ctr"/>
          <a:lstStyle/>
          <a:p>
            <a:pPr indent="0" marL="0">
              <a:buNone/>
            </a:pPr>
            <a:endParaRPr lang="en-US" dirty="0"/>
          </a:p>
        </p:txBody>
      </p:sp>
      <p:sp>
        <p:nvSpPr>
          <p:cNvPr id="30" name="Text 28"/>
          <p:cNvSpPr/>
          <p:nvPr/>
        </p:nvSpPr>
        <p:spPr>
          <a:xfrm>
            <a:off x="589359" y="2607469"/>
            <a:ext cx="207169" cy="207169"/>
          </a:xfrm>
          <a:prstGeom prst="rect">
            <a:avLst/>
          </a:prstGeom>
          <a:noFill/>
          <a:ln/>
        </p:spPr>
        <p:txBody>
          <a:bodyPr wrap="none" lIns="0" tIns="0" rIns="0" bIns="0" rtlCol="0" anchor="ctr"/>
          <a:lstStyle/>
          <a:p>
            <a:pPr algn="ctr" indent="0" marL="0">
              <a:buNone/>
            </a:pPr>
            <a:r>
              <a:rPr lang="en-US" sz="1406" dirty="0">
                <a:solidFill>
                  <a:srgbClr val="7C3AED"/>
                </a:solidFill>
                <a:latin typeface="Segoe UI Symbol" pitchFamily="34" charset="0"/>
                <a:ea typeface="Segoe UI Symbol" pitchFamily="34" charset="-122"/>
                <a:cs typeface="Segoe UI Symbol" pitchFamily="34" charset="-120"/>
              </a:rPr>
              <a:t>✦</a:t>
            </a:r>
            <a:endParaRPr lang="en-US" sz="1406" dirty="0"/>
          </a:p>
        </p:txBody>
      </p:sp>
      <p:sp>
        <p:nvSpPr>
          <p:cNvPr id="31" name="Text 29"/>
          <p:cNvSpPr/>
          <p:nvPr/>
        </p:nvSpPr>
        <p:spPr>
          <a:xfrm>
            <a:off x="907256" y="2550319"/>
            <a:ext cx="1462013" cy="347186"/>
          </a:xfrm>
          <a:prstGeom prst="rect">
            <a:avLst/>
          </a:prstGeom>
          <a:noFill/>
          <a:ln/>
        </p:spPr>
        <p:txBody>
          <a:bodyPr wrap="square" lIns="0" tIns="0" rIns="0" bIns="0" rtlCol="0" anchor="t"/>
          <a:lstStyle/>
          <a:p>
            <a:pPr algn="l" indent="0" marL="0">
              <a:lnSpc>
                <a:spcPts val="1266"/>
              </a:lnSpc>
              <a:buNone/>
            </a:pPr>
            <a:r>
              <a:rPr lang="en-US" sz="844" b="1" dirty="0">
                <a:solidFill>
                  <a:srgbClr val="6D28D9"/>
                </a:solidFill>
                <a:latin typeface="Carlito" pitchFamily="34" charset="0"/>
                <a:ea typeface="Carlito" pitchFamily="34" charset="-122"/>
                <a:cs typeface="Carlito" pitchFamily="34" charset="-120"/>
              </a:rPr>
              <a:t>Live Identity Verification</a:t>
            </a:r>
            <a:endParaRPr lang="en-US" sz="844" dirty="0"/>
          </a:p>
        </p:txBody>
      </p:sp>
      <p:sp>
        <p:nvSpPr>
          <p:cNvPr id="32" name="Text 30"/>
          <p:cNvSpPr/>
          <p:nvPr/>
        </p:nvSpPr>
        <p:spPr>
          <a:xfrm>
            <a:off x="564356" y="2928938"/>
            <a:ext cx="1804913" cy="869640"/>
          </a:xfrm>
          <a:prstGeom prst="rect">
            <a:avLst/>
          </a:prstGeom>
          <a:noFill/>
          <a:ln/>
        </p:spPr>
        <p:txBody>
          <a:bodyPr wrap="square" lIns="0" tIns="0" rIns="0" bIns="0" rtlCol="0" anchor="t"/>
          <a:lstStyle/>
          <a:p>
            <a:pPr algn="l" indent="0" marL="0">
              <a:lnSpc>
                <a:spcPts val="979"/>
              </a:lnSpc>
              <a:buNone/>
            </a:pPr>
            <a:r>
              <a:rPr lang="en-US" sz="800" dirty="0">
                <a:solidFill>
                  <a:srgbClr val="374151"/>
                </a:solidFill>
                <a:latin typeface="Carlito" pitchFamily="34" charset="0"/>
                <a:ea typeface="Carlito" pitchFamily="34" charset="-122"/>
                <a:cs typeface="Carlito" pitchFamily="34" charset="-120"/>
              </a:rPr>
              <a:t>Advisor visually confirms the customer and their ID document during the video session. A direct barrier against impersonation. Deepfakes cannot operate through a kiosk because the customer is physically present and their ID is visually inspected.</a:t>
            </a:r>
            <a:endParaRPr lang="en-US" sz="800" dirty="0"/>
          </a:p>
        </p:txBody>
      </p:sp>
      <p:sp>
        <p:nvSpPr>
          <p:cNvPr id="33" name="Text 31"/>
          <p:cNvSpPr/>
          <p:nvPr/>
        </p:nvSpPr>
        <p:spPr>
          <a:xfrm>
            <a:off x="2622872" y="2432447"/>
            <a:ext cx="2069343" cy="1484002"/>
          </a:xfrm>
          <a:prstGeom prst="roundRect">
            <a:avLst>
              <a:gd name="adj" fmla="val 7702"/>
            </a:avLst>
          </a:prstGeom>
          <a:solidFill>
            <a:srgbClr val="FFFFFF"/>
          </a:solidFill>
          <a:ln w="7144">
            <a:solidFill>
              <a:srgbClr val="E5E7EB"/>
            </a:solidFill>
            <a:prstDash val="solid"/>
          </a:ln>
        </p:spPr>
        <p:txBody>
          <a:bodyPr wrap="square" rtlCol="0" anchor="ctr"/>
          <a:lstStyle/>
          <a:p>
            <a:pPr indent="0" marL="0">
              <a:buNone/>
            </a:pPr>
            <a:endParaRPr lang="en-US" dirty="0"/>
          </a:p>
        </p:txBody>
      </p:sp>
      <p:sp>
        <p:nvSpPr>
          <p:cNvPr id="34" name="Text 32"/>
          <p:cNvSpPr/>
          <p:nvPr/>
        </p:nvSpPr>
        <p:spPr>
          <a:xfrm>
            <a:off x="2755032" y="2550319"/>
            <a:ext cx="257175" cy="257175"/>
          </a:xfrm>
          <a:prstGeom prst="roundRect">
            <a:avLst>
              <a:gd name="adj" fmla="val 29630"/>
            </a:avLst>
          </a:prstGeom>
          <a:solidFill>
            <a:srgbClr val="F5F3FF"/>
          </a:solidFill>
          <a:ln/>
        </p:spPr>
        <p:txBody>
          <a:bodyPr wrap="square" rtlCol="0" anchor="ctr"/>
          <a:lstStyle/>
          <a:p>
            <a:pPr indent="0" marL="0">
              <a:buNone/>
            </a:pPr>
            <a:endParaRPr lang="en-US" dirty="0"/>
          </a:p>
        </p:txBody>
      </p:sp>
      <p:sp>
        <p:nvSpPr>
          <p:cNvPr id="35" name="Text 33"/>
          <p:cNvSpPr/>
          <p:nvPr/>
        </p:nvSpPr>
        <p:spPr>
          <a:xfrm>
            <a:off x="2780035" y="2575322"/>
            <a:ext cx="207169" cy="207169"/>
          </a:xfrm>
          <a:prstGeom prst="rect">
            <a:avLst/>
          </a:prstGeom>
          <a:noFill/>
          <a:ln/>
        </p:spPr>
        <p:txBody>
          <a:bodyPr wrap="none" lIns="0" tIns="0" rIns="0" bIns="0" rtlCol="0" anchor="ctr"/>
          <a:lstStyle/>
          <a:p>
            <a:pPr algn="ctr" indent="0" marL="0">
              <a:buNone/>
            </a:pPr>
            <a:r>
              <a:rPr lang="en-US" sz="1406" dirty="0">
                <a:solidFill>
                  <a:srgbClr val="7C3AED"/>
                </a:solidFill>
                <a:latin typeface="Segoe UI Symbol" pitchFamily="34" charset="0"/>
                <a:ea typeface="Segoe UI Symbol" pitchFamily="34" charset="-122"/>
                <a:cs typeface="Segoe UI Symbol" pitchFamily="34" charset="-120"/>
              </a:rPr>
              <a:t>✦</a:t>
            </a:r>
            <a:endParaRPr lang="en-US" sz="1406" dirty="0"/>
          </a:p>
        </p:txBody>
      </p:sp>
      <p:sp>
        <p:nvSpPr>
          <p:cNvPr id="36" name="Text 34"/>
          <p:cNvSpPr/>
          <p:nvPr/>
        </p:nvSpPr>
        <p:spPr>
          <a:xfrm>
            <a:off x="3097932" y="2598539"/>
            <a:ext cx="1462125" cy="173593"/>
          </a:xfrm>
          <a:prstGeom prst="rect">
            <a:avLst/>
          </a:prstGeom>
          <a:noFill/>
          <a:ln/>
        </p:spPr>
        <p:txBody>
          <a:bodyPr wrap="none" lIns="0" tIns="0" rIns="0" bIns="0" rtlCol="0" anchor="t"/>
          <a:lstStyle/>
          <a:p>
            <a:pPr algn="l" indent="0" marL="0">
              <a:lnSpc>
                <a:spcPts val="1266"/>
              </a:lnSpc>
              <a:buNone/>
            </a:pPr>
            <a:r>
              <a:rPr lang="en-US" sz="844" b="1" dirty="0">
                <a:solidFill>
                  <a:srgbClr val="6D28D9"/>
                </a:solidFill>
                <a:latin typeface="Carlito" pitchFamily="34" charset="0"/>
                <a:ea typeface="Carlito" pitchFamily="34" charset="-122"/>
                <a:cs typeface="Carlito" pitchFamily="34" charset="-120"/>
              </a:rPr>
              <a:t>Session Traceability</a:t>
            </a:r>
            <a:endParaRPr lang="en-US" sz="844" dirty="0"/>
          </a:p>
        </p:txBody>
      </p:sp>
      <p:sp>
        <p:nvSpPr>
          <p:cNvPr id="37" name="Text 35"/>
          <p:cNvSpPr/>
          <p:nvPr/>
        </p:nvSpPr>
        <p:spPr>
          <a:xfrm>
            <a:off x="2755032" y="2864644"/>
            <a:ext cx="1805025" cy="636080"/>
          </a:xfrm>
          <a:prstGeom prst="rect">
            <a:avLst/>
          </a:prstGeom>
          <a:noFill/>
          <a:ln/>
        </p:spPr>
        <p:txBody>
          <a:bodyPr wrap="square" lIns="0" tIns="0" rIns="0" bIns="0" rtlCol="0" anchor="t"/>
          <a:lstStyle/>
          <a:p>
            <a:pPr algn="l" indent="0" marL="0">
              <a:lnSpc>
                <a:spcPts val="979"/>
              </a:lnSpc>
              <a:buNone/>
            </a:pPr>
            <a:r>
              <a:rPr lang="en-US" sz="800" dirty="0">
                <a:solidFill>
                  <a:srgbClr val="374151"/>
                </a:solidFill>
                <a:latin typeface="Carlito" pitchFamily="34" charset="0"/>
                <a:ea typeface="Carlito" pitchFamily="34" charset="-122"/>
                <a:cs typeface="Carlito" pitchFamily="34" charset="-120"/>
              </a:rPr>
              <a:t>Interaction recording and auditing in line with each organisation's policy. Reports, logs, and metadata generated for all activity. Full audit trail for regulators.</a:t>
            </a:r>
            <a:endParaRPr lang="en-US" sz="800" dirty="0"/>
          </a:p>
        </p:txBody>
      </p:sp>
      <p:sp>
        <p:nvSpPr>
          <p:cNvPr id="38" name="Text 36"/>
          <p:cNvSpPr/>
          <p:nvPr/>
        </p:nvSpPr>
        <p:spPr>
          <a:xfrm>
            <a:off x="4813660" y="2432447"/>
            <a:ext cx="2069232" cy="1484002"/>
          </a:xfrm>
          <a:prstGeom prst="roundRect">
            <a:avLst>
              <a:gd name="adj" fmla="val 7702"/>
            </a:avLst>
          </a:prstGeom>
          <a:solidFill>
            <a:srgbClr val="FFFFFF"/>
          </a:solidFill>
          <a:ln w="7144">
            <a:solidFill>
              <a:srgbClr val="E5E7EB"/>
            </a:solidFill>
            <a:prstDash val="solid"/>
          </a:ln>
        </p:spPr>
        <p:txBody>
          <a:bodyPr wrap="square" rtlCol="0" anchor="ctr"/>
          <a:lstStyle/>
          <a:p>
            <a:pPr indent="0" marL="0">
              <a:buNone/>
            </a:pPr>
            <a:endParaRPr lang="en-US" dirty="0"/>
          </a:p>
        </p:txBody>
      </p:sp>
      <p:sp>
        <p:nvSpPr>
          <p:cNvPr id="39" name="Text 37"/>
          <p:cNvSpPr/>
          <p:nvPr/>
        </p:nvSpPr>
        <p:spPr>
          <a:xfrm>
            <a:off x="4945819" y="2550319"/>
            <a:ext cx="257175" cy="257175"/>
          </a:xfrm>
          <a:prstGeom prst="roundRect">
            <a:avLst>
              <a:gd name="adj" fmla="val 29630"/>
            </a:avLst>
          </a:prstGeom>
          <a:solidFill>
            <a:srgbClr val="F5F3FF"/>
          </a:solidFill>
          <a:ln/>
        </p:spPr>
        <p:txBody>
          <a:bodyPr wrap="square" rtlCol="0" anchor="ctr"/>
          <a:lstStyle/>
          <a:p>
            <a:pPr indent="0" marL="0">
              <a:buNone/>
            </a:pPr>
            <a:endParaRPr lang="en-US" dirty="0"/>
          </a:p>
        </p:txBody>
      </p:sp>
      <p:sp>
        <p:nvSpPr>
          <p:cNvPr id="40" name="Text 38"/>
          <p:cNvSpPr/>
          <p:nvPr/>
        </p:nvSpPr>
        <p:spPr>
          <a:xfrm>
            <a:off x="4970822" y="2575322"/>
            <a:ext cx="207169" cy="207169"/>
          </a:xfrm>
          <a:prstGeom prst="rect">
            <a:avLst/>
          </a:prstGeom>
          <a:noFill/>
          <a:ln/>
        </p:spPr>
        <p:txBody>
          <a:bodyPr wrap="none" lIns="0" tIns="0" rIns="0" bIns="0" rtlCol="0" anchor="ctr"/>
          <a:lstStyle/>
          <a:p>
            <a:pPr algn="ctr" indent="0" marL="0">
              <a:buNone/>
            </a:pPr>
            <a:r>
              <a:rPr lang="en-US" sz="1406" dirty="0">
                <a:solidFill>
                  <a:srgbClr val="7C3AED"/>
                </a:solidFill>
                <a:latin typeface="Segoe UI Symbol" pitchFamily="34" charset="0"/>
                <a:ea typeface="Segoe UI Symbol" pitchFamily="34" charset="-122"/>
                <a:cs typeface="Segoe UI Symbol" pitchFamily="34" charset="-120"/>
              </a:rPr>
              <a:t>⚿</a:t>
            </a:r>
            <a:endParaRPr lang="en-US" sz="1406" dirty="0"/>
          </a:p>
        </p:txBody>
      </p:sp>
      <p:sp>
        <p:nvSpPr>
          <p:cNvPr id="41" name="Text 39"/>
          <p:cNvSpPr/>
          <p:nvPr/>
        </p:nvSpPr>
        <p:spPr>
          <a:xfrm>
            <a:off x="5288719" y="2598539"/>
            <a:ext cx="1462013" cy="173593"/>
          </a:xfrm>
          <a:prstGeom prst="rect">
            <a:avLst/>
          </a:prstGeom>
          <a:noFill/>
          <a:ln/>
        </p:spPr>
        <p:txBody>
          <a:bodyPr wrap="none" lIns="0" tIns="0" rIns="0" bIns="0" rtlCol="0" anchor="t"/>
          <a:lstStyle/>
          <a:p>
            <a:pPr algn="l" indent="0" marL="0">
              <a:lnSpc>
                <a:spcPts val="1266"/>
              </a:lnSpc>
              <a:buNone/>
            </a:pPr>
            <a:r>
              <a:rPr lang="en-US" sz="844" b="1" dirty="0">
                <a:solidFill>
                  <a:srgbClr val="6D28D9"/>
                </a:solidFill>
                <a:latin typeface="Carlito" pitchFamily="34" charset="0"/>
                <a:ea typeface="Carlito" pitchFamily="34" charset="-122"/>
                <a:cs typeface="Carlito" pitchFamily="34" charset="-120"/>
              </a:rPr>
              <a:t>Encryption Standards</a:t>
            </a:r>
            <a:endParaRPr lang="en-US" sz="844" dirty="0"/>
          </a:p>
        </p:txBody>
      </p:sp>
      <p:sp>
        <p:nvSpPr>
          <p:cNvPr id="42" name="Text 40"/>
          <p:cNvSpPr/>
          <p:nvPr/>
        </p:nvSpPr>
        <p:spPr>
          <a:xfrm>
            <a:off x="4945819" y="2864644"/>
            <a:ext cx="1804913" cy="636080"/>
          </a:xfrm>
          <a:prstGeom prst="rect">
            <a:avLst/>
          </a:prstGeom>
          <a:noFill/>
          <a:ln/>
        </p:spPr>
        <p:txBody>
          <a:bodyPr wrap="square" lIns="0" tIns="0" rIns="0" bIns="0" rtlCol="0" anchor="t"/>
          <a:lstStyle/>
          <a:p>
            <a:pPr algn="l" indent="0" marL="0">
              <a:lnSpc>
                <a:spcPts val="979"/>
              </a:lnSpc>
              <a:buNone/>
            </a:pPr>
            <a:r>
              <a:rPr lang="en-US" sz="800" dirty="0">
                <a:solidFill>
                  <a:srgbClr val="374151"/>
                </a:solidFill>
                <a:latin typeface="Carlito" pitchFamily="34" charset="0"/>
                <a:ea typeface="Carlito" pitchFamily="34" charset="-122"/>
                <a:cs typeface="Carlito" pitchFamily="34" charset="-120"/>
              </a:rPr>
              <a:t>TLS 1.3 for data in transit, AES-256 for data at rest. The same standards that protect MassaPro's voice, chat, and AI channels protect MassaPro IVR.</a:t>
            </a:r>
            <a:endParaRPr lang="en-US" sz="800" dirty="0"/>
          </a:p>
        </p:txBody>
      </p:sp>
      <p:pic>
        <p:nvPicPr>
          <p:cNvPr id="43" name="Image 0" descr="/tmp/h2p-fit-1786522344833-qpmmpd.png">    </p:cNvPr>
          <p:cNvPicPr>
            <a:picLocks noChangeAspect="1"/>
          </p:cNvPicPr>
          <p:nvPr/>
        </p:nvPicPr>
        <p:blipFill>
          <a:blip r:embed="rId1"/>
          <a:stretch>
            <a:fillRect/>
          </a:stretch>
        </p:blipFill>
        <p:spPr>
          <a:xfrm>
            <a:off x="7000763" y="2428875"/>
            <a:ext cx="1714500" cy="1428750"/>
          </a:xfrm>
          <a:prstGeom prst="rect">
            <a:avLst/>
          </a:prstGeom>
        </p:spPr>
      </p:pic>
      <p:pic>
        <p:nvPicPr>
          <p:cNvPr id="44" name="Image 1" descr="preencoded.png">    </p:cNvPr>
          <p:cNvPicPr>
            <a:picLocks noChangeAspect="1"/>
          </p:cNvPicPr>
          <p:nvPr/>
        </p:nvPicPr>
        <p:blipFill>
          <a:blip r:embed="rId2"/>
          <a:stretch>
            <a:fillRect/>
          </a:stretch>
        </p:blipFill>
        <p:spPr>
          <a:xfrm>
            <a:off x="7000763" y="2428875"/>
            <a:ext cx="1714500" cy="1428750"/>
          </a:xfrm>
          <a:prstGeom prst="rect">
            <a:avLst/>
          </a:prstGeom>
        </p:spPr>
      </p:pic>
      <p:sp>
        <p:nvSpPr>
          <p:cNvPr id="45" name="Text 41"/>
          <p:cNvSpPr/>
          <p:nvPr/>
        </p:nvSpPr>
        <p:spPr>
          <a:xfrm>
            <a:off x="7086488" y="3314700"/>
            <a:ext cx="1628775" cy="108299"/>
          </a:xfrm>
          <a:prstGeom prst="rect">
            <a:avLst/>
          </a:prstGeom>
          <a:noFill/>
          <a:ln/>
        </p:spPr>
        <p:txBody>
          <a:bodyPr wrap="none" lIns="0" tIns="0" rIns="0" bIns="0" rtlCol="0" anchor="t">
            <a:normAutofit/>
          </a:bodyPr>
          <a:lstStyle/>
          <a:p>
            <a:pPr algn="l" indent="0" marL="0">
              <a:lnSpc>
                <a:spcPts val="844"/>
              </a:lnSpc>
              <a:buNone/>
            </a:pPr>
            <a:r>
              <a:rPr lang="en-US" sz="800" b="1" spc="68" kern="0" dirty="0">
                <a:solidFill>
                  <a:srgbClr val="FFFFFF">
                    <a:alpha val="80000"/>
                  </a:srgbClr>
                </a:solidFill>
                <a:latin typeface="Carlito" pitchFamily="34" charset="0"/>
                <a:ea typeface="Carlito" pitchFamily="34" charset="-122"/>
                <a:cs typeface="Carlito" pitchFamily="34" charset="-120"/>
              </a:rPr>
              <a:t>VISUAL ID CHECK</a:t>
            </a:r>
            <a:endParaRPr lang="en-US" sz="800" dirty="0"/>
          </a:p>
        </p:txBody>
      </p:sp>
      <p:sp>
        <p:nvSpPr>
          <p:cNvPr id="46" name="Text 42"/>
          <p:cNvSpPr/>
          <p:nvPr/>
        </p:nvSpPr>
        <p:spPr>
          <a:xfrm>
            <a:off x="7086488" y="3450431"/>
            <a:ext cx="1635633" cy="407194"/>
          </a:xfrm>
          <a:prstGeom prst="rect">
            <a:avLst/>
          </a:prstGeom>
          <a:noFill/>
          <a:ln/>
        </p:spPr>
        <p:txBody>
          <a:bodyPr wrap="square" lIns="0" tIns="0" rIns="0" bIns="0" rtlCol="0" anchor="t"/>
          <a:lstStyle/>
          <a:p>
            <a:pPr algn="l" indent="0" marL="0">
              <a:lnSpc>
                <a:spcPts val="844"/>
              </a:lnSpc>
              <a:buNone/>
            </a:pPr>
            <a:r>
              <a:rPr lang="en-US" sz="800" dirty="0">
                <a:solidFill>
                  <a:srgbClr val="FFFFFF"/>
                </a:solidFill>
                <a:latin typeface="Carlito" pitchFamily="34" charset="0"/>
                <a:ea typeface="Carlito" pitchFamily="34" charset="-122"/>
                <a:cs typeface="Carlito" pitchFamily="34" charset="-120"/>
              </a:rPr>
              <a:t>Advisor compares face to ID — same standard as an in-person branch visit.</a:t>
            </a:r>
            <a:endParaRPr lang="en-US" sz="800" dirty="0"/>
          </a:p>
        </p:txBody>
      </p:sp>
      <p:sp>
        <p:nvSpPr>
          <p:cNvPr id="47" name="Text 43"/>
          <p:cNvSpPr/>
          <p:nvPr/>
        </p:nvSpPr>
        <p:spPr>
          <a:xfrm>
            <a:off x="428625" y="4239816"/>
            <a:ext cx="8286750" cy="475059"/>
          </a:xfrm>
          <a:prstGeom prst="roundRect">
            <a:avLst>
              <a:gd name="adj" fmla="val 16040"/>
            </a:avLst>
          </a:prstGeom>
          <a:solidFill>
            <a:srgbClr val="7C3AED"/>
          </a:solidFill>
          <a:ln/>
        </p:spPr>
        <p:txBody>
          <a:bodyPr wrap="square" rtlCol="0" anchor="ctr"/>
          <a:lstStyle/>
          <a:p>
            <a:pPr indent="0" marL="0">
              <a:buNone/>
            </a:pPr>
            <a:endParaRPr lang="en-US" dirty="0"/>
          </a:p>
        </p:txBody>
      </p:sp>
      <p:sp>
        <p:nvSpPr>
          <p:cNvPr id="48" name="Text 44"/>
          <p:cNvSpPr/>
          <p:nvPr/>
        </p:nvSpPr>
        <p:spPr>
          <a:xfrm>
            <a:off x="571500" y="4384477"/>
            <a:ext cx="185738" cy="185738"/>
          </a:xfrm>
          <a:prstGeom prst="rect">
            <a:avLst/>
          </a:prstGeom>
          <a:noFill/>
          <a:ln/>
        </p:spPr>
        <p:txBody>
          <a:bodyPr wrap="none" lIns="0" tIns="0" rIns="0" bIns="0" rtlCol="0" anchor="ctr"/>
          <a:lstStyle/>
          <a:p>
            <a:pPr algn="ctr" indent="0" marL="0">
              <a:buNone/>
            </a:pPr>
            <a:r>
              <a:rPr lang="en-US" sz="1828" dirty="0">
                <a:solidFill>
                  <a:srgbClr val="FFFFFF"/>
                </a:solidFill>
                <a:latin typeface="Segoe UI Symbol" pitchFamily="34" charset="0"/>
                <a:ea typeface="Segoe UI Symbol" pitchFamily="34" charset="-122"/>
                <a:cs typeface="Segoe UI Symbol" pitchFamily="34" charset="-120"/>
              </a:rPr>
              <a:t>✦</a:t>
            </a:r>
            <a:endParaRPr lang="en-US" sz="1828" dirty="0"/>
          </a:p>
        </p:txBody>
      </p:sp>
      <p:sp>
        <p:nvSpPr>
          <p:cNvPr id="49" name="Text 45"/>
          <p:cNvSpPr/>
          <p:nvPr/>
        </p:nvSpPr>
        <p:spPr>
          <a:xfrm>
            <a:off x="871538" y="4354116"/>
            <a:ext cx="7810690" cy="94012"/>
          </a:xfrm>
          <a:prstGeom prst="rect">
            <a:avLst/>
          </a:prstGeom>
          <a:noFill/>
          <a:ln/>
        </p:spPr>
        <p:txBody>
          <a:bodyPr wrap="square" lIns="0" tIns="0" rIns="0" bIns="0" rtlCol="0" anchor="t">
            <a:normAutofit/>
          </a:bodyPr>
          <a:lstStyle/>
          <a:p>
            <a:pPr algn="l" indent="0" marL="0">
              <a:lnSpc>
                <a:spcPts val="844"/>
              </a:lnSpc>
              <a:buNone/>
            </a:pPr>
            <a:r>
              <a:rPr lang="en-US" sz="800" b="1" spc="79" kern="0" dirty="0">
                <a:solidFill>
                  <a:srgbClr val="C4B5FD">
                    <a:alpha val="80000"/>
                  </a:srgbClr>
                </a:solidFill>
                <a:latin typeface="Carlito" pitchFamily="34" charset="0"/>
                <a:ea typeface="Carlito" pitchFamily="34" charset="-122"/>
                <a:cs typeface="Carlito" pitchFamily="34" charset="-120"/>
              </a:rPr>
              <a:t>POWERED BY MASSAPRO AI ANALYTICS</a:t>
            </a:r>
            <a:endParaRPr lang="en-US" sz="800" dirty="0"/>
          </a:p>
        </p:txBody>
      </p:sp>
      <p:sp>
        <p:nvSpPr>
          <p:cNvPr id="50" name="Text 46"/>
          <p:cNvSpPr/>
          <p:nvPr/>
        </p:nvSpPr>
        <p:spPr>
          <a:xfrm>
            <a:off x="871538" y="4475559"/>
            <a:ext cx="7457852" cy="125016"/>
          </a:xfrm>
          <a:prstGeom prst="rect">
            <a:avLst/>
          </a:prstGeom>
          <a:noFill/>
          <a:ln/>
        </p:spPr>
        <p:txBody>
          <a:bodyPr wrap="square" lIns="0" tIns="0" rIns="0" bIns="0" rtlCol="0" anchor="t"/>
          <a:lstStyle/>
          <a:p>
            <a:pPr algn="l" indent="0" marL="0">
              <a:lnSpc>
                <a:spcPts val="984"/>
              </a:lnSpc>
              <a:buNone/>
            </a:pPr>
            <a:r>
              <a:rPr lang="en-US" sz="788" dirty="0">
                <a:solidFill>
                  <a:srgbClr val="FFFFFF"/>
                </a:solidFill>
                <a:latin typeface="Carlito" pitchFamily="34" charset="0"/>
                <a:ea typeface="Carlito" pitchFamily="34" charset="-122"/>
                <a:cs typeface="Carlito" pitchFamily="34" charset="-120"/>
              </a:rPr>
              <a:t>PII Redaction — automatic identification and redaction of personally identifiable information from transcripts and analytics reports.</a:t>
            </a:r>
            <a:endParaRPr lang="en-US" sz="788" dirty="0"/>
          </a:p>
        </p:txBody>
      </p:sp>
      <p:sp>
        <p:nvSpPr>
          <p:cNvPr id="51" name="Text 47"/>
          <p:cNvSpPr/>
          <p:nvPr/>
        </p:nvSpPr>
        <p:spPr>
          <a:xfrm>
            <a:off x="342900" y="4854178"/>
            <a:ext cx="4267609"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52" name="Text 48"/>
          <p:cNvSpPr/>
          <p:nvPr/>
        </p:nvSpPr>
        <p:spPr>
          <a:xfrm>
            <a:off x="4624797" y="4854178"/>
            <a:ext cx="3592748"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a:t>
            </a:r>
            <a:endParaRPr lang="en-US" sz="800" dirty="0"/>
          </a:p>
        </p:txBody>
      </p:sp>
      <p:sp>
        <p:nvSpPr>
          <p:cNvPr id="53" name="Text 49"/>
          <p:cNvSpPr/>
          <p:nvPr/>
        </p:nvSpPr>
        <p:spPr>
          <a:xfrm>
            <a:off x="8231832" y="4854178"/>
            <a:ext cx="684793" cy="164592"/>
          </a:xfrm>
          <a:prstGeom prst="rect">
            <a:avLst/>
          </a:prstGeom>
          <a:noFill/>
          <a:ln/>
        </p:spPr>
        <p:txBody>
          <a:bodyPr wrap="none" lIns="0" tIns="0" rIns="0" bIns="0" rtlCol="0" anchor="t"/>
          <a:lstStyle/>
          <a:p>
            <a:pPr algn="l" indent="0" marL="0">
              <a:lnSpc>
                <a:spcPts val="928"/>
              </a:lnSpc>
              <a:buNone/>
            </a:pPr>
            <a:r>
              <a:rPr lang="en-US" sz="619" spc="25" kern="0" dirty="0">
                <a:solidFill>
                  <a:srgbClr val="6B7280"/>
                </a:solidFill>
                <a:latin typeface="Liberation Sans Narrow" pitchFamily="34" charset="0"/>
                <a:ea typeface="Liberation Sans Narrow" pitchFamily="34" charset="-122"/>
                <a:cs typeface="Liberation Sans Narrow" pitchFamily="34" charset="-120"/>
              </a:rPr>
              <a:t>SLIDE 18 / 24</a:t>
            </a:r>
            <a:endParaRPr lang="en-US" sz="619" dirty="0"/>
          </a:p>
        </p:txBody>
      </p:sp>
      <p:pic>
        <p:nvPicPr>
          <p:cNvPr id="54" name="Image 2" descr="/home/z/my-project/download/slides/massapro-logo.png">    </p:cNvPr>
          <p:cNvPicPr>
            <a:picLocks noChangeAspect="1"/>
          </p:cNvPicPr>
          <p:nvPr/>
        </p:nvPicPr>
        <p:blipFill>
          <a:blip r:embed="rId3"/>
          <a:stretch>
            <a:fillRect/>
          </a:stretch>
        </p:blipFill>
        <p:spPr>
          <a:xfrm>
            <a:off x="342900" y="200025"/>
            <a:ext cx="200025" cy="200025"/>
          </a:xfrm>
          <a:prstGeom prst="rect">
            <a:avLst/>
          </a:prstGeom>
        </p:spPr>
      </p:pic>
      <p:sp>
        <p:nvSpPr>
          <p:cNvPr id="55" name="Text 50"/>
          <p:cNvSpPr/>
          <p:nvPr/>
        </p:nvSpPr>
        <p:spPr>
          <a:xfrm>
            <a:off x="614363" y="219670"/>
            <a:ext cx="769239"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6D28D9"/>
                </a:solidFill>
                <a:latin typeface="Carlito" pitchFamily="34" charset="0"/>
                <a:ea typeface="Carlito" pitchFamily="34" charset="-122"/>
                <a:cs typeface="Carlito" pitchFamily="34" charset="-120"/>
              </a:rPr>
              <a:t>MassaPro</a:t>
            </a:r>
            <a:endParaRPr lang="en-US" sz="844"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312061" y="200025"/>
            <a:ext cx="2831939" cy="164592"/>
          </a:xfrm>
          <a:prstGeom prst="rect">
            <a:avLst/>
          </a:prstGeom>
          <a:noFill/>
          <a:ln/>
        </p:spPr>
        <p:txBody>
          <a:bodyPr wrap="square" lIns="0" tIns="0" rIns="0" bIns="0" rtlCol="0" anchor="t"/>
          <a:lstStyle/>
          <a:p>
            <a:pPr algn="l" indent="0" marL="0">
              <a:lnSpc>
                <a:spcPts val="928"/>
              </a:lnSpc>
              <a:buNone/>
            </a:pPr>
            <a:r>
              <a:rPr lang="en-US" sz="800" b="1" spc="111" kern="0" dirty="0">
                <a:solidFill>
                  <a:srgbClr val="6B7280"/>
                </a:solidFill>
                <a:latin typeface="Carlito" pitchFamily="34" charset="0"/>
                <a:ea typeface="Carlito" pitchFamily="34" charset="-122"/>
                <a:cs typeface="Carlito" pitchFamily="34" charset="-120"/>
              </a:rPr>
              <a:t>CHAPTER 03 — INTEGRATION &amp; OPERATIONS</a:t>
            </a:r>
            <a:endParaRPr lang="en-US" sz="800" dirty="0"/>
          </a:p>
        </p:txBody>
      </p:sp>
      <p:sp>
        <p:nvSpPr>
          <p:cNvPr id="3" name="Text 1"/>
          <p:cNvSpPr/>
          <p:nvPr/>
        </p:nvSpPr>
        <p:spPr>
          <a:xfrm>
            <a:off x="405765" y="558698"/>
            <a:ext cx="1585198" cy="243488"/>
          </a:xfrm>
          <a:prstGeom prst="roundRect">
            <a:avLst>
              <a:gd name="adj" fmla="val 3907985"/>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4" name="Text 2"/>
          <p:cNvSpPr/>
          <p:nvPr/>
        </p:nvSpPr>
        <p:spPr>
          <a:xfrm>
            <a:off x="678656" y="628650"/>
            <a:ext cx="1196578" cy="129679"/>
          </a:xfrm>
          <a:prstGeom prst="rect">
            <a:avLst/>
          </a:prstGeom>
          <a:noFill/>
          <a:ln/>
        </p:spPr>
        <p:txBody>
          <a:bodyPr wrap="none" lIns="0" tIns="0" rIns="0" bIns="0" rtlCol="0" anchor="t"/>
          <a:lstStyle/>
          <a:p>
            <a:pPr algn="l" indent="0" marL="0">
              <a:lnSpc>
                <a:spcPts val="928"/>
              </a:lnSpc>
              <a:buNone/>
            </a:pPr>
            <a:r>
              <a:rPr lang="en-US" sz="619" b="1" spc="111" kern="0" dirty="0">
                <a:solidFill>
                  <a:srgbClr val="7C3AED"/>
                </a:solidFill>
                <a:latin typeface="Carlito" pitchFamily="34" charset="0"/>
                <a:ea typeface="Carlito" pitchFamily="34" charset="-122"/>
                <a:cs typeface="Carlito" pitchFamily="34" charset="-120"/>
              </a:rPr>
              <a:t>SERVICE CONTINUITY</a:t>
            </a:r>
            <a:endParaRPr lang="en-US" sz="619" dirty="0"/>
          </a:p>
        </p:txBody>
      </p:sp>
      <p:sp>
        <p:nvSpPr>
          <p:cNvPr id="5" name="Text 3"/>
          <p:cNvSpPr/>
          <p:nvPr/>
        </p:nvSpPr>
        <p:spPr>
          <a:xfrm>
            <a:off x="521494" y="630436"/>
            <a:ext cx="100013" cy="100013"/>
          </a:xfrm>
          <a:prstGeom prst="rect">
            <a:avLst/>
          </a:prstGeom>
          <a:noFill/>
          <a:ln/>
        </p:spPr>
        <p:txBody>
          <a:bodyPr wrap="none" lIns="0" tIns="0" rIns="0" bIns="0" rtlCol="0" anchor="ctr"/>
          <a:lstStyle/>
          <a:p>
            <a:pPr algn="ctr" indent="0" marL="0">
              <a:buNone/>
            </a:pPr>
            <a:r>
              <a:rPr lang="en-US" sz="984" dirty="0">
                <a:solidFill>
                  <a:srgbClr val="7C3AED"/>
                </a:solidFill>
                <a:latin typeface="Segoe UI Symbol" pitchFamily="34" charset="0"/>
                <a:ea typeface="Segoe UI Symbol" pitchFamily="34" charset="-122"/>
                <a:cs typeface="Segoe UI Symbol" pitchFamily="34" charset="-120"/>
              </a:rPr>
              <a:t>↻</a:t>
            </a:r>
            <a:endParaRPr lang="en-US" sz="984" dirty="0"/>
          </a:p>
        </p:txBody>
      </p:sp>
      <p:sp>
        <p:nvSpPr>
          <p:cNvPr id="6" name="Text 4"/>
          <p:cNvSpPr/>
          <p:nvPr/>
        </p:nvSpPr>
        <p:spPr>
          <a:xfrm>
            <a:off x="428625" y="875109"/>
            <a:ext cx="4800600" cy="539603"/>
          </a:xfrm>
          <a:prstGeom prst="rect">
            <a:avLst/>
          </a:prstGeom>
          <a:noFill/>
          <a:ln/>
        </p:spPr>
        <p:txBody>
          <a:bodyPr wrap="square" lIns="0" tIns="0" rIns="0" bIns="0" rtlCol="0" anchor="t">
            <a:normAutofit/>
          </a:bodyPr>
          <a:lstStyle/>
          <a:p>
            <a:pPr algn="l" indent="0" marL="0">
              <a:lnSpc>
                <a:spcPts val="2008"/>
              </a:lnSpc>
              <a:buNone/>
            </a:pPr>
            <a:r>
              <a:rPr lang="en-US" sz="1913" b="1" spc="-38" kern="0" dirty="0">
                <a:solidFill>
                  <a:srgbClr val="6D28D9"/>
                </a:solidFill>
                <a:latin typeface="Carlito" pitchFamily="34" charset="0"/>
                <a:ea typeface="Carlito" pitchFamily="34" charset="-122"/>
                <a:cs typeface="Carlito" pitchFamily="34" charset="-120"/>
              </a:rPr>
              <a:t>If Local Hardware Fails, the Service Never Goes Down</a:t>
            </a:r>
            <a:endParaRPr lang="en-US" sz="1913" dirty="0"/>
          </a:p>
        </p:txBody>
      </p:sp>
      <p:sp>
        <p:nvSpPr>
          <p:cNvPr id="7" name="Text 5"/>
          <p:cNvSpPr/>
          <p:nvPr/>
        </p:nvSpPr>
        <p:spPr>
          <a:xfrm>
            <a:off x="428625" y="1442145"/>
            <a:ext cx="4800600" cy="329184"/>
          </a:xfrm>
          <a:prstGeom prst="rect">
            <a:avLst/>
          </a:prstGeom>
          <a:noFill/>
          <a:ln/>
        </p:spPr>
        <p:txBody>
          <a:bodyPr wrap="square" lIns="0" tIns="0" rIns="0" bIns="0" rtlCol="0" anchor="t"/>
          <a:lstStyle/>
          <a:p>
            <a:pPr algn="l" indent="0" marL="0">
              <a:lnSpc>
                <a:spcPts val="1181"/>
              </a:lnSpc>
              <a:buNone/>
            </a:pPr>
            <a:r>
              <a:rPr lang="en-US" sz="800" dirty="0">
                <a:solidFill>
                  <a:srgbClr val="6B7280"/>
                </a:solidFill>
                <a:latin typeface="Carlito" pitchFamily="34" charset="0"/>
                <a:ea typeface="Carlito" pitchFamily="34" charset="-122"/>
                <a:cs typeface="Carlito" pitchFamily="34" charset="-120"/>
              </a:rPr>
              <a:t>The kiosk is a convenience, not a dependency. The session lives in the cloud — the customer always has their phone.</a:t>
            </a:r>
            <a:endParaRPr lang="en-US" sz="800" dirty="0"/>
          </a:p>
        </p:txBody>
      </p:sp>
      <p:sp>
        <p:nvSpPr>
          <p:cNvPr id="8" name="Text 6"/>
          <p:cNvSpPr/>
          <p:nvPr/>
        </p:nvSpPr>
        <p:spPr>
          <a:xfrm>
            <a:off x="432197" y="1860054"/>
            <a:ext cx="1535906" cy="907033"/>
          </a:xfrm>
          <a:prstGeom prst="roundRect">
            <a:avLst>
              <a:gd name="adj" fmla="val 12602"/>
            </a:avLst>
          </a:prstGeom>
          <a:solidFill>
            <a:srgbClr val="FFFFFF"/>
          </a:solidFill>
          <a:ln w="7144">
            <a:solidFill>
              <a:srgbClr val="E5E7EB"/>
            </a:solidFill>
            <a:prstDash val="solid"/>
          </a:ln>
        </p:spPr>
        <p:txBody>
          <a:bodyPr wrap="square" rtlCol="0" anchor="ctr"/>
          <a:lstStyle/>
          <a:p>
            <a:pPr indent="0" marL="0">
              <a:buNone/>
            </a:pPr>
            <a:endParaRPr lang="en-US" dirty="0"/>
          </a:p>
        </p:txBody>
      </p:sp>
      <p:sp>
        <p:nvSpPr>
          <p:cNvPr id="9" name="Text 7"/>
          <p:cNvSpPr/>
          <p:nvPr/>
        </p:nvSpPr>
        <p:spPr>
          <a:xfrm>
            <a:off x="535781" y="1949351"/>
            <a:ext cx="200025" cy="200025"/>
          </a:xfrm>
          <a:prstGeom prst="ellipse">
            <a:avLst/>
          </a:prstGeom>
          <a:solidFill>
            <a:srgbClr val="7C3AED"/>
          </a:solidFill>
          <a:ln/>
        </p:spPr>
        <p:txBody>
          <a:bodyPr wrap="square" rtlCol="0" anchor="ctr"/>
          <a:lstStyle/>
          <a:p>
            <a:pPr indent="0" marL="0">
              <a:buNone/>
            </a:pPr>
            <a:endParaRPr lang="en-US" dirty="0"/>
          </a:p>
        </p:txBody>
      </p:sp>
      <p:sp>
        <p:nvSpPr>
          <p:cNvPr id="10" name="Text 8"/>
          <p:cNvSpPr/>
          <p:nvPr/>
        </p:nvSpPr>
        <p:spPr>
          <a:xfrm>
            <a:off x="535781" y="1949351"/>
            <a:ext cx="235744" cy="200025"/>
          </a:xfrm>
          <a:prstGeom prst="rect">
            <a:avLst/>
          </a:prstGeom>
          <a:noFill/>
          <a:ln/>
        </p:spPr>
        <p:txBody>
          <a:bodyPr wrap="none" lIns="0" tIns="0" rIns="0" bIns="0" rtlCol="0" anchor="ctr"/>
          <a:lstStyle/>
          <a:p>
            <a:pPr algn="ctr" indent="0" marL="0">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a:t>
            </a:r>
            <a:endParaRPr lang="en-US" sz="800" dirty="0"/>
          </a:p>
        </p:txBody>
      </p:sp>
      <p:sp>
        <p:nvSpPr>
          <p:cNvPr id="11" name="Text 9"/>
          <p:cNvSpPr/>
          <p:nvPr/>
        </p:nvSpPr>
        <p:spPr>
          <a:xfrm>
            <a:off x="807244" y="1949351"/>
            <a:ext cx="1057275" cy="126159"/>
          </a:xfrm>
          <a:prstGeom prst="rect">
            <a:avLst/>
          </a:prstGeom>
          <a:noFill/>
          <a:ln/>
        </p:spPr>
        <p:txBody>
          <a:bodyPr wrap="none" lIns="0" tIns="0" rIns="0" bIns="0" rtlCol="0" anchor="t">
            <a:normAutofit/>
          </a:bodyPr>
          <a:lstStyle/>
          <a:p>
            <a:pPr algn="l" indent="0" marL="0">
              <a:lnSpc>
                <a:spcPts val="1097"/>
              </a:lnSpc>
              <a:buNone/>
            </a:pPr>
            <a:r>
              <a:rPr lang="en-US" sz="800" b="1" dirty="0">
                <a:solidFill>
                  <a:srgbClr val="6D28D9"/>
                </a:solidFill>
                <a:latin typeface="Carlito" pitchFamily="34" charset="0"/>
                <a:ea typeface="Carlito" pitchFamily="34" charset="-122"/>
                <a:cs typeface="Carlito" pitchFamily="34" charset="-120"/>
              </a:rPr>
              <a:t>Kiosk Working</a:t>
            </a:r>
            <a:endParaRPr lang="en-US" sz="800" dirty="0"/>
          </a:p>
        </p:txBody>
      </p:sp>
      <p:sp>
        <p:nvSpPr>
          <p:cNvPr id="12" name="Text 10"/>
          <p:cNvSpPr/>
          <p:nvPr/>
        </p:nvSpPr>
        <p:spPr>
          <a:xfrm>
            <a:off x="807244" y="2102941"/>
            <a:ext cx="1120712" cy="574849"/>
          </a:xfrm>
          <a:prstGeom prst="rect">
            <a:avLst/>
          </a:prstGeom>
          <a:noFill/>
          <a:ln/>
        </p:spPr>
        <p:txBody>
          <a:bodyPr wrap="square" lIns="0" tIns="0" rIns="0" bIns="0" rtlCol="0" anchor="t"/>
          <a:lstStyle/>
          <a:p>
            <a:pPr algn="l" indent="0" marL="0">
              <a:lnSpc>
                <a:spcPts val="906"/>
              </a:lnSpc>
              <a:buNone/>
            </a:pPr>
            <a:r>
              <a:rPr lang="en-US" sz="800" dirty="0">
                <a:solidFill>
                  <a:srgbClr val="374151"/>
                </a:solidFill>
                <a:latin typeface="Carlito" pitchFamily="34" charset="0"/>
                <a:ea typeface="Carlito" pitchFamily="34" charset="-122"/>
                <a:cs typeface="Carlito" pitchFamily="34" charset="-120"/>
              </a:rPr>
              <a:t>100% multimodal — runs even without fixed screens. The session lives in the cloud, not on the kiosk.</a:t>
            </a:r>
            <a:endParaRPr lang="en-US" sz="800" dirty="0"/>
          </a:p>
        </p:txBody>
      </p:sp>
      <p:sp>
        <p:nvSpPr>
          <p:cNvPr id="13" name="Text 11"/>
          <p:cNvSpPr/>
          <p:nvPr/>
        </p:nvSpPr>
        <p:spPr>
          <a:xfrm>
            <a:off x="2060972" y="1860054"/>
            <a:ext cx="1535906" cy="907033"/>
          </a:xfrm>
          <a:prstGeom prst="roundRect">
            <a:avLst>
              <a:gd name="adj" fmla="val 12602"/>
            </a:avLst>
          </a:prstGeom>
          <a:solidFill>
            <a:srgbClr val="FEF2F2"/>
          </a:solidFill>
          <a:ln w="7144">
            <a:solidFill>
              <a:srgbClr val="FECACA"/>
            </a:solidFill>
            <a:prstDash val="solid"/>
          </a:ln>
        </p:spPr>
        <p:txBody>
          <a:bodyPr wrap="square" rtlCol="0" anchor="ctr"/>
          <a:lstStyle/>
          <a:p>
            <a:pPr indent="0" marL="0">
              <a:buNone/>
            </a:pPr>
            <a:endParaRPr lang="en-US" dirty="0"/>
          </a:p>
        </p:txBody>
      </p:sp>
      <p:sp>
        <p:nvSpPr>
          <p:cNvPr id="14" name="Text 12"/>
          <p:cNvSpPr/>
          <p:nvPr/>
        </p:nvSpPr>
        <p:spPr>
          <a:xfrm>
            <a:off x="2164556" y="1949351"/>
            <a:ext cx="200025" cy="200025"/>
          </a:xfrm>
          <a:prstGeom prst="ellipse">
            <a:avLst/>
          </a:prstGeom>
          <a:solidFill>
            <a:srgbClr val="DC2626"/>
          </a:solidFill>
          <a:ln/>
        </p:spPr>
        <p:txBody>
          <a:bodyPr wrap="square" rtlCol="0" anchor="ctr"/>
          <a:lstStyle/>
          <a:p>
            <a:pPr indent="0" marL="0">
              <a:buNone/>
            </a:pPr>
            <a:endParaRPr lang="en-US" dirty="0"/>
          </a:p>
        </p:txBody>
      </p:sp>
      <p:sp>
        <p:nvSpPr>
          <p:cNvPr id="15" name="Text 13"/>
          <p:cNvSpPr/>
          <p:nvPr/>
        </p:nvSpPr>
        <p:spPr>
          <a:xfrm>
            <a:off x="2164556" y="1949351"/>
            <a:ext cx="235744" cy="200025"/>
          </a:xfrm>
          <a:prstGeom prst="rect">
            <a:avLst/>
          </a:prstGeom>
          <a:noFill/>
          <a:ln/>
        </p:spPr>
        <p:txBody>
          <a:bodyPr wrap="none" lIns="0" tIns="0" rIns="0" bIns="0" rtlCol="0" anchor="ctr"/>
          <a:lstStyle/>
          <a:p>
            <a:pPr algn="ctr" indent="0" marL="0">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16" name="Text 14"/>
          <p:cNvSpPr/>
          <p:nvPr/>
        </p:nvSpPr>
        <p:spPr>
          <a:xfrm>
            <a:off x="2436019" y="1949351"/>
            <a:ext cx="1057275" cy="126159"/>
          </a:xfrm>
          <a:prstGeom prst="rect">
            <a:avLst/>
          </a:prstGeom>
          <a:noFill/>
          <a:ln/>
        </p:spPr>
        <p:txBody>
          <a:bodyPr wrap="none" lIns="0" tIns="0" rIns="0" bIns="0" rtlCol="0" anchor="t">
            <a:normAutofit/>
          </a:bodyPr>
          <a:lstStyle/>
          <a:p>
            <a:pPr algn="l" indent="0" marL="0">
              <a:lnSpc>
                <a:spcPts val="1097"/>
              </a:lnSpc>
              <a:buNone/>
            </a:pPr>
            <a:r>
              <a:rPr lang="en-US" sz="800" b="1" dirty="0">
                <a:solidFill>
                  <a:srgbClr val="B91C1C"/>
                </a:solidFill>
                <a:latin typeface="Carlito" pitchFamily="34" charset="0"/>
                <a:ea typeface="Carlito" pitchFamily="34" charset="-122"/>
                <a:cs typeface="Carlito" pitchFamily="34" charset="-120"/>
              </a:rPr>
              <a:t>Kiosk Fails</a:t>
            </a:r>
            <a:endParaRPr lang="en-US" sz="800" dirty="0"/>
          </a:p>
        </p:txBody>
      </p:sp>
      <p:sp>
        <p:nvSpPr>
          <p:cNvPr id="17" name="Text 15"/>
          <p:cNvSpPr/>
          <p:nvPr/>
        </p:nvSpPr>
        <p:spPr>
          <a:xfrm>
            <a:off x="2436019" y="2102941"/>
            <a:ext cx="1120712" cy="574849"/>
          </a:xfrm>
          <a:prstGeom prst="rect">
            <a:avLst/>
          </a:prstGeom>
          <a:noFill/>
          <a:ln/>
        </p:spPr>
        <p:txBody>
          <a:bodyPr wrap="square" lIns="0" tIns="0" rIns="0" bIns="0" rtlCol="0" anchor="t"/>
          <a:lstStyle/>
          <a:p>
            <a:pPr algn="l" indent="0" marL="0">
              <a:lnSpc>
                <a:spcPts val="906"/>
              </a:lnSpc>
              <a:buNone/>
            </a:pPr>
            <a:r>
              <a:rPr lang="en-US" sz="800" dirty="0">
                <a:solidFill>
                  <a:srgbClr val="374151"/>
                </a:solidFill>
                <a:latin typeface="Carlito" pitchFamily="34" charset="0"/>
                <a:ea typeface="Carlito" pitchFamily="34" charset="-122"/>
                <a:cs typeface="Carlito" pitchFamily="34" charset="-120"/>
              </a:rPr>
              <a:t>Screen goes dark. Static QR code backup — the printed sticker works even if the kiosk is completely down.</a:t>
            </a:r>
            <a:endParaRPr lang="en-US" sz="800" dirty="0"/>
          </a:p>
        </p:txBody>
      </p:sp>
      <p:sp>
        <p:nvSpPr>
          <p:cNvPr id="18" name="Text 16"/>
          <p:cNvSpPr/>
          <p:nvPr/>
        </p:nvSpPr>
        <p:spPr>
          <a:xfrm>
            <a:off x="3689747" y="1860054"/>
            <a:ext cx="1535906" cy="907033"/>
          </a:xfrm>
          <a:prstGeom prst="roundRect">
            <a:avLst>
              <a:gd name="adj" fmla="val 12602"/>
            </a:avLst>
          </a:prstGeom>
          <a:solidFill>
            <a:srgbClr val="FFFFFF"/>
          </a:solidFill>
          <a:ln w="7144">
            <a:solidFill>
              <a:srgbClr val="E5E7EB"/>
            </a:solidFill>
            <a:prstDash val="solid"/>
          </a:ln>
        </p:spPr>
        <p:txBody>
          <a:bodyPr wrap="square" rtlCol="0" anchor="ctr"/>
          <a:lstStyle/>
          <a:p>
            <a:pPr indent="0" marL="0">
              <a:buNone/>
            </a:pPr>
            <a:endParaRPr lang="en-US" dirty="0"/>
          </a:p>
        </p:txBody>
      </p:sp>
      <p:sp>
        <p:nvSpPr>
          <p:cNvPr id="19" name="Text 17"/>
          <p:cNvSpPr/>
          <p:nvPr/>
        </p:nvSpPr>
        <p:spPr>
          <a:xfrm>
            <a:off x="3793331" y="1949351"/>
            <a:ext cx="200025" cy="200025"/>
          </a:xfrm>
          <a:prstGeom prst="ellipse">
            <a:avLst/>
          </a:prstGeom>
          <a:solidFill>
            <a:srgbClr val="7C3AED"/>
          </a:solidFill>
          <a:ln/>
        </p:spPr>
        <p:txBody>
          <a:bodyPr wrap="square" rtlCol="0" anchor="ctr"/>
          <a:lstStyle/>
          <a:p>
            <a:pPr indent="0" marL="0">
              <a:buNone/>
            </a:pPr>
            <a:endParaRPr lang="en-US" dirty="0"/>
          </a:p>
        </p:txBody>
      </p:sp>
      <p:sp>
        <p:nvSpPr>
          <p:cNvPr id="20" name="Text 18"/>
          <p:cNvSpPr/>
          <p:nvPr/>
        </p:nvSpPr>
        <p:spPr>
          <a:xfrm>
            <a:off x="3793331" y="1949351"/>
            <a:ext cx="235744" cy="200025"/>
          </a:xfrm>
          <a:prstGeom prst="rect">
            <a:avLst/>
          </a:prstGeom>
          <a:noFill/>
          <a:ln/>
        </p:spPr>
        <p:txBody>
          <a:bodyPr wrap="none" lIns="0" tIns="0" rIns="0" bIns="0" rtlCol="0" anchor="ctr"/>
          <a:lstStyle/>
          <a:p>
            <a:pPr algn="ctr" indent="0" marL="0">
              <a:lnSpc>
                <a:spcPts val="1013"/>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21" name="Text 19"/>
          <p:cNvSpPr/>
          <p:nvPr/>
        </p:nvSpPr>
        <p:spPr>
          <a:xfrm>
            <a:off x="4064794" y="1949351"/>
            <a:ext cx="1057275" cy="126159"/>
          </a:xfrm>
          <a:prstGeom prst="rect">
            <a:avLst/>
          </a:prstGeom>
          <a:noFill/>
          <a:ln/>
        </p:spPr>
        <p:txBody>
          <a:bodyPr wrap="none" lIns="0" tIns="0" rIns="0" bIns="0" rtlCol="0" anchor="t">
            <a:normAutofit/>
          </a:bodyPr>
          <a:lstStyle/>
          <a:p>
            <a:pPr algn="l" indent="0" marL="0">
              <a:lnSpc>
                <a:spcPts val="1097"/>
              </a:lnSpc>
              <a:buNone/>
            </a:pPr>
            <a:r>
              <a:rPr lang="en-US" sz="800" b="1" dirty="0">
                <a:solidFill>
                  <a:srgbClr val="6D28D9"/>
                </a:solidFill>
                <a:latin typeface="Carlito" pitchFamily="34" charset="0"/>
                <a:ea typeface="Carlito" pitchFamily="34" charset="-122"/>
                <a:cs typeface="Carlito" pitchFamily="34" charset="-120"/>
              </a:rPr>
              <a:t>Mobile Continues</a:t>
            </a:r>
            <a:endParaRPr lang="en-US" sz="800" dirty="0"/>
          </a:p>
        </p:txBody>
      </p:sp>
      <p:sp>
        <p:nvSpPr>
          <p:cNvPr id="22" name="Text 20"/>
          <p:cNvSpPr/>
          <p:nvPr/>
        </p:nvSpPr>
        <p:spPr>
          <a:xfrm>
            <a:off x="4064794" y="2102941"/>
            <a:ext cx="1120712" cy="574849"/>
          </a:xfrm>
          <a:prstGeom prst="rect">
            <a:avLst/>
          </a:prstGeom>
          <a:noFill/>
          <a:ln/>
        </p:spPr>
        <p:txBody>
          <a:bodyPr wrap="square" lIns="0" tIns="0" rIns="0" bIns="0" rtlCol="0" anchor="t"/>
          <a:lstStyle/>
          <a:p>
            <a:pPr algn="l" indent="0" marL="0">
              <a:lnSpc>
                <a:spcPts val="906"/>
              </a:lnSpc>
              <a:buNone/>
            </a:pPr>
            <a:r>
              <a:rPr lang="en-US" sz="800" dirty="0">
                <a:solidFill>
                  <a:srgbClr val="374151"/>
                </a:solidFill>
                <a:latin typeface="Carlito" pitchFamily="34" charset="0"/>
                <a:ea typeface="Carlito" pitchFamily="34" charset="-122"/>
                <a:cs typeface="Carlito" pitchFamily="34" charset="-120"/>
              </a:rPr>
              <a:t>Customer scans the sticker and continues on their phone. Full video, audio, and shared screen — just a smaller display.</a:t>
            </a:r>
            <a:endParaRPr lang="en-US" sz="800" dirty="0"/>
          </a:p>
        </p:txBody>
      </p:sp>
      <p:sp>
        <p:nvSpPr>
          <p:cNvPr id="23" name="Text 21"/>
          <p:cNvSpPr/>
          <p:nvPr/>
        </p:nvSpPr>
        <p:spPr>
          <a:xfrm>
            <a:off x="428625" y="2884959"/>
            <a:ext cx="2328863" cy="301752"/>
          </a:xfrm>
          <a:prstGeom prst="rect">
            <a:avLst/>
          </a:prstGeom>
          <a:noFill/>
          <a:ln/>
        </p:spPr>
        <p:txBody>
          <a:bodyPr wrap="square" lIns="157163" tIns="0" rIns="0" bIns="0" rtlCol="0" anchor="t"/>
          <a:lstStyle/>
          <a:p>
            <a:pPr algn="l" indent="0" marL="0">
              <a:lnSpc>
                <a:spcPts val="967"/>
              </a:lnSpc>
              <a:buNone/>
            </a:pPr>
            <a:r>
              <a:rPr lang="en-US" sz="800" dirty="0">
                <a:solidFill>
                  <a:srgbClr val="6D28D9"/>
                </a:solidFill>
                <a:latin typeface="Carlito" pitchFamily="34" charset="0"/>
                <a:ea typeface="Carlito" pitchFamily="34" charset="-122"/>
                <a:cs typeface="Carlito" pitchFamily="34" charset="-120"/>
              </a:rPr>
              <a:t>Resilient by design</a:t>
            </a:r>
            <a:pPr algn="l" indent="0" marL="0">
              <a:lnSpc>
                <a:spcPts val="967"/>
              </a:lnSpc>
              <a:buNone/>
            </a:pPr>
            <a:r>
              <a:rPr lang="en-US" sz="800" dirty="0">
                <a:solidFill>
                  <a:srgbClr val="374151"/>
                </a:solidFill>
                <a:latin typeface="Carlito" pitchFamily="34" charset="0"/>
                <a:ea typeface="Carlito" pitchFamily="34" charset="-122"/>
                <a:cs typeface="Carlito" pitchFamily="34" charset="-120"/>
              </a:rPr>
              <a:t> — keeps running even without fixed screens.</a:t>
            </a:r>
            <a:endParaRPr lang="en-US" sz="800" dirty="0"/>
          </a:p>
        </p:txBody>
      </p:sp>
      <p:sp>
        <p:nvSpPr>
          <p:cNvPr id="24" name="Text 22"/>
          <p:cNvSpPr/>
          <p:nvPr/>
        </p:nvSpPr>
        <p:spPr>
          <a:xfrm>
            <a:off x="2900363" y="2884959"/>
            <a:ext cx="2328863" cy="301752"/>
          </a:xfrm>
          <a:prstGeom prst="rect">
            <a:avLst/>
          </a:prstGeom>
          <a:noFill/>
          <a:ln/>
        </p:spPr>
        <p:txBody>
          <a:bodyPr wrap="square" lIns="157163" tIns="0" rIns="0" bIns="0" rtlCol="0" anchor="t"/>
          <a:lstStyle/>
          <a:p>
            <a:pPr algn="l" indent="0" marL="0">
              <a:lnSpc>
                <a:spcPts val="967"/>
              </a:lnSpc>
              <a:buNone/>
            </a:pPr>
            <a:r>
              <a:rPr lang="en-US" sz="800" dirty="0">
                <a:solidFill>
                  <a:srgbClr val="6D28D9"/>
                </a:solidFill>
                <a:latin typeface="Carlito" pitchFamily="34" charset="0"/>
                <a:ea typeface="Carlito" pitchFamily="34" charset="-122"/>
                <a:cs typeface="Carlito" pitchFamily="34" charset="-120"/>
              </a:rPr>
              <a:t>Static QR code backup</a:t>
            </a:r>
            <a:pPr algn="l" indent="0" marL="0">
              <a:lnSpc>
                <a:spcPts val="967"/>
              </a:lnSpc>
              <a:buNone/>
            </a:pPr>
            <a:r>
              <a:rPr lang="en-US" sz="800" dirty="0">
                <a:solidFill>
                  <a:srgbClr val="374151"/>
                </a:solidFill>
                <a:latin typeface="Carlito" pitchFamily="34" charset="0"/>
                <a:ea typeface="Carlito" pitchFamily="34" charset="-122"/>
                <a:cs typeface="Carlito" pitchFamily="34" charset="-120"/>
              </a:rPr>
              <a:t> — the printed sticker works if the kiosk is down.</a:t>
            </a:r>
            <a:endParaRPr lang="en-US" sz="800" dirty="0"/>
          </a:p>
        </p:txBody>
      </p:sp>
      <p:sp>
        <p:nvSpPr>
          <p:cNvPr id="25" name="Text 23"/>
          <p:cNvSpPr/>
          <p:nvPr/>
        </p:nvSpPr>
        <p:spPr>
          <a:xfrm>
            <a:off x="428625" y="3187675"/>
            <a:ext cx="2328863" cy="452628"/>
          </a:xfrm>
          <a:prstGeom prst="rect">
            <a:avLst/>
          </a:prstGeom>
          <a:noFill/>
          <a:ln/>
        </p:spPr>
        <p:txBody>
          <a:bodyPr wrap="square" lIns="157163" tIns="0" rIns="0" bIns="0" rtlCol="0" anchor="t"/>
          <a:lstStyle/>
          <a:p>
            <a:pPr algn="l" indent="0" marL="0">
              <a:lnSpc>
                <a:spcPts val="967"/>
              </a:lnSpc>
              <a:buNone/>
            </a:pPr>
            <a:r>
              <a:rPr lang="en-US" sz="800" dirty="0">
                <a:solidFill>
                  <a:srgbClr val="6D28D9"/>
                </a:solidFill>
                <a:latin typeface="Carlito" pitchFamily="34" charset="0"/>
                <a:ea typeface="Carlito" pitchFamily="34" charset="-122"/>
                <a:cs typeface="Carlito" pitchFamily="34" charset="-120"/>
              </a:rPr>
              <a:t>Full mobile session</a:t>
            </a:r>
            <a:pPr algn="l" indent="0" marL="0">
              <a:lnSpc>
                <a:spcPts val="967"/>
              </a:lnSpc>
              <a:buNone/>
            </a:pPr>
            <a:r>
              <a:rPr lang="en-US" sz="800" dirty="0">
                <a:solidFill>
                  <a:srgbClr val="374151"/>
                </a:solidFill>
                <a:latin typeface="Carlito" pitchFamily="34" charset="0"/>
                <a:ea typeface="Carlito" pitchFamily="34" charset="-122"/>
                <a:cs typeface="Carlito" pitchFamily="34" charset="-120"/>
              </a:rPr>
              <a:t> — customers keep video, audio, and shared screen from their own device.</a:t>
            </a:r>
            <a:endParaRPr lang="en-US" sz="800" dirty="0"/>
          </a:p>
        </p:txBody>
      </p:sp>
      <p:sp>
        <p:nvSpPr>
          <p:cNvPr id="26" name="Text 24"/>
          <p:cNvSpPr/>
          <p:nvPr/>
        </p:nvSpPr>
        <p:spPr>
          <a:xfrm>
            <a:off x="2900363" y="3187675"/>
            <a:ext cx="2328863" cy="452628"/>
          </a:xfrm>
          <a:prstGeom prst="rect">
            <a:avLst/>
          </a:prstGeom>
          <a:noFill/>
          <a:ln/>
        </p:spPr>
        <p:txBody>
          <a:bodyPr wrap="square" lIns="157163" tIns="0" rIns="0" bIns="0" rtlCol="0" anchor="t"/>
          <a:lstStyle/>
          <a:p>
            <a:pPr algn="l" indent="0" marL="0">
              <a:lnSpc>
                <a:spcPts val="967"/>
              </a:lnSpc>
              <a:buNone/>
            </a:pPr>
            <a:r>
              <a:rPr lang="en-US" sz="800" dirty="0">
                <a:solidFill>
                  <a:srgbClr val="6D28D9"/>
                </a:solidFill>
                <a:latin typeface="Carlito" pitchFamily="34" charset="0"/>
                <a:ea typeface="Carlito" pitchFamily="34" charset="-122"/>
                <a:cs typeface="Carlito" pitchFamily="34" charset="-120"/>
              </a:rPr>
              <a:t>Active session from mobile</a:t>
            </a:r>
            <a:pPr algn="l" indent="0" marL="0">
              <a:lnSpc>
                <a:spcPts val="967"/>
              </a:lnSpc>
              <a:buNone/>
            </a:pPr>
            <a:r>
              <a:rPr lang="en-US" sz="800" dirty="0">
                <a:solidFill>
                  <a:srgbClr val="374151"/>
                </a:solidFill>
                <a:latin typeface="Carlito" pitchFamily="34" charset="0"/>
                <a:ea typeface="Carlito" pitchFamily="34" charset="-122"/>
                <a:cs typeface="Carlito" pitchFamily="34" charset="-120"/>
              </a:rPr>
              <a:t> — the session that started on the kiosk continues on the phone as if nothing happened.</a:t>
            </a:r>
            <a:endParaRPr lang="en-US" sz="800" dirty="0"/>
          </a:p>
        </p:txBody>
      </p:sp>
      <p:pic>
        <p:nvPicPr>
          <p:cNvPr id="27" name="Image 0" descr="/tmp/h2p-fit-1786522346189-hrx2qh.png">    </p:cNvPr>
          <p:cNvPicPr>
            <a:picLocks noChangeAspect="1"/>
          </p:cNvPicPr>
          <p:nvPr/>
        </p:nvPicPr>
        <p:blipFill>
          <a:blip r:embed="rId1"/>
          <a:stretch>
            <a:fillRect/>
          </a:stretch>
        </p:blipFill>
        <p:spPr>
          <a:xfrm>
            <a:off x="5429250" y="571500"/>
            <a:ext cx="3286125" cy="3786188"/>
          </a:xfrm>
          <a:prstGeom prst="rect">
            <a:avLst/>
          </a:prstGeom>
        </p:spPr>
      </p:pic>
      <p:pic>
        <p:nvPicPr>
          <p:cNvPr id="28" name="Image 1" descr="preencoded.png">    </p:cNvPr>
          <p:cNvPicPr>
            <a:picLocks noChangeAspect="1"/>
          </p:cNvPicPr>
          <p:nvPr/>
        </p:nvPicPr>
        <p:blipFill>
          <a:blip r:embed="rId2"/>
          <a:stretch>
            <a:fillRect/>
          </a:stretch>
        </p:blipFill>
        <p:spPr>
          <a:xfrm>
            <a:off x="5429250" y="571500"/>
            <a:ext cx="3286125" cy="3786188"/>
          </a:xfrm>
          <a:prstGeom prst="rect">
            <a:avLst/>
          </a:prstGeom>
        </p:spPr>
      </p:pic>
      <p:sp>
        <p:nvSpPr>
          <p:cNvPr id="29" name="Text 25"/>
          <p:cNvSpPr/>
          <p:nvPr/>
        </p:nvSpPr>
        <p:spPr>
          <a:xfrm>
            <a:off x="5575697" y="717947"/>
            <a:ext cx="1443372" cy="469702"/>
          </a:xfrm>
          <a:prstGeom prst="roundRect">
            <a:avLst>
              <a:gd name="adj" fmla="val 16223"/>
            </a:avLst>
          </a:prstGeom>
          <a:solidFill>
            <a:srgbClr val="FFFFFF">
              <a:alpha val="96000"/>
            </a:srgbClr>
          </a:solidFill>
          <a:ln w="7144">
            <a:solidFill>
              <a:srgbClr val="7C3AED"/>
            </a:solidFill>
            <a:prstDash val="solid"/>
          </a:ln>
          <a:effectLst>
            <a:outerShdw sx="100000" sy="100000" kx="0" ky="0" algn="bl" rotWithShape="0" blurRad="171450" dist="57150" dir="5400000">
              <a:srgbClr val="1A0B2E">
                <a:alpha val="18000"/>
              </a:srgbClr>
            </a:outerShdw>
          </a:effectLst>
        </p:spPr>
        <p:txBody>
          <a:bodyPr wrap="square" rtlCol="0" anchor="ctr"/>
          <a:lstStyle/>
          <a:p>
            <a:pPr indent="0" marL="0">
              <a:buNone/>
            </a:pPr>
            <a:endParaRPr lang="en-US" dirty="0"/>
          </a:p>
        </p:txBody>
      </p:sp>
      <p:sp>
        <p:nvSpPr>
          <p:cNvPr id="30" name="Text 26"/>
          <p:cNvSpPr/>
          <p:nvPr/>
        </p:nvSpPr>
        <p:spPr>
          <a:xfrm>
            <a:off x="5664994" y="874216"/>
            <a:ext cx="157163" cy="157163"/>
          </a:xfrm>
          <a:prstGeom prst="rect">
            <a:avLst/>
          </a:prstGeom>
          <a:noFill/>
          <a:ln/>
        </p:spPr>
        <p:txBody>
          <a:bodyPr wrap="none" lIns="0" tIns="0" rIns="0" bIns="0" rtlCol="0" anchor="ctr"/>
          <a:lstStyle/>
          <a:p>
            <a:pPr algn="ctr" indent="0" marL="0">
              <a:buNone/>
            </a:pPr>
            <a:r>
              <a:rPr lang="en-US" sz="1547" dirty="0">
                <a:solidFill>
                  <a:srgbClr val="7C3AED"/>
                </a:solidFill>
                <a:latin typeface="Segoe UI Symbol" pitchFamily="34" charset="0"/>
                <a:ea typeface="Segoe UI Symbol" pitchFamily="34" charset="-122"/>
                <a:cs typeface="Segoe UI Symbol" pitchFamily="34" charset="-120"/>
              </a:rPr>
              <a:t>✓</a:t>
            </a:r>
            <a:endParaRPr lang="en-US" sz="1547" dirty="0"/>
          </a:p>
        </p:txBody>
      </p:sp>
      <p:sp>
        <p:nvSpPr>
          <p:cNvPr id="31" name="Text 27"/>
          <p:cNvSpPr/>
          <p:nvPr/>
        </p:nvSpPr>
        <p:spPr>
          <a:xfrm>
            <a:off x="5893594" y="792956"/>
            <a:ext cx="1036179" cy="164592"/>
          </a:xfrm>
          <a:prstGeom prst="rect">
            <a:avLst/>
          </a:prstGeom>
          <a:noFill/>
          <a:ln/>
        </p:spPr>
        <p:txBody>
          <a:bodyPr wrap="none" lIns="0" tIns="0" rIns="0" bIns="0" rtlCol="0" anchor="t"/>
          <a:lstStyle/>
          <a:p>
            <a:pPr algn="l" indent="0" marL="0">
              <a:lnSpc>
                <a:spcPts val="759"/>
              </a:lnSpc>
              <a:buNone/>
            </a:pPr>
            <a:r>
              <a:rPr lang="en-US" sz="600" b="1" spc="61" kern="0" dirty="0">
                <a:solidFill>
                  <a:srgbClr val="6B7280"/>
                </a:solidFill>
                <a:latin typeface="Carlito" pitchFamily="34" charset="0"/>
                <a:ea typeface="Carlito" pitchFamily="34" charset="-122"/>
                <a:cs typeface="Carlito" pitchFamily="34" charset="-120"/>
              </a:rPr>
              <a:t>SERVICE AVAILABILITY</a:t>
            </a:r>
            <a:endParaRPr lang="en-US" sz="600" dirty="0"/>
          </a:p>
        </p:txBody>
      </p:sp>
      <p:sp>
        <p:nvSpPr>
          <p:cNvPr id="32" name="Text 28"/>
          <p:cNvSpPr/>
          <p:nvPr/>
        </p:nvSpPr>
        <p:spPr>
          <a:xfrm>
            <a:off x="5893594" y="889397"/>
            <a:ext cx="1036179" cy="106513"/>
          </a:xfrm>
          <a:prstGeom prst="rect">
            <a:avLst/>
          </a:prstGeom>
          <a:noFill/>
          <a:ln/>
        </p:spPr>
        <p:txBody>
          <a:bodyPr wrap="none" lIns="0" tIns="0" rIns="0" bIns="0" rtlCol="0" anchor="t">
            <a:normAutofit/>
          </a:bodyPr>
          <a:lstStyle/>
          <a:p>
            <a:pPr algn="l" indent="0" marL="0">
              <a:lnSpc>
                <a:spcPts val="1055"/>
              </a:lnSpc>
              <a:buNone/>
            </a:pPr>
            <a:r>
              <a:rPr lang="en-US" sz="844" b="1" dirty="0">
                <a:solidFill>
                  <a:srgbClr val="6D28D9"/>
                </a:solidFill>
                <a:latin typeface="Liberation Sans Narrow" pitchFamily="34" charset="0"/>
                <a:ea typeface="Liberation Sans Narrow" pitchFamily="34" charset="-122"/>
                <a:cs typeface="Liberation Sans Narrow" pitchFamily="34" charset="-120"/>
              </a:rPr>
              <a:t>99.99%</a:t>
            </a:r>
            <a:endParaRPr lang="en-US" sz="844" dirty="0"/>
          </a:p>
        </p:txBody>
      </p:sp>
      <p:sp>
        <p:nvSpPr>
          <p:cNvPr id="33" name="Text 29"/>
          <p:cNvSpPr/>
          <p:nvPr/>
        </p:nvSpPr>
        <p:spPr>
          <a:xfrm>
            <a:off x="5893594" y="1023342"/>
            <a:ext cx="1098349" cy="91440"/>
          </a:xfrm>
          <a:prstGeom prst="rect">
            <a:avLst/>
          </a:prstGeom>
          <a:noFill/>
          <a:ln/>
        </p:spPr>
        <p:txBody>
          <a:bodyPr wrap="square" lIns="0" tIns="0" rIns="0" bIns="0" rtlCol="0" anchor="t"/>
          <a:lstStyle/>
          <a:p>
            <a:pPr algn="l" indent="0" marL="0">
              <a:lnSpc>
                <a:spcPts val="703"/>
              </a:lnSpc>
              <a:buNone/>
            </a:pPr>
            <a:r>
              <a:rPr lang="en-US" sz="600" dirty="0">
                <a:solidFill>
                  <a:srgbClr val="374151"/>
                </a:solidFill>
                <a:latin typeface="Carlito" pitchFamily="34" charset="0"/>
                <a:ea typeface="Carlito" pitchFamily="34" charset="-122"/>
                <a:cs typeface="Carlito" pitchFamily="34" charset="-120"/>
              </a:rPr>
              <a:t>even during hardware failure</a:t>
            </a:r>
            <a:endParaRPr lang="en-US" sz="600" dirty="0"/>
          </a:p>
        </p:txBody>
      </p:sp>
      <p:sp>
        <p:nvSpPr>
          <p:cNvPr id="34" name="Text 30"/>
          <p:cNvSpPr/>
          <p:nvPr/>
        </p:nvSpPr>
        <p:spPr>
          <a:xfrm>
            <a:off x="5572125" y="3921919"/>
            <a:ext cx="3252978" cy="122587"/>
          </a:xfrm>
          <a:prstGeom prst="rect">
            <a:avLst/>
          </a:prstGeom>
          <a:noFill/>
          <a:ln/>
        </p:spPr>
        <p:txBody>
          <a:bodyPr wrap="square" lIns="0" tIns="0" rIns="0" bIns="0" rtlCol="0" anchor="t">
            <a:normAutofit/>
          </a:bodyPr>
          <a:lstStyle/>
          <a:p>
            <a:pPr algn="l" indent="0" marL="0">
              <a:lnSpc>
                <a:spcPts val="844"/>
              </a:lnSpc>
              <a:buNone/>
            </a:pPr>
            <a:r>
              <a:rPr lang="en-US" sz="800" b="1" spc="79" kern="0" dirty="0">
                <a:solidFill>
                  <a:srgbClr val="FFFFFF">
                    <a:alpha val="80000"/>
                  </a:srgbClr>
                </a:solidFill>
                <a:latin typeface="Carlito" pitchFamily="34" charset="0"/>
                <a:ea typeface="Carlito" pitchFamily="34" charset="-122"/>
                <a:cs typeface="Carlito" pitchFamily="34" charset="-120"/>
              </a:rPr>
              <a:t>MTTR DROPS FROM HOURS TO ZERO</a:t>
            </a:r>
            <a:endParaRPr lang="en-US" sz="800" dirty="0"/>
          </a:p>
        </p:txBody>
      </p:sp>
      <p:sp>
        <p:nvSpPr>
          <p:cNvPr id="35" name="Text 31"/>
          <p:cNvSpPr/>
          <p:nvPr/>
        </p:nvSpPr>
        <p:spPr>
          <a:xfrm>
            <a:off x="5572125" y="4071938"/>
            <a:ext cx="3240405" cy="154305"/>
          </a:xfrm>
          <a:prstGeom prst="rect">
            <a:avLst/>
          </a:prstGeom>
          <a:noFill/>
          <a:ln/>
        </p:spPr>
        <p:txBody>
          <a:bodyPr wrap="square" lIns="0" tIns="0" rIns="0" bIns="0" rtlCol="0" anchor="t"/>
          <a:lstStyle/>
          <a:p>
            <a:pPr algn="l" indent="0" marL="0">
              <a:lnSpc>
                <a:spcPts val="1125"/>
              </a:lnSpc>
              <a:buNone/>
            </a:pPr>
            <a:r>
              <a:rPr lang="en-US" sz="900" dirty="0">
                <a:solidFill>
                  <a:srgbClr val="FFFFFF"/>
                </a:solidFill>
                <a:latin typeface="Tinos" pitchFamily="34" charset="0"/>
                <a:ea typeface="Tinos" pitchFamily="34" charset="-122"/>
                <a:cs typeface="Tinos" pitchFamily="34" charset="-120"/>
              </a:rPr>
              <a:t>"The customer never notices the kiosk is down."</a:t>
            </a:r>
            <a:endParaRPr lang="en-US" sz="900" dirty="0"/>
          </a:p>
        </p:txBody>
      </p:sp>
      <p:sp>
        <p:nvSpPr>
          <p:cNvPr id="36" name="Text 32"/>
          <p:cNvSpPr/>
          <p:nvPr/>
        </p:nvSpPr>
        <p:spPr>
          <a:xfrm>
            <a:off x="428625" y="4386263"/>
            <a:ext cx="8286750" cy="328613"/>
          </a:xfrm>
          <a:prstGeom prst="roundRect">
            <a:avLst>
              <a:gd name="adj" fmla="val 23188"/>
            </a:avLst>
          </a:prstGeom>
          <a:solidFill>
            <a:srgbClr val="F5F3FF"/>
          </a:solidFill>
          <a:ln/>
        </p:spPr>
        <p:txBody>
          <a:bodyPr wrap="square" rtlCol="0" anchor="ctr"/>
          <a:lstStyle/>
          <a:p>
            <a:pPr indent="0" marL="0">
              <a:buNone/>
            </a:pPr>
            <a:endParaRPr lang="en-US" dirty="0"/>
          </a:p>
        </p:txBody>
      </p:sp>
      <p:sp>
        <p:nvSpPr>
          <p:cNvPr id="37" name="Shape 33"/>
          <p:cNvSpPr/>
          <p:nvPr/>
        </p:nvSpPr>
        <p:spPr>
          <a:xfrm>
            <a:off x="442913" y="4386263"/>
            <a:ext cx="0" cy="328613"/>
          </a:xfrm>
          <a:prstGeom prst="line">
            <a:avLst/>
          </a:prstGeom>
          <a:noFill/>
          <a:ln w="28575">
            <a:solidFill>
              <a:srgbClr val="7C3AED"/>
            </a:solidFill>
            <a:prstDash val="solid"/>
          </a:ln>
        </p:spPr>
      </p:sp>
      <p:sp>
        <p:nvSpPr>
          <p:cNvPr id="38" name="Text 34"/>
          <p:cNvSpPr/>
          <p:nvPr/>
        </p:nvSpPr>
        <p:spPr>
          <a:xfrm>
            <a:off x="600075" y="4471988"/>
            <a:ext cx="157163" cy="157163"/>
          </a:xfrm>
          <a:prstGeom prst="rect">
            <a:avLst/>
          </a:prstGeom>
          <a:noFill/>
          <a:ln/>
        </p:spPr>
        <p:txBody>
          <a:bodyPr wrap="none" lIns="0" tIns="0" rIns="0" bIns="0" rtlCol="0" anchor="ctr"/>
          <a:lstStyle/>
          <a:p>
            <a:pPr algn="ctr" indent="0" marL="0">
              <a:buNone/>
            </a:pPr>
            <a:r>
              <a:rPr lang="en-US" sz="1547" dirty="0">
                <a:solidFill>
                  <a:srgbClr val="7C3AED"/>
                </a:solidFill>
                <a:latin typeface="Segoe UI Symbol" pitchFamily="34" charset="0"/>
                <a:ea typeface="Segoe UI Symbol" pitchFamily="34" charset="-122"/>
                <a:cs typeface="Segoe UI Symbol" pitchFamily="34" charset="-120"/>
              </a:rPr>
              <a:t>✦</a:t>
            </a:r>
            <a:endParaRPr lang="en-US" sz="1547" dirty="0"/>
          </a:p>
        </p:txBody>
      </p:sp>
      <p:sp>
        <p:nvSpPr>
          <p:cNvPr id="39" name="Text 35"/>
          <p:cNvSpPr/>
          <p:nvPr/>
        </p:nvSpPr>
        <p:spPr>
          <a:xfrm>
            <a:off x="1000125" y="4489847"/>
            <a:ext cx="1610971" cy="125403"/>
          </a:xfrm>
          <a:prstGeom prst="rect">
            <a:avLst/>
          </a:prstGeom>
          <a:noFill/>
          <a:ln/>
        </p:spPr>
        <p:txBody>
          <a:bodyPr wrap="none" lIns="0" tIns="0" rIns="0" bIns="0" rtlCol="0" anchor="t"/>
          <a:lstStyle/>
          <a:p>
            <a:pPr algn="l" indent="0" marL="0">
              <a:lnSpc>
                <a:spcPts val="1181"/>
              </a:lnSpc>
              <a:buNone/>
            </a:pPr>
            <a:r>
              <a:rPr lang="en-US" sz="800" dirty="0">
                <a:solidFill>
                  <a:srgbClr val="6D28D9"/>
                </a:solidFill>
                <a:latin typeface="Carlito" pitchFamily="34" charset="0"/>
                <a:ea typeface="Carlito" pitchFamily="34" charset="-122"/>
                <a:cs typeface="Carlito" pitchFamily="34" charset="-120"/>
              </a:rPr>
              <a:t>No technician dispatch</a:t>
            </a:r>
            <a:endParaRPr lang="en-US" sz="800" dirty="0"/>
          </a:p>
        </p:txBody>
      </p:sp>
      <p:sp>
        <p:nvSpPr>
          <p:cNvPr id="40" name="Text 36"/>
          <p:cNvSpPr/>
          <p:nvPr/>
        </p:nvSpPr>
        <p:spPr>
          <a:xfrm>
            <a:off x="842963" y="4493419"/>
            <a:ext cx="114300" cy="114300"/>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41" name="Text 37"/>
          <p:cNvSpPr/>
          <p:nvPr/>
        </p:nvSpPr>
        <p:spPr>
          <a:xfrm>
            <a:off x="2374627" y="4475559"/>
            <a:ext cx="91440" cy="153591"/>
          </a:xfrm>
          <a:prstGeom prst="rect">
            <a:avLst/>
          </a:prstGeom>
          <a:noFill/>
          <a:ln/>
        </p:spPr>
        <p:txBody>
          <a:bodyPr wrap="none" lIns="0" tIns="0" rIns="0" bIns="0" rtlCol="0" anchor="t"/>
          <a:lstStyle/>
          <a:p>
            <a:pPr algn="l" indent="0" marL="0">
              <a:lnSpc>
                <a:spcPts val="1181"/>
              </a:lnSpc>
              <a:buNone/>
            </a:pPr>
            <a:r>
              <a:rPr lang="en-US" sz="800" dirty="0">
                <a:solidFill>
                  <a:srgbClr val="6D28D9">
                    <a:alpha val="40000"/>
                  </a:srgbClr>
                </a:solidFill>
                <a:latin typeface="Carlito" pitchFamily="34" charset="0"/>
                <a:ea typeface="Carlito" pitchFamily="34" charset="-122"/>
                <a:cs typeface="Carlito" pitchFamily="34" charset="-120"/>
              </a:rPr>
              <a:t>·</a:t>
            </a:r>
            <a:endParaRPr lang="en-US" sz="800" dirty="0"/>
          </a:p>
        </p:txBody>
      </p:sp>
      <p:sp>
        <p:nvSpPr>
          <p:cNvPr id="42" name="Text 38"/>
          <p:cNvSpPr/>
          <p:nvPr/>
        </p:nvSpPr>
        <p:spPr>
          <a:xfrm>
            <a:off x="2655577" y="4489847"/>
            <a:ext cx="1228390" cy="125403"/>
          </a:xfrm>
          <a:prstGeom prst="rect">
            <a:avLst/>
          </a:prstGeom>
          <a:noFill/>
          <a:ln/>
        </p:spPr>
        <p:txBody>
          <a:bodyPr wrap="none" lIns="0" tIns="0" rIns="0" bIns="0" rtlCol="0" anchor="t"/>
          <a:lstStyle/>
          <a:p>
            <a:pPr algn="l" indent="0" marL="0">
              <a:lnSpc>
                <a:spcPts val="1181"/>
              </a:lnSpc>
              <a:buNone/>
            </a:pPr>
            <a:r>
              <a:rPr lang="en-US" sz="800" dirty="0">
                <a:solidFill>
                  <a:srgbClr val="6D28D9"/>
                </a:solidFill>
                <a:latin typeface="Carlito" pitchFamily="34" charset="0"/>
                <a:ea typeface="Carlito" pitchFamily="34" charset="-122"/>
                <a:cs typeface="Carlito" pitchFamily="34" charset="-120"/>
              </a:rPr>
              <a:t>No support ticket</a:t>
            </a:r>
            <a:endParaRPr lang="en-US" sz="800" dirty="0"/>
          </a:p>
        </p:txBody>
      </p:sp>
      <p:sp>
        <p:nvSpPr>
          <p:cNvPr id="43" name="Text 39"/>
          <p:cNvSpPr/>
          <p:nvPr/>
        </p:nvSpPr>
        <p:spPr>
          <a:xfrm>
            <a:off x="2498415" y="4493419"/>
            <a:ext cx="114300" cy="114300"/>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44" name="Text 40"/>
          <p:cNvSpPr/>
          <p:nvPr/>
        </p:nvSpPr>
        <p:spPr>
          <a:xfrm>
            <a:off x="3724015" y="4475559"/>
            <a:ext cx="91440" cy="153591"/>
          </a:xfrm>
          <a:prstGeom prst="rect">
            <a:avLst/>
          </a:prstGeom>
          <a:noFill/>
          <a:ln/>
        </p:spPr>
        <p:txBody>
          <a:bodyPr wrap="none" lIns="0" tIns="0" rIns="0" bIns="0" rtlCol="0" anchor="t"/>
          <a:lstStyle/>
          <a:p>
            <a:pPr algn="l" indent="0" marL="0">
              <a:lnSpc>
                <a:spcPts val="1181"/>
              </a:lnSpc>
              <a:buNone/>
            </a:pPr>
            <a:r>
              <a:rPr lang="en-US" sz="800" dirty="0">
                <a:solidFill>
                  <a:srgbClr val="6D28D9">
                    <a:alpha val="40000"/>
                  </a:srgbClr>
                </a:solidFill>
                <a:latin typeface="Carlito" pitchFamily="34" charset="0"/>
                <a:ea typeface="Carlito" pitchFamily="34" charset="-122"/>
                <a:cs typeface="Carlito" pitchFamily="34" charset="-120"/>
              </a:rPr>
              <a:t>·</a:t>
            </a:r>
            <a:endParaRPr lang="en-US" sz="800" dirty="0"/>
          </a:p>
        </p:txBody>
      </p:sp>
      <p:sp>
        <p:nvSpPr>
          <p:cNvPr id="45" name="Text 41"/>
          <p:cNvSpPr/>
          <p:nvPr/>
        </p:nvSpPr>
        <p:spPr>
          <a:xfrm>
            <a:off x="4004965" y="4489847"/>
            <a:ext cx="1637481" cy="125403"/>
          </a:xfrm>
          <a:prstGeom prst="rect">
            <a:avLst/>
          </a:prstGeom>
          <a:noFill/>
          <a:ln/>
        </p:spPr>
        <p:txBody>
          <a:bodyPr wrap="none" lIns="0" tIns="0" rIns="0" bIns="0" rtlCol="0" anchor="t"/>
          <a:lstStyle/>
          <a:p>
            <a:pPr algn="l" indent="0" marL="0">
              <a:lnSpc>
                <a:spcPts val="1181"/>
              </a:lnSpc>
              <a:buNone/>
            </a:pPr>
            <a:r>
              <a:rPr lang="en-US" sz="800" dirty="0">
                <a:solidFill>
                  <a:srgbClr val="6D28D9"/>
                </a:solidFill>
                <a:latin typeface="Carlito" pitchFamily="34" charset="0"/>
                <a:ea typeface="Carlito" pitchFamily="34" charset="-122"/>
                <a:cs typeface="Carlito" pitchFamily="34" charset="-120"/>
              </a:rPr>
              <a:t>No service interruption</a:t>
            </a:r>
            <a:endParaRPr lang="en-US" sz="800" dirty="0"/>
          </a:p>
        </p:txBody>
      </p:sp>
      <p:sp>
        <p:nvSpPr>
          <p:cNvPr id="46" name="Text 42"/>
          <p:cNvSpPr/>
          <p:nvPr/>
        </p:nvSpPr>
        <p:spPr>
          <a:xfrm>
            <a:off x="3847802" y="4493419"/>
            <a:ext cx="114300" cy="114300"/>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47" name="Text 43"/>
          <p:cNvSpPr/>
          <p:nvPr/>
        </p:nvSpPr>
        <p:spPr>
          <a:xfrm>
            <a:off x="342900" y="4854178"/>
            <a:ext cx="4267609"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48" name="Text 44"/>
          <p:cNvSpPr/>
          <p:nvPr/>
        </p:nvSpPr>
        <p:spPr>
          <a:xfrm>
            <a:off x="4624797" y="4854178"/>
            <a:ext cx="3592748"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a:t>
            </a:r>
            <a:endParaRPr lang="en-US" sz="800" dirty="0"/>
          </a:p>
        </p:txBody>
      </p:sp>
      <p:sp>
        <p:nvSpPr>
          <p:cNvPr id="49" name="Text 45"/>
          <p:cNvSpPr/>
          <p:nvPr/>
        </p:nvSpPr>
        <p:spPr>
          <a:xfrm>
            <a:off x="8231832" y="4854178"/>
            <a:ext cx="684793" cy="164592"/>
          </a:xfrm>
          <a:prstGeom prst="rect">
            <a:avLst/>
          </a:prstGeom>
          <a:noFill/>
          <a:ln/>
        </p:spPr>
        <p:txBody>
          <a:bodyPr wrap="none" lIns="0" tIns="0" rIns="0" bIns="0" rtlCol="0" anchor="t"/>
          <a:lstStyle/>
          <a:p>
            <a:pPr algn="l" indent="0" marL="0">
              <a:lnSpc>
                <a:spcPts val="928"/>
              </a:lnSpc>
              <a:buNone/>
            </a:pPr>
            <a:r>
              <a:rPr lang="en-US" sz="619" spc="25" kern="0" dirty="0">
                <a:solidFill>
                  <a:srgbClr val="6B7280"/>
                </a:solidFill>
                <a:latin typeface="Liberation Sans Narrow" pitchFamily="34" charset="0"/>
                <a:ea typeface="Liberation Sans Narrow" pitchFamily="34" charset="-122"/>
                <a:cs typeface="Liberation Sans Narrow" pitchFamily="34" charset="-120"/>
              </a:rPr>
              <a:t>SLIDE 19 / 24</a:t>
            </a:r>
            <a:endParaRPr lang="en-US" sz="619" dirty="0"/>
          </a:p>
        </p:txBody>
      </p:sp>
      <p:pic>
        <p:nvPicPr>
          <p:cNvPr id="50" name="Image 2" descr="/home/z/my-project/download/slides/massapro-logo.png">    </p:cNvPr>
          <p:cNvPicPr>
            <a:picLocks noChangeAspect="1"/>
          </p:cNvPicPr>
          <p:nvPr/>
        </p:nvPicPr>
        <p:blipFill>
          <a:blip r:embed="rId3"/>
          <a:stretch>
            <a:fillRect/>
          </a:stretch>
        </p:blipFill>
        <p:spPr>
          <a:xfrm>
            <a:off x="342900" y="200025"/>
            <a:ext cx="200025" cy="200025"/>
          </a:xfrm>
          <a:prstGeom prst="rect">
            <a:avLst/>
          </a:prstGeom>
        </p:spPr>
      </p:pic>
      <p:sp>
        <p:nvSpPr>
          <p:cNvPr id="51" name="Text 46"/>
          <p:cNvSpPr/>
          <p:nvPr/>
        </p:nvSpPr>
        <p:spPr>
          <a:xfrm>
            <a:off x="614363" y="219670"/>
            <a:ext cx="769239"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6D28D9"/>
                </a:solidFill>
                <a:latin typeface="Carlito" pitchFamily="34" charset="0"/>
                <a:ea typeface="Carlito" pitchFamily="34" charset="-122"/>
                <a:cs typeface="Carlito" pitchFamily="34" charset="-120"/>
              </a:rPr>
              <a:t>MassaPro</a:t>
            </a:r>
            <a:endParaRPr lang="en-US" sz="844"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17109" y="200025"/>
            <a:ext cx="2626891" cy="164592"/>
          </a:xfrm>
          <a:prstGeom prst="rect">
            <a:avLst/>
          </a:prstGeom>
          <a:noFill/>
          <a:ln/>
        </p:spPr>
        <p:txBody>
          <a:bodyPr wrap="square" lIns="0" tIns="0" rIns="0" bIns="0" rtlCol="0" anchor="t"/>
          <a:lstStyle/>
          <a:p>
            <a:pPr algn="l" indent="0" marL="0">
              <a:lnSpc>
                <a:spcPts val="928"/>
              </a:lnSpc>
              <a:buNone/>
            </a:pPr>
            <a:r>
              <a:rPr lang="en-US" sz="800" b="1" spc="111" kern="0" dirty="0">
                <a:solidFill>
                  <a:srgbClr val="6B7280"/>
                </a:solidFill>
                <a:latin typeface="Liberation Sans Narrow" pitchFamily="34" charset="0"/>
                <a:ea typeface="Liberation Sans Narrow" pitchFamily="34" charset="-122"/>
                <a:cs typeface="Liberation Sans Narrow" pitchFamily="34" charset="-120"/>
              </a:rPr>
              <a:t>CHAPTER 04 — PROOF &amp; BUSINESS CASE</a:t>
            </a:r>
            <a:endParaRPr lang="en-US" sz="800" dirty="0"/>
          </a:p>
        </p:txBody>
      </p:sp>
      <p:sp>
        <p:nvSpPr>
          <p:cNvPr id="3" name="Text 1"/>
          <p:cNvSpPr/>
          <p:nvPr/>
        </p:nvSpPr>
        <p:spPr>
          <a:xfrm>
            <a:off x="405765" y="558698"/>
            <a:ext cx="1673379" cy="243488"/>
          </a:xfrm>
          <a:prstGeom prst="roundRect">
            <a:avLst>
              <a:gd name="adj" fmla="val 3907985"/>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4" name="Text 2"/>
          <p:cNvSpPr/>
          <p:nvPr/>
        </p:nvSpPr>
        <p:spPr>
          <a:xfrm>
            <a:off x="678656" y="628650"/>
            <a:ext cx="1284759" cy="129679"/>
          </a:xfrm>
          <a:prstGeom prst="rect">
            <a:avLst/>
          </a:prstGeom>
          <a:noFill/>
          <a:ln/>
        </p:spPr>
        <p:txBody>
          <a:bodyPr wrap="none" lIns="0" tIns="0" rIns="0" bIns="0" rtlCol="0" anchor="t"/>
          <a:lstStyle/>
          <a:p>
            <a:pPr algn="l" indent="0" marL="0">
              <a:lnSpc>
                <a:spcPts val="928"/>
              </a:lnSpc>
              <a:buNone/>
            </a:pPr>
            <a:r>
              <a:rPr lang="en-US" sz="619" b="1" spc="111" kern="0" dirty="0">
                <a:solidFill>
                  <a:srgbClr val="7C3AED"/>
                </a:solidFill>
                <a:latin typeface="Carlito" pitchFamily="34" charset="0"/>
                <a:ea typeface="Carlito" pitchFamily="34" charset="-122"/>
                <a:cs typeface="Carlito" pitchFamily="34" charset="-120"/>
              </a:rPr>
              <a:t>SECTOR APPLICATIONS</a:t>
            </a:r>
            <a:endParaRPr lang="en-US" sz="619" dirty="0"/>
          </a:p>
        </p:txBody>
      </p:sp>
      <p:sp>
        <p:nvSpPr>
          <p:cNvPr id="5" name="Text 3"/>
          <p:cNvSpPr/>
          <p:nvPr/>
        </p:nvSpPr>
        <p:spPr>
          <a:xfrm>
            <a:off x="521494" y="630436"/>
            <a:ext cx="100013" cy="100013"/>
          </a:xfrm>
          <a:prstGeom prst="rect">
            <a:avLst/>
          </a:prstGeom>
          <a:noFill/>
          <a:ln/>
        </p:spPr>
        <p:txBody>
          <a:bodyPr wrap="none" lIns="0" tIns="0" rIns="0" bIns="0" rtlCol="0" anchor="ctr"/>
          <a:lstStyle/>
          <a:p>
            <a:pPr algn="ctr" indent="0" marL="0">
              <a:buNone/>
            </a:pPr>
            <a:r>
              <a:rPr lang="en-US" sz="984" dirty="0">
                <a:solidFill>
                  <a:srgbClr val="7C3AED"/>
                </a:solidFill>
                <a:latin typeface="Segoe UI Symbol" pitchFamily="34" charset="0"/>
                <a:ea typeface="Segoe UI Symbol" pitchFamily="34" charset="-122"/>
                <a:cs typeface="Segoe UI Symbol" pitchFamily="34" charset="-120"/>
              </a:rPr>
              <a:t>▦</a:t>
            </a:r>
            <a:endParaRPr lang="en-US" sz="984" dirty="0"/>
          </a:p>
        </p:txBody>
      </p:sp>
      <p:sp>
        <p:nvSpPr>
          <p:cNvPr id="6" name="Text 4"/>
          <p:cNvSpPr/>
          <p:nvPr/>
        </p:nvSpPr>
        <p:spPr>
          <a:xfrm>
            <a:off x="428625" y="875109"/>
            <a:ext cx="8078153" cy="291612"/>
          </a:xfrm>
          <a:prstGeom prst="rect">
            <a:avLst/>
          </a:prstGeom>
          <a:noFill/>
          <a:ln/>
        </p:spPr>
        <p:txBody>
          <a:bodyPr wrap="square" lIns="0" tIns="0" rIns="0" bIns="0" rtlCol="0" anchor="t"/>
          <a:lstStyle/>
          <a:p>
            <a:pPr algn="l" indent="0" marL="0">
              <a:lnSpc>
                <a:spcPts val="2126"/>
              </a:lnSpc>
              <a:buNone/>
            </a:pPr>
            <a:r>
              <a:rPr lang="en-US" sz="2025" b="1" spc="-40" kern="0" dirty="0">
                <a:solidFill>
                  <a:srgbClr val="6D28D9"/>
                </a:solidFill>
                <a:latin typeface="Carlito" pitchFamily="34" charset="0"/>
                <a:ea typeface="Carlito" pitchFamily="34" charset="-122"/>
                <a:cs typeface="Carlito" pitchFamily="34" charset="-120"/>
              </a:rPr>
              <a:t>The Same Model, Four Different Operations</a:t>
            </a:r>
            <a:endParaRPr lang="en-US" sz="2025" dirty="0"/>
          </a:p>
        </p:txBody>
      </p:sp>
      <p:sp>
        <p:nvSpPr>
          <p:cNvPr id="7" name="Text 5"/>
          <p:cNvSpPr/>
          <p:nvPr/>
        </p:nvSpPr>
        <p:spPr>
          <a:xfrm>
            <a:off x="428625" y="1202271"/>
            <a:ext cx="7343775" cy="164592"/>
          </a:xfrm>
          <a:prstGeom prst="rect">
            <a:avLst/>
          </a:prstGeom>
          <a:noFill/>
          <a:ln/>
        </p:spPr>
        <p:txBody>
          <a:bodyPr wrap="square" lIns="0" tIns="0" rIns="0" bIns="0" rtlCol="0" anchor="t"/>
          <a:lstStyle/>
          <a:p>
            <a:pPr algn="l" indent="0" marL="0">
              <a:lnSpc>
                <a:spcPts val="1181"/>
              </a:lnSpc>
              <a:buNone/>
            </a:pPr>
            <a:r>
              <a:rPr lang="en-US" sz="800" dirty="0">
                <a:solidFill>
                  <a:srgbClr val="6B7280"/>
                </a:solidFill>
                <a:latin typeface="Carlito" pitchFamily="34" charset="0"/>
                <a:ea typeface="Carlito" pitchFamily="34" charset="-122"/>
                <a:cs typeface="Carlito" pitchFamily="34" charset="-120"/>
              </a:rPr>
              <a:t>Sector-agnostic — the configuration lives in MassaPro Flow, not in the code.</a:t>
            </a:r>
            <a:endParaRPr lang="en-US" sz="800" dirty="0"/>
          </a:p>
        </p:txBody>
      </p:sp>
      <p:pic>
        <p:nvPicPr>
          <p:cNvPr id="8" name="Image 0" descr="/tmp/h2p-fit-1786522346658-97nzb2.png">    </p:cNvPr>
          <p:cNvPicPr>
            <a:picLocks noChangeAspect="1"/>
          </p:cNvPicPr>
          <p:nvPr/>
        </p:nvPicPr>
        <p:blipFill>
          <a:blip r:embed="rId1"/>
          <a:stretch>
            <a:fillRect/>
          </a:stretch>
        </p:blipFill>
        <p:spPr>
          <a:xfrm>
            <a:off x="8001000" y="637915"/>
            <a:ext cx="714375" cy="714375"/>
          </a:xfrm>
          <a:prstGeom prst="rect">
            <a:avLst/>
          </a:prstGeom>
          <a:effectLst>
            <a:outerShdw sx="100000" sy="100000" kx="0" ky="0" algn="bl" rotWithShape="0" blurRad="133350" dist="38100" dir="5400000">
              <a:srgbClr val="7C3AED">
                <a:alpha val="10000"/>
              </a:srgbClr>
            </a:outerShdw>
          </a:effectLst>
        </p:spPr>
      </p:pic>
      <p:sp>
        <p:nvSpPr>
          <p:cNvPr id="9" name="Text 6"/>
          <p:cNvSpPr/>
          <p:nvPr/>
        </p:nvSpPr>
        <p:spPr>
          <a:xfrm>
            <a:off x="432197" y="1575197"/>
            <a:ext cx="4064794" cy="1379190"/>
          </a:xfrm>
          <a:prstGeom prst="roundRect">
            <a:avLst>
              <a:gd name="adj" fmla="val 9669"/>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10" name="Text 7"/>
          <p:cNvSpPr/>
          <p:nvPr/>
        </p:nvSpPr>
        <p:spPr>
          <a:xfrm>
            <a:off x="435769" y="1578769"/>
            <a:ext cx="657225" cy="1372046"/>
          </a:xfrm>
          <a:prstGeom prst="rect">
            <a:avLst/>
          </a:prstGeom>
          <a:solidFill>
            <a:srgbClr val="F5F3FF"/>
          </a:solidFill>
          <a:ln/>
        </p:spPr>
        <p:txBody>
          <a:bodyPr wrap="square" rtlCol="0" anchor="ctr"/>
          <a:lstStyle/>
          <a:p>
            <a:pPr indent="0" marL="0">
              <a:buNone/>
            </a:pPr>
            <a:endParaRPr lang="en-US" dirty="0"/>
          </a:p>
        </p:txBody>
      </p:sp>
      <p:sp>
        <p:nvSpPr>
          <p:cNvPr id="11" name="Text 8"/>
          <p:cNvSpPr/>
          <p:nvPr/>
        </p:nvSpPr>
        <p:spPr>
          <a:xfrm>
            <a:off x="635794" y="2073697"/>
            <a:ext cx="257175" cy="257175"/>
          </a:xfrm>
          <a:prstGeom prst="rect">
            <a:avLst/>
          </a:prstGeom>
          <a:noFill/>
          <a:ln/>
        </p:spPr>
        <p:txBody>
          <a:bodyPr wrap="none" lIns="0" tIns="0" rIns="0" bIns="0" rtlCol="0" anchor="ctr"/>
          <a:lstStyle/>
          <a:p>
            <a:pPr algn="ctr" indent="0" marL="0">
              <a:buNone/>
            </a:pPr>
            <a:r>
              <a:rPr lang="en-US" sz="2531" dirty="0">
                <a:solidFill>
                  <a:srgbClr val="7C3AED"/>
                </a:solidFill>
                <a:latin typeface="Segoe UI Symbol" pitchFamily="34" charset="0"/>
                <a:ea typeface="Segoe UI Symbol" pitchFamily="34" charset="-122"/>
                <a:cs typeface="Segoe UI Symbol" pitchFamily="34" charset="-120"/>
              </a:rPr>
              <a:t>🏛</a:t>
            </a:r>
            <a:endParaRPr lang="en-US" sz="2531" dirty="0"/>
          </a:p>
        </p:txBody>
      </p:sp>
      <p:sp>
        <p:nvSpPr>
          <p:cNvPr id="12" name="Text 9"/>
          <p:cNvSpPr/>
          <p:nvPr/>
        </p:nvSpPr>
        <p:spPr>
          <a:xfrm>
            <a:off x="517308" y="2359447"/>
            <a:ext cx="497830" cy="164592"/>
          </a:xfrm>
          <a:prstGeom prst="rect">
            <a:avLst/>
          </a:prstGeom>
          <a:noFill/>
          <a:ln/>
        </p:spPr>
        <p:txBody>
          <a:bodyPr wrap="none" lIns="0" tIns="0" rIns="0" bIns="0" rtlCol="0" anchor="t"/>
          <a:lstStyle/>
          <a:p>
            <a:pPr algn="l" indent="0" marL="0">
              <a:lnSpc>
                <a:spcPts val="759"/>
              </a:lnSpc>
              <a:buNone/>
            </a:pPr>
            <a:r>
              <a:rPr lang="en-US" sz="600" b="1" spc="71" kern="0" dirty="0">
                <a:solidFill>
                  <a:srgbClr val="7C3AED"/>
                </a:solidFill>
                <a:latin typeface="Liberation Sans Narrow" pitchFamily="34" charset="0"/>
                <a:ea typeface="Liberation Sans Narrow" pitchFamily="34" charset="-122"/>
                <a:cs typeface="Liberation Sans Narrow" pitchFamily="34" charset="-120"/>
              </a:rPr>
              <a:t>SECTOR 01</a:t>
            </a:r>
            <a:endParaRPr lang="en-US" sz="600" dirty="0"/>
          </a:p>
        </p:txBody>
      </p:sp>
      <p:sp>
        <p:nvSpPr>
          <p:cNvPr id="13" name="Text 10"/>
          <p:cNvSpPr/>
          <p:nvPr/>
        </p:nvSpPr>
        <p:spPr>
          <a:xfrm>
            <a:off x="1221581" y="1693069"/>
            <a:ext cx="3271838" cy="142567"/>
          </a:xfrm>
          <a:prstGeom prst="rect">
            <a:avLst/>
          </a:prstGeom>
          <a:noFill/>
          <a:ln/>
        </p:spPr>
        <p:txBody>
          <a:bodyPr wrap="none" lIns="0" tIns="0" rIns="0" bIns="0" rtlCol="0" anchor="t">
            <a:normAutofit/>
          </a:bodyPr>
          <a:lstStyle/>
          <a:p>
            <a:pPr algn="l" indent="0" marL="0">
              <a:lnSpc>
                <a:spcPts val="1114"/>
              </a:lnSpc>
              <a:buNone/>
            </a:pPr>
            <a:r>
              <a:rPr lang="en-US" sz="1013" b="1" dirty="0">
                <a:solidFill>
                  <a:srgbClr val="6D28D9"/>
                </a:solidFill>
                <a:latin typeface="Carlito" pitchFamily="34" charset="0"/>
                <a:ea typeface="Carlito" pitchFamily="34" charset="-122"/>
                <a:cs typeface="Carlito" pitchFamily="34" charset="-120"/>
              </a:rPr>
              <a:t>Finance</a:t>
            </a:r>
            <a:endParaRPr lang="en-US" sz="1013" dirty="0"/>
          </a:p>
        </p:txBody>
      </p:sp>
      <p:sp>
        <p:nvSpPr>
          <p:cNvPr id="14" name="Text 11"/>
          <p:cNvSpPr/>
          <p:nvPr/>
        </p:nvSpPr>
        <p:spPr>
          <a:xfrm>
            <a:off x="1221581" y="1863068"/>
            <a:ext cx="3143250" cy="477317"/>
          </a:xfrm>
          <a:prstGeom prst="rect">
            <a:avLst/>
          </a:prstGeom>
          <a:noFill/>
          <a:ln/>
        </p:spPr>
        <p:txBody>
          <a:bodyPr wrap="square" lIns="0" tIns="0" rIns="0" bIns="0" rtlCol="0" anchor="t"/>
          <a:lstStyle/>
          <a:p>
            <a:pPr algn="l" indent="0" marL="0">
              <a:lnSpc>
                <a:spcPts val="1020"/>
              </a:lnSpc>
              <a:buNone/>
            </a:pPr>
            <a:r>
              <a:rPr lang="en-US" sz="800" dirty="0">
                <a:solidFill>
                  <a:srgbClr val="374151"/>
                </a:solidFill>
                <a:latin typeface="Carlito" pitchFamily="34" charset="0"/>
                <a:ea typeface="Carlito" pitchFamily="34" charset="-122"/>
                <a:cs typeface="Carlito" pitchFamily="34" charset="-120"/>
              </a:rPr>
              <a:t>Assisted claims assessment, account opening, policy issuance, and claim filing, with visual verification of the policyholder and their document. </a:t>
            </a:r>
            <a:pPr algn="l" indent="0" marL="0">
              <a:lnSpc>
                <a:spcPts val="1020"/>
              </a:lnSpc>
              <a:buNone/>
            </a:pPr>
            <a:r>
              <a:rPr lang="en-US" sz="800" dirty="0">
                <a:solidFill>
                  <a:srgbClr val="6D28D9"/>
                </a:solidFill>
                <a:latin typeface="Carlito" pitchFamily="34" charset="0"/>
                <a:ea typeface="Carlito" pitchFamily="34" charset="-122"/>
                <a:cs typeface="Carlito" pitchFamily="34" charset="-120"/>
              </a:rPr>
              <a:t>After-hours service without after-hours staffing.</a:t>
            </a:r>
            <a:endParaRPr lang="en-US" sz="800" dirty="0"/>
          </a:p>
        </p:txBody>
      </p:sp>
      <p:sp>
        <p:nvSpPr>
          <p:cNvPr id="15" name="Text 12"/>
          <p:cNvSpPr/>
          <p:nvPr/>
        </p:nvSpPr>
        <p:spPr>
          <a:xfrm>
            <a:off x="4647009" y="1575197"/>
            <a:ext cx="4064794" cy="1379190"/>
          </a:xfrm>
          <a:prstGeom prst="roundRect">
            <a:avLst>
              <a:gd name="adj" fmla="val 9669"/>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16" name="Text 13"/>
          <p:cNvSpPr/>
          <p:nvPr/>
        </p:nvSpPr>
        <p:spPr>
          <a:xfrm>
            <a:off x="4650581" y="1578769"/>
            <a:ext cx="657225" cy="1372046"/>
          </a:xfrm>
          <a:prstGeom prst="rect">
            <a:avLst/>
          </a:prstGeom>
          <a:solidFill>
            <a:srgbClr val="F5F3FF"/>
          </a:solidFill>
          <a:ln/>
        </p:spPr>
        <p:txBody>
          <a:bodyPr wrap="square" rtlCol="0" anchor="ctr"/>
          <a:lstStyle/>
          <a:p>
            <a:pPr indent="0" marL="0">
              <a:buNone/>
            </a:pPr>
            <a:endParaRPr lang="en-US" dirty="0"/>
          </a:p>
        </p:txBody>
      </p:sp>
      <p:sp>
        <p:nvSpPr>
          <p:cNvPr id="17" name="Text 14"/>
          <p:cNvSpPr/>
          <p:nvPr/>
        </p:nvSpPr>
        <p:spPr>
          <a:xfrm>
            <a:off x="4850606" y="2073697"/>
            <a:ext cx="257175" cy="257175"/>
          </a:xfrm>
          <a:prstGeom prst="rect">
            <a:avLst/>
          </a:prstGeom>
          <a:noFill/>
          <a:ln/>
        </p:spPr>
        <p:txBody>
          <a:bodyPr wrap="none" lIns="0" tIns="0" rIns="0" bIns="0" rtlCol="0" anchor="ctr"/>
          <a:lstStyle/>
          <a:p>
            <a:pPr algn="ctr" indent="0" marL="0">
              <a:buNone/>
            </a:pPr>
            <a:r>
              <a:rPr lang="en-US" sz="2531" dirty="0">
                <a:solidFill>
                  <a:srgbClr val="7C3AED"/>
                </a:solidFill>
                <a:latin typeface="Segoe UI Symbol" pitchFamily="34" charset="0"/>
                <a:ea typeface="Segoe UI Symbol" pitchFamily="34" charset="-122"/>
                <a:cs typeface="Segoe UI Symbol" pitchFamily="34" charset="-120"/>
              </a:rPr>
              <a:t>▣</a:t>
            </a:r>
            <a:endParaRPr lang="en-US" sz="2531" dirty="0"/>
          </a:p>
        </p:txBody>
      </p:sp>
      <p:sp>
        <p:nvSpPr>
          <p:cNvPr id="18" name="Text 15"/>
          <p:cNvSpPr/>
          <p:nvPr/>
        </p:nvSpPr>
        <p:spPr>
          <a:xfrm>
            <a:off x="4732121" y="2359447"/>
            <a:ext cx="497830" cy="164592"/>
          </a:xfrm>
          <a:prstGeom prst="rect">
            <a:avLst/>
          </a:prstGeom>
          <a:noFill/>
          <a:ln/>
        </p:spPr>
        <p:txBody>
          <a:bodyPr wrap="none" lIns="0" tIns="0" rIns="0" bIns="0" rtlCol="0" anchor="t"/>
          <a:lstStyle/>
          <a:p>
            <a:pPr algn="l" indent="0" marL="0">
              <a:lnSpc>
                <a:spcPts val="759"/>
              </a:lnSpc>
              <a:buNone/>
            </a:pPr>
            <a:r>
              <a:rPr lang="en-US" sz="600" b="1" spc="71" kern="0" dirty="0">
                <a:solidFill>
                  <a:srgbClr val="7C3AED"/>
                </a:solidFill>
                <a:latin typeface="Liberation Sans Narrow" pitchFamily="34" charset="0"/>
                <a:ea typeface="Liberation Sans Narrow" pitchFamily="34" charset="-122"/>
                <a:cs typeface="Liberation Sans Narrow" pitchFamily="34" charset="-120"/>
              </a:rPr>
              <a:t>SECTOR 02</a:t>
            </a:r>
            <a:endParaRPr lang="en-US" sz="600" dirty="0"/>
          </a:p>
        </p:txBody>
      </p:sp>
      <p:sp>
        <p:nvSpPr>
          <p:cNvPr id="19" name="Text 16"/>
          <p:cNvSpPr/>
          <p:nvPr/>
        </p:nvSpPr>
        <p:spPr>
          <a:xfrm>
            <a:off x="5436394" y="1693069"/>
            <a:ext cx="3271838" cy="142567"/>
          </a:xfrm>
          <a:prstGeom prst="rect">
            <a:avLst/>
          </a:prstGeom>
          <a:noFill/>
          <a:ln/>
        </p:spPr>
        <p:txBody>
          <a:bodyPr wrap="none" lIns="0" tIns="0" rIns="0" bIns="0" rtlCol="0" anchor="t">
            <a:normAutofit/>
          </a:bodyPr>
          <a:lstStyle/>
          <a:p>
            <a:pPr algn="l" indent="0" marL="0">
              <a:lnSpc>
                <a:spcPts val="1114"/>
              </a:lnSpc>
              <a:buNone/>
            </a:pPr>
            <a:r>
              <a:rPr lang="en-US" sz="1013" b="1" dirty="0">
                <a:solidFill>
                  <a:srgbClr val="6D28D9"/>
                </a:solidFill>
                <a:latin typeface="Carlito" pitchFamily="34" charset="0"/>
                <a:ea typeface="Carlito" pitchFamily="34" charset="-122"/>
                <a:cs typeface="Carlito" pitchFamily="34" charset="-120"/>
              </a:rPr>
              <a:t>Retail</a:t>
            </a:r>
            <a:endParaRPr lang="en-US" sz="1013" dirty="0"/>
          </a:p>
        </p:txBody>
      </p:sp>
      <p:sp>
        <p:nvSpPr>
          <p:cNvPr id="20" name="Text 17"/>
          <p:cNvSpPr/>
          <p:nvPr/>
        </p:nvSpPr>
        <p:spPr>
          <a:xfrm>
            <a:off x="5436394" y="1863068"/>
            <a:ext cx="3143250" cy="636422"/>
          </a:xfrm>
          <a:prstGeom prst="rect">
            <a:avLst/>
          </a:prstGeom>
          <a:noFill/>
          <a:ln/>
        </p:spPr>
        <p:txBody>
          <a:bodyPr wrap="square" lIns="0" tIns="0" rIns="0" bIns="0" rtlCol="0" anchor="t"/>
          <a:lstStyle/>
          <a:p>
            <a:pPr algn="l" indent="0" marL="0">
              <a:lnSpc>
                <a:spcPts val="1020"/>
              </a:lnSpc>
              <a:buNone/>
            </a:pPr>
            <a:r>
              <a:rPr lang="en-US" sz="800" dirty="0">
                <a:solidFill>
                  <a:srgbClr val="374151"/>
                </a:solidFill>
                <a:latin typeface="Carlito" pitchFamily="34" charset="0"/>
                <a:ea typeface="Carlito" pitchFamily="34" charset="-122"/>
                <a:cs typeface="Carlito" pitchFamily="34" charset="-120"/>
              </a:rPr>
              <a:t>Personal shopper and in-store product advisory. </a:t>
            </a:r>
            <a:pPr algn="l" indent="0" marL="0">
              <a:lnSpc>
                <a:spcPts val="1020"/>
              </a:lnSpc>
              <a:buNone/>
            </a:pPr>
            <a:r>
              <a:rPr lang="en-US" sz="800" dirty="0">
                <a:solidFill>
                  <a:srgbClr val="6D28D9"/>
                </a:solidFill>
                <a:latin typeface="Carlito" pitchFamily="34" charset="0"/>
                <a:ea typeface="Carlito" pitchFamily="34" charset="-122"/>
                <a:cs typeface="Carlito" pitchFamily="34" charset="-120"/>
              </a:rPr>
              <a:t>One brand specialist covers the entire retail network.</a:t>
            </a:r>
            <a:pPr algn="l" indent="0" marL="0">
              <a:lnSpc>
                <a:spcPts val="1020"/>
              </a:lnSpc>
              <a:buNone/>
            </a:pPr>
            <a:r>
              <a:rPr lang="en-US" sz="800" dirty="0">
                <a:solidFill>
                  <a:srgbClr val="374151"/>
                </a:solidFill>
                <a:latin typeface="Carlito" pitchFamily="34" charset="0"/>
                <a:ea typeface="Carlito" pitchFamily="34" charset="-122"/>
                <a:cs typeface="Carlito" pitchFamily="34" charset="-120"/>
              </a:rPr>
              <a:t> Customers at any store can speak with the specialist, see the product on screen, and place the order.</a:t>
            </a:r>
            <a:endParaRPr lang="en-US" sz="800" dirty="0"/>
          </a:p>
        </p:txBody>
      </p:sp>
      <p:sp>
        <p:nvSpPr>
          <p:cNvPr id="21" name="Text 18"/>
          <p:cNvSpPr/>
          <p:nvPr/>
        </p:nvSpPr>
        <p:spPr>
          <a:xfrm>
            <a:off x="432197" y="3104406"/>
            <a:ext cx="4064794" cy="1249710"/>
          </a:xfrm>
          <a:prstGeom prst="roundRect">
            <a:avLst>
              <a:gd name="adj" fmla="val 10670"/>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22" name="Text 19"/>
          <p:cNvSpPr/>
          <p:nvPr/>
        </p:nvSpPr>
        <p:spPr>
          <a:xfrm>
            <a:off x="435769" y="3107978"/>
            <a:ext cx="657225" cy="1242566"/>
          </a:xfrm>
          <a:prstGeom prst="rect">
            <a:avLst/>
          </a:prstGeom>
          <a:solidFill>
            <a:srgbClr val="F5F3FF"/>
          </a:solidFill>
          <a:ln/>
        </p:spPr>
        <p:txBody>
          <a:bodyPr wrap="square" rtlCol="0" anchor="ctr"/>
          <a:lstStyle/>
          <a:p>
            <a:pPr indent="0" marL="0">
              <a:buNone/>
            </a:pPr>
            <a:endParaRPr lang="en-US" dirty="0"/>
          </a:p>
        </p:txBody>
      </p:sp>
      <p:sp>
        <p:nvSpPr>
          <p:cNvPr id="23" name="Text 20"/>
          <p:cNvSpPr/>
          <p:nvPr/>
        </p:nvSpPr>
        <p:spPr>
          <a:xfrm>
            <a:off x="635794" y="3538165"/>
            <a:ext cx="257175" cy="257175"/>
          </a:xfrm>
          <a:prstGeom prst="rect">
            <a:avLst/>
          </a:prstGeom>
          <a:noFill/>
          <a:ln/>
        </p:spPr>
        <p:txBody>
          <a:bodyPr wrap="none" lIns="0" tIns="0" rIns="0" bIns="0" rtlCol="0" anchor="ctr"/>
          <a:lstStyle/>
          <a:p>
            <a:pPr algn="ctr" indent="0" marL="0">
              <a:buNone/>
            </a:pPr>
            <a:r>
              <a:rPr lang="en-US" sz="2531" dirty="0">
                <a:solidFill>
                  <a:srgbClr val="7C3AED"/>
                </a:solidFill>
                <a:latin typeface="Segoe UI Symbol" pitchFamily="34" charset="0"/>
                <a:ea typeface="Segoe UI Symbol" pitchFamily="34" charset="-122"/>
                <a:cs typeface="Segoe UI Symbol" pitchFamily="34" charset="-120"/>
              </a:rPr>
              <a:t>✈</a:t>
            </a:r>
            <a:endParaRPr lang="en-US" sz="2531" dirty="0"/>
          </a:p>
        </p:txBody>
      </p:sp>
      <p:sp>
        <p:nvSpPr>
          <p:cNvPr id="24" name="Text 21"/>
          <p:cNvSpPr/>
          <p:nvPr/>
        </p:nvSpPr>
        <p:spPr>
          <a:xfrm>
            <a:off x="517308" y="3823915"/>
            <a:ext cx="497830" cy="164592"/>
          </a:xfrm>
          <a:prstGeom prst="rect">
            <a:avLst/>
          </a:prstGeom>
          <a:noFill/>
          <a:ln/>
        </p:spPr>
        <p:txBody>
          <a:bodyPr wrap="none" lIns="0" tIns="0" rIns="0" bIns="0" rtlCol="0" anchor="t"/>
          <a:lstStyle/>
          <a:p>
            <a:pPr algn="l" indent="0" marL="0">
              <a:lnSpc>
                <a:spcPts val="759"/>
              </a:lnSpc>
              <a:buNone/>
            </a:pPr>
            <a:r>
              <a:rPr lang="en-US" sz="600" b="1" spc="71" kern="0" dirty="0">
                <a:solidFill>
                  <a:srgbClr val="7C3AED"/>
                </a:solidFill>
                <a:latin typeface="Liberation Sans Narrow" pitchFamily="34" charset="0"/>
                <a:ea typeface="Liberation Sans Narrow" pitchFamily="34" charset="-122"/>
                <a:cs typeface="Liberation Sans Narrow" pitchFamily="34" charset="-120"/>
              </a:rPr>
              <a:t>SECTOR 03</a:t>
            </a:r>
            <a:endParaRPr lang="en-US" sz="600" dirty="0"/>
          </a:p>
        </p:txBody>
      </p:sp>
      <p:sp>
        <p:nvSpPr>
          <p:cNvPr id="25" name="Text 22"/>
          <p:cNvSpPr/>
          <p:nvPr/>
        </p:nvSpPr>
        <p:spPr>
          <a:xfrm>
            <a:off x="1221581" y="3222278"/>
            <a:ext cx="3271838" cy="142567"/>
          </a:xfrm>
          <a:prstGeom prst="rect">
            <a:avLst/>
          </a:prstGeom>
          <a:noFill/>
          <a:ln/>
        </p:spPr>
        <p:txBody>
          <a:bodyPr wrap="none" lIns="0" tIns="0" rIns="0" bIns="0" rtlCol="0" anchor="t">
            <a:normAutofit/>
          </a:bodyPr>
          <a:lstStyle/>
          <a:p>
            <a:pPr algn="l" indent="0" marL="0">
              <a:lnSpc>
                <a:spcPts val="1114"/>
              </a:lnSpc>
              <a:buNone/>
            </a:pPr>
            <a:r>
              <a:rPr lang="en-US" sz="1013" b="1" dirty="0">
                <a:solidFill>
                  <a:srgbClr val="6D28D9"/>
                </a:solidFill>
                <a:latin typeface="Carlito" pitchFamily="34" charset="0"/>
                <a:ea typeface="Carlito" pitchFamily="34" charset="-122"/>
                <a:cs typeface="Carlito" pitchFamily="34" charset="-120"/>
              </a:rPr>
              <a:t>Travel &amp; Hospitality</a:t>
            </a:r>
            <a:endParaRPr lang="en-US" sz="1013" dirty="0"/>
          </a:p>
        </p:txBody>
      </p:sp>
      <p:sp>
        <p:nvSpPr>
          <p:cNvPr id="26" name="Text 23"/>
          <p:cNvSpPr/>
          <p:nvPr/>
        </p:nvSpPr>
        <p:spPr>
          <a:xfrm>
            <a:off x="1221581" y="3392277"/>
            <a:ext cx="3143250" cy="477317"/>
          </a:xfrm>
          <a:prstGeom prst="rect">
            <a:avLst/>
          </a:prstGeom>
          <a:noFill/>
          <a:ln/>
        </p:spPr>
        <p:txBody>
          <a:bodyPr wrap="square" lIns="0" tIns="0" rIns="0" bIns="0" rtlCol="0" anchor="t"/>
          <a:lstStyle/>
          <a:p>
            <a:pPr algn="l" indent="0" marL="0">
              <a:lnSpc>
                <a:spcPts val="1020"/>
              </a:lnSpc>
              <a:buNone/>
            </a:pPr>
            <a:r>
              <a:rPr lang="en-US" sz="800" dirty="0">
                <a:solidFill>
                  <a:srgbClr val="374151"/>
                </a:solidFill>
                <a:latin typeface="Carlito" pitchFamily="34" charset="0"/>
                <a:ea typeface="Carlito" pitchFamily="34" charset="-122"/>
                <a:cs typeface="Carlito" pitchFamily="34" charset="-120"/>
              </a:rPr>
              <a:t>Multilingual 24/7 concierge in the hotel, resort, or tour lobby. </a:t>
            </a:r>
            <a:pPr algn="l" indent="0" marL="0">
              <a:lnSpc>
                <a:spcPts val="1020"/>
              </a:lnSpc>
              <a:buNone/>
            </a:pPr>
            <a:r>
              <a:rPr lang="en-US" sz="800" dirty="0">
                <a:solidFill>
                  <a:srgbClr val="6D28D9"/>
                </a:solidFill>
                <a:latin typeface="Carlito" pitchFamily="34" charset="0"/>
                <a:ea typeface="Carlito" pitchFamily="34" charset="-122"/>
                <a:cs typeface="Carlito" pitchFamily="34" charset="-120"/>
              </a:rPr>
              <a:t>No need for a staffed desk overnight.</a:t>
            </a:r>
            <a:pPr algn="l" indent="0" marL="0">
              <a:lnSpc>
                <a:spcPts val="1020"/>
              </a:lnSpc>
              <a:buNone/>
            </a:pPr>
            <a:r>
              <a:rPr lang="en-US" sz="800" dirty="0">
                <a:solidFill>
                  <a:srgbClr val="374151"/>
                </a:solidFill>
                <a:latin typeface="Carlito" pitchFamily="34" charset="0"/>
                <a:ea typeface="Carlito" pitchFamily="34" charset="-122"/>
                <a:cs typeface="Carlito" pitchFamily="34" charset="-120"/>
              </a:rPr>
              <a:t> Guests check in, get recommendations, and book excursions from a kiosk.</a:t>
            </a:r>
            <a:endParaRPr lang="en-US" sz="800" dirty="0"/>
          </a:p>
        </p:txBody>
      </p:sp>
      <p:sp>
        <p:nvSpPr>
          <p:cNvPr id="27" name="Text 24"/>
          <p:cNvSpPr/>
          <p:nvPr/>
        </p:nvSpPr>
        <p:spPr>
          <a:xfrm>
            <a:off x="4647009" y="3104406"/>
            <a:ext cx="4064794" cy="1249710"/>
          </a:xfrm>
          <a:prstGeom prst="roundRect">
            <a:avLst>
              <a:gd name="adj" fmla="val 10670"/>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28" name="Text 25"/>
          <p:cNvSpPr/>
          <p:nvPr/>
        </p:nvSpPr>
        <p:spPr>
          <a:xfrm>
            <a:off x="4650581" y="3107978"/>
            <a:ext cx="657225" cy="1242566"/>
          </a:xfrm>
          <a:prstGeom prst="rect">
            <a:avLst/>
          </a:prstGeom>
          <a:solidFill>
            <a:srgbClr val="F5F3FF"/>
          </a:solidFill>
          <a:ln/>
        </p:spPr>
        <p:txBody>
          <a:bodyPr wrap="square" rtlCol="0" anchor="ctr"/>
          <a:lstStyle/>
          <a:p>
            <a:pPr indent="0" marL="0">
              <a:buNone/>
            </a:pPr>
            <a:endParaRPr lang="en-US" dirty="0"/>
          </a:p>
        </p:txBody>
      </p:sp>
      <p:sp>
        <p:nvSpPr>
          <p:cNvPr id="29" name="Text 26"/>
          <p:cNvSpPr/>
          <p:nvPr/>
        </p:nvSpPr>
        <p:spPr>
          <a:xfrm>
            <a:off x="4850606" y="3538165"/>
            <a:ext cx="257175" cy="257175"/>
          </a:xfrm>
          <a:prstGeom prst="rect">
            <a:avLst/>
          </a:prstGeom>
          <a:noFill/>
          <a:ln/>
        </p:spPr>
        <p:txBody>
          <a:bodyPr wrap="none" lIns="0" tIns="0" rIns="0" bIns="0" rtlCol="0" anchor="ctr"/>
          <a:lstStyle/>
          <a:p>
            <a:pPr algn="ctr" indent="0" marL="0">
              <a:buNone/>
            </a:pPr>
            <a:r>
              <a:rPr lang="en-US" sz="2531" dirty="0">
                <a:solidFill>
                  <a:srgbClr val="7C3AED"/>
                </a:solidFill>
                <a:latin typeface="Segoe UI Symbol" pitchFamily="34" charset="0"/>
                <a:ea typeface="Segoe UI Symbol" pitchFamily="34" charset="-122"/>
                <a:cs typeface="Segoe UI Symbol" pitchFamily="34" charset="-120"/>
              </a:rPr>
              <a:t>✚</a:t>
            </a:r>
            <a:endParaRPr lang="en-US" sz="2531" dirty="0"/>
          </a:p>
        </p:txBody>
      </p:sp>
      <p:sp>
        <p:nvSpPr>
          <p:cNvPr id="30" name="Text 27"/>
          <p:cNvSpPr/>
          <p:nvPr/>
        </p:nvSpPr>
        <p:spPr>
          <a:xfrm>
            <a:off x="4732121" y="3823915"/>
            <a:ext cx="497830" cy="164592"/>
          </a:xfrm>
          <a:prstGeom prst="rect">
            <a:avLst/>
          </a:prstGeom>
          <a:noFill/>
          <a:ln/>
        </p:spPr>
        <p:txBody>
          <a:bodyPr wrap="none" lIns="0" tIns="0" rIns="0" bIns="0" rtlCol="0" anchor="t"/>
          <a:lstStyle/>
          <a:p>
            <a:pPr algn="l" indent="0" marL="0">
              <a:lnSpc>
                <a:spcPts val="759"/>
              </a:lnSpc>
              <a:buNone/>
            </a:pPr>
            <a:r>
              <a:rPr lang="en-US" sz="600" b="1" spc="71" kern="0" dirty="0">
                <a:solidFill>
                  <a:srgbClr val="7C3AED"/>
                </a:solidFill>
                <a:latin typeface="Liberation Sans Narrow" pitchFamily="34" charset="0"/>
                <a:ea typeface="Liberation Sans Narrow" pitchFamily="34" charset="-122"/>
                <a:cs typeface="Liberation Sans Narrow" pitchFamily="34" charset="-120"/>
              </a:rPr>
              <a:t>SECTOR 04</a:t>
            </a:r>
            <a:endParaRPr lang="en-US" sz="600" dirty="0"/>
          </a:p>
        </p:txBody>
      </p:sp>
      <p:sp>
        <p:nvSpPr>
          <p:cNvPr id="31" name="Text 28"/>
          <p:cNvSpPr/>
          <p:nvPr/>
        </p:nvSpPr>
        <p:spPr>
          <a:xfrm>
            <a:off x="5436394" y="3222278"/>
            <a:ext cx="3271838" cy="142567"/>
          </a:xfrm>
          <a:prstGeom prst="rect">
            <a:avLst/>
          </a:prstGeom>
          <a:noFill/>
          <a:ln/>
        </p:spPr>
        <p:txBody>
          <a:bodyPr wrap="none" lIns="0" tIns="0" rIns="0" bIns="0" rtlCol="0" anchor="t">
            <a:normAutofit/>
          </a:bodyPr>
          <a:lstStyle/>
          <a:p>
            <a:pPr algn="l" indent="0" marL="0">
              <a:lnSpc>
                <a:spcPts val="1114"/>
              </a:lnSpc>
              <a:buNone/>
            </a:pPr>
            <a:r>
              <a:rPr lang="en-US" sz="1013" b="1" dirty="0">
                <a:solidFill>
                  <a:srgbClr val="6D28D9"/>
                </a:solidFill>
                <a:latin typeface="Carlito" pitchFamily="34" charset="0"/>
                <a:ea typeface="Carlito" pitchFamily="34" charset="-122"/>
                <a:cs typeface="Carlito" pitchFamily="34" charset="-120"/>
              </a:rPr>
              <a:t>Healthcare</a:t>
            </a:r>
            <a:endParaRPr lang="en-US" sz="1013" dirty="0"/>
          </a:p>
        </p:txBody>
      </p:sp>
      <p:sp>
        <p:nvSpPr>
          <p:cNvPr id="32" name="Text 29"/>
          <p:cNvSpPr/>
          <p:nvPr/>
        </p:nvSpPr>
        <p:spPr>
          <a:xfrm>
            <a:off x="5436394" y="3392277"/>
            <a:ext cx="3143250" cy="477317"/>
          </a:xfrm>
          <a:prstGeom prst="rect">
            <a:avLst/>
          </a:prstGeom>
          <a:noFill/>
          <a:ln/>
        </p:spPr>
        <p:txBody>
          <a:bodyPr wrap="square" lIns="0" tIns="0" rIns="0" bIns="0" rtlCol="0" anchor="t"/>
          <a:lstStyle/>
          <a:p>
            <a:pPr algn="l" indent="0" marL="0">
              <a:lnSpc>
                <a:spcPts val="1020"/>
              </a:lnSpc>
              <a:buNone/>
            </a:pPr>
            <a:r>
              <a:rPr lang="en-US" sz="800" dirty="0">
                <a:solidFill>
                  <a:srgbClr val="374151"/>
                </a:solidFill>
                <a:latin typeface="Carlito" pitchFamily="34" charset="0"/>
                <a:ea typeface="Carlito" pitchFamily="34" charset="-122"/>
                <a:cs typeface="Carlito" pitchFamily="34" charset="-120"/>
              </a:rPr>
              <a:t>Admissions, initial triage, and patient guidance at clinics and centres without permanent front-desk staff. </a:t>
            </a:r>
            <a:pPr algn="l" indent="0" marL="0">
              <a:lnSpc>
                <a:spcPts val="1020"/>
              </a:lnSpc>
              <a:buNone/>
            </a:pPr>
            <a:r>
              <a:rPr lang="en-US" sz="800" dirty="0">
                <a:solidFill>
                  <a:srgbClr val="6D28D9"/>
                </a:solidFill>
                <a:latin typeface="Carlito" pitchFamily="34" charset="0"/>
                <a:ea typeface="Carlito" pitchFamily="34" charset="-122"/>
                <a:cs typeface="Carlito" pitchFamily="34" charset="-120"/>
              </a:rPr>
              <a:t>Patients check in, verify identity, and are routed to the right clinician — all on video.</a:t>
            </a:r>
            <a:endParaRPr lang="en-US" sz="800" dirty="0"/>
          </a:p>
        </p:txBody>
      </p:sp>
      <p:sp>
        <p:nvSpPr>
          <p:cNvPr id="33" name="Text 30"/>
          <p:cNvSpPr/>
          <p:nvPr/>
        </p:nvSpPr>
        <p:spPr>
          <a:xfrm>
            <a:off x="428625" y="4386263"/>
            <a:ext cx="8286750" cy="328613"/>
          </a:xfrm>
          <a:prstGeom prst="roundRect">
            <a:avLst>
              <a:gd name="adj" fmla="val 23188"/>
            </a:avLst>
          </a:prstGeom>
          <a:solidFill>
            <a:srgbClr val="F5F3FF"/>
          </a:solidFill>
          <a:ln/>
        </p:spPr>
        <p:txBody>
          <a:bodyPr wrap="square" rtlCol="0" anchor="ctr"/>
          <a:lstStyle/>
          <a:p>
            <a:pPr indent="0" marL="0">
              <a:buNone/>
            </a:pPr>
            <a:endParaRPr lang="en-US" dirty="0"/>
          </a:p>
        </p:txBody>
      </p:sp>
      <p:sp>
        <p:nvSpPr>
          <p:cNvPr id="34" name="Shape 31"/>
          <p:cNvSpPr/>
          <p:nvPr/>
        </p:nvSpPr>
        <p:spPr>
          <a:xfrm>
            <a:off x="442913" y="4386263"/>
            <a:ext cx="0" cy="328613"/>
          </a:xfrm>
          <a:prstGeom prst="line">
            <a:avLst/>
          </a:prstGeom>
          <a:noFill/>
          <a:ln w="28575">
            <a:solidFill>
              <a:srgbClr val="7C3AED"/>
            </a:solidFill>
            <a:prstDash val="solid"/>
          </a:ln>
        </p:spPr>
      </p:sp>
      <p:sp>
        <p:nvSpPr>
          <p:cNvPr id="35" name="Text 32"/>
          <p:cNvSpPr/>
          <p:nvPr/>
        </p:nvSpPr>
        <p:spPr>
          <a:xfrm>
            <a:off x="600075" y="4471988"/>
            <a:ext cx="157163" cy="157163"/>
          </a:xfrm>
          <a:prstGeom prst="rect">
            <a:avLst/>
          </a:prstGeom>
          <a:noFill/>
          <a:ln/>
        </p:spPr>
        <p:txBody>
          <a:bodyPr wrap="none" lIns="0" tIns="0" rIns="0" bIns="0" rtlCol="0" anchor="ctr"/>
          <a:lstStyle/>
          <a:p>
            <a:pPr algn="ctr" indent="0" marL="0">
              <a:buNone/>
            </a:pPr>
            <a:r>
              <a:rPr lang="en-US" sz="1547" dirty="0">
                <a:solidFill>
                  <a:srgbClr val="7C3AED"/>
                </a:solidFill>
                <a:latin typeface="Segoe UI Symbol" pitchFamily="34" charset="0"/>
                <a:ea typeface="Segoe UI Symbol" pitchFamily="34" charset="-122"/>
                <a:cs typeface="Segoe UI Symbol" pitchFamily="34" charset="-120"/>
              </a:rPr>
              <a:t>✿</a:t>
            </a:r>
            <a:endParaRPr lang="en-US" sz="1547" dirty="0"/>
          </a:p>
        </p:txBody>
      </p:sp>
      <p:sp>
        <p:nvSpPr>
          <p:cNvPr id="36" name="Text 33"/>
          <p:cNvSpPr/>
          <p:nvPr/>
        </p:nvSpPr>
        <p:spPr>
          <a:xfrm>
            <a:off x="871538" y="4475559"/>
            <a:ext cx="7700963" cy="153591"/>
          </a:xfrm>
          <a:prstGeom prst="rect">
            <a:avLst/>
          </a:prstGeom>
          <a:noFill/>
          <a:ln/>
        </p:spPr>
        <p:txBody>
          <a:bodyPr wrap="square" lIns="0" tIns="0" rIns="0" bIns="0" rtlCol="0" anchor="t"/>
          <a:lstStyle/>
          <a:p>
            <a:pPr algn="l" indent="0" marL="0">
              <a:lnSpc>
                <a:spcPts val="1181"/>
              </a:lnSpc>
              <a:buNone/>
            </a:pPr>
            <a:r>
              <a:rPr lang="en-US" sz="800" dirty="0">
                <a:solidFill>
                  <a:srgbClr val="6D28D9"/>
                </a:solidFill>
                <a:latin typeface="Carlito" pitchFamily="34" charset="0"/>
                <a:ea typeface="Carlito" pitchFamily="34" charset="-122"/>
                <a:cs typeface="Carlito" pitchFamily="34" charset="-120"/>
              </a:rPr>
              <a:t>Same platform, different configuration — MassaPro Flow routes each sector's journey: </a:t>
            </a:r>
            <a:pPr algn="l" indent="0" marL="0">
              <a:lnSpc>
                <a:spcPts val="1181"/>
              </a:lnSpc>
              <a:buNone/>
            </a:pPr>
            <a:r>
              <a:rPr lang="en-US" sz="800" dirty="0">
                <a:solidFill>
                  <a:srgbClr val="6D28D9">
                    <a:alpha val="70000"/>
                  </a:srgbClr>
                </a:solidFill>
                <a:latin typeface="Carlito" pitchFamily="34" charset="0"/>
                <a:ea typeface="Carlito" pitchFamily="34" charset="-122"/>
                <a:cs typeface="Carlito" pitchFamily="34" charset="-120"/>
              </a:rPr>
              <a:t>scan → identify → connect → talk.</a:t>
            </a:r>
            <a:endParaRPr lang="en-US" sz="800" dirty="0"/>
          </a:p>
        </p:txBody>
      </p:sp>
      <p:sp>
        <p:nvSpPr>
          <p:cNvPr id="37" name="Text 34"/>
          <p:cNvSpPr/>
          <p:nvPr/>
        </p:nvSpPr>
        <p:spPr>
          <a:xfrm>
            <a:off x="342900" y="4854178"/>
            <a:ext cx="4267609"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38" name="Text 35"/>
          <p:cNvSpPr/>
          <p:nvPr/>
        </p:nvSpPr>
        <p:spPr>
          <a:xfrm>
            <a:off x="4624797" y="4854178"/>
            <a:ext cx="3592748"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a:t>
            </a:r>
            <a:endParaRPr lang="en-US" sz="800" dirty="0"/>
          </a:p>
        </p:txBody>
      </p:sp>
      <p:sp>
        <p:nvSpPr>
          <p:cNvPr id="39" name="Text 36"/>
          <p:cNvSpPr/>
          <p:nvPr/>
        </p:nvSpPr>
        <p:spPr>
          <a:xfrm>
            <a:off x="8231832" y="4854178"/>
            <a:ext cx="684793" cy="164592"/>
          </a:xfrm>
          <a:prstGeom prst="rect">
            <a:avLst/>
          </a:prstGeom>
          <a:noFill/>
          <a:ln/>
        </p:spPr>
        <p:txBody>
          <a:bodyPr wrap="none" lIns="0" tIns="0" rIns="0" bIns="0" rtlCol="0" anchor="t"/>
          <a:lstStyle/>
          <a:p>
            <a:pPr algn="l" indent="0" marL="0">
              <a:lnSpc>
                <a:spcPts val="928"/>
              </a:lnSpc>
              <a:buNone/>
            </a:pPr>
            <a:r>
              <a:rPr lang="en-US" sz="619" spc="25" kern="0" dirty="0">
                <a:solidFill>
                  <a:srgbClr val="6B7280"/>
                </a:solidFill>
                <a:latin typeface="Liberation Sans Narrow" pitchFamily="34" charset="0"/>
                <a:ea typeface="Liberation Sans Narrow" pitchFamily="34" charset="-122"/>
                <a:cs typeface="Liberation Sans Narrow" pitchFamily="34" charset="-120"/>
              </a:rPr>
              <a:t>SLIDE 20 / 24</a:t>
            </a:r>
            <a:endParaRPr lang="en-US" sz="619" dirty="0"/>
          </a:p>
        </p:txBody>
      </p:sp>
      <p:pic>
        <p:nvPicPr>
          <p:cNvPr id="40" name="Image 1" descr="/home/z/my-project/download/slides/massapro-logo.png">    </p:cNvPr>
          <p:cNvPicPr>
            <a:picLocks noChangeAspect="1"/>
          </p:cNvPicPr>
          <p:nvPr/>
        </p:nvPicPr>
        <p:blipFill>
          <a:blip r:embed="rId2"/>
          <a:stretch>
            <a:fillRect/>
          </a:stretch>
        </p:blipFill>
        <p:spPr>
          <a:xfrm>
            <a:off x="342900" y="200025"/>
            <a:ext cx="200025" cy="200025"/>
          </a:xfrm>
          <a:prstGeom prst="rect">
            <a:avLst/>
          </a:prstGeom>
        </p:spPr>
      </p:pic>
      <p:sp>
        <p:nvSpPr>
          <p:cNvPr id="41" name="Text 37"/>
          <p:cNvSpPr/>
          <p:nvPr/>
        </p:nvSpPr>
        <p:spPr>
          <a:xfrm>
            <a:off x="614363" y="219670"/>
            <a:ext cx="769239"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6D28D9"/>
                </a:solidFill>
                <a:latin typeface="Carlito" pitchFamily="34" charset="0"/>
                <a:ea typeface="Carlito" pitchFamily="34" charset="-122"/>
                <a:cs typeface="Carlito" pitchFamily="34" charset="-120"/>
              </a:rPr>
              <a:t>MassaPro</a:t>
            </a:r>
            <a:endParaRPr lang="en-US" sz="844"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17109" y="200025"/>
            <a:ext cx="2626891" cy="164592"/>
          </a:xfrm>
          <a:prstGeom prst="rect">
            <a:avLst/>
          </a:prstGeom>
          <a:noFill/>
          <a:ln/>
        </p:spPr>
        <p:txBody>
          <a:bodyPr wrap="square" lIns="0" tIns="0" rIns="0" bIns="0" rtlCol="0" anchor="t"/>
          <a:lstStyle/>
          <a:p>
            <a:pPr algn="l" indent="0" marL="0">
              <a:lnSpc>
                <a:spcPts val="928"/>
              </a:lnSpc>
              <a:buNone/>
            </a:pPr>
            <a:r>
              <a:rPr lang="en-US" sz="800" b="1" spc="111" kern="0" dirty="0">
                <a:solidFill>
                  <a:srgbClr val="6B7280"/>
                </a:solidFill>
                <a:latin typeface="Liberation Sans Narrow" pitchFamily="34" charset="0"/>
                <a:ea typeface="Liberation Sans Narrow" pitchFamily="34" charset="-122"/>
                <a:cs typeface="Liberation Sans Narrow" pitchFamily="34" charset="-120"/>
              </a:rPr>
              <a:t>CHAPTER 04 — PROOF &amp; BUSINESS CASE</a:t>
            </a:r>
            <a:endParaRPr lang="en-US" sz="800" dirty="0"/>
          </a:p>
        </p:txBody>
      </p:sp>
      <p:pic>
        <p:nvPicPr>
          <p:cNvPr id="3" name="Image 0" descr="/tmp/h2p-fit-1786522347276-qg9et8.png">    </p:cNvPr>
          <p:cNvPicPr>
            <a:picLocks noChangeAspect="1"/>
          </p:cNvPicPr>
          <p:nvPr/>
        </p:nvPicPr>
        <p:blipFill>
          <a:blip r:embed="rId1"/>
          <a:stretch>
            <a:fillRect/>
          </a:stretch>
        </p:blipFill>
        <p:spPr>
          <a:xfrm>
            <a:off x="428625" y="571500"/>
            <a:ext cx="3143250" cy="4071938"/>
          </a:xfrm>
          <a:prstGeom prst="rect">
            <a:avLst/>
          </a:prstGeom>
        </p:spPr>
      </p:pic>
      <p:pic>
        <p:nvPicPr>
          <p:cNvPr id="4" name="Image 1" descr="preencoded.png">    </p:cNvPr>
          <p:cNvPicPr>
            <a:picLocks noChangeAspect="1"/>
          </p:cNvPicPr>
          <p:nvPr/>
        </p:nvPicPr>
        <p:blipFill>
          <a:blip r:embed="rId2"/>
          <a:stretch>
            <a:fillRect/>
          </a:stretch>
        </p:blipFill>
        <p:spPr>
          <a:xfrm>
            <a:off x="428625" y="571500"/>
            <a:ext cx="3143250" cy="4071938"/>
          </a:xfrm>
          <a:prstGeom prst="rect">
            <a:avLst/>
          </a:prstGeom>
        </p:spPr>
      </p:pic>
      <p:sp>
        <p:nvSpPr>
          <p:cNvPr id="5" name="Text 1"/>
          <p:cNvSpPr/>
          <p:nvPr/>
        </p:nvSpPr>
        <p:spPr>
          <a:xfrm>
            <a:off x="548640" y="702802"/>
            <a:ext cx="1238615" cy="216027"/>
          </a:xfrm>
          <a:prstGeom prst="roundRect">
            <a:avLst>
              <a:gd name="adj" fmla="val 44087302"/>
            </a:avLst>
          </a:prstGeom>
          <a:solidFill>
            <a:srgbClr val="FFFFFF">
              <a:alpha val="95000"/>
            </a:srgbClr>
          </a:solidFill>
          <a:ln/>
        </p:spPr>
        <p:txBody>
          <a:bodyPr wrap="square" rtlCol="0" anchor="ctr"/>
          <a:lstStyle/>
          <a:p>
            <a:pPr indent="0" marL="0">
              <a:buNone/>
            </a:pPr>
            <a:endParaRPr lang="en-US" dirty="0"/>
          </a:p>
        </p:txBody>
      </p:sp>
      <p:sp>
        <p:nvSpPr>
          <p:cNvPr id="6" name="Text 2"/>
          <p:cNvSpPr/>
          <p:nvPr/>
        </p:nvSpPr>
        <p:spPr>
          <a:xfrm>
            <a:off x="785813" y="771525"/>
            <a:ext cx="892857" cy="120701"/>
          </a:xfrm>
          <a:prstGeom prst="rect">
            <a:avLst/>
          </a:prstGeom>
          <a:noFill/>
          <a:ln/>
        </p:spPr>
        <p:txBody>
          <a:bodyPr wrap="none" lIns="0" tIns="0" rIns="0" bIns="0" rtlCol="0" anchor="t"/>
          <a:lstStyle/>
          <a:p>
            <a:pPr algn="l" indent="0" marL="0">
              <a:lnSpc>
                <a:spcPts val="844"/>
              </a:lnSpc>
              <a:buNone/>
            </a:pPr>
            <a:r>
              <a:rPr lang="en-US" sz="600" b="1" spc="79" kern="0" dirty="0">
                <a:solidFill>
                  <a:srgbClr val="7C3AED"/>
                </a:solidFill>
                <a:latin typeface="Carlito" pitchFamily="34" charset="0"/>
                <a:ea typeface="Carlito" pitchFamily="34" charset="-122"/>
                <a:cs typeface="Carlito" pitchFamily="34" charset="-120"/>
              </a:rPr>
              <a:t>LIVE DEPLOYMENT</a:t>
            </a:r>
            <a:endParaRPr lang="en-US" sz="600" dirty="0"/>
          </a:p>
        </p:txBody>
      </p:sp>
      <p:sp>
        <p:nvSpPr>
          <p:cNvPr id="7" name="Text 3"/>
          <p:cNvSpPr/>
          <p:nvPr/>
        </p:nvSpPr>
        <p:spPr>
          <a:xfrm>
            <a:off x="657225" y="767953"/>
            <a:ext cx="91440" cy="91440"/>
          </a:xfrm>
          <a:prstGeom prst="rect">
            <a:avLst/>
          </a:prstGeom>
          <a:noFill/>
          <a:ln/>
        </p:spPr>
        <p:txBody>
          <a:bodyPr wrap="none" lIns="0" tIns="0" rIns="0" bIns="0" rtlCol="0" anchor="ctr"/>
          <a:lstStyle/>
          <a:p>
            <a:pPr algn="ctr" indent="0" marL="0">
              <a:buNone/>
            </a:pPr>
            <a:r>
              <a:rPr lang="en-US" sz="844" dirty="0">
                <a:solidFill>
                  <a:srgbClr val="7C3AED"/>
                </a:solidFill>
                <a:latin typeface="Segoe UI Symbol" pitchFamily="34" charset="0"/>
                <a:ea typeface="Segoe UI Symbol" pitchFamily="34" charset="-122"/>
                <a:cs typeface="Segoe UI Symbol" pitchFamily="34" charset="-120"/>
              </a:rPr>
              <a:t>✓</a:t>
            </a:r>
            <a:endParaRPr lang="en-US" sz="844" dirty="0"/>
          </a:p>
        </p:txBody>
      </p:sp>
      <p:sp>
        <p:nvSpPr>
          <p:cNvPr id="8" name="Text 4"/>
          <p:cNvSpPr/>
          <p:nvPr/>
        </p:nvSpPr>
        <p:spPr>
          <a:xfrm>
            <a:off x="571500" y="3512716"/>
            <a:ext cx="3000375" cy="136874"/>
          </a:xfrm>
          <a:prstGeom prst="rect">
            <a:avLst/>
          </a:prstGeom>
          <a:noFill/>
          <a:ln/>
        </p:spPr>
        <p:txBody>
          <a:bodyPr wrap="none" lIns="0" tIns="0" rIns="0" bIns="0" rtlCol="0" anchor="t">
            <a:normAutofit/>
          </a:bodyPr>
          <a:lstStyle/>
          <a:p>
            <a:pPr algn="l" indent="0" marL="0">
              <a:lnSpc>
                <a:spcPts val="844"/>
              </a:lnSpc>
              <a:buNone/>
            </a:pPr>
            <a:r>
              <a:rPr lang="en-US" sz="800" b="1" spc="79" kern="0" dirty="0">
                <a:solidFill>
                  <a:srgbClr val="FFFFFF">
                    <a:alpha val="80000"/>
                  </a:srgbClr>
                </a:solidFill>
                <a:latin typeface="Carlito" pitchFamily="34" charset="0"/>
                <a:ea typeface="Carlito" pitchFamily="34" charset="-122"/>
                <a:cs typeface="Carlito" pitchFamily="34" charset="-120"/>
              </a:rPr>
              <a:t>CASE STUDY — BANKING</a:t>
            </a:r>
            <a:endParaRPr lang="en-US" sz="800" dirty="0"/>
          </a:p>
        </p:txBody>
      </p:sp>
      <p:sp>
        <p:nvSpPr>
          <p:cNvPr id="9" name="Text 5"/>
          <p:cNvSpPr/>
          <p:nvPr/>
        </p:nvSpPr>
        <p:spPr>
          <a:xfrm>
            <a:off x="571500" y="3677022"/>
            <a:ext cx="2857500" cy="407221"/>
          </a:xfrm>
          <a:prstGeom prst="rect">
            <a:avLst/>
          </a:prstGeom>
          <a:noFill/>
          <a:ln/>
        </p:spPr>
        <p:txBody>
          <a:bodyPr wrap="square" lIns="0" tIns="0" rIns="0" bIns="0" rtlCol="0" anchor="t"/>
          <a:lstStyle/>
          <a:p>
            <a:pPr algn="l" indent="0" marL="0">
              <a:lnSpc>
                <a:spcPts val="1485"/>
              </a:lnSpc>
              <a:buNone/>
            </a:pPr>
            <a:r>
              <a:rPr lang="en-US" sz="1238" dirty="0">
                <a:solidFill>
                  <a:srgbClr val="FFFFFF"/>
                </a:solidFill>
                <a:latin typeface="Tinos" pitchFamily="34" charset="0"/>
                <a:ea typeface="Tinos" pitchFamily="34" charset="-122"/>
                <a:cs typeface="Tinos" pitchFamily="34" charset="-120"/>
              </a:rPr>
              <a:t>"Specialised service after the branch closes — without staffing the lobby."</a:t>
            </a:r>
            <a:endParaRPr lang="en-US" sz="1238" dirty="0"/>
          </a:p>
        </p:txBody>
      </p:sp>
      <p:sp>
        <p:nvSpPr>
          <p:cNvPr id="10" name="Shape 6"/>
          <p:cNvSpPr/>
          <p:nvPr/>
        </p:nvSpPr>
        <p:spPr>
          <a:xfrm>
            <a:off x="571500" y="4143375"/>
            <a:ext cx="2857500" cy="0"/>
          </a:xfrm>
          <a:prstGeom prst="line">
            <a:avLst/>
          </a:prstGeom>
          <a:noFill/>
          <a:ln w="7144">
            <a:solidFill>
              <a:srgbClr val="FFFFFF"/>
            </a:solidFill>
            <a:prstDash val="solid"/>
          </a:ln>
        </p:spPr>
      </p:sp>
      <p:sp>
        <p:nvSpPr>
          <p:cNvPr id="11" name="Text 7"/>
          <p:cNvSpPr/>
          <p:nvPr/>
        </p:nvSpPr>
        <p:spPr>
          <a:xfrm>
            <a:off x="571500" y="4232672"/>
            <a:ext cx="1168883" cy="91440"/>
          </a:xfrm>
          <a:prstGeom prst="rect">
            <a:avLst/>
          </a:prstGeom>
          <a:noFill/>
          <a:ln/>
        </p:spPr>
        <p:txBody>
          <a:bodyPr wrap="none" lIns="0" tIns="0" rIns="0" bIns="0" rtlCol="0" anchor="t">
            <a:normAutofit/>
          </a:bodyPr>
          <a:lstStyle/>
          <a:p>
            <a:pPr algn="l" indent="0" marL="0">
              <a:lnSpc>
                <a:spcPts val="844"/>
              </a:lnSpc>
              <a:buNone/>
            </a:pPr>
            <a:r>
              <a:rPr lang="en-US" sz="600" spc="68" kern="0" dirty="0">
                <a:solidFill>
                  <a:srgbClr val="FFFFFF">
                    <a:alpha val="70000"/>
                  </a:srgbClr>
                </a:solidFill>
                <a:latin typeface="Carlito" pitchFamily="34" charset="0"/>
                <a:ea typeface="Carlito" pitchFamily="34" charset="-122"/>
                <a:cs typeface="Carlito" pitchFamily="34" charset="-120"/>
              </a:rPr>
              <a:t>TIME TO RESOLUTION</a:t>
            </a:r>
            <a:endParaRPr lang="en-US" sz="600" dirty="0"/>
          </a:p>
        </p:txBody>
      </p:sp>
      <p:sp>
        <p:nvSpPr>
          <p:cNvPr id="12" name="Text 8"/>
          <p:cNvSpPr/>
          <p:nvPr/>
        </p:nvSpPr>
        <p:spPr>
          <a:xfrm>
            <a:off x="571500" y="4339828"/>
            <a:ext cx="1190863" cy="160734"/>
          </a:xfrm>
          <a:prstGeom prst="rect">
            <a:avLst/>
          </a:prstGeom>
          <a:noFill/>
          <a:ln/>
        </p:spPr>
        <p:txBody>
          <a:bodyPr wrap="none" lIns="0" tIns="0" rIns="0" bIns="0" rtlCol="0" anchor="t"/>
          <a:lstStyle/>
          <a:p>
            <a:pPr algn="l" indent="0" marL="0">
              <a:lnSpc>
                <a:spcPts val="1266"/>
              </a:lnSpc>
              <a:buNone/>
            </a:pPr>
            <a:r>
              <a:rPr lang="en-US" sz="844" b="1" dirty="0">
                <a:solidFill>
                  <a:srgbClr val="FFFFFF"/>
                </a:solidFill>
                <a:latin typeface="Liberation Sans Narrow" pitchFamily="34" charset="0"/>
                <a:ea typeface="Liberation Sans Narrow" pitchFamily="34" charset="-122"/>
                <a:cs typeface="Liberation Sans Narrow" pitchFamily="34" charset="-120"/>
              </a:rPr>
              <a:t>&lt; 15 min</a:t>
            </a:r>
            <a:endParaRPr lang="en-US" sz="844" dirty="0"/>
          </a:p>
        </p:txBody>
      </p:sp>
      <p:sp>
        <p:nvSpPr>
          <p:cNvPr id="13" name="Text 9"/>
          <p:cNvSpPr/>
          <p:nvPr/>
        </p:nvSpPr>
        <p:spPr>
          <a:xfrm>
            <a:off x="1587587" y="4252317"/>
            <a:ext cx="7144" cy="228600"/>
          </a:xfrm>
          <a:prstGeom prst="rect">
            <a:avLst/>
          </a:prstGeom>
          <a:solidFill>
            <a:srgbClr val="FFFFFF">
              <a:alpha val="20000"/>
            </a:srgbClr>
          </a:solidFill>
          <a:ln/>
        </p:spPr>
        <p:txBody>
          <a:bodyPr wrap="square" rtlCol="0" anchor="ctr"/>
          <a:lstStyle/>
          <a:p>
            <a:pPr indent="0" marL="0">
              <a:buNone/>
            </a:pPr>
            <a:endParaRPr lang="en-US" dirty="0"/>
          </a:p>
        </p:txBody>
      </p:sp>
      <p:sp>
        <p:nvSpPr>
          <p:cNvPr id="14" name="Text 10"/>
          <p:cNvSpPr/>
          <p:nvPr/>
        </p:nvSpPr>
        <p:spPr>
          <a:xfrm>
            <a:off x="1680456" y="4232672"/>
            <a:ext cx="998634" cy="91440"/>
          </a:xfrm>
          <a:prstGeom prst="rect">
            <a:avLst/>
          </a:prstGeom>
          <a:noFill/>
          <a:ln/>
        </p:spPr>
        <p:txBody>
          <a:bodyPr wrap="none" lIns="0" tIns="0" rIns="0" bIns="0" rtlCol="0" anchor="t">
            <a:normAutofit/>
          </a:bodyPr>
          <a:lstStyle/>
          <a:p>
            <a:pPr algn="l" indent="0" marL="0">
              <a:lnSpc>
                <a:spcPts val="844"/>
              </a:lnSpc>
              <a:buNone/>
            </a:pPr>
            <a:r>
              <a:rPr lang="en-US" sz="600" spc="68" kern="0" dirty="0">
                <a:solidFill>
                  <a:srgbClr val="FFFFFF">
                    <a:alpha val="70000"/>
                  </a:srgbClr>
                </a:solidFill>
                <a:latin typeface="Carlito" pitchFamily="34" charset="0"/>
                <a:ea typeface="Carlito" pitchFamily="34" charset="-122"/>
                <a:cs typeface="Carlito" pitchFamily="34" charset="-120"/>
              </a:rPr>
              <a:t>ON-SITE STAFFING</a:t>
            </a:r>
            <a:endParaRPr lang="en-US" sz="600" dirty="0"/>
          </a:p>
        </p:txBody>
      </p:sp>
      <p:sp>
        <p:nvSpPr>
          <p:cNvPr id="15" name="Text 11"/>
          <p:cNvSpPr/>
          <p:nvPr/>
        </p:nvSpPr>
        <p:spPr>
          <a:xfrm>
            <a:off x="1680456" y="4339828"/>
            <a:ext cx="1255869" cy="160734"/>
          </a:xfrm>
          <a:prstGeom prst="rect">
            <a:avLst/>
          </a:prstGeom>
          <a:noFill/>
          <a:ln/>
        </p:spPr>
        <p:txBody>
          <a:bodyPr wrap="none" lIns="0" tIns="0" rIns="0" bIns="0" rtlCol="0" anchor="t"/>
          <a:lstStyle/>
          <a:p>
            <a:pPr algn="l" indent="0" marL="0">
              <a:lnSpc>
                <a:spcPts val="1266"/>
              </a:lnSpc>
              <a:buNone/>
            </a:pPr>
            <a:r>
              <a:rPr lang="en-US" sz="844" b="1" dirty="0">
                <a:solidFill>
                  <a:srgbClr val="FFFFFF"/>
                </a:solidFill>
                <a:latin typeface="Carlito" pitchFamily="34" charset="0"/>
                <a:ea typeface="Carlito" pitchFamily="34" charset="-122"/>
                <a:cs typeface="Carlito" pitchFamily="34" charset="-120"/>
              </a:rPr>
              <a:t>Zero</a:t>
            </a:r>
            <a:endParaRPr lang="en-US" sz="844" dirty="0"/>
          </a:p>
        </p:txBody>
      </p:sp>
      <p:sp>
        <p:nvSpPr>
          <p:cNvPr id="16" name="Text 12"/>
          <p:cNvSpPr/>
          <p:nvPr/>
        </p:nvSpPr>
        <p:spPr>
          <a:xfrm>
            <a:off x="3775472" y="575072"/>
            <a:ext cx="1916311" cy="210741"/>
          </a:xfrm>
          <a:prstGeom prst="roundRect">
            <a:avLst>
              <a:gd name="adj" fmla="val 4515246"/>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17" name="Text 13"/>
          <p:cNvSpPr/>
          <p:nvPr/>
        </p:nvSpPr>
        <p:spPr>
          <a:xfrm>
            <a:off x="4021931" y="628650"/>
            <a:ext cx="1580555" cy="129679"/>
          </a:xfrm>
          <a:prstGeom prst="rect">
            <a:avLst/>
          </a:prstGeom>
          <a:noFill/>
          <a:ln/>
        </p:spPr>
        <p:txBody>
          <a:bodyPr wrap="none" lIns="0" tIns="0" rIns="0" bIns="0" rtlCol="0" anchor="t"/>
          <a:lstStyle/>
          <a:p>
            <a:pPr algn="l" indent="0" marL="0">
              <a:lnSpc>
                <a:spcPts val="928"/>
              </a:lnSpc>
              <a:buNone/>
            </a:pPr>
            <a:r>
              <a:rPr lang="en-US" sz="800" b="1" spc="111" kern="0" dirty="0">
                <a:solidFill>
                  <a:srgbClr val="7C3AED"/>
                </a:solidFill>
                <a:latin typeface="Carlito" pitchFamily="34" charset="0"/>
                <a:ea typeface="Carlito" pitchFamily="34" charset="-122"/>
                <a:cs typeface="Carlito" pitchFamily="34" charset="-120"/>
              </a:rPr>
              <a:t>FEATURED CASE — BANKING</a:t>
            </a:r>
            <a:endParaRPr lang="en-US" sz="800" dirty="0"/>
          </a:p>
        </p:txBody>
      </p:sp>
      <p:sp>
        <p:nvSpPr>
          <p:cNvPr id="18" name="Text 14"/>
          <p:cNvSpPr/>
          <p:nvPr/>
        </p:nvSpPr>
        <p:spPr>
          <a:xfrm>
            <a:off x="3864769" y="630436"/>
            <a:ext cx="100013" cy="100013"/>
          </a:xfrm>
          <a:prstGeom prst="rect">
            <a:avLst/>
          </a:prstGeom>
          <a:noFill/>
          <a:ln/>
        </p:spPr>
        <p:txBody>
          <a:bodyPr wrap="none" lIns="0" tIns="0" rIns="0" bIns="0" rtlCol="0" anchor="ctr"/>
          <a:lstStyle/>
          <a:p>
            <a:pPr algn="ctr" indent="0" marL="0">
              <a:buNone/>
            </a:pPr>
            <a:r>
              <a:rPr lang="en-US" sz="984" dirty="0">
                <a:solidFill>
                  <a:srgbClr val="7C3AED"/>
                </a:solidFill>
                <a:latin typeface="Segoe UI Symbol" pitchFamily="34" charset="0"/>
                <a:ea typeface="Segoe UI Symbol" pitchFamily="34" charset="-122"/>
                <a:cs typeface="Segoe UI Symbol" pitchFamily="34" charset="-120"/>
              </a:rPr>
              <a:t>▭</a:t>
            </a:r>
            <a:endParaRPr lang="en-US" sz="984" dirty="0"/>
          </a:p>
        </p:txBody>
      </p:sp>
      <p:sp>
        <p:nvSpPr>
          <p:cNvPr id="19" name="Text 15"/>
          <p:cNvSpPr/>
          <p:nvPr/>
        </p:nvSpPr>
        <p:spPr>
          <a:xfrm>
            <a:off x="3771900" y="875109"/>
            <a:ext cx="5372100" cy="240459"/>
          </a:xfrm>
          <a:prstGeom prst="rect">
            <a:avLst/>
          </a:prstGeom>
          <a:noFill/>
          <a:ln/>
        </p:spPr>
        <p:txBody>
          <a:bodyPr wrap="square" lIns="0" tIns="0" rIns="0" bIns="0" rtlCol="0" anchor="t">
            <a:normAutofit/>
          </a:bodyPr>
          <a:lstStyle/>
          <a:p>
            <a:pPr algn="l" indent="0" marL="0">
              <a:lnSpc>
                <a:spcPts val="1772"/>
              </a:lnSpc>
              <a:buNone/>
            </a:pPr>
            <a:r>
              <a:rPr lang="en-US" sz="1688" b="1" spc="-34" kern="0" dirty="0">
                <a:solidFill>
                  <a:srgbClr val="6D28D9"/>
                </a:solidFill>
                <a:latin typeface="Carlito" pitchFamily="34" charset="0"/>
                <a:ea typeface="Carlito" pitchFamily="34" charset="-122"/>
                <a:cs typeface="Carlito" pitchFamily="34" charset="-120"/>
              </a:rPr>
              <a:t>Specialised Service Outside Branch Hours</a:t>
            </a:r>
            <a:endParaRPr lang="en-US" sz="1688" dirty="0"/>
          </a:p>
        </p:txBody>
      </p:sp>
      <p:sp>
        <p:nvSpPr>
          <p:cNvPr id="20" name="Text 16"/>
          <p:cNvSpPr/>
          <p:nvPr/>
        </p:nvSpPr>
        <p:spPr>
          <a:xfrm>
            <a:off x="3771900" y="1143000"/>
            <a:ext cx="4943475" cy="164592"/>
          </a:xfrm>
          <a:prstGeom prst="rect">
            <a:avLst/>
          </a:prstGeom>
          <a:noFill/>
          <a:ln/>
        </p:spPr>
        <p:txBody>
          <a:bodyPr wrap="square" lIns="0" tIns="0" rIns="0" bIns="0" rtlCol="0" anchor="t"/>
          <a:lstStyle/>
          <a:p>
            <a:pPr algn="l" indent="0" marL="0">
              <a:lnSpc>
                <a:spcPts val="1097"/>
              </a:lnSpc>
              <a:buNone/>
            </a:pPr>
            <a:r>
              <a:rPr lang="en-US" sz="731" dirty="0">
                <a:solidFill>
                  <a:srgbClr val="6B7280"/>
                </a:solidFill>
                <a:latin typeface="Carlito" pitchFamily="34" charset="0"/>
                <a:ea typeface="Carlito" pitchFamily="34" charset="-122"/>
                <a:cs typeface="Carlito" pitchFamily="34" charset="-120"/>
              </a:rPr>
              <a:t>Four steps, end-to-end — customer arrives after the branch closes and leaves with their need resolved.</a:t>
            </a:r>
            <a:endParaRPr lang="en-US" sz="731" dirty="0"/>
          </a:p>
        </p:txBody>
      </p:sp>
      <p:sp>
        <p:nvSpPr>
          <p:cNvPr id="21" name="Text 17"/>
          <p:cNvSpPr/>
          <p:nvPr/>
        </p:nvSpPr>
        <p:spPr>
          <a:xfrm>
            <a:off x="3771900" y="1396603"/>
            <a:ext cx="242888" cy="242888"/>
          </a:xfrm>
          <a:prstGeom prst="ellipse">
            <a:avLst/>
          </a:prstGeom>
          <a:solidFill>
            <a:srgbClr val="7C3AED"/>
          </a:solidFill>
          <a:ln/>
          <a:effectLst>
            <a:outerShdw sx="100000" sy="100000" kx="0" ky="0" algn="bl" rotWithShape="0" blurRad="95250" dist="38100" dir="5400000">
              <a:srgbClr val="7C3AED">
                <a:alpha val="20000"/>
              </a:srgbClr>
            </a:outerShdw>
          </a:effectLst>
        </p:spPr>
        <p:txBody>
          <a:bodyPr wrap="square" rtlCol="0" anchor="ctr"/>
          <a:lstStyle/>
          <a:p>
            <a:pPr indent="0" marL="0">
              <a:buNone/>
            </a:pPr>
            <a:endParaRPr lang="en-US" dirty="0"/>
          </a:p>
        </p:txBody>
      </p:sp>
      <p:sp>
        <p:nvSpPr>
          <p:cNvPr id="22" name="Text 18"/>
          <p:cNvSpPr/>
          <p:nvPr/>
        </p:nvSpPr>
        <p:spPr>
          <a:xfrm>
            <a:off x="3771900" y="1396603"/>
            <a:ext cx="285750" cy="242888"/>
          </a:xfrm>
          <a:prstGeom prst="rect">
            <a:avLst/>
          </a:prstGeom>
          <a:noFill/>
          <a:ln/>
        </p:spPr>
        <p:txBody>
          <a:bodyPr wrap="none" lIns="0" tIns="0" rIns="0" bIns="0" rtlCol="0" anchor="ctr"/>
          <a:lstStyle/>
          <a:p>
            <a:pPr algn="ctr" indent="0" marL="0">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a:t>
            </a:r>
            <a:endParaRPr lang="en-US" sz="800" dirty="0"/>
          </a:p>
        </p:txBody>
      </p:sp>
      <p:sp>
        <p:nvSpPr>
          <p:cNvPr id="23" name="Text 19"/>
          <p:cNvSpPr/>
          <p:nvPr/>
        </p:nvSpPr>
        <p:spPr>
          <a:xfrm>
            <a:off x="4100513" y="1414463"/>
            <a:ext cx="114300" cy="114300"/>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24" name="Text 20"/>
          <p:cNvSpPr/>
          <p:nvPr/>
        </p:nvSpPr>
        <p:spPr>
          <a:xfrm>
            <a:off x="4271963" y="1396603"/>
            <a:ext cx="4443413" cy="164592"/>
          </a:xfrm>
          <a:prstGeom prst="rect">
            <a:avLst/>
          </a:prstGeom>
          <a:noFill/>
          <a:ln/>
        </p:spPr>
        <p:txBody>
          <a:bodyPr wrap="none" lIns="0" tIns="0" rIns="0" bIns="0" rtlCol="0" anchor="t"/>
          <a:lstStyle/>
          <a:p>
            <a:pPr algn="l" indent="0" marL="0">
              <a:lnSpc>
                <a:spcPts val="1181"/>
              </a:lnSpc>
              <a:buNone/>
            </a:pPr>
            <a:r>
              <a:rPr lang="en-US" sz="800" b="1" dirty="0">
                <a:solidFill>
                  <a:srgbClr val="6D28D9"/>
                </a:solidFill>
                <a:latin typeface="Carlito" pitchFamily="34" charset="0"/>
                <a:ea typeface="Carlito" pitchFamily="34" charset="-122"/>
                <a:cs typeface="Carlito" pitchFamily="34" charset="-120"/>
              </a:rPr>
              <a:t>Arrival</a:t>
            </a:r>
            <a:endParaRPr lang="en-US" sz="800" dirty="0"/>
          </a:p>
        </p:txBody>
      </p:sp>
      <p:sp>
        <p:nvSpPr>
          <p:cNvPr id="25" name="Text 21"/>
          <p:cNvSpPr/>
          <p:nvPr/>
        </p:nvSpPr>
        <p:spPr>
          <a:xfrm>
            <a:off x="4100513" y="1560909"/>
            <a:ext cx="4614863" cy="307181"/>
          </a:xfrm>
          <a:prstGeom prst="rect">
            <a:avLst/>
          </a:prstGeom>
          <a:noFill/>
          <a:ln/>
        </p:spPr>
        <p:txBody>
          <a:bodyPr wrap="square" lIns="0" tIns="0" rIns="0" bIns="0" rtlCol="0" anchor="t"/>
          <a:lstStyle/>
          <a:p>
            <a:pPr algn="l" indent="0" marL="0">
              <a:lnSpc>
                <a:spcPts val="945"/>
              </a:lnSpc>
              <a:buNone/>
            </a:pPr>
            <a:r>
              <a:rPr lang="en-US" sz="800" dirty="0">
                <a:solidFill>
                  <a:srgbClr val="374151"/>
                </a:solidFill>
                <a:latin typeface="Carlito" pitchFamily="34" charset="0"/>
                <a:ea typeface="Carlito" pitchFamily="34" charset="-122"/>
                <a:cs typeface="Carlito" pitchFamily="34" charset="-120"/>
              </a:rPr>
              <a:t>Customer enters the self-service lobby, whether or not the branch is open. Lobby accessible 24/7 with a card or QR code at the door.</a:t>
            </a:r>
            <a:endParaRPr lang="en-US" sz="800" dirty="0"/>
          </a:p>
        </p:txBody>
      </p:sp>
      <p:sp>
        <p:nvSpPr>
          <p:cNvPr id="26" name="Text 22"/>
          <p:cNvSpPr/>
          <p:nvPr/>
        </p:nvSpPr>
        <p:spPr>
          <a:xfrm>
            <a:off x="3771900" y="1872332"/>
            <a:ext cx="242888" cy="242888"/>
          </a:xfrm>
          <a:prstGeom prst="ellipse">
            <a:avLst/>
          </a:prstGeom>
          <a:solidFill>
            <a:srgbClr val="7C3AED"/>
          </a:solidFill>
          <a:ln/>
          <a:effectLst>
            <a:outerShdw sx="100000" sy="100000" kx="0" ky="0" algn="bl" rotWithShape="0" blurRad="95250" dist="38100" dir="5400000">
              <a:srgbClr val="7C3AED">
                <a:alpha val="20000"/>
              </a:srgbClr>
            </a:outerShdw>
          </a:effectLst>
        </p:spPr>
        <p:txBody>
          <a:bodyPr wrap="square" rtlCol="0" anchor="ctr"/>
          <a:lstStyle/>
          <a:p>
            <a:pPr indent="0" marL="0">
              <a:buNone/>
            </a:pPr>
            <a:endParaRPr lang="en-US" dirty="0"/>
          </a:p>
        </p:txBody>
      </p:sp>
      <p:sp>
        <p:nvSpPr>
          <p:cNvPr id="27" name="Text 23"/>
          <p:cNvSpPr/>
          <p:nvPr/>
        </p:nvSpPr>
        <p:spPr>
          <a:xfrm>
            <a:off x="3771900" y="1872332"/>
            <a:ext cx="285750" cy="242888"/>
          </a:xfrm>
          <a:prstGeom prst="rect">
            <a:avLst/>
          </a:prstGeom>
          <a:noFill/>
          <a:ln/>
        </p:spPr>
        <p:txBody>
          <a:bodyPr wrap="none" lIns="0" tIns="0" rIns="0" bIns="0" rtlCol="0" anchor="ctr"/>
          <a:lstStyle/>
          <a:p>
            <a:pPr algn="ctr" indent="0" marL="0">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28" name="Text 24"/>
          <p:cNvSpPr/>
          <p:nvPr/>
        </p:nvSpPr>
        <p:spPr>
          <a:xfrm>
            <a:off x="4100513" y="1890192"/>
            <a:ext cx="114300" cy="114300"/>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29" name="Text 25"/>
          <p:cNvSpPr/>
          <p:nvPr/>
        </p:nvSpPr>
        <p:spPr>
          <a:xfrm>
            <a:off x="4271963" y="1872332"/>
            <a:ext cx="4443413" cy="164592"/>
          </a:xfrm>
          <a:prstGeom prst="rect">
            <a:avLst/>
          </a:prstGeom>
          <a:noFill/>
          <a:ln/>
        </p:spPr>
        <p:txBody>
          <a:bodyPr wrap="none" lIns="0" tIns="0" rIns="0" bIns="0" rtlCol="0" anchor="t"/>
          <a:lstStyle/>
          <a:p>
            <a:pPr algn="l" indent="0" marL="0">
              <a:lnSpc>
                <a:spcPts val="1181"/>
              </a:lnSpc>
              <a:buNone/>
            </a:pPr>
            <a:r>
              <a:rPr lang="en-US" sz="800" b="1" dirty="0">
                <a:solidFill>
                  <a:srgbClr val="6D28D9"/>
                </a:solidFill>
                <a:latin typeface="Carlito" pitchFamily="34" charset="0"/>
                <a:ea typeface="Carlito" pitchFamily="34" charset="-122"/>
                <a:cs typeface="Carlito" pitchFamily="34" charset="-120"/>
              </a:rPr>
              <a:t>Connection</a:t>
            </a:r>
            <a:endParaRPr lang="en-US" sz="800" dirty="0"/>
          </a:p>
        </p:txBody>
      </p:sp>
      <p:sp>
        <p:nvSpPr>
          <p:cNvPr id="30" name="Text 26"/>
          <p:cNvSpPr/>
          <p:nvPr/>
        </p:nvSpPr>
        <p:spPr>
          <a:xfrm>
            <a:off x="4100513" y="2036638"/>
            <a:ext cx="4614863" cy="307181"/>
          </a:xfrm>
          <a:prstGeom prst="rect">
            <a:avLst/>
          </a:prstGeom>
          <a:noFill/>
          <a:ln/>
        </p:spPr>
        <p:txBody>
          <a:bodyPr wrap="square" lIns="0" tIns="0" rIns="0" bIns="0" rtlCol="0" anchor="t"/>
          <a:lstStyle/>
          <a:p>
            <a:pPr algn="l" indent="0" marL="0">
              <a:lnSpc>
                <a:spcPts val="945"/>
              </a:lnSpc>
              <a:buNone/>
            </a:pPr>
            <a:r>
              <a:rPr lang="en-US" sz="800" dirty="0">
                <a:solidFill>
                  <a:srgbClr val="374151"/>
                </a:solidFill>
                <a:latin typeface="Carlito" pitchFamily="34" charset="0"/>
                <a:ea typeface="Carlito" pitchFamily="34" charset="-122"/>
                <a:cs typeface="Carlito" pitchFamily="34" charset="-120"/>
              </a:rPr>
              <a:t>Scans the kiosk QR code and selects the service: onboarding, an issue, or advisory. Metadata is captured and routed to the right queue.</a:t>
            </a:r>
            <a:endParaRPr lang="en-US" sz="800" dirty="0"/>
          </a:p>
        </p:txBody>
      </p:sp>
      <p:sp>
        <p:nvSpPr>
          <p:cNvPr id="31" name="Text 27"/>
          <p:cNvSpPr/>
          <p:nvPr/>
        </p:nvSpPr>
        <p:spPr>
          <a:xfrm>
            <a:off x="3771900" y="2348061"/>
            <a:ext cx="242888" cy="242888"/>
          </a:xfrm>
          <a:prstGeom prst="ellipse">
            <a:avLst/>
          </a:prstGeom>
          <a:solidFill>
            <a:srgbClr val="7C3AED"/>
          </a:solidFill>
          <a:ln/>
          <a:effectLst>
            <a:outerShdw sx="100000" sy="100000" kx="0" ky="0" algn="bl" rotWithShape="0" blurRad="95250" dist="38100" dir="5400000">
              <a:srgbClr val="7C3AED">
                <a:alpha val="20000"/>
              </a:srgbClr>
            </a:outerShdw>
          </a:effectLst>
        </p:spPr>
        <p:txBody>
          <a:bodyPr wrap="square" rtlCol="0" anchor="ctr"/>
          <a:lstStyle/>
          <a:p>
            <a:pPr indent="0" marL="0">
              <a:buNone/>
            </a:pPr>
            <a:endParaRPr lang="en-US" dirty="0"/>
          </a:p>
        </p:txBody>
      </p:sp>
      <p:sp>
        <p:nvSpPr>
          <p:cNvPr id="32" name="Text 28"/>
          <p:cNvSpPr/>
          <p:nvPr/>
        </p:nvSpPr>
        <p:spPr>
          <a:xfrm>
            <a:off x="3771900" y="2348061"/>
            <a:ext cx="285750" cy="242888"/>
          </a:xfrm>
          <a:prstGeom prst="rect">
            <a:avLst/>
          </a:prstGeom>
          <a:noFill/>
          <a:ln/>
        </p:spPr>
        <p:txBody>
          <a:bodyPr wrap="none" lIns="0" tIns="0" rIns="0" bIns="0" rtlCol="0" anchor="ctr"/>
          <a:lstStyle/>
          <a:p>
            <a:pPr algn="ctr" indent="0" marL="0">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33" name="Text 29"/>
          <p:cNvSpPr/>
          <p:nvPr/>
        </p:nvSpPr>
        <p:spPr>
          <a:xfrm>
            <a:off x="4100513" y="2365921"/>
            <a:ext cx="114300" cy="114300"/>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34" name="Text 30"/>
          <p:cNvSpPr/>
          <p:nvPr/>
        </p:nvSpPr>
        <p:spPr>
          <a:xfrm>
            <a:off x="4271963" y="2348061"/>
            <a:ext cx="4443413" cy="164592"/>
          </a:xfrm>
          <a:prstGeom prst="rect">
            <a:avLst/>
          </a:prstGeom>
          <a:noFill/>
          <a:ln/>
        </p:spPr>
        <p:txBody>
          <a:bodyPr wrap="none" lIns="0" tIns="0" rIns="0" bIns="0" rtlCol="0" anchor="t"/>
          <a:lstStyle/>
          <a:p>
            <a:pPr algn="l" indent="0" marL="0">
              <a:lnSpc>
                <a:spcPts val="1181"/>
              </a:lnSpc>
              <a:buNone/>
            </a:pPr>
            <a:r>
              <a:rPr lang="en-US" sz="800" b="1" dirty="0">
                <a:solidFill>
                  <a:srgbClr val="6D28D9"/>
                </a:solidFill>
                <a:latin typeface="Carlito" pitchFamily="34" charset="0"/>
                <a:ea typeface="Carlito" pitchFamily="34" charset="-122"/>
                <a:cs typeface="Carlito" pitchFamily="34" charset="-120"/>
              </a:rPr>
              <a:t>Video Service</a:t>
            </a:r>
            <a:endParaRPr lang="en-US" sz="800" dirty="0"/>
          </a:p>
        </p:txBody>
      </p:sp>
      <p:sp>
        <p:nvSpPr>
          <p:cNvPr id="35" name="Text 31"/>
          <p:cNvSpPr/>
          <p:nvPr/>
        </p:nvSpPr>
        <p:spPr>
          <a:xfrm>
            <a:off x="4100513" y="2512368"/>
            <a:ext cx="4614863" cy="307181"/>
          </a:xfrm>
          <a:prstGeom prst="rect">
            <a:avLst/>
          </a:prstGeom>
          <a:noFill/>
          <a:ln/>
        </p:spPr>
        <p:txBody>
          <a:bodyPr wrap="square" lIns="0" tIns="0" rIns="0" bIns="0" rtlCol="0" anchor="t"/>
          <a:lstStyle/>
          <a:p>
            <a:pPr algn="l" indent="0" marL="0">
              <a:lnSpc>
                <a:spcPts val="945"/>
              </a:lnSpc>
              <a:buNone/>
            </a:pPr>
            <a:r>
              <a:rPr lang="en-US" sz="800" dirty="0">
                <a:solidFill>
                  <a:srgbClr val="374151"/>
                </a:solidFill>
                <a:latin typeface="Carlito" pitchFamily="34" charset="0"/>
                <a:ea typeface="Carlito" pitchFamily="34" charset="-122"/>
                <a:cs typeface="Carlito" pitchFamily="34" charset="-120"/>
              </a:rPr>
              <a:t>Specialised banker assists over video and shares documentation on screen. Customer reviews, asks questions, and confirms with a tap on their phone.</a:t>
            </a:r>
            <a:endParaRPr lang="en-US" sz="800" dirty="0"/>
          </a:p>
        </p:txBody>
      </p:sp>
      <p:sp>
        <p:nvSpPr>
          <p:cNvPr id="36" name="Text 32"/>
          <p:cNvSpPr/>
          <p:nvPr/>
        </p:nvSpPr>
        <p:spPr>
          <a:xfrm>
            <a:off x="3771900" y="2823790"/>
            <a:ext cx="242888" cy="242888"/>
          </a:xfrm>
          <a:prstGeom prst="ellipse">
            <a:avLst/>
          </a:prstGeom>
          <a:solidFill>
            <a:srgbClr val="7C3AED"/>
          </a:solidFill>
          <a:ln/>
          <a:effectLst>
            <a:outerShdw sx="100000" sy="100000" kx="0" ky="0" algn="bl" rotWithShape="0" blurRad="95250" dist="38100" dir="5400000">
              <a:srgbClr val="7C3AED">
                <a:alpha val="20000"/>
              </a:srgbClr>
            </a:outerShdw>
          </a:effectLst>
        </p:spPr>
        <p:txBody>
          <a:bodyPr wrap="square" rtlCol="0" anchor="ctr"/>
          <a:lstStyle/>
          <a:p>
            <a:pPr indent="0" marL="0">
              <a:buNone/>
            </a:pPr>
            <a:endParaRPr lang="en-US" dirty="0"/>
          </a:p>
        </p:txBody>
      </p:sp>
      <p:sp>
        <p:nvSpPr>
          <p:cNvPr id="37" name="Text 33"/>
          <p:cNvSpPr/>
          <p:nvPr/>
        </p:nvSpPr>
        <p:spPr>
          <a:xfrm>
            <a:off x="3771900" y="2823790"/>
            <a:ext cx="285750" cy="242888"/>
          </a:xfrm>
          <a:prstGeom prst="rect">
            <a:avLst/>
          </a:prstGeom>
          <a:noFill/>
          <a:ln/>
        </p:spPr>
        <p:txBody>
          <a:bodyPr wrap="none" lIns="0" tIns="0" rIns="0" bIns="0" rtlCol="0" anchor="ctr"/>
          <a:lstStyle/>
          <a:p>
            <a:pPr algn="ctr" indent="0" marL="0">
              <a:lnSpc>
                <a:spcPts val="1097"/>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4</a:t>
            </a:r>
            <a:endParaRPr lang="en-US" sz="800" dirty="0"/>
          </a:p>
        </p:txBody>
      </p:sp>
      <p:sp>
        <p:nvSpPr>
          <p:cNvPr id="38" name="Text 34"/>
          <p:cNvSpPr/>
          <p:nvPr/>
        </p:nvSpPr>
        <p:spPr>
          <a:xfrm>
            <a:off x="4100513" y="2841650"/>
            <a:ext cx="114300" cy="114300"/>
          </a:xfrm>
          <a:prstGeom prst="rect">
            <a:avLst/>
          </a:prstGeom>
          <a:noFill/>
          <a:ln/>
        </p:spPr>
        <p:txBody>
          <a:bodyPr wrap="none" lIns="0" tIns="0" rIns="0" bIns="0" rtlCol="0" anchor="ctr"/>
          <a:lstStyle/>
          <a:p>
            <a:pPr algn="ctr" indent="0" marL="0">
              <a:buNone/>
            </a:pPr>
            <a:r>
              <a:rPr lang="en-US" sz="1125" dirty="0">
                <a:solidFill>
                  <a:srgbClr val="7C3AED"/>
                </a:solidFill>
                <a:latin typeface="Segoe UI Symbol" pitchFamily="34" charset="0"/>
                <a:ea typeface="Segoe UI Symbol" pitchFamily="34" charset="-122"/>
                <a:cs typeface="Segoe UI Symbol" pitchFamily="34" charset="-120"/>
              </a:rPr>
              <a:t>✦</a:t>
            </a:r>
            <a:endParaRPr lang="en-US" sz="1125" dirty="0"/>
          </a:p>
        </p:txBody>
      </p:sp>
      <p:sp>
        <p:nvSpPr>
          <p:cNvPr id="39" name="Text 35"/>
          <p:cNvSpPr/>
          <p:nvPr/>
        </p:nvSpPr>
        <p:spPr>
          <a:xfrm>
            <a:off x="4271963" y="2823790"/>
            <a:ext cx="4443413" cy="164592"/>
          </a:xfrm>
          <a:prstGeom prst="rect">
            <a:avLst/>
          </a:prstGeom>
          <a:noFill/>
          <a:ln/>
        </p:spPr>
        <p:txBody>
          <a:bodyPr wrap="none" lIns="0" tIns="0" rIns="0" bIns="0" rtlCol="0" anchor="t"/>
          <a:lstStyle/>
          <a:p>
            <a:pPr algn="l" indent="0" marL="0">
              <a:lnSpc>
                <a:spcPts val="1181"/>
              </a:lnSpc>
              <a:buNone/>
            </a:pPr>
            <a:r>
              <a:rPr lang="en-US" sz="800" b="1" dirty="0">
                <a:solidFill>
                  <a:srgbClr val="6D28D9"/>
                </a:solidFill>
                <a:latin typeface="Carlito" pitchFamily="34" charset="0"/>
                <a:ea typeface="Carlito" pitchFamily="34" charset="-122"/>
                <a:cs typeface="Carlito" pitchFamily="34" charset="-120"/>
              </a:rPr>
              <a:t>Verification</a:t>
            </a:r>
            <a:endParaRPr lang="en-US" sz="800" dirty="0"/>
          </a:p>
        </p:txBody>
      </p:sp>
      <p:sp>
        <p:nvSpPr>
          <p:cNvPr id="40" name="Text 36"/>
          <p:cNvSpPr/>
          <p:nvPr/>
        </p:nvSpPr>
        <p:spPr>
          <a:xfrm>
            <a:off x="4100513" y="2988097"/>
            <a:ext cx="4614863" cy="307181"/>
          </a:xfrm>
          <a:prstGeom prst="rect">
            <a:avLst/>
          </a:prstGeom>
          <a:noFill/>
          <a:ln/>
        </p:spPr>
        <p:txBody>
          <a:bodyPr wrap="square" lIns="0" tIns="0" rIns="0" bIns="0" rtlCol="0" anchor="t"/>
          <a:lstStyle/>
          <a:p>
            <a:pPr algn="l" indent="0" marL="0">
              <a:lnSpc>
                <a:spcPts val="945"/>
              </a:lnSpc>
              <a:buNone/>
            </a:pPr>
            <a:r>
              <a:rPr lang="en-US" sz="800" dirty="0">
                <a:solidFill>
                  <a:srgbClr val="374151"/>
                </a:solidFill>
                <a:latin typeface="Carlito" pitchFamily="34" charset="0"/>
                <a:ea typeface="Carlito" pitchFamily="34" charset="-122"/>
                <a:cs typeface="Carlito" pitchFamily="34" charset="-120"/>
              </a:rPr>
              <a:t>Identity confirmed visually (face + ID document) and the transaction validated on the customer's phone. Session recorded for audit, transcript summarised to CRM.</a:t>
            </a:r>
            <a:endParaRPr lang="en-US" sz="800" dirty="0"/>
          </a:p>
        </p:txBody>
      </p:sp>
      <p:sp>
        <p:nvSpPr>
          <p:cNvPr id="41" name="Shape 37"/>
          <p:cNvSpPr/>
          <p:nvPr/>
        </p:nvSpPr>
        <p:spPr>
          <a:xfrm>
            <a:off x="3771900" y="3317379"/>
            <a:ext cx="4943475" cy="0"/>
          </a:xfrm>
          <a:prstGeom prst="line">
            <a:avLst/>
          </a:prstGeom>
          <a:noFill/>
          <a:ln w="7144">
            <a:solidFill>
              <a:srgbClr val="E5E7EB"/>
            </a:solidFill>
            <a:prstDash val="dash"/>
          </a:ln>
        </p:spPr>
      </p:sp>
      <p:sp>
        <p:nvSpPr>
          <p:cNvPr id="42" name="Text 38"/>
          <p:cNvSpPr/>
          <p:nvPr/>
        </p:nvSpPr>
        <p:spPr>
          <a:xfrm>
            <a:off x="3771900" y="3406676"/>
            <a:ext cx="4943475" cy="136874"/>
          </a:xfrm>
          <a:prstGeom prst="rect">
            <a:avLst/>
          </a:prstGeom>
          <a:noFill/>
          <a:ln/>
        </p:spPr>
        <p:txBody>
          <a:bodyPr wrap="none" lIns="0" tIns="0" rIns="0" bIns="0" rtlCol="0" anchor="t">
            <a:normAutofit/>
          </a:bodyPr>
          <a:lstStyle/>
          <a:p>
            <a:pPr algn="l" indent="0" marL="0">
              <a:lnSpc>
                <a:spcPts val="844"/>
              </a:lnSpc>
              <a:buNone/>
            </a:pPr>
            <a:r>
              <a:rPr lang="en-US" sz="800" b="1" spc="79" kern="0" dirty="0">
                <a:solidFill>
                  <a:srgbClr val="6B7280"/>
                </a:solidFill>
                <a:latin typeface="Carlito" pitchFamily="34" charset="0"/>
                <a:ea typeface="Carlito" pitchFamily="34" charset="-122"/>
                <a:cs typeface="Carlito" pitchFamily="34" charset="-120"/>
              </a:rPr>
              <a:t>APPLICABLE PROCESSES</a:t>
            </a:r>
            <a:endParaRPr lang="en-US" sz="800" dirty="0"/>
          </a:p>
        </p:txBody>
      </p:sp>
      <p:sp>
        <p:nvSpPr>
          <p:cNvPr id="43" name="Text 39"/>
          <p:cNvSpPr/>
          <p:nvPr/>
        </p:nvSpPr>
        <p:spPr>
          <a:xfrm>
            <a:off x="3771900" y="3559623"/>
            <a:ext cx="900559" cy="212027"/>
          </a:xfrm>
          <a:prstGeom prst="roundRect">
            <a:avLst>
              <a:gd name="adj" fmla="val 4487860"/>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44" name="Text 40"/>
          <p:cNvSpPr/>
          <p:nvPr/>
        </p:nvSpPr>
        <p:spPr>
          <a:xfrm>
            <a:off x="3771900" y="3570982"/>
            <a:ext cx="900559" cy="189309"/>
          </a:xfrm>
          <a:prstGeom prst="rect">
            <a:avLst/>
          </a:prstGeom>
          <a:noFill/>
          <a:ln/>
        </p:spPr>
        <p:txBody>
          <a:bodyPr wrap="none" lIns="0" tIns="0" rIns="0" bIns="0" rtlCol="0" anchor="ctr"/>
          <a:lstStyle/>
          <a:p>
            <a:pPr algn="ctr" indent="0" marL="0">
              <a:lnSpc>
                <a:spcPts val="928"/>
              </a:lnSpc>
              <a:buNone/>
            </a:pPr>
            <a:r>
              <a:rPr lang="en-US" sz="800" dirty="0">
                <a:solidFill>
                  <a:srgbClr val="6D28D9"/>
                </a:solidFill>
                <a:latin typeface="Carlito" pitchFamily="34" charset="0"/>
                <a:ea typeface="Carlito" pitchFamily="34" charset="-122"/>
                <a:cs typeface="Carlito" pitchFamily="34" charset="-120"/>
              </a:rPr>
              <a:t>Account opening</a:t>
            </a:r>
            <a:endParaRPr lang="en-US" sz="800" dirty="0"/>
          </a:p>
        </p:txBody>
      </p:sp>
      <p:sp>
        <p:nvSpPr>
          <p:cNvPr id="45" name="Text 41"/>
          <p:cNvSpPr/>
          <p:nvPr/>
        </p:nvSpPr>
        <p:spPr>
          <a:xfrm>
            <a:off x="4715321" y="3559623"/>
            <a:ext cx="1035062" cy="212027"/>
          </a:xfrm>
          <a:prstGeom prst="roundRect">
            <a:avLst>
              <a:gd name="adj" fmla="val 4487860"/>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46" name="Text 42"/>
          <p:cNvSpPr/>
          <p:nvPr/>
        </p:nvSpPr>
        <p:spPr>
          <a:xfrm>
            <a:off x="4715321" y="3570982"/>
            <a:ext cx="1035062" cy="189309"/>
          </a:xfrm>
          <a:prstGeom prst="rect">
            <a:avLst/>
          </a:prstGeom>
          <a:noFill/>
          <a:ln/>
        </p:spPr>
        <p:txBody>
          <a:bodyPr wrap="none" lIns="0" tIns="0" rIns="0" bIns="0" rtlCol="0" anchor="ctr"/>
          <a:lstStyle/>
          <a:p>
            <a:pPr algn="ctr" indent="0" marL="0">
              <a:lnSpc>
                <a:spcPts val="928"/>
              </a:lnSpc>
              <a:buNone/>
            </a:pPr>
            <a:r>
              <a:rPr lang="en-US" sz="800" dirty="0">
                <a:solidFill>
                  <a:srgbClr val="6D28D9"/>
                </a:solidFill>
                <a:latin typeface="Carlito" pitchFamily="34" charset="0"/>
                <a:ea typeface="Carlito" pitchFamily="34" charset="-122"/>
                <a:cs typeface="Carlito" pitchFamily="34" charset="-120"/>
              </a:rPr>
              <a:t>Identity verification</a:t>
            </a:r>
            <a:endParaRPr lang="en-US" sz="800" dirty="0"/>
          </a:p>
        </p:txBody>
      </p:sp>
      <p:sp>
        <p:nvSpPr>
          <p:cNvPr id="47" name="Text 43"/>
          <p:cNvSpPr/>
          <p:nvPr/>
        </p:nvSpPr>
        <p:spPr>
          <a:xfrm>
            <a:off x="5793246" y="3559623"/>
            <a:ext cx="941301" cy="212027"/>
          </a:xfrm>
          <a:prstGeom prst="roundRect">
            <a:avLst>
              <a:gd name="adj" fmla="val 4487860"/>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48" name="Text 44"/>
          <p:cNvSpPr/>
          <p:nvPr/>
        </p:nvSpPr>
        <p:spPr>
          <a:xfrm>
            <a:off x="5793246" y="3570982"/>
            <a:ext cx="941301" cy="189309"/>
          </a:xfrm>
          <a:prstGeom prst="rect">
            <a:avLst/>
          </a:prstGeom>
          <a:noFill/>
          <a:ln/>
        </p:spPr>
        <p:txBody>
          <a:bodyPr wrap="none" lIns="0" tIns="0" rIns="0" bIns="0" rtlCol="0" anchor="ctr"/>
          <a:lstStyle/>
          <a:p>
            <a:pPr algn="ctr" indent="0" marL="0">
              <a:lnSpc>
                <a:spcPts val="928"/>
              </a:lnSpc>
              <a:buNone/>
            </a:pPr>
            <a:r>
              <a:rPr lang="en-US" sz="800" dirty="0">
                <a:solidFill>
                  <a:srgbClr val="6D28D9"/>
                </a:solidFill>
                <a:latin typeface="Carlito" pitchFamily="34" charset="0"/>
                <a:ea typeface="Carlito" pitchFamily="34" charset="-122"/>
                <a:cs typeface="Carlito" pitchFamily="34" charset="-120"/>
              </a:rPr>
              <a:t>Credit origination</a:t>
            </a:r>
            <a:endParaRPr lang="en-US" sz="800" dirty="0"/>
          </a:p>
        </p:txBody>
      </p:sp>
      <p:sp>
        <p:nvSpPr>
          <p:cNvPr id="49" name="Text 45"/>
          <p:cNvSpPr/>
          <p:nvPr/>
        </p:nvSpPr>
        <p:spPr>
          <a:xfrm>
            <a:off x="6777410" y="3559623"/>
            <a:ext cx="866738" cy="212027"/>
          </a:xfrm>
          <a:prstGeom prst="roundRect">
            <a:avLst>
              <a:gd name="adj" fmla="val 4487860"/>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50" name="Text 46"/>
          <p:cNvSpPr/>
          <p:nvPr/>
        </p:nvSpPr>
        <p:spPr>
          <a:xfrm>
            <a:off x="6777410" y="3570982"/>
            <a:ext cx="866738" cy="189309"/>
          </a:xfrm>
          <a:prstGeom prst="rect">
            <a:avLst/>
          </a:prstGeom>
          <a:noFill/>
          <a:ln/>
        </p:spPr>
        <p:txBody>
          <a:bodyPr wrap="none" lIns="0" tIns="0" rIns="0" bIns="0" rtlCol="0" anchor="ctr"/>
          <a:lstStyle/>
          <a:p>
            <a:pPr algn="ctr" indent="0" marL="0">
              <a:lnSpc>
                <a:spcPts val="928"/>
              </a:lnSpc>
              <a:buNone/>
            </a:pPr>
            <a:r>
              <a:rPr lang="en-US" sz="800" dirty="0">
                <a:solidFill>
                  <a:srgbClr val="6D28D9"/>
                </a:solidFill>
                <a:latin typeface="Carlito" pitchFamily="34" charset="0"/>
                <a:ea typeface="Carlito" pitchFamily="34" charset="-122"/>
                <a:cs typeface="Carlito" pitchFamily="34" charset="-120"/>
              </a:rPr>
              <a:t>Issue resolution</a:t>
            </a:r>
            <a:endParaRPr lang="en-US" sz="800" dirty="0"/>
          </a:p>
        </p:txBody>
      </p:sp>
      <p:sp>
        <p:nvSpPr>
          <p:cNvPr id="51" name="Text 47"/>
          <p:cNvSpPr/>
          <p:nvPr/>
        </p:nvSpPr>
        <p:spPr>
          <a:xfrm>
            <a:off x="3749040" y="3791795"/>
            <a:ext cx="1111143" cy="212027"/>
          </a:xfrm>
          <a:prstGeom prst="roundRect">
            <a:avLst>
              <a:gd name="adj" fmla="val 4487860"/>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52" name="Text 48"/>
          <p:cNvSpPr/>
          <p:nvPr/>
        </p:nvSpPr>
        <p:spPr>
          <a:xfrm>
            <a:off x="3771900" y="3803154"/>
            <a:ext cx="1065423" cy="189309"/>
          </a:xfrm>
          <a:prstGeom prst="rect">
            <a:avLst/>
          </a:prstGeom>
          <a:noFill/>
          <a:ln/>
        </p:spPr>
        <p:txBody>
          <a:bodyPr wrap="none" lIns="0" tIns="0" rIns="0" bIns="0" rtlCol="0" anchor="ctr"/>
          <a:lstStyle/>
          <a:p>
            <a:pPr algn="ctr" indent="0" marL="0">
              <a:lnSpc>
                <a:spcPts val="928"/>
              </a:lnSpc>
              <a:buNone/>
            </a:pPr>
            <a:r>
              <a:rPr lang="en-US" sz="800" dirty="0">
                <a:solidFill>
                  <a:srgbClr val="6D28D9"/>
                </a:solidFill>
                <a:latin typeface="Carlito" pitchFamily="34" charset="0"/>
                <a:ea typeface="Carlito" pitchFamily="34" charset="-122"/>
                <a:cs typeface="Carlito" pitchFamily="34" charset="-120"/>
              </a:rPr>
              <a:t>Investment advisory</a:t>
            </a:r>
            <a:endParaRPr lang="en-US" sz="800" dirty="0"/>
          </a:p>
        </p:txBody>
      </p:sp>
      <p:sp>
        <p:nvSpPr>
          <p:cNvPr id="53" name="Text 49"/>
          <p:cNvSpPr/>
          <p:nvPr/>
        </p:nvSpPr>
        <p:spPr>
          <a:xfrm>
            <a:off x="342900" y="4854178"/>
            <a:ext cx="4267609"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54" name="Text 50"/>
          <p:cNvSpPr/>
          <p:nvPr/>
        </p:nvSpPr>
        <p:spPr>
          <a:xfrm>
            <a:off x="4624797" y="4854178"/>
            <a:ext cx="3592748"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a:t>
            </a:r>
            <a:endParaRPr lang="en-US" sz="800" dirty="0"/>
          </a:p>
        </p:txBody>
      </p:sp>
      <p:sp>
        <p:nvSpPr>
          <p:cNvPr id="55" name="Text 51"/>
          <p:cNvSpPr/>
          <p:nvPr/>
        </p:nvSpPr>
        <p:spPr>
          <a:xfrm>
            <a:off x="8231832" y="4854178"/>
            <a:ext cx="684793" cy="164592"/>
          </a:xfrm>
          <a:prstGeom prst="rect">
            <a:avLst/>
          </a:prstGeom>
          <a:noFill/>
          <a:ln/>
        </p:spPr>
        <p:txBody>
          <a:bodyPr wrap="none" lIns="0" tIns="0" rIns="0" bIns="0" rtlCol="0" anchor="t"/>
          <a:lstStyle/>
          <a:p>
            <a:pPr algn="l" indent="0" marL="0">
              <a:lnSpc>
                <a:spcPts val="928"/>
              </a:lnSpc>
              <a:buNone/>
            </a:pPr>
            <a:r>
              <a:rPr lang="en-US" sz="619" spc="25" kern="0" dirty="0">
                <a:solidFill>
                  <a:srgbClr val="6B7280"/>
                </a:solidFill>
                <a:latin typeface="Liberation Sans Narrow" pitchFamily="34" charset="0"/>
                <a:ea typeface="Liberation Sans Narrow" pitchFamily="34" charset="-122"/>
                <a:cs typeface="Liberation Sans Narrow" pitchFamily="34" charset="-120"/>
              </a:rPr>
              <a:t>SLIDE 21 / 24</a:t>
            </a:r>
            <a:endParaRPr lang="en-US" sz="619" dirty="0"/>
          </a:p>
        </p:txBody>
      </p:sp>
      <p:pic>
        <p:nvPicPr>
          <p:cNvPr id="56" name="Image 2" descr="/home/z/my-project/download/slides/massapro-logo.png">    </p:cNvPr>
          <p:cNvPicPr>
            <a:picLocks noChangeAspect="1"/>
          </p:cNvPicPr>
          <p:nvPr/>
        </p:nvPicPr>
        <p:blipFill>
          <a:blip r:embed="rId3"/>
          <a:stretch>
            <a:fillRect/>
          </a:stretch>
        </p:blipFill>
        <p:spPr>
          <a:xfrm>
            <a:off x="342900" y="200025"/>
            <a:ext cx="200025" cy="200025"/>
          </a:xfrm>
          <a:prstGeom prst="rect">
            <a:avLst/>
          </a:prstGeom>
        </p:spPr>
      </p:pic>
      <p:sp>
        <p:nvSpPr>
          <p:cNvPr id="57" name="Text 52"/>
          <p:cNvSpPr/>
          <p:nvPr/>
        </p:nvSpPr>
        <p:spPr>
          <a:xfrm>
            <a:off x="614363" y="219670"/>
            <a:ext cx="769239"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6D28D9"/>
                </a:solidFill>
                <a:latin typeface="Carlito" pitchFamily="34" charset="0"/>
                <a:ea typeface="Carlito" pitchFamily="34" charset="-122"/>
                <a:cs typeface="Carlito" pitchFamily="34" charset="-120"/>
              </a:rPr>
              <a:t>MassaPro</a:t>
            </a:r>
            <a:endParaRPr lang="en-US" sz="844"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17109" y="200025"/>
            <a:ext cx="2626891" cy="164592"/>
          </a:xfrm>
          <a:prstGeom prst="rect">
            <a:avLst/>
          </a:prstGeom>
          <a:noFill/>
          <a:ln/>
        </p:spPr>
        <p:txBody>
          <a:bodyPr wrap="square" lIns="0" tIns="0" rIns="0" bIns="0" rtlCol="0" anchor="t"/>
          <a:lstStyle/>
          <a:p>
            <a:pPr algn="l" indent="0" marL="0">
              <a:lnSpc>
                <a:spcPts val="928"/>
              </a:lnSpc>
              <a:buNone/>
            </a:pPr>
            <a:r>
              <a:rPr lang="en-US" sz="800" b="1" spc="111" kern="0" dirty="0">
                <a:solidFill>
                  <a:srgbClr val="6B7280"/>
                </a:solidFill>
                <a:latin typeface="Liberation Sans Narrow" pitchFamily="34" charset="0"/>
                <a:ea typeface="Liberation Sans Narrow" pitchFamily="34" charset="-122"/>
                <a:cs typeface="Liberation Sans Narrow" pitchFamily="34" charset="-120"/>
              </a:rPr>
              <a:t>CHAPTER 04 — PROOF &amp; BUSINESS CASE</a:t>
            </a:r>
            <a:endParaRPr lang="en-US" sz="800" dirty="0"/>
          </a:p>
        </p:txBody>
      </p:sp>
      <p:sp>
        <p:nvSpPr>
          <p:cNvPr id="3" name="Text 1"/>
          <p:cNvSpPr/>
          <p:nvPr/>
        </p:nvSpPr>
        <p:spPr>
          <a:xfrm>
            <a:off x="405765" y="558698"/>
            <a:ext cx="1267301" cy="243488"/>
          </a:xfrm>
          <a:prstGeom prst="roundRect">
            <a:avLst>
              <a:gd name="adj" fmla="val 3907985"/>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4" name="Text 2"/>
          <p:cNvSpPr/>
          <p:nvPr/>
        </p:nvSpPr>
        <p:spPr>
          <a:xfrm>
            <a:off x="637449" y="628650"/>
            <a:ext cx="961095" cy="129679"/>
          </a:xfrm>
          <a:prstGeom prst="rect">
            <a:avLst/>
          </a:prstGeom>
          <a:noFill/>
          <a:ln/>
        </p:spPr>
        <p:txBody>
          <a:bodyPr wrap="none" lIns="0" tIns="0" rIns="0" bIns="0" rtlCol="0" anchor="t"/>
          <a:lstStyle/>
          <a:p>
            <a:pPr algn="l" indent="0" marL="0">
              <a:lnSpc>
                <a:spcPts val="928"/>
              </a:lnSpc>
              <a:buNone/>
            </a:pPr>
            <a:r>
              <a:rPr lang="en-US" sz="800" b="1" spc="111" kern="0" dirty="0">
                <a:solidFill>
                  <a:srgbClr val="7C3AED"/>
                </a:solidFill>
                <a:latin typeface="Carlito" pitchFamily="34" charset="0"/>
                <a:ea typeface="Carlito" pitchFamily="34" charset="-122"/>
                <a:cs typeface="Carlito" pitchFamily="34" charset="-120"/>
              </a:rPr>
              <a:t>BUSINESS CASE</a:t>
            </a:r>
            <a:endParaRPr lang="en-US" sz="800" dirty="0"/>
          </a:p>
        </p:txBody>
      </p:sp>
      <p:sp>
        <p:nvSpPr>
          <p:cNvPr id="5" name="Text 3"/>
          <p:cNvSpPr/>
          <p:nvPr/>
        </p:nvSpPr>
        <p:spPr>
          <a:xfrm>
            <a:off x="521494" y="630436"/>
            <a:ext cx="100013" cy="100013"/>
          </a:xfrm>
          <a:prstGeom prst="rect">
            <a:avLst/>
          </a:prstGeom>
          <a:noFill/>
          <a:ln/>
        </p:spPr>
        <p:txBody>
          <a:bodyPr wrap="none" lIns="0" tIns="0" rIns="0" bIns="0" rtlCol="0" anchor="ctr"/>
          <a:lstStyle/>
          <a:p>
            <a:pPr algn="ctr" indent="0" marL="0">
              <a:buNone/>
            </a:pPr>
            <a:r>
              <a:rPr lang="en-US" sz="984" dirty="0">
                <a:solidFill>
                  <a:srgbClr val="7C3AED"/>
                </a:solidFill>
                <a:latin typeface="Segoe UI Symbol" pitchFamily="34" charset="0"/>
                <a:ea typeface="Segoe UI Symbol" pitchFamily="34" charset="-122"/>
                <a:cs typeface="Segoe UI Symbol" pitchFamily="34" charset="-120"/>
              </a:rPr>
              <a:t>↗</a:t>
            </a:r>
            <a:endParaRPr lang="en-US" sz="984" dirty="0"/>
          </a:p>
        </p:txBody>
      </p:sp>
      <p:sp>
        <p:nvSpPr>
          <p:cNvPr id="6" name="Text 4"/>
          <p:cNvSpPr/>
          <p:nvPr/>
        </p:nvSpPr>
        <p:spPr>
          <a:xfrm>
            <a:off x="428625" y="875109"/>
            <a:ext cx="7710964" cy="291612"/>
          </a:xfrm>
          <a:prstGeom prst="rect">
            <a:avLst/>
          </a:prstGeom>
          <a:noFill/>
          <a:ln/>
        </p:spPr>
        <p:txBody>
          <a:bodyPr wrap="none" lIns="0" tIns="0" rIns="0" bIns="0" rtlCol="0" anchor="t"/>
          <a:lstStyle/>
          <a:p>
            <a:pPr algn="l" indent="0" marL="0">
              <a:lnSpc>
                <a:spcPts val="2126"/>
              </a:lnSpc>
              <a:buNone/>
            </a:pPr>
            <a:r>
              <a:rPr lang="en-US" sz="2025" b="1" spc="-40" kern="0" dirty="0">
                <a:solidFill>
                  <a:srgbClr val="6D28D9"/>
                </a:solidFill>
                <a:latin typeface="Carlito" pitchFamily="34" charset="0"/>
                <a:ea typeface="Carlito" pitchFamily="34" charset="-122"/>
                <a:cs typeface="Carlito" pitchFamily="34" charset="-120"/>
              </a:rPr>
              <a:t>The Asset Pays for Itself</a:t>
            </a:r>
            <a:endParaRPr lang="en-US" sz="2025" dirty="0"/>
          </a:p>
        </p:txBody>
      </p:sp>
      <p:sp>
        <p:nvSpPr>
          <p:cNvPr id="7" name="Text 5"/>
          <p:cNvSpPr/>
          <p:nvPr/>
        </p:nvSpPr>
        <p:spPr>
          <a:xfrm>
            <a:off x="428625" y="1202271"/>
            <a:ext cx="7343775" cy="164592"/>
          </a:xfrm>
          <a:prstGeom prst="rect">
            <a:avLst/>
          </a:prstGeom>
          <a:noFill/>
          <a:ln/>
        </p:spPr>
        <p:txBody>
          <a:bodyPr wrap="square" lIns="0" tIns="0" rIns="0" bIns="0" rtlCol="0" anchor="t"/>
          <a:lstStyle/>
          <a:p>
            <a:pPr algn="l" indent="0" marL="0">
              <a:lnSpc>
                <a:spcPts val="1181"/>
              </a:lnSpc>
              <a:buNone/>
            </a:pPr>
            <a:r>
              <a:rPr lang="en-US" sz="800" dirty="0">
                <a:solidFill>
                  <a:srgbClr val="6B7280"/>
                </a:solidFill>
                <a:latin typeface="Carlito" pitchFamily="34" charset="0"/>
                <a:ea typeface="Carlito" pitchFamily="34" charset="-122"/>
                <a:cs typeface="Carlito" pitchFamily="34" charset="-120"/>
              </a:rPr>
              <a:t>Four lines on the business case — together they typically pay back the deployment within 6–12 months.</a:t>
            </a:r>
            <a:endParaRPr lang="en-US" sz="800" dirty="0"/>
          </a:p>
        </p:txBody>
      </p:sp>
      <p:pic>
        <p:nvPicPr>
          <p:cNvPr id="8" name="Image 0" descr="/tmp/h2p-fit-1786522347397-icz42o.png">    </p:cNvPr>
          <p:cNvPicPr>
            <a:picLocks noChangeAspect="1"/>
          </p:cNvPicPr>
          <p:nvPr/>
        </p:nvPicPr>
        <p:blipFill>
          <a:blip r:embed="rId1"/>
          <a:stretch>
            <a:fillRect/>
          </a:stretch>
        </p:blipFill>
        <p:spPr>
          <a:xfrm>
            <a:off x="8001000" y="637915"/>
            <a:ext cx="714375" cy="714375"/>
          </a:xfrm>
          <a:prstGeom prst="rect">
            <a:avLst/>
          </a:prstGeom>
          <a:effectLst>
            <a:outerShdw sx="100000" sy="100000" kx="0" ky="0" algn="bl" rotWithShape="0" blurRad="133350" dist="38100" dir="5400000">
              <a:srgbClr val="7C3AED">
                <a:alpha val="10000"/>
              </a:srgbClr>
            </a:outerShdw>
          </a:effectLst>
        </p:spPr>
      </p:pic>
      <p:sp>
        <p:nvSpPr>
          <p:cNvPr id="9" name="Text 6"/>
          <p:cNvSpPr/>
          <p:nvPr/>
        </p:nvSpPr>
        <p:spPr>
          <a:xfrm>
            <a:off x="432197" y="1646634"/>
            <a:ext cx="4079081" cy="1221581"/>
          </a:xfrm>
          <a:prstGeom prst="roundRect">
            <a:avLst>
              <a:gd name="adj" fmla="val 10916"/>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10" name="Text 7"/>
          <p:cNvSpPr/>
          <p:nvPr/>
        </p:nvSpPr>
        <p:spPr>
          <a:xfrm>
            <a:off x="564356" y="1764506"/>
            <a:ext cx="271463" cy="271463"/>
          </a:xfrm>
          <a:prstGeom prst="roundRect">
            <a:avLst>
              <a:gd name="adj" fmla="val 31579"/>
            </a:avLst>
          </a:prstGeom>
          <a:solidFill>
            <a:srgbClr val="F5F3FF"/>
          </a:solidFill>
          <a:ln/>
        </p:spPr>
        <p:txBody>
          <a:bodyPr wrap="square" rtlCol="0" anchor="ctr"/>
          <a:lstStyle/>
          <a:p>
            <a:pPr indent="0" marL="0">
              <a:buNone/>
            </a:pPr>
            <a:endParaRPr lang="en-US" dirty="0"/>
          </a:p>
        </p:txBody>
      </p:sp>
      <p:sp>
        <p:nvSpPr>
          <p:cNvPr id="11" name="Text 8"/>
          <p:cNvSpPr/>
          <p:nvPr/>
        </p:nvSpPr>
        <p:spPr>
          <a:xfrm>
            <a:off x="586145" y="1786295"/>
            <a:ext cx="227886" cy="227886"/>
          </a:xfrm>
          <a:prstGeom prst="rect">
            <a:avLst/>
          </a:prstGeom>
          <a:noFill/>
          <a:ln/>
        </p:spPr>
        <p:txBody>
          <a:bodyPr wrap="none" lIns="0" tIns="0" rIns="0" bIns="0" rtlCol="0" anchor="ctr"/>
          <a:lstStyle/>
          <a:p>
            <a:pPr algn="ctr" indent="0" marL="0">
              <a:buNone/>
            </a:pPr>
            <a:r>
              <a:rPr lang="en-US" sz="1547" dirty="0">
                <a:solidFill>
                  <a:srgbClr val="7C3AED"/>
                </a:solidFill>
                <a:latin typeface="Segoe UI Symbol" pitchFamily="34" charset="0"/>
                <a:ea typeface="Segoe UI Symbol" pitchFamily="34" charset="-122"/>
                <a:cs typeface="Segoe UI Symbol" pitchFamily="34" charset="-120"/>
              </a:rPr>
              <a:t>✂</a:t>
            </a:r>
            <a:endParaRPr lang="en-US" sz="1547" dirty="0"/>
          </a:p>
        </p:txBody>
      </p:sp>
      <p:sp>
        <p:nvSpPr>
          <p:cNvPr id="12" name="Text 9"/>
          <p:cNvSpPr/>
          <p:nvPr/>
        </p:nvSpPr>
        <p:spPr>
          <a:xfrm>
            <a:off x="921544" y="1776785"/>
            <a:ext cx="1119429" cy="91440"/>
          </a:xfrm>
          <a:prstGeom prst="rect">
            <a:avLst/>
          </a:prstGeom>
          <a:noFill/>
          <a:ln/>
        </p:spPr>
        <p:txBody>
          <a:bodyPr wrap="none" lIns="0" tIns="0" rIns="0" bIns="0" rtlCol="0" anchor="t">
            <a:normAutofit/>
          </a:bodyPr>
          <a:lstStyle/>
          <a:p>
            <a:pPr algn="l" indent="0" marL="0">
              <a:lnSpc>
                <a:spcPts val="844"/>
              </a:lnSpc>
              <a:buNone/>
            </a:pPr>
            <a:r>
              <a:rPr lang="en-US" sz="800" b="1" spc="79" kern="0" dirty="0">
                <a:solidFill>
                  <a:srgbClr val="7C3AED"/>
                </a:solidFill>
                <a:latin typeface="Liberation Sans Narrow" pitchFamily="34" charset="0"/>
                <a:ea typeface="Liberation Sans Narrow" pitchFamily="34" charset="-122"/>
                <a:cs typeface="Liberation Sans Narrow" pitchFamily="34" charset="-120"/>
              </a:rPr>
              <a:t>QUADRANT 01</a:t>
            </a:r>
            <a:endParaRPr lang="en-US" sz="800" dirty="0"/>
          </a:p>
        </p:txBody>
      </p:sp>
      <p:sp>
        <p:nvSpPr>
          <p:cNvPr id="13" name="Text 10"/>
          <p:cNvSpPr/>
          <p:nvPr/>
        </p:nvSpPr>
        <p:spPr>
          <a:xfrm>
            <a:off x="921544" y="1883941"/>
            <a:ext cx="1032692" cy="150809"/>
          </a:xfrm>
          <a:prstGeom prst="rect">
            <a:avLst/>
          </a:prstGeom>
          <a:noFill/>
          <a:ln/>
        </p:spPr>
        <p:txBody>
          <a:bodyPr wrap="none" lIns="0" tIns="0" rIns="0" bIns="0" rtlCol="0" anchor="t"/>
          <a:lstStyle/>
          <a:p>
            <a:pPr algn="l" indent="0" marL="0">
              <a:lnSpc>
                <a:spcPts val="1100"/>
              </a:lnSpc>
              <a:buNone/>
            </a:pPr>
            <a:r>
              <a:rPr lang="en-US" sz="956" b="1" dirty="0">
                <a:solidFill>
                  <a:srgbClr val="6D28D9"/>
                </a:solidFill>
                <a:latin typeface="Carlito" pitchFamily="34" charset="0"/>
                <a:ea typeface="Carlito" pitchFamily="34" charset="-122"/>
                <a:cs typeface="Carlito" pitchFamily="34" charset="-120"/>
              </a:rPr>
              <a:t>Cost Savings</a:t>
            </a:r>
            <a:endParaRPr lang="en-US" sz="956" dirty="0"/>
          </a:p>
        </p:txBody>
      </p:sp>
      <p:sp>
        <p:nvSpPr>
          <p:cNvPr id="14" name="Text 11"/>
          <p:cNvSpPr/>
          <p:nvPr/>
        </p:nvSpPr>
        <p:spPr>
          <a:xfrm>
            <a:off x="564356" y="2078831"/>
            <a:ext cx="3814763" cy="477317"/>
          </a:xfrm>
          <a:prstGeom prst="rect">
            <a:avLst/>
          </a:prstGeom>
          <a:noFill/>
          <a:ln/>
        </p:spPr>
        <p:txBody>
          <a:bodyPr wrap="square" lIns="0" tIns="0" rIns="0" bIns="0" rtlCol="0" anchor="t"/>
          <a:lstStyle/>
          <a:p>
            <a:pPr algn="l" indent="0" marL="0">
              <a:lnSpc>
                <a:spcPts val="1020"/>
              </a:lnSpc>
              <a:buNone/>
            </a:pPr>
            <a:r>
              <a:rPr lang="en-US" sz="800" dirty="0">
                <a:solidFill>
                  <a:srgbClr val="374151"/>
                </a:solidFill>
                <a:latin typeface="Carlito" pitchFamily="34" charset="0"/>
                <a:ea typeface="Carlito" pitchFamily="34" charset="-122"/>
                <a:cs typeface="Carlito" pitchFamily="34" charset="-120"/>
              </a:rPr>
              <a:t>Eliminate fixed payroll at low-traffic points, reduce infrastructure (climate control, lighting, workstations) at unstaffed locations, and absorb absences centrally instead of covering them point by point.</a:t>
            </a:r>
            <a:endParaRPr lang="en-US" sz="800" dirty="0"/>
          </a:p>
        </p:txBody>
      </p:sp>
      <p:sp>
        <p:nvSpPr>
          <p:cNvPr id="15" name="Text 12"/>
          <p:cNvSpPr/>
          <p:nvPr/>
        </p:nvSpPr>
        <p:spPr>
          <a:xfrm>
            <a:off x="4632722" y="1646634"/>
            <a:ext cx="4079081" cy="1221581"/>
          </a:xfrm>
          <a:prstGeom prst="roundRect">
            <a:avLst>
              <a:gd name="adj" fmla="val 10916"/>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16" name="Text 13"/>
          <p:cNvSpPr/>
          <p:nvPr/>
        </p:nvSpPr>
        <p:spPr>
          <a:xfrm>
            <a:off x="4764881" y="1764506"/>
            <a:ext cx="271463" cy="271463"/>
          </a:xfrm>
          <a:prstGeom prst="roundRect">
            <a:avLst>
              <a:gd name="adj" fmla="val 31579"/>
            </a:avLst>
          </a:prstGeom>
          <a:solidFill>
            <a:srgbClr val="F5F3FF"/>
          </a:solidFill>
          <a:ln/>
        </p:spPr>
        <p:txBody>
          <a:bodyPr wrap="square" rtlCol="0" anchor="ctr"/>
          <a:lstStyle/>
          <a:p>
            <a:pPr indent="0" marL="0">
              <a:buNone/>
            </a:pPr>
            <a:endParaRPr lang="en-US" dirty="0"/>
          </a:p>
        </p:txBody>
      </p:sp>
      <p:sp>
        <p:nvSpPr>
          <p:cNvPr id="17" name="Text 14"/>
          <p:cNvSpPr/>
          <p:nvPr/>
        </p:nvSpPr>
        <p:spPr>
          <a:xfrm>
            <a:off x="4786670" y="1786295"/>
            <a:ext cx="227886" cy="227886"/>
          </a:xfrm>
          <a:prstGeom prst="rect">
            <a:avLst/>
          </a:prstGeom>
          <a:noFill/>
          <a:ln/>
        </p:spPr>
        <p:txBody>
          <a:bodyPr wrap="none" lIns="0" tIns="0" rIns="0" bIns="0" rtlCol="0" anchor="ctr"/>
          <a:lstStyle/>
          <a:p>
            <a:pPr algn="ctr" indent="0" marL="0">
              <a:buNone/>
            </a:pPr>
            <a:r>
              <a:rPr lang="en-US" sz="1547" dirty="0">
                <a:solidFill>
                  <a:srgbClr val="7C3AED"/>
                </a:solidFill>
                <a:latin typeface="Segoe UI Symbol" pitchFamily="34" charset="0"/>
                <a:ea typeface="Segoe UI Symbol" pitchFamily="34" charset="-122"/>
                <a:cs typeface="Segoe UI Symbol" pitchFamily="34" charset="-120"/>
              </a:rPr>
              <a:t>↗</a:t>
            </a:r>
            <a:endParaRPr lang="en-US" sz="1547" dirty="0"/>
          </a:p>
        </p:txBody>
      </p:sp>
      <p:sp>
        <p:nvSpPr>
          <p:cNvPr id="18" name="Text 15"/>
          <p:cNvSpPr/>
          <p:nvPr/>
        </p:nvSpPr>
        <p:spPr>
          <a:xfrm>
            <a:off x="5122069" y="1776785"/>
            <a:ext cx="1289173" cy="91440"/>
          </a:xfrm>
          <a:prstGeom prst="rect">
            <a:avLst/>
          </a:prstGeom>
          <a:noFill/>
          <a:ln/>
        </p:spPr>
        <p:txBody>
          <a:bodyPr wrap="none" lIns="0" tIns="0" rIns="0" bIns="0" rtlCol="0" anchor="t">
            <a:normAutofit/>
          </a:bodyPr>
          <a:lstStyle/>
          <a:p>
            <a:pPr algn="l" indent="0" marL="0">
              <a:lnSpc>
                <a:spcPts val="844"/>
              </a:lnSpc>
              <a:buNone/>
            </a:pPr>
            <a:r>
              <a:rPr lang="en-US" sz="800" b="1" spc="79" kern="0" dirty="0">
                <a:solidFill>
                  <a:srgbClr val="7C3AED"/>
                </a:solidFill>
                <a:latin typeface="Liberation Sans Narrow" pitchFamily="34" charset="0"/>
                <a:ea typeface="Liberation Sans Narrow" pitchFamily="34" charset="-122"/>
                <a:cs typeface="Liberation Sans Narrow" pitchFamily="34" charset="-120"/>
              </a:rPr>
              <a:t>QUADRANT 02</a:t>
            </a:r>
            <a:endParaRPr lang="en-US" sz="800" dirty="0"/>
          </a:p>
        </p:txBody>
      </p:sp>
      <p:sp>
        <p:nvSpPr>
          <p:cNvPr id="19" name="Text 16"/>
          <p:cNvSpPr/>
          <p:nvPr/>
        </p:nvSpPr>
        <p:spPr>
          <a:xfrm>
            <a:off x="5122069" y="1883941"/>
            <a:ext cx="1189284" cy="150809"/>
          </a:xfrm>
          <a:prstGeom prst="rect">
            <a:avLst/>
          </a:prstGeom>
          <a:noFill/>
          <a:ln/>
        </p:spPr>
        <p:txBody>
          <a:bodyPr wrap="none" lIns="0" tIns="0" rIns="0" bIns="0" rtlCol="0" anchor="t"/>
          <a:lstStyle/>
          <a:p>
            <a:pPr algn="l" indent="0" marL="0">
              <a:lnSpc>
                <a:spcPts val="1100"/>
              </a:lnSpc>
              <a:buNone/>
            </a:pPr>
            <a:r>
              <a:rPr lang="en-US" sz="956" b="1" dirty="0">
                <a:solidFill>
                  <a:srgbClr val="6D28D9"/>
                </a:solidFill>
                <a:latin typeface="Carlito" pitchFamily="34" charset="0"/>
                <a:ea typeface="Carlito" pitchFamily="34" charset="-122"/>
                <a:cs typeface="Carlito" pitchFamily="34" charset="-120"/>
              </a:rPr>
              <a:t>Revenue Uplift</a:t>
            </a:r>
            <a:endParaRPr lang="en-US" sz="956" dirty="0"/>
          </a:p>
        </p:txBody>
      </p:sp>
      <p:sp>
        <p:nvSpPr>
          <p:cNvPr id="20" name="Text 17"/>
          <p:cNvSpPr/>
          <p:nvPr/>
        </p:nvSpPr>
        <p:spPr>
          <a:xfrm>
            <a:off x="4764881" y="2078831"/>
            <a:ext cx="3814763" cy="477317"/>
          </a:xfrm>
          <a:prstGeom prst="rect">
            <a:avLst/>
          </a:prstGeom>
          <a:noFill/>
          <a:ln/>
        </p:spPr>
        <p:txBody>
          <a:bodyPr wrap="square" lIns="0" tIns="0" rIns="0" bIns="0" rtlCol="0" anchor="t"/>
          <a:lstStyle/>
          <a:p>
            <a:pPr algn="l" indent="0" marL="0">
              <a:lnSpc>
                <a:spcPts val="1020"/>
              </a:lnSpc>
              <a:buNone/>
            </a:pPr>
            <a:r>
              <a:rPr lang="en-US" sz="800" dirty="0">
                <a:solidFill>
                  <a:srgbClr val="374151"/>
                </a:solidFill>
                <a:latin typeface="Carlito" pitchFamily="34" charset="0"/>
                <a:ea typeface="Carlito" pitchFamily="34" charset="-122"/>
                <a:cs typeface="Carlito" pitchFamily="34" charset="-120"/>
              </a:rPr>
              <a:t>Capture interactions that previously ended in abandonment or deferral. Every customer who would have walked out now has a path to resolution. </a:t>
            </a:r>
            <a:pPr algn="l" indent="0" marL="0">
              <a:lnSpc>
                <a:spcPts val="1020"/>
              </a:lnSpc>
              <a:buNone/>
            </a:pPr>
            <a:r>
              <a:rPr lang="en-US" sz="800" dirty="0">
                <a:solidFill>
                  <a:srgbClr val="6D28D9"/>
                </a:solidFill>
                <a:latin typeface="Liberation Sans Narrow" pitchFamily="34" charset="0"/>
                <a:ea typeface="Liberation Sans Narrow" pitchFamily="34" charset="-122"/>
                <a:cs typeface="Liberation Sans Narrow" pitchFamily="34" charset="-120"/>
              </a:rPr>
              <a:t>CSAT 4.5–5</a:t>
            </a:r>
            <a:pPr algn="l" indent="0" marL="0">
              <a:lnSpc>
                <a:spcPts val="1020"/>
              </a:lnSpc>
              <a:buNone/>
            </a:pPr>
            <a:r>
              <a:rPr lang="en-US" sz="800" dirty="0">
                <a:solidFill>
                  <a:srgbClr val="374151"/>
                </a:solidFill>
                <a:latin typeface="Carlito" pitchFamily="34" charset="0"/>
                <a:ea typeface="Carlito" pitchFamily="34" charset="-122"/>
                <a:cs typeface="Carlito" pitchFamily="34" charset="-120"/>
              </a:rPr>
              <a:t> drives retention and word-of-mouth.</a:t>
            </a:r>
            <a:endParaRPr lang="en-US" sz="800" dirty="0"/>
          </a:p>
        </p:txBody>
      </p:sp>
      <p:sp>
        <p:nvSpPr>
          <p:cNvPr id="21" name="Text 18"/>
          <p:cNvSpPr/>
          <p:nvPr/>
        </p:nvSpPr>
        <p:spPr>
          <a:xfrm>
            <a:off x="432197" y="2989659"/>
            <a:ext cx="4079081" cy="1221581"/>
          </a:xfrm>
          <a:prstGeom prst="roundRect">
            <a:avLst>
              <a:gd name="adj" fmla="val 10916"/>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22" name="Text 19"/>
          <p:cNvSpPr/>
          <p:nvPr/>
        </p:nvSpPr>
        <p:spPr>
          <a:xfrm>
            <a:off x="564356" y="3107531"/>
            <a:ext cx="271463" cy="271463"/>
          </a:xfrm>
          <a:prstGeom prst="roundRect">
            <a:avLst>
              <a:gd name="adj" fmla="val 31579"/>
            </a:avLst>
          </a:prstGeom>
          <a:solidFill>
            <a:srgbClr val="F5F3FF"/>
          </a:solidFill>
          <a:ln/>
        </p:spPr>
        <p:txBody>
          <a:bodyPr wrap="square" rtlCol="0" anchor="ctr"/>
          <a:lstStyle/>
          <a:p>
            <a:pPr indent="0" marL="0">
              <a:buNone/>
            </a:pPr>
            <a:endParaRPr lang="en-US" dirty="0"/>
          </a:p>
        </p:txBody>
      </p:sp>
      <p:sp>
        <p:nvSpPr>
          <p:cNvPr id="23" name="Text 20"/>
          <p:cNvSpPr/>
          <p:nvPr/>
        </p:nvSpPr>
        <p:spPr>
          <a:xfrm>
            <a:off x="586145" y="3129320"/>
            <a:ext cx="227886" cy="227886"/>
          </a:xfrm>
          <a:prstGeom prst="rect">
            <a:avLst/>
          </a:prstGeom>
          <a:noFill/>
          <a:ln/>
        </p:spPr>
        <p:txBody>
          <a:bodyPr wrap="none" lIns="0" tIns="0" rIns="0" bIns="0" rtlCol="0" anchor="ctr"/>
          <a:lstStyle/>
          <a:p>
            <a:pPr algn="ctr" indent="0" marL="0">
              <a:buNone/>
            </a:pPr>
            <a:r>
              <a:rPr lang="en-US" sz="1547" dirty="0">
                <a:solidFill>
                  <a:srgbClr val="7C3AED"/>
                </a:solidFill>
                <a:latin typeface="Segoe UI Symbol" pitchFamily="34" charset="0"/>
                <a:ea typeface="Segoe UI Symbol" pitchFamily="34" charset="-122"/>
                <a:cs typeface="Segoe UI Symbol" pitchFamily="34" charset="-120"/>
              </a:rPr>
              <a:t>▶</a:t>
            </a:r>
            <a:endParaRPr lang="en-US" sz="1547" dirty="0"/>
          </a:p>
        </p:txBody>
      </p:sp>
      <p:sp>
        <p:nvSpPr>
          <p:cNvPr id="24" name="Text 21"/>
          <p:cNvSpPr/>
          <p:nvPr/>
        </p:nvSpPr>
        <p:spPr>
          <a:xfrm>
            <a:off x="921544" y="3119810"/>
            <a:ext cx="3128702" cy="91440"/>
          </a:xfrm>
          <a:prstGeom prst="rect">
            <a:avLst/>
          </a:prstGeom>
          <a:noFill/>
          <a:ln/>
        </p:spPr>
        <p:txBody>
          <a:bodyPr wrap="none" lIns="0" tIns="0" rIns="0" bIns="0" rtlCol="0" anchor="t">
            <a:normAutofit/>
          </a:bodyPr>
          <a:lstStyle/>
          <a:p>
            <a:pPr algn="l" indent="0" marL="0">
              <a:lnSpc>
                <a:spcPts val="844"/>
              </a:lnSpc>
              <a:buNone/>
            </a:pPr>
            <a:r>
              <a:rPr lang="en-US" sz="800" b="1" spc="79" kern="0" dirty="0">
                <a:solidFill>
                  <a:srgbClr val="7C3AED"/>
                </a:solidFill>
                <a:latin typeface="Liberation Sans Narrow" pitchFamily="34" charset="0"/>
                <a:ea typeface="Liberation Sans Narrow" pitchFamily="34" charset="-122"/>
                <a:cs typeface="Liberation Sans Narrow" pitchFamily="34" charset="-120"/>
              </a:rPr>
              <a:t>QUADRANT 03</a:t>
            </a:r>
            <a:endParaRPr lang="en-US" sz="800" dirty="0"/>
          </a:p>
        </p:txBody>
      </p:sp>
      <p:sp>
        <p:nvSpPr>
          <p:cNvPr id="25" name="Text 22"/>
          <p:cNvSpPr/>
          <p:nvPr/>
        </p:nvSpPr>
        <p:spPr>
          <a:xfrm>
            <a:off x="921544" y="3226966"/>
            <a:ext cx="2708966" cy="150809"/>
          </a:xfrm>
          <a:prstGeom prst="rect">
            <a:avLst/>
          </a:prstGeom>
          <a:noFill/>
          <a:ln/>
        </p:spPr>
        <p:txBody>
          <a:bodyPr wrap="square" lIns="0" tIns="0" rIns="0" bIns="0" rtlCol="0" anchor="t"/>
          <a:lstStyle/>
          <a:p>
            <a:pPr algn="l" indent="0" marL="0">
              <a:lnSpc>
                <a:spcPts val="1100"/>
              </a:lnSpc>
              <a:buNone/>
            </a:pPr>
            <a:r>
              <a:rPr lang="en-US" sz="956" b="1" dirty="0">
                <a:solidFill>
                  <a:srgbClr val="6D28D9"/>
                </a:solidFill>
                <a:latin typeface="Carlito" pitchFamily="34" charset="0"/>
                <a:ea typeface="Carlito" pitchFamily="34" charset="-122"/>
                <a:cs typeface="Carlito" pitchFamily="34" charset="-120"/>
              </a:rPr>
              <a:t>Content &amp; Advertising Monetisation</a:t>
            </a:r>
            <a:endParaRPr lang="en-US" sz="956" dirty="0"/>
          </a:p>
        </p:txBody>
      </p:sp>
      <p:sp>
        <p:nvSpPr>
          <p:cNvPr id="26" name="Text 23"/>
          <p:cNvSpPr/>
          <p:nvPr/>
        </p:nvSpPr>
        <p:spPr>
          <a:xfrm>
            <a:off x="564356" y="3421856"/>
            <a:ext cx="3814763" cy="477317"/>
          </a:xfrm>
          <a:prstGeom prst="rect">
            <a:avLst/>
          </a:prstGeom>
          <a:noFill/>
          <a:ln/>
        </p:spPr>
        <p:txBody>
          <a:bodyPr wrap="square" lIns="0" tIns="0" rIns="0" bIns="0" rtlCol="0" anchor="t"/>
          <a:lstStyle/>
          <a:p>
            <a:pPr algn="l" indent="0" marL="0">
              <a:lnSpc>
                <a:spcPts val="1020"/>
              </a:lnSpc>
              <a:buNone/>
            </a:pPr>
            <a:r>
              <a:rPr lang="en-US" sz="800" dirty="0">
                <a:solidFill>
                  <a:srgbClr val="374151"/>
                </a:solidFill>
                <a:latin typeface="Carlito" pitchFamily="34" charset="0"/>
                <a:ea typeface="Carlito" pitchFamily="34" charset="-122"/>
                <a:cs typeface="Carlito" pitchFamily="34" charset="-120"/>
              </a:rPr>
              <a:t>At rest, the kiosk plays scheduled content and advertising carousels per location (JPG, GIF, MP4). Owned or third-party campaigns. The asset becomes a communication medium, not just a service channel.</a:t>
            </a:r>
            <a:endParaRPr lang="en-US" sz="800" dirty="0"/>
          </a:p>
        </p:txBody>
      </p:sp>
      <p:sp>
        <p:nvSpPr>
          <p:cNvPr id="27" name="Text 24"/>
          <p:cNvSpPr/>
          <p:nvPr/>
        </p:nvSpPr>
        <p:spPr>
          <a:xfrm>
            <a:off x="4632722" y="2989659"/>
            <a:ext cx="4079081" cy="1221581"/>
          </a:xfrm>
          <a:prstGeom prst="roundRect">
            <a:avLst>
              <a:gd name="adj" fmla="val 10916"/>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28" name="Text 25"/>
          <p:cNvSpPr/>
          <p:nvPr/>
        </p:nvSpPr>
        <p:spPr>
          <a:xfrm>
            <a:off x="4764881" y="3107531"/>
            <a:ext cx="271463" cy="271463"/>
          </a:xfrm>
          <a:prstGeom prst="roundRect">
            <a:avLst>
              <a:gd name="adj" fmla="val 31579"/>
            </a:avLst>
          </a:prstGeom>
          <a:solidFill>
            <a:srgbClr val="F5F3FF"/>
          </a:solidFill>
          <a:ln/>
        </p:spPr>
        <p:txBody>
          <a:bodyPr wrap="square" rtlCol="0" anchor="ctr"/>
          <a:lstStyle/>
          <a:p>
            <a:pPr indent="0" marL="0">
              <a:buNone/>
            </a:pPr>
            <a:endParaRPr lang="en-US" dirty="0"/>
          </a:p>
        </p:txBody>
      </p:sp>
      <p:sp>
        <p:nvSpPr>
          <p:cNvPr id="29" name="Text 26"/>
          <p:cNvSpPr/>
          <p:nvPr/>
        </p:nvSpPr>
        <p:spPr>
          <a:xfrm>
            <a:off x="4786670" y="3129320"/>
            <a:ext cx="227886" cy="227886"/>
          </a:xfrm>
          <a:prstGeom prst="rect">
            <a:avLst/>
          </a:prstGeom>
          <a:noFill/>
          <a:ln/>
        </p:spPr>
        <p:txBody>
          <a:bodyPr wrap="none" lIns="0" tIns="0" rIns="0" bIns="0" rtlCol="0" anchor="ctr"/>
          <a:lstStyle/>
          <a:p>
            <a:pPr algn="ctr" indent="0" marL="0">
              <a:buNone/>
            </a:pPr>
            <a:r>
              <a:rPr lang="en-US" sz="1547" dirty="0">
                <a:solidFill>
                  <a:srgbClr val="7C3AED"/>
                </a:solidFill>
                <a:latin typeface="Segoe UI Symbol" pitchFamily="34" charset="0"/>
                <a:ea typeface="Segoe UI Symbol" pitchFamily="34" charset="-122"/>
                <a:cs typeface="Segoe UI Symbol" pitchFamily="34" charset="-120"/>
              </a:rPr>
              <a:t>◯</a:t>
            </a:r>
            <a:endParaRPr lang="en-US" sz="1547" dirty="0"/>
          </a:p>
        </p:txBody>
      </p:sp>
      <p:sp>
        <p:nvSpPr>
          <p:cNvPr id="30" name="Text 27"/>
          <p:cNvSpPr/>
          <p:nvPr/>
        </p:nvSpPr>
        <p:spPr>
          <a:xfrm>
            <a:off x="5122069" y="3119810"/>
            <a:ext cx="1412262" cy="91440"/>
          </a:xfrm>
          <a:prstGeom prst="rect">
            <a:avLst/>
          </a:prstGeom>
          <a:noFill/>
          <a:ln/>
        </p:spPr>
        <p:txBody>
          <a:bodyPr wrap="none" lIns="0" tIns="0" rIns="0" bIns="0" rtlCol="0" anchor="t">
            <a:normAutofit/>
          </a:bodyPr>
          <a:lstStyle/>
          <a:p>
            <a:pPr algn="l" indent="0" marL="0">
              <a:lnSpc>
                <a:spcPts val="844"/>
              </a:lnSpc>
              <a:buNone/>
            </a:pPr>
            <a:r>
              <a:rPr lang="en-US" sz="800" b="1" spc="79" kern="0" dirty="0">
                <a:solidFill>
                  <a:srgbClr val="7C3AED"/>
                </a:solidFill>
                <a:latin typeface="Liberation Sans Narrow" pitchFamily="34" charset="0"/>
                <a:ea typeface="Liberation Sans Narrow" pitchFamily="34" charset="-122"/>
                <a:cs typeface="Liberation Sans Narrow" pitchFamily="34" charset="-120"/>
              </a:rPr>
              <a:t>QUADRANT 04</a:t>
            </a:r>
            <a:endParaRPr lang="en-US" sz="800" dirty="0"/>
          </a:p>
        </p:txBody>
      </p:sp>
      <p:sp>
        <p:nvSpPr>
          <p:cNvPr id="31" name="Text 28"/>
          <p:cNvSpPr/>
          <p:nvPr/>
        </p:nvSpPr>
        <p:spPr>
          <a:xfrm>
            <a:off x="5122069" y="3226966"/>
            <a:ext cx="1302836" cy="150809"/>
          </a:xfrm>
          <a:prstGeom prst="rect">
            <a:avLst/>
          </a:prstGeom>
          <a:noFill/>
          <a:ln/>
        </p:spPr>
        <p:txBody>
          <a:bodyPr wrap="none" lIns="0" tIns="0" rIns="0" bIns="0" rtlCol="0" anchor="t"/>
          <a:lstStyle/>
          <a:p>
            <a:pPr algn="l" indent="0" marL="0">
              <a:lnSpc>
                <a:spcPts val="1100"/>
              </a:lnSpc>
              <a:buNone/>
            </a:pPr>
            <a:r>
              <a:rPr lang="en-US" sz="956" b="1" dirty="0">
                <a:solidFill>
                  <a:srgbClr val="6D28D9"/>
                </a:solidFill>
                <a:latin typeface="Carlito" pitchFamily="34" charset="0"/>
                <a:ea typeface="Carlito" pitchFamily="34" charset="-122"/>
                <a:cs typeface="Carlito" pitchFamily="34" charset="-120"/>
              </a:rPr>
              <a:t>Talent Arbitrage</a:t>
            </a:r>
            <a:endParaRPr lang="en-US" sz="956" dirty="0"/>
          </a:p>
        </p:txBody>
      </p:sp>
      <p:sp>
        <p:nvSpPr>
          <p:cNvPr id="32" name="Text 29"/>
          <p:cNvSpPr/>
          <p:nvPr/>
        </p:nvSpPr>
        <p:spPr>
          <a:xfrm>
            <a:off x="4764881" y="3421856"/>
            <a:ext cx="3814763" cy="318211"/>
          </a:xfrm>
          <a:prstGeom prst="rect">
            <a:avLst/>
          </a:prstGeom>
          <a:noFill/>
          <a:ln/>
        </p:spPr>
        <p:txBody>
          <a:bodyPr wrap="square" lIns="0" tIns="0" rIns="0" bIns="0" rtlCol="0" anchor="t"/>
          <a:lstStyle/>
          <a:p>
            <a:pPr algn="l" indent="0" marL="0">
              <a:lnSpc>
                <a:spcPts val="1020"/>
              </a:lnSpc>
              <a:buNone/>
            </a:pPr>
            <a:r>
              <a:rPr lang="en-US" sz="800" dirty="0">
                <a:solidFill>
                  <a:srgbClr val="374151"/>
                </a:solidFill>
                <a:latin typeface="Carlito" pitchFamily="34" charset="0"/>
                <a:ea typeface="Carlito" pitchFamily="34" charset="-122"/>
                <a:cs typeface="Carlito" pitchFamily="34" charset="-120"/>
              </a:rPr>
              <a:t>Concentrate your team in one lower-cost site, or move it to another country. The talent pool is no longer constrained by the location of the service point.</a:t>
            </a:r>
            <a:endParaRPr lang="en-US" sz="800" dirty="0"/>
          </a:p>
        </p:txBody>
      </p:sp>
      <p:sp>
        <p:nvSpPr>
          <p:cNvPr id="33" name="Text 30"/>
          <p:cNvSpPr/>
          <p:nvPr/>
        </p:nvSpPr>
        <p:spPr>
          <a:xfrm>
            <a:off x="428625" y="4286250"/>
            <a:ext cx="8286750" cy="428625"/>
          </a:xfrm>
          <a:prstGeom prst="roundRect">
            <a:avLst>
              <a:gd name="adj" fmla="val 17778"/>
            </a:avLst>
          </a:prstGeom>
          <a:solidFill>
            <a:srgbClr val="7C3AED"/>
          </a:solidFill>
          <a:ln/>
          <a:effectLst>
            <a:outerShdw sx="100000" sy="100000" kx="0" ky="0" algn="bl" rotWithShape="0" blurRad="171450" dist="57150" dir="5400000">
              <a:srgbClr val="7C3AED">
                <a:alpha val="25000"/>
              </a:srgbClr>
            </a:outerShdw>
          </a:effectLst>
        </p:spPr>
        <p:txBody>
          <a:bodyPr wrap="square" rtlCol="0" anchor="ctr"/>
          <a:lstStyle/>
          <a:p>
            <a:pPr indent="0" marL="0">
              <a:buNone/>
            </a:pPr>
            <a:endParaRPr lang="en-US" dirty="0"/>
          </a:p>
        </p:txBody>
      </p:sp>
      <p:sp>
        <p:nvSpPr>
          <p:cNvPr id="34" name="Text 31"/>
          <p:cNvSpPr/>
          <p:nvPr/>
        </p:nvSpPr>
        <p:spPr>
          <a:xfrm>
            <a:off x="571500" y="4400550"/>
            <a:ext cx="200025" cy="200025"/>
          </a:xfrm>
          <a:prstGeom prst="rect">
            <a:avLst/>
          </a:prstGeom>
          <a:noFill/>
          <a:ln/>
        </p:spPr>
        <p:txBody>
          <a:bodyPr wrap="none" lIns="0" tIns="0" rIns="0" bIns="0" rtlCol="0" anchor="ctr"/>
          <a:lstStyle/>
          <a:p>
            <a:pPr algn="ctr" indent="0" marL="0">
              <a:buNone/>
            </a:pPr>
            <a:r>
              <a:rPr lang="en-US" sz="1969" dirty="0">
                <a:solidFill>
                  <a:srgbClr val="FFFFFF"/>
                </a:solidFill>
                <a:latin typeface="Segoe UI Symbol" pitchFamily="34" charset="0"/>
                <a:ea typeface="Segoe UI Symbol" pitchFamily="34" charset="-122"/>
                <a:cs typeface="Segoe UI Symbol" pitchFamily="34" charset="-120"/>
              </a:rPr>
              <a:t>⚡</a:t>
            </a:r>
            <a:endParaRPr lang="en-US" sz="1969" dirty="0"/>
          </a:p>
        </p:txBody>
      </p:sp>
      <p:sp>
        <p:nvSpPr>
          <p:cNvPr id="35" name="Text 32"/>
          <p:cNvSpPr/>
          <p:nvPr/>
        </p:nvSpPr>
        <p:spPr>
          <a:xfrm>
            <a:off x="885825" y="4433590"/>
            <a:ext cx="7686675" cy="144661"/>
          </a:xfrm>
          <a:prstGeom prst="rect">
            <a:avLst/>
          </a:prstGeom>
          <a:noFill/>
          <a:ln/>
        </p:spPr>
        <p:txBody>
          <a:bodyPr wrap="square" lIns="0" tIns="0" rIns="0" bIns="0" rtlCol="0" anchor="t"/>
          <a:lstStyle/>
          <a:p>
            <a:pPr algn="l" indent="0" marL="0">
              <a:lnSpc>
                <a:spcPts val="1055"/>
              </a:lnSpc>
              <a:buNone/>
            </a:pPr>
            <a:r>
              <a:rPr lang="en-US" sz="844" dirty="0">
                <a:solidFill>
                  <a:srgbClr val="FFFFFF"/>
                </a:solidFill>
                <a:latin typeface="Carlito" pitchFamily="34" charset="0"/>
                <a:ea typeface="Carlito" pitchFamily="34" charset="-122"/>
                <a:cs typeface="Carlito" pitchFamily="34" charset="-120"/>
              </a:rPr>
              <a:t>The seventh decision: the service point stops being a fixed cost and becomes optimised, flexible capacity.</a:t>
            </a:r>
            <a:endParaRPr lang="en-US" sz="844" dirty="0"/>
          </a:p>
        </p:txBody>
      </p:sp>
      <p:sp>
        <p:nvSpPr>
          <p:cNvPr id="36" name="Text 33"/>
          <p:cNvSpPr/>
          <p:nvPr/>
        </p:nvSpPr>
        <p:spPr>
          <a:xfrm>
            <a:off x="342900" y="4854178"/>
            <a:ext cx="4267609"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37" name="Text 34"/>
          <p:cNvSpPr/>
          <p:nvPr/>
        </p:nvSpPr>
        <p:spPr>
          <a:xfrm>
            <a:off x="4624797" y="4854178"/>
            <a:ext cx="3592748"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a:t>
            </a:r>
            <a:endParaRPr lang="en-US" sz="800" dirty="0"/>
          </a:p>
        </p:txBody>
      </p:sp>
      <p:sp>
        <p:nvSpPr>
          <p:cNvPr id="38" name="Text 35"/>
          <p:cNvSpPr/>
          <p:nvPr/>
        </p:nvSpPr>
        <p:spPr>
          <a:xfrm>
            <a:off x="8231832" y="4854178"/>
            <a:ext cx="684793" cy="164592"/>
          </a:xfrm>
          <a:prstGeom prst="rect">
            <a:avLst/>
          </a:prstGeom>
          <a:noFill/>
          <a:ln/>
        </p:spPr>
        <p:txBody>
          <a:bodyPr wrap="none" lIns="0" tIns="0" rIns="0" bIns="0" rtlCol="0" anchor="t"/>
          <a:lstStyle/>
          <a:p>
            <a:pPr algn="l" indent="0" marL="0">
              <a:lnSpc>
                <a:spcPts val="928"/>
              </a:lnSpc>
              <a:buNone/>
            </a:pPr>
            <a:r>
              <a:rPr lang="en-US" sz="619" spc="25" kern="0" dirty="0">
                <a:solidFill>
                  <a:srgbClr val="6B7280"/>
                </a:solidFill>
                <a:latin typeface="Liberation Sans Narrow" pitchFamily="34" charset="0"/>
                <a:ea typeface="Liberation Sans Narrow" pitchFamily="34" charset="-122"/>
                <a:cs typeface="Liberation Sans Narrow" pitchFamily="34" charset="-120"/>
              </a:rPr>
              <a:t>SLIDE 22 / 24</a:t>
            </a:r>
            <a:endParaRPr lang="en-US" sz="619" dirty="0"/>
          </a:p>
        </p:txBody>
      </p:sp>
      <p:pic>
        <p:nvPicPr>
          <p:cNvPr id="39" name="Image 1" descr="/home/z/my-project/download/slides/massapro-logo.png">    </p:cNvPr>
          <p:cNvPicPr>
            <a:picLocks noChangeAspect="1"/>
          </p:cNvPicPr>
          <p:nvPr/>
        </p:nvPicPr>
        <p:blipFill>
          <a:blip r:embed="rId2"/>
          <a:stretch>
            <a:fillRect/>
          </a:stretch>
        </p:blipFill>
        <p:spPr>
          <a:xfrm>
            <a:off x="342900" y="200025"/>
            <a:ext cx="200025" cy="200025"/>
          </a:xfrm>
          <a:prstGeom prst="rect">
            <a:avLst/>
          </a:prstGeom>
        </p:spPr>
      </p:pic>
      <p:sp>
        <p:nvSpPr>
          <p:cNvPr id="40" name="Text 36"/>
          <p:cNvSpPr/>
          <p:nvPr/>
        </p:nvSpPr>
        <p:spPr>
          <a:xfrm>
            <a:off x="614363" y="219670"/>
            <a:ext cx="769239"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6D28D9"/>
                </a:solidFill>
                <a:latin typeface="Carlito" pitchFamily="34" charset="0"/>
                <a:ea typeface="Carlito" pitchFamily="34" charset="-122"/>
                <a:cs typeface="Carlito" pitchFamily="34" charset="-120"/>
              </a:rPr>
              <a:t>MassaPro</a:t>
            </a:r>
            <a:endParaRPr lang="en-US" sz="844"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44456" y="200025"/>
            <a:ext cx="2599544" cy="164592"/>
          </a:xfrm>
          <a:prstGeom prst="rect">
            <a:avLst/>
          </a:prstGeom>
          <a:noFill/>
          <a:ln/>
        </p:spPr>
        <p:txBody>
          <a:bodyPr wrap="square" lIns="0" tIns="0" rIns="0" bIns="0" rtlCol="0" anchor="t"/>
          <a:lstStyle/>
          <a:p>
            <a:pPr algn="l" indent="0" marL="0">
              <a:lnSpc>
                <a:spcPts val="928"/>
              </a:lnSpc>
              <a:buNone/>
            </a:pPr>
            <a:r>
              <a:rPr lang="en-US" sz="800" b="1" spc="111" kern="0" dirty="0">
                <a:solidFill>
                  <a:srgbClr val="6B7280"/>
                </a:solidFill>
                <a:latin typeface="Liberation Sans Narrow" pitchFamily="34" charset="0"/>
                <a:ea typeface="Liberation Sans Narrow" pitchFamily="34" charset="-122"/>
                <a:cs typeface="Liberation Sans Narrow" pitchFamily="34" charset="-120"/>
              </a:rPr>
              <a:t>CHAPTER 05 — ROADMAP &amp; NEXT STEPS</a:t>
            </a:r>
            <a:endParaRPr lang="en-US" sz="800" dirty="0"/>
          </a:p>
        </p:txBody>
      </p:sp>
      <p:sp>
        <p:nvSpPr>
          <p:cNvPr id="3" name="Text 1"/>
          <p:cNvSpPr/>
          <p:nvPr/>
        </p:nvSpPr>
        <p:spPr>
          <a:xfrm>
            <a:off x="432197" y="575072"/>
            <a:ext cx="1906265" cy="210741"/>
          </a:xfrm>
          <a:prstGeom prst="roundRect">
            <a:avLst>
              <a:gd name="adj" fmla="val 4515246"/>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4" name="Text 2"/>
          <p:cNvSpPr/>
          <p:nvPr/>
        </p:nvSpPr>
        <p:spPr>
          <a:xfrm>
            <a:off x="678656" y="628650"/>
            <a:ext cx="1570509" cy="129679"/>
          </a:xfrm>
          <a:prstGeom prst="rect">
            <a:avLst/>
          </a:prstGeom>
          <a:noFill/>
          <a:ln/>
        </p:spPr>
        <p:txBody>
          <a:bodyPr wrap="none" lIns="0" tIns="0" rIns="0" bIns="0" rtlCol="0" anchor="t"/>
          <a:lstStyle/>
          <a:p>
            <a:pPr algn="l" indent="0" marL="0">
              <a:lnSpc>
                <a:spcPts val="928"/>
              </a:lnSpc>
              <a:buNone/>
            </a:pPr>
            <a:r>
              <a:rPr lang="en-US" sz="800" b="1" spc="111" kern="0" dirty="0">
                <a:solidFill>
                  <a:srgbClr val="7C3AED"/>
                </a:solidFill>
                <a:latin typeface="Carlito" pitchFamily="34" charset="0"/>
                <a:ea typeface="Carlito" pitchFamily="34" charset="-122"/>
                <a:cs typeface="Carlito" pitchFamily="34" charset="-120"/>
              </a:rPr>
              <a:t>IMPLEMENTATION ROADMAP</a:t>
            </a:r>
            <a:endParaRPr lang="en-US" sz="800" dirty="0"/>
          </a:p>
        </p:txBody>
      </p:sp>
      <p:sp>
        <p:nvSpPr>
          <p:cNvPr id="5" name="Text 3"/>
          <p:cNvSpPr/>
          <p:nvPr/>
        </p:nvSpPr>
        <p:spPr>
          <a:xfrm>
            <a:off x="521494" y="630436"/>
            <a:ext cx="100013" cy="100013"/>
          </a:xfrm>
          <a:prstGeom prst="rect">
            <a:avLst/>
          </a:prstGeom>
          <a:noFill/>
          <a:ln/>
        </p:spPr>
        <p:txBody>
          <a:bodyPr wrap="none" lIns="0" tIns="0" rIns="0" bIns="0" rtlCol="0" anchor="ctr"/>
          <a:lstStyle/>
          <a:p>
            <a:pPr algn="ctr" indent="0" marL="0">
              <a:buNone/>
            </a:pPr>
            <a:r>
              <a:rPr lang="en-US" sz="984" dirty="0">
                <a:solidFill>
                  <a:srgbClr val="7C3AED"/>
                </a:solidFill>
                <a:latin typeface="Segoe UI Symbol" pitchFamily="34" charset="0"/>
                <a:ea typeface="Segoe UI Symbol" pitchFamily="34" charset="-122"/>
                <a:cs typeface="Segoe UI Symbol" pitchFamily="34" charset="-120"/>
              </a:rPr>
              <a:t>⌇</a:t>
            </a:r>
            <a:endParaRPr lang="en-US" sz="984" dirty="0"/>
          </a:p>
        </p:txBody>
      </p:sp>
      <p:sp>
        <p:nvSpPr>
          <p:cNvPr id="6" name="Text 4"/>
          <p:cNvSpPr/>
          <p:nvPr/>
        </p:nvSpPr>
        <p:spPr>
          <a:xfrm>
            <a:off x="428625" y="875109"/>
            <a:ext cx="6846146" cy="291612"/>
          </a:xfrm>
          <a:prstGeom prst="rect">
            <a:avLst/>
          </a:prstGeom>
          <a:noFill/>
          <a:ln/>
        </p:spPr>
        <p:txBody>
          <a:bodyPr wrap="square" lIns="0" tIns="0" rIns="0" bIns="0" rtlCol="0" anchor="t"/>
          <a:lstStyle/>
          <a:p>
            <a:pPr algn="l" indent="0" marL="0">
              <a:lnSpc>
                <a:spcPts val="2126"/>
              </a:lnSpc>
              <a:buNone/>
            </a:pPr>
            <a:r>
              <a:rPr lang="en-US" sz="2025" b="1" spc="-40" kern="0" dirty="0">
                <a:solidFill>
                  <a:srgbClr val="6D28D9"/>
                </a:solidFill>
                <a:latin typeface="Carlito" pitchFamily="34" charset="0"/>
                <a:ea typeface="Carlito" pitchFamily="34" charset="-122"/>
                <a:cs typeface="Carlito" pitchFamily="34" charset="-120"/>
              </a:rPr>
              <a:t>From Kick-Off to Go-Live in 8–12 Weeks</a:t>
            </a:r>
            <a:endParaRPr lang="en-US" sz="2025" dirty="0"/>
          </a:p>
        </p:txBody>
      </p:sp>
      <p:sp>
        <p:nvSpPr>
          <p:cNvPr id="7" name="Text 5"/>
          <p:cNvSpPr/>
          <p:nvPr/>
        </p:nvSpPr>
        <p:spPr>
          <a:xfrm>
            <a:off x="428625" y="1202271"/>
            <a:ext cx="6223769" cy="164592"/>
          </a:xfrm>
          <a:prstGeom prst="rect">
            <a:avLst/>
          </a:prstGeom>
          <a:noFill/>
          <a:ln/>
        </p:spPr>
        <p:txBody>
          <a:bodyPr wrap="square" lIns="0" tIns="0" rIns="0" bIns="0" rtlCol="0" anchor="t"/>
          <a:lstStyle/>
          <a:p>
            <a:pPr algn="l" indent="0" marL="0">
              <a:lnSpc>
                <a:spcPts val="1181"/>
              </a:lnSpc>
              <a:buNone/>
            </a:pPr>
            <a:r>
              <a:rPr lang="en-US" sz="800" dirty="0">
                <a:solidFill>
                  <a:srgbClr val="6B7280"/>
                </a:solidFill>
                <a:latin typeface="Carlito" pitchFamily="34" charset="0"/>
                <a:ea typeface="Carlito" pitchFamily="34" charset="-122"/>
                <a:cs typeface="Carlito" pitchFamily="34" charset="-120"/>
              </a:rPr>
              <a:t>Managed end-to-end by MassaPro — eight phases on a defined critical path.</a:t>
            </a:r>
            <a:endParaRPr lang="en-US" sz="800" dirty="0"/>
          </a:p>
        </p:txBody>
      </p:sp>
      <p:sp>
        <p:nvSpPr>
          <p:cNvPr id="8" name="Text 6"/>
          <p:cNvSpPr/>
          <p:nvPr/>
        </p:nvSpPr>
        <p:spPr>
          <a:xfrm>
            <a:off x="6601286" y="834368"/>
            <a:ext cx="1313989" cy="91440"/>
          </a:xfrm>
          <a:prstGeom prst="rect">
            <a:avLst/>
          </a:prstGeom>
          <a:noFill/>
          <a:ln/>
        </p:spPr>
        <p:txBody>
          <a:bodyPr wrap="none" lIns="0" tIns="0" rIns="0" bIns="0" rtlCol="0" anchor="t">
            <a:normAutofit/>
          </a:bodyPr>
          <a:lstStyle/>
          <a:p>
            <a:pPr algn="r" indent="0" marL="0">
              <a:lnSpc>
                <a:spcPts val="844"/>
              </a:lnSpc>
              <a:buNone/>
            </a:pPr>
            <a:r>
              <a:rPr lang="en-US" sz="800" b="1" spc="79" kern="0" dirty="0">
                <a:solidFill>
                  <a:srgbClr val="7C3AED"/>
                </a:solidFill>
                <a:latin typeface="Carlito" pitchFamily="34" charset="0"/>
                <a:ea typeface="Carlito" pitchFamily="34" charset="-122"/>
                <a:cs typeface="Carlito" pitchFamily="34" charset="-120"/>
              </a:rPr>
              <a:t>TYPICAL END-TO-END</a:t>
            </a:r>
            <a:endParaRPr lang="en-US" sz="800" dirty="0"/>
          </a:p>
        </p:txBody>
      </p:sp>
      <p:sp>
        <p:nvSpPr>
          <p:cNvPr id="9" name="Text 7"/>
          <p:cNvSpPr/>
          <p:nvPr/>
        </p:nvSpPr>
        <p:spPr>
          <a:xfrm>
            <a:off x="6703098" y="941524"/>
            <a:ext cx="1212177" cy="231458"/>
          </a:xfrm>
          <a:prstGeom prst="rect">
            <a:avLst/>
          </a:prstGeom>
          <a:noFill/>
          <a:ln/>
        </p:spPr>
        <p:txBody>
          <a:bodyPr wrap="none" lIns="0" tIns="0" rIns="0" bIns="0" rtlCol="0" anchor="t"/>
          <a:lstStyle/>
          <a:p>
            <a:pPr algn="r" indent="0" marL="0">
              <a:lnSpc>
                <a:spcPts val="1688"/>
              </a:lnSpc>
              <a:buNone/>
            </a:pPr>
            <a:r>
              <a:rPr lang="en-US" sz="1125" b="1" dirty="0">
                <a:solidFill>
                  <a:srgbClr val="6D28D9"/>
                </a:solidFill>
                <a:latin typeface="Liberation Sans Narrow" pitchFamily="34" charset="0"/>
                <a:ea typeface="Liberation Sans Narrow" pitchFamily="34" charset="-122"/>
                <a:cs typeface="Liberation Sans Narrow" pitchFamily="34" charset="-120"/>
              </a:rPr>
              <a:t>8–12 weeks</a:t>
            </a:r>
            <a:endParaRPr lang="en-US" sz="1125" dirty="0"/>
          </a:p>
        </p:txBody>
      </p:sp>
      <p:pic>
        <p:nvPicPr>
          <p:cNvPr id="10" name="Image 0" descr="/tmp/h2p-fit-1786522347163-pdtb32.png">    </p:cNvPr>
          <p:cNvPicPr>
            <a:picLocks noChangeAspect="1"/>
          </p:cNvPicPr>
          <p:nvPr/>
        </p:nvPicPr>
        <p:blipFill>
          <a:blip r:embed="rId1"/>
          <a:stretch>
            <a:fillRect/>
          </a:stretch>
        </p:blipFill>
        <p:spPr>
          <a:xfrm>
            <a:off x="8001000" y="637915"/>
            <a:ext cx="714375" cy="714375"/>
          </a:xfrm>
          <a:prstGeom prst="rect">
            <a:avLst/>
          </a:prstGeom>
          <a:effectLst>
            <a:outerShdw sx="100000" sy="100000" kx="0" ky="0" algn="bl" rotWithShape="0" blurRad="133350" dist="38100" dir="5400000">
              <a:srgbClr val="7C3AED">
                <a:alpha val="10000"/>
              </a:srgbClr>
            </a:outerShdw>
          </a:effectLst>
        </p:spPr>
      </p:pic>
      <p:sp>
        <p:nvSpPr>
          <p:cNvPr id="11" name="Text 8"/>
          <p:cNvSpPr/>
          <p:nvPr/>
        </p:nvSpPr>
        <p:spPr>
          <a:xfrm>
            <a:off x="432197" y="1646634"/>
            <a:ext cx="8279606" cy="2750344"/>
          </a:xfrm>
          <a:prstGeom prst="roundRect">
            <a:avLst>
              <a:gd name="adj" fmla="val 4156"/>
            </a:avLst>
          </a:prstGeom>
          <a:solidFill>
            <a:srgbClr val="FFFFFF"/>
          </a:solidFill>
          <a:ln w="7144">
            <a:solidFill>
              <a:srgbClr val="E5E7EB"/>
            </a:solidFill>
            <a:prstDash val="solid"/>
          </a:ln>
          <a:effectLst>
            <a:outerShdw sx="100000" sy="100000" kx="0" ky="0" algn="bl" rotWithShape="0" blurRad="28575" dist="9525" dir="5400000">
              <a:srgbClr val="7C3AED">
                <a:alpha val="4000"/>
              </a:srgbClr>
            </a:outerShdw>
          </a:effectLst>
        </p:spPr>
        <p:txBody>
          <a:bodyPr wrap="square" rtlCol="0" anchor="ctr"/>
          <a:lstStyle/>
          <a:p>
            <a:pPr indent="0" marL="0">
              <a:buNone/>
            </a:pPr>
            <a:endParaRPr lang="en-US" dirty="0"/>
          </a:p>
        </p:txBody>
      </p:sp>
      <p:sp>
        <p:nvSpPr>
          <p:cNvPr id="12" name="Shape 9"/>
          <p:cNvSpPr/>
          <p:nvPr/>
        </p:nvSpPr>
        <p:spPr>
          <a:xfrm>
            <a:off x="1721644" y="1932384"/>
            <a:ext cx="403622" cy="0"/>
          </a:xfrm>
          <a:prstGeom prst="line">
            <a:avLst/>
          </a:prstGeom>
          <a:noFill/>
          <a:ln w="7144">
            <a:solidFill>
              <a:srgbClr val="E5E7EB"/>
            </a:solidFill>
            <a:prstDash val="solid"/>
          </a:ln>
        </p:spPr>
      </p:sp>
      <p:sp>
        <p:nvSpPr>
          <p:cNvPr id="13" name="Text 10"/>
          <p:cNvSpPr/>
          <p:nvPr/>
        </p:nvSpPr>
        <p:spPr>
          <a:xfrm>
            <a:off x="1604593" y="1793081"/>
            <a:ext cx="637723" cy="219456"/>
          </a:xfrm>
          <a:prstGeom prst="rect">
            <a:avLst/>
          </a:prstGeom>
          <a:noFill/>
          <a:ln/>
        </p:spPr>
        <p:txBody>
          <a:bodyPr wrap="none" lIns="0" tIns="0" rIns="0" bIns="28575" rtlCol="0" anchor="t"/>
          <a:lstStyle/>
          <a:p>
            <a:pPr algn="ctr" indent="0" marL="0">
              <a:lnSpc>
                <a:spcPts val="844"/>
              </a:lnSpc>
              <a:buNone/>
            </a:pPr>
            <a:r>
              <a:rPr lang="en-US" sz="800" b="1" dirty="0">
                <a:solidFill>
                  <a:srgbClr val="6B7280"/>
                </a:solidFill>
                <a:latin typeface="Liberation Sans Narrow" pitchFamily="34" charset="0"/>
                <a:ea typeface="Liberation Sans Narrow" pitchFamily="34" charset="-122"/>
                <a:cs typeface="Liberation Sans Narrow" pitchFamily="34" charset="-120"/>
              </a:rPr>
              <a:t>W1</a:t>
            </a:r>
            <a:endParaRPr lang="en-US" sz="800" dirty="0"/>
          </a:p>
        </p:txBody>
      </p:sp>
      <p:sp>
        <p:nvSpPr>
          <p:cNvPr id="14" name="Shape 11"/>
          <p:cNvSpPr/>
          <p:nvPr/>
        </p:nvSpPr>
        <p:spPr>
          <a:xfrm>
            <a:off x="2125266" y="1932384"/>
            <a:ext cx="403622" cy="0"/>
          </a:xfrm>
          <a:prstGeom prst="line">
            <a:avLst/>
          </a:prstGeom>
          <a:noFill/>
          <a:ln w="7144">
            <a:solidFill>
              <a:srgbClr val="E5E7EB"/>
            </a:solidFill>
            <a:prstDash val="solid"/>
          </a:ln>
        </p:spPr>
      </p:sp>
      <p:sp>
        <p:nvSpPr>
          <p:cNvPr id="15" name="Text 12"/>
          <p:cNvSpPr/>
          <p:nvPr/>
        </p:nvSpPr>
        <p:spPr>
          <a:xfrm>
            <a:off x="2008215" y="1793081"/>
            <a:ext cx="637723" cy="219456"/>
          </a:xfrm>
          <a:prstGeom prst="rect">
            <a:avLst/>
          </a:prstGeom>
          <a:noFill/>
          <a:ln/>
        </p:spPr>
        <p:txBody>
          <a:bodyPr wrap="none" lIns="0" tIns="0" rIns="0" bIns="28575" rtlCol="0" anchor="t"/>
          <a:lstStyle/>
          <a:p>
            <a:pPr algn="ctr" indent="0" marL="0">
              <a:lnSpc>
                <a:spcPts val="844"/>
              </a:lnSpc>
              <a:buNone/>
            </a:pPr>
            <a:r>
              <a:rPr lang="en-US" sz="800" b="1" dirty="0">
                <a:solidFill>
                  <a:srgbClr val="6B7280"/>
                </a:solidFill>
                <a:latin typeface="Liberation Sans Narrow" pitchFamily="34" charset="0"/>
                <a:ea typeface="Liberation Sans Narrow" pitchFamily="34" charset="-122"/>
                <a:cs typeface="Liberation Sans Narrow" pitchFamily="34" charset="-120"/>
              </a:rPr>
              <a:t>W2</a:t>
            </a:r>
            <a:endParaRPr lang="en-US" sz="800" dirty="0"/>
          </a:p>
        </p:txBody>
      </p:sp>
      <p:sp>
        <p:nvSpPr>
          <p:cNvPr id="16" name="Shape 13"/>
          <p:cNvSpPr/>
          <p:nvPr/>
        </p:nvSpPr>
        <p:spPr>
          <a:xfrm>
            <a:off x="2528888" y="1932384"/>
            <a:ext cx="403622" cy="0"/>
          </a:xfrm>
          <a:prstGeom prst="line">
            <a:avLst/>
          </a:prstGeom>
          <a:noFill/>
          <a:ln w="7144">
            <a:solidFill>
              <a:srgbClr val="E5E7EB"/>
            </a:solidFill>
            <a:prstDash val="solid"/>
          </a:ln>
        </p:spPr>
      </p:sp>
      <p:sp>
        <p:nvSpPr>
          <p:cNvPr id="17" name="Text 14"/>
          <p:cNvSpPr/>
          <p:nvPr/>
        </p:nvSpPr>
        <p:spPr>
          <a:xfrm>
            <a:off x="2411837" y="1793081"/>
            <a:ext cx="637723" cy="219456"/>
          </a:xfrm>
          <a:prstGeom prst="rect">
            <a:avLst/>
          </a:prstGeom>
          <a:noFill/>
          <a:ln/>
        </p:spPr>
        <p:txBody>
          <a:bodyPr wrap="none" lIns="0" tIns="0" rIns="0" bIns="28575" rtlCol="0" anchor="t"/>
          <a:lstStyle/>
          <a:p>
            <a:pPr algn="ctr" indent="0" marL="0">
              <a:lnSpc>
                <a:spcPts val="844"/>
              </a:lnSpc>
              <a:buNone/>
            </a:pPr>
            <a:r>
              <a:rPr lang="en-US" sz="800" b="1" dirty="0">
                <a:solidFill>
                  <a:srgbClr val="6B7280"/>
                </a:solidFill>
                <a:latin typeface="Liberation Sans Narrow" pitchFamily="34" charset="0"/>
                <a:ea typeface="Liberation Sans Narrow" pitchFamily="34" charset="-122"/>
                <a:cs typeface="Liberation Sans Narrow" pitchFamily="34" charset="-120"/>
              </a:rPr>
              <a:t>W3</a:t>
            </a:r>
            <a:endParaRPr lang="en-US" sz="800" dirty="0"/>
          </a:p>
        </p:txBody>
      </p:sp>
      <p:sp>
        <p:nvSpPr>
          <p:cNvPr id="18" name="Shape 15"/>
          <p:cNvSpPr/>
          <p:nvPr/>
        </p:nvSpPr>
        <p:spPr>
          <a:xfrm>
            <a:off x="2932509" y="1932384"/>
            <a:ext cx="403622" cy="0"/>
          </a:xfrm>
          <a:prstGeom prst="line">
            <a:avLst/>
          </a:prstGeom>
          <a:noFill/>
          <a:ln w="7144">
            <a:solidFill>
              <a:srgbClr val="E5E7EB"/>
            </a:solidFill>
            <a:prstDash val="solid"/>
          </a:ln>
        </p:spPr>
      </p:sp>
      <p:sp>
        <p:nvSpPr>
          <p:cNvPr id="19" name="Text 16"/>
          <p:cNvSpPr/>
          <p:nvPr/>
        </p:nvSpPr>
        <p:spPr>
          <a:xfrm>
            <a:off x="2815459" y="1793081"/>
            <a:ext cx="637723" cy="219456"/>
          </a:xfrm>
          <a:prstGeom prst="rect">
            <a:avLst/>
          </a:prstGeom>
          <a:noFill/>
          <a:ln/>
        </p:spPr>
        <p:txBody>
          <a:bodyPr wrap="none" lIns="0" tIns="0" rIns="0" bIns="28575" rtlCol="0" anchor="t"/>
          <a:lstStyle/>
          <a:p>
            <a:pPr algn="ctr" indent="0" marL="0">
              <a:lnSpc>
                <a:spcPts val="844"/>
              </a:lnSpc>
              <a:buNone/>
            </a:pPr>
            <a:r>
              <a:rPr lang="en-US" sz="800" b="1" dirty="0">
                <a:solidFill>
                  <a:srgbClr val="6B7280"/>
                </a:solidFill>
                <a:latin typeface="Liberation Sans Narrow" pitchFamily="34" charset="0"/>
                <a:ea typeface="Liberation Sans Narrow" pitchFamily="34" charset="-122"/>
                <a:cs typeface="Liberation Sans Narrow" pitchFamily="34" charset="-120"/>
              </a:rPr>
              <a:t>W4</a:t>
            </a:r>
            <a:endParaRPr lang="en-US" sz="800" dirty="0"/>
          </a:p>
        </p:txBody>
      </p:sp>
      <p:sp>
        <p:nvSpPr>
          <p:cNvPr id="20" name="Shape 17"/>
          <p:cNvSpPr/>
          <p:nvPr/>
        </p:nvSpPr>
        <p:spPr>
          <a:xfrm>
            <a:off x="3336131" y="1932384"/>
            <a:ext cx="403622" cy="0"/>
          </a:xfrm>
          <a:prstGeom prst="line">
            <a:avLst/>
          </a:prstGeom>
          <a:noFill/>
          <a:ln w="7144">
            <a:solidFill>
              <a:srgbClr val="E5E7EB"/>
            </a:solidFill>
            <a:prstDash val="solid"/>
          </a:ln>
        </p:spPr>
      </p:sp>
      <p:sp>
        <p:nvSpPr>
          <p:cNvPr id="21" name="Text 18"/>
          <p:cNvSpPr/>
          <p:nvPr/>
        </p:nvSpPr>
        <p:spPr>
          <a:xfrm>
            <a:off x="3219081" y="1793081"/>
            <a:ext cx="637723" cy="219456"/>
          </a:xfrm>
          <a:prstGeom prst="rect">
            <a:avLst/>
          </a:prstGeom>
          <a:noFill/>
          <a:ln/>
        </p:spPr>
        <p:txBody>
          <a:bodyPr wrap="none" lIns="0" tIns="0" rIns="0" bIns="28575" rtlCol="0" anchor="t"/>
          <a:lstStyle/>
          <a:p>
            <a:pPr algn="ctr" indent="0" marL="0">
              <a:lnSpc>
                <a:spcPts val="844"/>
              </a:lnSpc>
              <a:buNone/>
            </a:pPr>
            <a:r>
              <a:rPr lang="en-US" sz="800" b="1" dirty="0">
                <a:solidFill>
                  <a:srgbClr val="6B7280"/>
                </a:solidFill>
                <a:latin typeface="Liberation Sans Narrow" pitchFamily="34" charset="0"/>
                <a:ea typeface="Liberation Sans Narrow" pitchFamily="34" charset="-122"/>
                <a:cs typeface="Liberation Sans Narrow" pitchFamily="34" charset="-120"/>
              </a:rPr>
              <a:t>W5</a:t>
            </a:r>
            <a:endParaRPr lang="en-US" sz="800" dirty="0"/>
          </a:p>
        </p:txBody>
      </p:sp>
      <p:sp>
        <p:nvSpPr>
          <p:cNvPr id="22" name="Shape 19"/>
          <p:cNvSpPr/>
          <p:nvPr/>
        </p:nvSpPr>
        <p:spPr>
          <a:xfrm>
            <a:off x="3739753" y="1932384"/>
            <a:ext cx="403622" cy="0"/>
          </a:xfrm>
          <a:prstGeom prst="line">
            <a:avLst/>
          </a:prstGeom>
          <a:noFill/>
          <a:ln w="7144">
            <a:solidFill>
              <a:srgbClr val="E5E7EB"/>
            </a:solidFill>
            <a:prstDash val="solid"/>
          </a:ln>
        </p:spPr>
      </p:sp>
      <p:sp>
        <p:nvSpPr>
          <p:cNvPr id="23" name="Text 20"/>
          <p:cNvSpPr/>
          <p:nvPr/>
        </p:nvSpPr>
        <p:spPr>
          <a:xfrm>
            <a:off x="3622703" y="1793081"/>
            <a:ext cx="637723" cy="219456"/>
          </a:xfrm>
          <a:prstGeom prst="rect">
            <a:avLst/>
          </a:prstGeom>
          <a:noFill/>
          <a:ln/>
        </p:spPr>
        <p:txBody>
          <a:bodyPr wrap="none" lIns="0" tIns="0" rIns="0" bIns="28575" rtlCol="0" anchor="t"/>
          <a:lstStyle/>
          <a:p>
            <a:pPr algn="ctr" indent="0" marL="0">
              <a:lnSpc>
                <a:spcPts val="844"/>
              </a:lnSpc>
              <a:buNone/>
            </a:pPr>
            <a:r>
              <a:rPr lang="en-US" sz="800" b="1" dirty="0">
                <a:solidFill>
                  <a:srgbClr val="6B7280"/>
                </a:solidFill>
                <a:latin typeface="Liberation Sans Narrow" pitchFamily="34" charset="0"/>
                <a:ea typeface="Liberation Sans Narrow" pitchFamily="34" charset="-122"/>
                <a:cs typeface="Liberation Sans Narrow" pitchFamily="34" charset="-120"/>
              </a:rPr>
              <a:t>W6</a:t>
            </a:r>
            <a:endParaRPr lang="en-US" sz="800" dirty="0"/>
          </a:p>
        </p:txBody>
      </p:sp>
      <p:sp>
        <p:nvSpPr>
          <p:cNvPr id="24" name="Shape 21"/>
          <p:cNvSpPr/>
          <p:nvPr/>
        </p:nvSpPr>
        <p:spPr>
          <a:xfrm>
            <a:off x="4143375" y="1932384"/>
            <a:ext cx="403622" cy="0"/>
          </a:xfrm>
          <a:prstGeom prst="line">
            <a:avLst/>
          </a:prstGeom>
          <a:noFill/>
          <a:ln w="7144">
            <a:solidFill>
              <a:srgbClr val="E5E7EB"/>
            </a:solidFill>
            <a:prstDash val="solid"/>
          </a:ln>
        </p:spPr>
      </p:sp>
      <p:sp>
        <p:nvSpPr>
          <p:cNvPr id="25" name="Text 22"/>
          <p:cNvSpPr/>
          <p:nvPr/>
        </p:nvSpPr>
        <p:spPr>
          <a:xfrm>
            <a:off x="4026325" y="1793081"/>
            <a:ext cx="637723" cy="219456"/>
          </a:xfrm>
          <a:prstGeom prst="rect">
            <a:avLst/>
          </a:prstGeom>
          <a:noFill/>
          <a:ln/>
        </p:spPr>
        <p:txBody>
          <a:bodyPr wrap="none" lIns="0" tIns="0" rIns="0" bIns="28575" rtlCol="0" anchor="t"/>
          <a:lstStyle/>
          <a:p>
            <a:pPr algn="ctr" indent="0" marL="0">
              <a:lnSpc>
                <a:spcPts val="844"/>
              </a:lnSpc>
              <a:buNone/>
            </a:pPr>
            <a:r>
              <a:rPr lang="en-US" sz="800" b="1" dirty="0">
                <a:solidFill>
                  <a:srgbClr val="6B7280"/>
                </a:solidFill>
                <a:latin typeface="Liberation Sans Narrow" pitchFamily="34" charset="0"/>
                <a:ea typeface="Liberation Sans Narrow" pitchFamily="34" charset="-122"/>
                <a:cs typeface="Liberation Sans Narrow" pitchFamily="34" charset="-120"/>
              </a:rPr>
              <a:t>W7</a:t>
            </a:r>
            <a:endParaRPr lang="en-US" sz="800" dirty="0"/>
          </a:p>
        </p:txBody>
      </p:sp>
      <p:sp>
        <p:nvSpPr>
          <p:cNvPr id="26" name="Shape 23"/>
          <p:cNvSpPr/>
          <p:nvPr/>
        </p:nvSpPr>
        <p:spPr>
          <a:xfrm>
            <a:off x="4546997" y="1932384"/>
            <a:ext cx="403622" cy="0"/>
          </a:xfrm>
          <a:prstGeom prst="line">
            <a:avLst/>
          </a:prstGeom>
          <a:noFill/>
          <a:ln w="7144">
            <a:solidFill>
              <a:srgbClr val="E5E7EB"/>
            </a:solidFill>
            <a:prstDash val="solid"/>
          </a:ln>
        </p:spPr>
      </p:sp>
      <p:sp>
        <p:nvSpPr>
          <p:cNvPr id="27" name="Text 24"/>
          <p:cNvSpPr/>
          <p:nvPr/>
        </p:nvSpPr>
        <p:spPr>
          <a:xfrm>
            <a:off x="4429947" y="1793081"/>
            <a:ext cx="637723" cy="219456"/>
          </a:xfrm>
          <a:prstGeom prst="rect">
            <a:avLst/>
          </a:prstGeom>
          <a:noFill/>
          <a:ln/>
        </p:spPr>
        <p:txBody>
          <a:bodyPr wrap="none" lIns="0" tIns="0" rIns="0" bIns="28575" rtlCol="0" anchor="t"/>
          <a:lstStyle/>
          <a:p>
            <a:pPr algn="ctr" indent="0" marL="0">
              <a:lnSpc>
                <a:spcPts val="844"/>
              </a:lnSpc>
              <a:buNone/>
            </a:pPr>
            <a:r>
              <a:rPr lang="en-US" sz="800" b="1" dirty="0">
                <a:solidFill>
                  <a:srgbClr val="6B7280"/>
                </a:solidFill>
                <a:latin typeface="Liberation Sans Narrow" pitchFamily="34" charset="0"/>
                <a:ea typeface="Liberation Sans Narrow" pitchFamily="34" charset="-122"/>
                <a:cs typeface="Liberation Sans Narrow" pitchFamily="34" charset="-120"/>
              </a:rPr>
              <a:t>W8</a:t>
            </a:r>
            <a:endParaRPr lang="en-US" sz="800" dirty="0"/>
          </a:p>
        </p:txBody>
      </p:sp>
      <p:sp>
        <p:nvSpPr>
          <p:cNvPr id="28" name="Shape 25"/>
          <p:cNvSpPr/>
          <p:nvPr/>
        </p:nvSpPr>
        <p:spPr>
          <a:xfrm>
            <a:off x="4950619" y="1932384"/>
            <a:ext cx="403622" cy="0"/>
          </a:xfrm>
          <a:prstGeom prst="line">
            <a:avLst/>
          </a:prstGeom>
          <a:noFill/>
          <a:ln w="7144">
            <a:solidFill>
              <a:srgbClr val="E5E7EB"/>
            </a:solidFill>
            <a:prstDash val="solid"/>
          </a:ln>
        </p:spPr>
      </p:sp>
      <p:sp>
        <p:nvSpPr>
          <p:cNvPr id="29" name="Text 26"/>
          <p:cNvSpPr/>
          <p:nvPr/>
        </p:nvSpPr>
        <p:spPr>
          <a:xfrm>
            <a:off x="4833568" y="1793081"/>
            <a:ext cx="637723" cy="219456"/>
          </a:xfrm>
          <a:prstGeom prst="rect">
            <a:avLst/>
          </a:prstGeom>
          <a:noFill/>
          <a:ln/>
        </p:spPr>
        <p:txBody>
          <a:bodyPr wrap="none" lIns="0" tIns="0" rIns="0" bIns="28575" rtlCol="0" anchor="t"/>
          <a:lstStyle/>
          <a:p>
            <a:pPr algn="ctr" indent="0" marL="0">
              <a:lnSpc>
                <a:spcPts val="844"/>
              </a:lnSpc>
              <a:buNone/>
            </a:pPr>
            <a:r>
              <a:rPr lang="en-US" sz="800" b="1" dirty="0">
                <a:solidFill>
                  <a:srgbClr val="6B7280"/>
                </a:solidFill>
                <a:latin typeface="Liberation Sans Narrow" pitchFamily="34" charset="0"/>
                <a:ea typeface="Liberation Sans Narrow" pitchFamily="34" charset="-122"/>
                <a:cs typeface="Liberation Sans Narrow" pitchFamily="34" charset="-120"/>
              </a:rPr>
              <a:t>W9</a:t>
            </a:r>
            <a:endParaRPr lang="en-US" sz="800" dirty="0"/>
          </a:p>
        </p:txBody>
      </p:sp>
      <p:sp>
        <p:nvSpPr>
          <p:cNvPr id="30" name="Shape 27"/>
          <p:cNvSpPr/>
          <p:nvPr/>
        </p:nvSpPr>
        <p:spPr>
          <a:xfrm>
            <a:off x="5354241" y="1932384"/>
            <a:ext cx="403622" cy="0"/>
          </a:xfrm>
          <a:prstGeom prst="line">
            <a:avLst/>
          </a:prstGeom>
          <a:noFill/>
          <a:ln w="7144">
            <a:solidFill>
              <a:srgbClr val="E5E7EB"/>
            </a:solidFill>
            <a:prstDash val="solid"/>
          </a:ln>
        </p:spPr>
      </p:sp>
      <p:sp>
        <p:nvSpPr>
          <p:cNvPr id="31" name="Text 28"/>
          <p:cNvSpPr/>
          <p:nvPr/>
        </p:nvSpPr>
        <p:spPr>
          <a:xfrm>
            <a:off x="5237190" y="1793081"/>
            <a:ext cx="637723" cy="219456"/>
          </a:xfrm>
          <a:prstGeom prst="rect">
            <a:avLst/>
          </a:prstGeom>
          <a:noFill/>
          <a:ln/>
        </p:spPr>
        <p:txBody>
          <a:bodyPr wrap="none" lIns="0" tIns="0" rIns="0" bIns="28575" rtlCol="0" anchor="t"/>
          <a:lstStyle/>
          <a:p>
            <a:pPr algn="ctr" indent="0" marL="0">
              <a:lnSpc>
                <a:spcPts val="844"/>
              </a:lnSpc>
              <a:buNone/>
            </a:pPr>
            <a:r>
              <a:rPr lang="en-US" sz="800" b="1" dirty="0">
                <a:solidFill>
                  <a:srgbClr val="6B7280"/>
                </a:solidFill>
                <a:latin typeface="Liberation Sans Narrow" pitchFamily="34" charset="0"/>
                <a:ea typeface="Liberation Sans Narrow" pitchFamily="34" charset="-122"/>
                <a:cs typeface="Liberation Sans Narrow" pitchFamily="34" charset="-120"/>
              </a:rPr>
              <a:t>W10</a:t>
            </a:r>
            <a:endParaRPr lang="en-US" sz="800" dirty="0"/>
          </a:p>
        </p:txBody>
      </p:sp>
      <p:sp>
        <p:nvSpPr>
          <p:cNvPr id="32" name="Shape 29"/>
          <p:cNvSpPr/>
          <p:nvPr/>
        </p:nvSpPr>
        <p:spPr>
          <a:xfrm>
            <a:off x="5757863" y="1932384"/>
            <a:ext cx="403622" cy="0"/>
          </a:xfrm>
          <a:prstGeom prst="line">
            <a:avLst/>
          </a:prstGeom>
          <a:noFill/>
          <a:ln w="7144">
            <a:solidFill>
              <a:srgbClr val="E5E7EB"/>
            </a:solidFill>
            <a:prstDash val="solid"/>
          </a:ln>
        </p:spPr>
      </p:sp>
      <p:sp>
        <p:nvSpPr>
          <p:cNvPr id="33" name="Text 30"/>
          <p:cNvSpPr/>
          <p:nvPr/>
        </p:nvSpPr>
        <p:spPr>
          <a:xfrm>
            <a:off x="5640812" y="1793081"/>
            <a:ext cx="637723" cy="219456"/>
          </a:xfrm>
          <a:prstGeom prst="rect">
            <a:avLst/>
          </a:prstGeom>
          <a:noFill/>
          <a:ln/>
        </p:spPr>
        <p:txBody>
          <a:bodyPr wrap="none" lIns="0" tIns="0" rIns="0" bIns="28575" rtlCol="0" anchor="t"/>
          <a:lstStyle/>
          <a:p>
            <a:pPr algn="ctr" indent="0" marL="0">
              <a:lnSpc>
                <a:spcPts val="844"/>
              </a:lnSpc>
              <a:buNone/>
            </a:pPr>
            <a:r>
              <a:rPr lang="en-US" sz="800" b="1" dirty="0">
                <a:solidFill>
                  <a:srgbClr val="6B7280"/>
                </a:solidFill>
                <a:latin typeface="Liberation Sans Narrow" pitchFamily="34" charset="0"/>
                <a:ea typeface="Liberation Sans Narrow" pitchFamily="34" charset="-122"/>
                <a:cs typeface="Liberation Sans Narrow" pitchFamily="34" charset="-120"/>
              </a:rPr>
              <a:t>W11</a:t>
            </a:r>
            <a:endParaRPr lang="en-US" sz="800" dirty="0"/>
          </a:p>
        </p:txBody>
      </p:sp>
      <p:sp>
        <p:nvSpPr>
          <p:cNvPr id="34" name="Shape 31"/>
          <p:cNvSpPr/>
          <p:nvPr/>
        </p:nvSpPr>
        <p:spPr>
          <a:xfrm>
            <a:off x="6161484" y="1932384"/>
            <a:ext cx="403622" cy="0"/>
          </a:xfrm>
          <a:prstGeom prst="line">
            <a:avLst/>
          </a:prstGeom>
          <a:noFill/>
          <a:ln w="7144">
            <a:solidFill>
              <a:srgbClr val="E5E7EB"/>
            </a:solidFill>
            <a:prstDash val="solid"/>
          </a:ln>
        </p:spPr>
      </p:sp>
      <p:sp>
        <p:nvSpPr>
          <p:cNvPr id="35" name="Text 32"/>
          <p:cNvSpPr/>
          <p:nvPr/>
        </p:nvSpPr>
        <p:spPr>
          <a:xfrm>
            <a:off x="6044434" y="1793081"/>
            <a:ext cx="637723" cy="219456"/>
          </a:xfrm>
          <a:prstGeom prst="rect">
            <a:avLst/>
          </a:prstGeom>
          <a:noFill/>
          <a:ln/>
        </p:spPr>
        <p:txBody>
          <a:bodyPr wrap="none" lIns="0" tIns="0" rIns="0" bIns="28575" rtlCol="0" anchor="t"/>
          <a:lstStyle/>
          <a:p>
            <a:pPr algn="ctr" indent="0" marL="0">
              <a:lnSpc>
                <a:spcPts val="844"/>
              </a:lnSpc>
              <a:buNone/>
            </a:pPr>
            <a:r>
              <a:rPr lang="en-US" sz="800" b="1" dirty="0">
                <a:solidFill>
                  <a:srgbClr val="6B7280"/>
                </a:solidFill>
                <a:latin typeface="Liberation Sans Narrow" pitchFamily="34" charset="0"/>
                <a:ea typeface="Liberation Sans Narrow" pitchFamily="34" charset="-122"/>
                <a:cs typeface="Liberation Sans Narrow" pitchFamily="34" charset="-120"/>
              </a:rPr>
              <a:t>W12+</a:t>
            </a:r>
            <a:endParaRPr lang="en-US" sz="800" dirty="0"/>
          </a:p>
        </p:txBody>
      </p:sp>
      <p:sp>
        <p:nvSpPr>
          <p:cNvPr id="36" name="Text 33"/>
          <p:cNvSpPr/>
          <p:nvPr/>
        </p:nvSpPr>
        <p:spPr>
          <a:xfrm>
            <a:off x="578644" y="2043113"/>
            <a:ext cx="157163" cy="157163"/>
          </a:xfrm>
          <a:prstGeom prst="roundRect">
            <a:avLst>
              <a:gd name="adj" fmla="val 66666"/>
            </a:avLst>
          </a:prstGeom>
          <a:solidFill>
            <a:srgbClr val="7C3AED"/>
          </a:solidFill>
          <a:ln/>
        </p:spPr>
        <p:txBody>
          <a:bodyPr wrap="square" rtlCol="0" anchor="ctr"/>
          <a:lstStyle/>
          <a:p>
            <a:pPr indent="0" marL="0">
              <a:buNone/>
            </a:pPr>
            <a:endParaRPr lang="en-US" dirty="0"/>
          </a:p>
        </p:txBody>
      </p:sp>
      <p:sp>
        <p:nvSpPr>
          <p:cNvPr id="37" name="Text 34"/>
          <p:cNvSpPr/>
          <p:nvPr/>
        </p:nvSpPr>
        <p:spPr>
          <a:xfrm>
            <a:off x="792956" y="2071688"/>
            <a:ext cx="914400" cy="128016"/>
          </a:xfrm>
          <a:prstGeom prst="rect">
            <a:avLst/>
          </a:prstGeom>
          <a:noFill/>
          <a:ln/>
        </p:spPr>
        <p:txBody>
          <a:bodyPr wrap="none" lIns="0" tIns="0" rIns="85725" bIns="0" rtlCol="0" anchor="t"/>
          <a:lstStyle/>
          <a:p>
            <a:pPr algn="l" indent="0" marL="0">
              <a:lnSpc>
                <a:spcPts val="1013"/>
              </a:lnSpc>
              <a:buNone/>
            </a:pPr>
            <a:r>
              <a:rPr lang="en-US" sz="800" dirty="0">
                <a:solidFill>
                  <a:srgbClr val="1F2937"/>
                </a:solidFill>
                <a:latin typeface="Carlito" pitchFamily="34" charset="0"/>
                <a:ea typeface="Carlito" pitchFamily="34" charset="-122"/>
                <a:cs typeface="Carlito" pitchFamily="34" charset="-120"/>
              </a:rPr>
              <a:t>Kick-Off</a:t>
            </a:r>
            <a:endParaRPr lang="en-US" sz="800" dirty="0"/>
          </a:p>
        </p:txBody>
      </p:sp>
      <p:sp>
        <p:nvSpPr>
          <p:cNvPr id="38" name="Text 35"/>
          <p:cNvSpPr/>
          <p:nvPr/>
        </p:nvSpPr>
        <p:spPr>
          <a:xfrm>
            <a:off x="578644" y="2043113"/>
            <a:ext cx="157163" cy="157163"/>
          </a:xfrm>
          <a:prstGeom prst="ellipse">
            <a:avLst/>
          </a:prstGeom>
          <a:solidFill>
            <a:srgbClr val="7C3AED"/>
          </a:solidFill>
          <a:ln/>
        </p:spPr>
        <p:txBody>
          <a:bodyPr wrap="square" rtlCol="0" anchor="ctr"/>
          <a:lstStyle/>
          <a:p>
            <a:pPr indent="0" marL="0">
              <a:buNone/>
            </a:pPr>
            <a:endParaRPr lang="en-US" dirty="0"/>
          </a:p>
        </p:txBody>
      </p:sp>
      <p:sp>
        <p:nvSpPr>
          <p:cNvPr id="39" name="Text 36"/>
          <p:cNvSpPr/>
          <p:nvPr/>
        </p:nvSpPr>
        <p:spPr>
          <a:xfrm>
            <a:off x="578644" y="2043113"/>
            <a:ext cx="1057275" cy="157163"/>
          </a:xfrm>
          <a:prstGeom prst="rect">
            <a:avLst/>
          </a:prstGeom>
          <a:noFill/>
          <a:ln/>
        </p:spPr>
        <p:txBody>
          <a:bodyPr wrap="none" lIns="0" tIns="0" rIns="0" bIns="0" rtlCol="0" anchor="ctr"/>
          <a:lstStyle/>
          <a:p>
            <a:pPr algn="ctr" indent="0" marL="0">
              <a:lnSpc>
                <a:spcPts val="92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a:t>
            </a:r>
            <a:endParaRPr lang="en-US" sz="800" dirty="0"/>
          </a:p>
        </p:txBody>
      </p:sp>
      <p:sp>
        <p:nvSpPr>
          <p:cNvPr id="40" name="Text 37"/>
          <p:cNvSpPr/>
          <p:nvPr/>
        </p:nvSpPr>
        <p:spPr>
          <a:xfrm>
            <a:off x="1721644" y="2043113"/>
            <a:ext cx="403399" cy="157163"/>
          </a:xfrm>
          <a:prstGeom prst="roundRect">
            <a:avLst>
              <a:gd name="adj" fmla="val 24242"/>
            </a:avLst>
          </a:prstGeom>
          <a:solidFill>
            <a:srgbClr val="7C3AED"/>
          </a:solidFill>
          <a:ln/>
        </p:spPr>
        <p:txBody>
          <a:bodyPr wrap="square" rtlCol="0" anchor="ctr"/>
          <a:lstStyle/>
          <a:p>
            <a:pPr indent="0" marL="0">
              <a:buNone/>
            </a:pPr>
            <a:endParaRPr lang="en-US" dirty="0"/>
          </a:p>
        </p:txBody>
      </p:sp>
      <p:sp>
        <p:nvSpPr>
          <p:cNvPr id="41" name="Text 38"/>
          <p:cNvSpPr/>
          <p:nvPr/>
        </p:nvSpPr>
        <p:spPr>
          <a:xfrm>
            <a:off x="1721644" y="2043113"/>
            <a:ext cx="403399" cy="157163"/>
          </a:xfrm>
          <a:prstGeom prst="rect">
            <a:avLst/>
          </a:prstGeom>
          <a:noFill/>
          <a:ln/>
        </p:spPr>
        <p:txBody>
          <a:bodyPr wrap="none" lIns="0" tIns="0" rIns="0" bIns="0" rtlCol="0" anchor="ctr"/>
          <a:lstStyle/>
          <a:p>
            <a:pPr algn="ctr" indent="0" marL="0">
              <a:lnSpc>
                <a:spcPts val="844"/>
              </a:lnSpc>
              <a:buNone/>
            </a:pPr>
            <a:r>
              <a:rPr lang="en-US" sz="800" b="1" spc="23" kern="0" dirty="0">
                <a:solidFill>
                  <a:srgbClr val="FFFFFF"/>
                </a:solidFill>
                <a:latin typeface="Liberation Sans Narrow" pitchFamily="34" charset="0"/>
                <a:ea typeface="Liberation Sans Narrow" pitchFamily="34" charset="-122"/>
                <a:cs typeface="Liberation Sans Narrow" pitchFamily="34" charset="-120"/>
              </a:rPr>
              <a:t>W1</a:t>
            </a:r>
            <a:endParaRPr lang="en-US" sz="800" dirty="0"/>
          </a:p>
        </p:txBody>
      </p:sp>
      <p:sp>
        <p:nvSpPr>
          <p:cNvPr id="42" name="Text 39"/>
          <p:cNvSpPr/>
          <p:nvPr/>
        </p:nvSpPr>
        <p:spPr>
          <a:xfrm>
            <a:off x="6565106" y="2062758"/>
            <a:ext cx="2000250" cy="164592"/>
          </a:xfrm>
          <a:prstGeom prst="rect">
            <a:avLst/>
          </a:prstGeom>
          <a:noFill/>
          <a:ln/>
        </p:spPr>
        <p:txBody>
          <a:bodyPr wrap="square" lIns="85725" tIns="0" rIns="0" bIns="0" rtlCol="0" anchor="t"/>
          <a:lstStyle/>
          <a:p>
            <a:pPr algn="l" indent="0" marL="0">
              <a:lnSpc>
                <a:spcPts val="928"/>
              </a:lnSpc>
              <a:buNone/>
            </a:pPr>
            <a:r>
              <a:rPr lang="en-US" sz="619" dirty="0">
                <a:solidFill>
                  <a:srgbClr val="6D28D9"/>
                </a:solidFill>
                <a:latin typeface="Carlito" pitchFamily="34" charset="0"/>
                <a:ea typeface="Carlito" pitchFamily="34" charset="-122"/>
                <a:cs typeface="Carlito" pitchFamily="34" charset="-120"/>
              </a:rPr>
              <a:t>Project plan</a:t>
            </a:r>
            <a:pPr algn="l" indent="0" marL="0">
              <a:lnSpc>
                <a:spcPts val="928"/>
              </a:lnSpc>
              <a:buNone/>
            </a:pPr>
            <a:r>
              <a:rPr lang="en-US" sz="619" dirty="0">
                <a:solidFill>
                  <a:srgbClr val="374151"/>
                </a:solidFill>
                <a:latin typeface="Carlito" pitchFamily="34" charset="0"/>
                <a:ea typeface="Carlito" pitchFamily="34" charset="-122"/>
                <a:cs typeface="Carlito" pitchFamily="34" charset="-120"/>
              </a:rPr>
              <a:t> · dedicated PM assigned</a:t>
            </a:r>
            <a:endParaRPr lang="en-US" sz="619" dirty="0"/>
          </a:p>
        </p:txBody>
      </p:sp>
      <p:sp>
        <p:nvSpPr>
          <p:cNvPr id="43" name="Text 40"/>
          <p:cNvSpPr/>
          <p:nvPr/>
        </p:nvSpPr>
        <p:spPr>
          <a:xfrm>
            <a:off x="578644" y="2328863"/>
            <a:ext cx="157163" cy="157163"/>
          </a:xfrm>
          <a:prstGeom prst="roundRect">
            <a:avLst>
              <a:gd name="adj" fmla="val 66666"/>
            </a:avLst>
          </a:prstGeom>
          <a:solidFill>
            <a:srgbClr val="7C3AED"/>
          </a:solidFill>
          <a:ln/>
        </p:spPr>
        <p:txBody>
          <a:bodyPr wrap="square" rtlCol="0" anchor="ctr"/>
          <a:lstStyle/>
          <a:p>
            <a:pPr indent="0" marL="0">
              <a:buNone/>
            </a:pPr>
            <a:endParaRPr lang="en-US" dirty="0"/>
          </a:p>
        </p:txBody>
      </p:sp>
      <p:sp>
        <p:nvSpPr>
          <p:cNvPr id="44" name="Text 41"/>
          <p:cNvSpPr/>
          <p:nvPr/>
        </p:nvSpPr>
        <p:spPr>
          <a:xfrm>
            <a:off x="792956" y="2293144"/>
            <a:ext cx="914400" cy="292608"/>
          </a:xfrm>
          <a:prstGeom prst="rect">
            <a:avLst/>
          </a:prstGeom>
          <a:noFill/>
          <a:ln/>
        </p:spPr>
        <p:txBody>
          <a:bodyPr wrap="none" lIns="0" tIns="0" rIns="85725" bIns="0" rtlCol="0" anchor="t"/>
          <a:lstStyle/>
          <a:p>
            <a:pPr algn="l" indent="0" marL="0">
              <a:lnSpc>
                <a:spcPts val="1013"/>
              </a:lnSpc>
              <a:buNone/>
            </a:pPr>
            <a:r>
              <a:rPr lang="en-US" sz="675" dirty="0">
                <a:solidFill>
                  <a:srgbClr val="1F2937"/>
                </a:solidFill>
                <a:latin typeface="Carlito" pitchFamily="34" charset="0"/>
                <a:ea typeface="Carlito" pitchFamily="34" charset="-122"/>
                <a:cs typeface="Carlito" pitchFamily="34" charset="-120"/>
              </a:rPr>
              <a:t>Discovery &amp; Design</a:t>
            </a:r>
            <a:endParaRPr lang="en-US" sz="675" dirty="0"/>
          </a:p>
        </p:txBody>
      </p:sp>
      <p:sp>
        <p:nvSpPr>
          <p:cNvPr id="45" name="Text 42"/>
          <p:cNvSpPr/>
          <p:nvPr/>
        </p:nvSpPr>
        <p:spPr>
          <a:xfrm>
            <a:off x="578644" y="2328863"/>
            <a:ext cx="157163" cy="157163"/>
          </a:xfrm>
          <a:prstGeom prst="ellipse">
            <a:avLst/>
          </a:prstGeom>
          <a:solidFill>
            <a:srgbClr val="7C3AED"/>
          </a:solidFill>
          <a:ln/>
        </p:spPr>
        <p:txBody>
          <a:bodyPr wrap="square" rtlCol="0" anchor="ctr"/>
          <a:lstStyle/>
          <a:p>
            <a:pPr indent="0" marL="0">
              <a:buNone/>
            </a:pPr>
            <a:endParaRPr lang="en-US" dirty="0"/>
          </a:p>
        </p:txBody>
      </p:sp>
      <p:sp>
        <p:nvSpPr>
          <p:cNvPr id="46" name="Text 43"/>
          <p:cNvSpPr/>
          <p:nvPr/>
        </p:nvSpPr>
        <p:spPr>
          <a:xfrm>
            <a:off x="578644" y="2328863"/>
            <a:ext cx="1057275" cy="157163"/>
          </a:xfrm>
          <a:prstGeom prst="rect">
            <a:avLst/>
          </a:prstGeom>
          <a:noFill/>
          <a:ln/>
        </p:spPr>
        <p:txBody>
          <a:bodyPr wrap="none" lIns="0" tIns="0" rIns="0" bIns="0" rtlCol="0" anchor="ctr"/>
          <a:lstStyle/>
          <a:p>
            <a:pPr algn="ctr" indent="0" marL="0">
              <a:lnSpc>
                <a:spcPts val="92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47" name="Text 44"/>
          <p:cNvSpPr/>
          <p:nvPr/>
        </p:nvSpPr>
        <p:spPr>
          <a:xfrm>
            <a:off x="2125042" y="2328863"/>
            <a:ext cx="807355" cy="157163"/>
          </a:xfrm>
          <a:prstGeom prst="roundRect">
            <a:avLst>
              <a:gd name="adj" fmla="val 24242"/>
            </a:avLst>
          </a:prstGeom>
          <a:solidFill>
            <a:srgbClr val="7C3AED"/>
          </a:solidFill>
          <a:ln/>
        </p:spPr>
        <p:txBody>
          <a:bodyPr wrap="square" rtlCol="0" anchor="ctr"/>
          <a:lstStyle/>
          <a:p>
            <a:pPr indent="0" marL="0">
              <a:buNone/>
            </a:pPr>
            <a:endParaRPr lang="en-US" dirty="0"/>
          </a:p>
        </p:txBody>
      </p:sp>
      <p:sp>
        <p:nvSpPr>
          <p:cNvPr id="48" name="Text 45"/>
          <p:cNvSpPr/>
          <p:nvPr/>
        </p:nvSpPr>
        <p:spPr>
          <a:xfrm>
            <a:off x="2125042" y="2328863"/>
            <a:ext cx="807355" cy="157163"/>
          </a:xfrm>
          <a:prstGeom prst="rect">
            <a:avLst/>
          </a:prstGeom>
          <a:noFill/>
          <a:ln/>
        </p:spPr>
        <p:txBody>
          <a:bodyPr wrap="none" lIns="0" tIns="0" rIns="0" bIns="0" rtlCol="0" anchor="ctr"/>
          <a:lstStyle/>
          <a:p>
            <a:pPr algn="ctr" indent="0" marL="0">
              <a:lnSpc>
                <a:spcPts val="844"/>
              </a:lnSpc>
              <a:buNone/>
            </a:pPr>
            <a:r>
              <a:rPr lang="en-US" sz="800" b="1" spc="23" kern="0" dirty="0">
                <a:solidFill>
                  <a:srgbClr val="FFFFFF"/>
                </a:solidFill>
                <a:latin typeface="Liberation Sans Narrow" pitchFamily="34" charset="0"/>
                <a:ea typeface="Liberation Sans Narrow" pitchFamily="34" charset="-122"/>
                <a:cs typeface="Liberation Sans Narrow" pitchFamily="34" charset="-120"/>
              </a:rPr>
              <a:t>W2–3</a:t>
            </a:r>
            <a:endParaRPr lang="en-US" sz="800" dirty="0"/>
          </a:p>
        </p:txBody>
      </p:sp>
      <p:sp>
        <p:nvSpPr>
          <p:cNvPr id="49" name="Text 46"/>
          <p:cNvSpPr/>
          <p:nvPr/>
        </p:nvSpPr>
        <p:spPr>
          <a:xfrm>
            <a:off x="6565106" y="2289572"/>
            <a:ext cx="2000250" cy="329184"/>
          </a:xfrm>
          <a:prstGeom prst="rect">
            <a:avLst/>
          </a:prstGeom>
          <a:noFill/>
          <a:ln/>
        </p:spPr>
        <p:txBody>
          <a:bodyPr wrap="square" lIns="85725" tIns="0" rIns="0" bIns="0" rtlCol="0" anchor="t"/>
          <a:lstStyle/>
          <a:p>
            <a:pPr algn="l" indent="0" marL="0">
              <a:lnSpc>
                <a:spcPts val="928"/>
              </a:lnSpc>
              <a:buNone/>
            </a:pPr>
            <a:r>
              <a:rPr lang="en-US" sz="800" dirty="0">
                <a:solidFill>
                  <a:srgbClr val="6D28D9"/>
                </a:solidFill>
                <a:latin typeface="Carlito" pitchFamily="34" charset="0"/>
                <a:ea typeface="Carlito" pitchFamily="34" charset="-122"/>
                <a:cs typeface="Carlito" pitchFamily="34" charset="-120"/>
              </a:rPr>
              <a:t>Solution Design Document</a:t>
            </a:r>
            <a:pPr algn="l" indent="0" marL="0">
              <a:lnSpc>
                <a:spcPts val="928"/>
              </a:lnSpc>
              <a:buNone/>
            </a:pPr>
            <a:r>
              <a:rPr lang="en-US" sz="800" dirty="0">
                <a:solidFill>
                  <a:srgbClr val="374151"/>
                </a:solidFill>
                <a:latin typeface="Carlito" pitchFamily="34" charset="0"/>
                <a:ea typeface="Carlito" pitchFamily="34" charset="-122"/>
                <a:cs typeface="Carlito" pitchFamily="34" charset="-120"/>
              </a:rPr>
              <a:t> — journeys, integrations, branding</a:t>
            </a:r>
            <a:endParaRPr lang="en-US" sz="800" dirty="0"/>
          </a:p>
        </p:txBody>
      </p:sp>
      <p:sp>
        <p:nvSpPr>
          <p:cNvPr id="50" name="Text 47"/>
          <p:cNvSpPr/>
          <p:nvPr/>
        </p:nvSpPr>
        <p:spPr>
          <a:xfrm>
            <a:off x="578644" y="2614613"/>
            <a:ext cx="157163" cy="157163"/>
          </a:xfrm>
          <a:prstGeom prst="roundRect">
            <a:avLst>
              <a:gd name="adj" fmla="val 66666"/>
            </a:avLst>
          </a:prstGeom>
          <a:solidFill>
            <a:srgbClr val="7C3AED"/>
          </a:solidFill>
          <a:ln/>
        </p:spPr>
        <p:txBody>
          <a:bodyPr wrap="square" rtlCol="0" anchor="ctr"/>
          <a:lstStyle/>
          <a:p>
            <a:pPr indent="0" marL="0">
              <a:buNone/>
            </a:pPr>
            <a:endParaRPr lang="en-US" dirty="0"/>
          </a:p>
        </p:txBody>
      </p:sp>
      <p:sp>
        <p:nvSpPr>
          <p:cNvPr id="51" name="Text 48"/>
          <p:cNvSpPr/>
          <p:nvPr/>
        </p:nvSpPr>
        <p:spPr>
          <a:xfrm>
            <a:off x="792956" y="2643188"/>
            <a:ext cx="914400" cy="128016"/>
          </a:xfrm>
          <a:prstGeom prst="rect">
            <a:avLst/>
          </a:prstGeom>
          <a:noFill/>
          <a:ln/>
        </p:spPr>
        <p:txBody>
          <a:bodyPr wrap="none" lIns="0" tIns="0" rIns="85725" bIns="0" rtlCol="0" anchor="t"/>
          <a:lstStyle/>
          <a:p>
            <a:pPr algn="l" indent="0" marL="0">
              <a:lnSpc>
                <a:spcPts val="1013"/>
              </a:lnSpc>
              <a:buNone/>
            </a:pPr>
            <a:r>
              <a:rPr lang="en-US" sz="675" dirty="0">
                <a:solidFill>
                  <a:srgbClr val="1F2937"/>
                </a:solidFill>
                <a:latin typeface="Carlito" pitchFamily="34" charset="0"/>
                <a:ea typeface="Carlito" pitchFamily="34" charset="-122"/>
                <a:cs typeface="Carlito" pitchFamily="34" charset="-120"/>
              </a:rPr>
              <a:t>Tech Integration</a:t>
            </a:r>
            <a:endParaRPr lang="en-US" sz="675" dirty="0"/>
          </a:p>
        </p:txBody>
      </p:sp>
      <p:sp>
        <p:nvSpPr>
          <p:cNvPr id="52" name="Text 49"/>
          <p:cNvSpPr/>
          <p:nvPr/>
        </p:nvSpPr>
        <p:spPr>
          <a:xfrm>
            <a:off x="578644" y="2614613"/>
            <a:ext cx="157163" cy="157163"/>
          </a:xfrm>
          <a:prstGeom prst="ellipse">
            <a:avLst/>
          </a:prstGeom>
          <a:solidFill>
            <a:srgbClr val="7C3AED"/>
          </a:solidFill>
          <a:ln/>
        </p:spPr>
        <p:txBody>
          <a:bodyPr wrap="square" rtlCol="0" anchor="ctr"/>
          <a:lstStyle/>
          <a:p>
            <a:pPr indent="0" marL="0">
              <a:buNone/>
            </a:pPr>
            <a:endParaRPr lang="en-US" dirty="0"/>
          </a:p>
        </p:txBody>
      </p:sp>
      <p:sp>
        <p:nvSpPr>
          <p:cNvPr id="53" name="Text 50"/>
          <p:cNvSpPr/>
          <p:nvPr/>
        </p:nvSpPr>
        <p:spPr>
          <a:xfrm>
            <a:off x="578644" y="2614613"/>
            <a:ext cx="1057275" cy="157163"/>
          </a:xfrm>
          <a:prstGeom prst="rect">
            <a:avLst/>
          </a:prstGeom>
          <a:noFill/>
          <a:ln/>
        </p:spPr>
        <p:txBody>
          <a:bodyPr wrap="none" lIns="0" tIns="0" rIns="0" bIns="0" rtlCol="0" anchor="ctr"/>
          <a:lstStyle/>
          <a:p>
            <a:pPr algn="ctr" indent="0" marL="0">
              <a:lnSpc>
                <a:spcPts val="92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54" name="Text 51"/>
          <p:cNvSpPr/>
          <p:nvPr/>
        </p:nvSpPr>
        <p:spPr>
          <a:xfrm>
            <a:off x="2932509" y="2614613"/>
            <a:ext cx="1210866" cy="157163"/>
          </a:xfrm>
          <a:prstGeom prst="roundRect">
            <a:avLst>
              <a:gd name="adj" fmla="val 24242"/>
            </a:avLst>
          </a:prstGeom>
          <a:solidFill>
            <a:srgbClr val="7C3AED"/>
          </a:solidFill>
          <a:ln/>
        </p:spPr>
        <p:txBody>
          <a:bodyPr wrap="square" rtlCol="0" anchor="ctr"/>
          <a:lstStyle/>
          <a:p>
            <a:pPr indent="0" marL="0">
              <a:buNone/>
            </a:pPr>
            <a:endParaRPr lang="en-US" dirty="0"/>
          </a:p>
        </p:txBody>
      </p:sp>
      <p:sp>
        <p:nvSpPr>
          <p:cNvPr id="55" name="Text 52"/>
          <p:cNvSpPr/>
          <p:nvPr/>
        </p:nvSpPr>
        <p:spPr>
          <a:xfrm>
            <a:off x="2932509" y="2614613"/>
            <a:ext cx="1210866" cy="157163"/>
          </a:xfrm>
          <a:prstGeom prst="rect">
            <a:avLst/>
          </a:prstGeom>
          <a:noFill/>
          <a:ln/>
        </p:spPr>
        <p:txBody>
          <a:bodyPr wrap="none" lIns="0" tIns="0" rIns="0" bIns="0" rtlCol="0" anchor="ctr"/>
          <a:lstStyle/>
          <a:p>
            <a:pPr algn="ctr" indent="0" marL="0">
              <a:lnSpc>
                <a:spcPts val="844"/>
              </a:lnSpc>
              <a:buNone/>
            </a:pPr>
            <a:r>
              <a:rPr lang="en-US" sz="800" b="1" spc="23" kern="0" dirty="0">
                <a:solidFill>
                  <a:srgbClr val="FFFFFF"/>
                </a:solidFill>
                <a:latin typeface="Liberation Sans Narrow" pitchFamily="34" charset="0"/>
                <a:ea typeface="Liberation Sans Narrow" pitchFamily="34" charset="-122"/>
                <a:cs typeface="Liberation Sans Narrow" pitchFamily="34" charset="-120"/>
              </a:rPr>
              <a:t>W4–6</a:t>
            </a:r>
            <a:endParaRPr lang="en-US" sz="800" dirty="0"/>
          </a:p>
        </p:txBody>
      </p:sp>
      <p:sp>
        <p:nvSpPr>
          <p:cNvPr id="56" name="Text 53"/>
          <p:cNvSpPr/>
          <p:nvPr/>
        </p:nvSpPr>
        <p:spPr>
          <a:xfrm>
            <a:off x="6565106" y="2575322"/>
            <a:ext cx="2000250" cy="329184"/>
          </a:xfrm>
          <a:prstGeom prst="rect">
            <a:avLst/>
          </a:prstGeom>
          <a:noFill/>
          <a:ln/>
        </p:spPr>
        <p:txBody>
          <a:bodyPr wrap="square" lIns="85725" tIns="0" rIns="0" bIns="0" rtlCol="0" anchor="t"/>
          <a:lstStyle/>
          <a:p>
            <a:pPr algn="l" indent="0" marL="0">
              <a:lnSpc>
                <a:spcPts val="928"/>
              </a:lnSpc>
              <a:buNone/>
            </a:pPr>
            <a:r>
              <a:rPr lang="en-US" sz="800" dirty="0">
                <a:solidFill>
                  <a:srgbClr val="6D28D9"/>
                </a:solidFill>
                <a:latin typeface="Carlito" pitchFamily="34" charset="0"/>
                <a:ea typeface="Carlito" pitchFamily="34" charset="-122"/>
                <a:cs typeface="Carlito" pitchFamily="34" charset="-120"/>
              </a:rPr>
              <a:t>ACD · API · CRM · SSO · Kiosk</a:t>
            </a:r>
            <a:pPr algn="l" indent="0" marL="0">
              <a:lnSpc>
                <a:spcPts val="928"/>
              </a:lnSpc>
              <a:buNone/>
            </a:pPr>
            <a:r>
              <a:rPr lang="en-US" sz="800" dirty="0">
                <a:solidFill>
                  <a:srgbClr val="374151"/>
                </a:solidFill>
                <a:latin typeface="Carlito" pitchFamily="34" charset="0"/>
                <a:ea typeface="Carlito" pitchFamily="34" charset="-122"/>
                <a:cs typeface="Carlito" pitchFamily="34" charset="-120"/>
              </a:rPr>
              <a:t> configured by MassaPro eng.</a:t>
            </a:r>
            <a:endParaRPr lang="en-US" sz="800" dirty="0"/>
          </a:p>
        </p:txBody>
      </p:sp>
      <p:sp>
        <p:nvSpPr>
          <p:cNvPr id="57" name="Text 54"/>
          <p:cNvSpPr/>
          <p:nvPr/>
        </p:nvSpPr>
        <p:spPr>
          <a:xfrm>
            <a:off x="578644" y="2900363"/>
            <a:ext cx="157163" cy="157163"/>
          </a:xfrm>
          <a:prstGeom prst="roundRect">
            <a:avLst>
              <a:gd name="adj" fmla="val 66666"/>
            </a:avLst>
          </a:prstGeom>
          <a:solidFill>
            <a:srgbClr val="A78BFA"/>
          </a:solidFill>
          <a:ln/>
        </p:spPr>
        <p:txBody>
          <a:bodyPr wrap="square" rtlCol="0" anchor="ctr"/>
          <a:lstStyle/>
          <a:p>
            <a:pPr indent="0" marL="0">
              <a:buNone/>
            </a:pPr>
            <a:endParaRPr lang="en-US" dirty="0"/>
          </a:p>
        </p:txBody>
      </p:sp>
      <p:sp>
        <p:nvSpPr>
          <p:cNvPr id="58" name="Text 55"/>
          <p:cNvSpPr/>
          <p:nvPr/>
        </p:nvSpPr>
        <p:spPr>
          <a:xfrm>
            <a:off x="792956" y="2928938"/>
            <a:ext cx="914400" cy="128016"/>
          </a:xfrm>
          <a:prstGeom prst="rect">
            <a:avLst/>
          </a:prstGeom>
          <a:noFill/>
          <a:ln/>
        </p:spPr>
        <p:txBody>
          <a:bodyPr wrap="none" lIns="0" tIns="0" rIns="85725" bIns="0" rtlCol="0" anchor="t"/>
          <a:lstStyle/>
          <a:p>
            <a:pPr algn="l" indent="0" marL="0">
              <a:lnSpc>
                <a:spcPts val="1013"/>
              </a:lnSpc>
              <a:buNone/>
            </a:pPr>
            <a:r>
              <a:rPr lang="en-US" sz="675" dirty="0">
                <a:solidFill>
                  <a:srgbClr val="1F2937"/>
                </a:solidFill>
                <a:latin typeface="Carlito" pitchFamily="34" charset="0"/>
                <a:ea typeface="Carlito" pitchFamily="34" charset="-122"/>
                <a:cs typeface="Carlito" pitchFamily="34" charset="-120"/>
              </a:rPr>
              <a:t>AI Configuration</a:t>
            </a:r>
            <a:endParaRPr lang="en-US" sz="675" dirty="0"/>
          </a:p>
        </p:txBody>
      </p:sp>
      <p:sp>
        <p:nvSpPr>
          <p:cNvPr id="59" name="Text 56"/>
          <p:cNvSpPr/>
          <p:nvPr/>
        </p:nvSpPr>
        <p:spPr>
          <a:xfrm>
            <a:off x="578644" y="2900363"/>
            <a:ext cx="157163" cy="157163"/>
          </a:xfrm>
          <a:prstGeom prst="ellipse">
            <a:avLst/>
          </a:prstGeom>
          <a:solidFill>
            <a:srgbClr val="A78BFA"/>
          </a:solidFill>
          <a:ln/>
        </p:spPr>
        <p:txBody>
          <a:bodyPr wrap="square" rtlCol="0" anchor="ctr"/>
          <a:lstStyle/>
          <a:p>
            <a:pPr indent="0" marL="0">
              <a:buNone/>
            </a:pPr>
            <a:endParaRPr lang="en-US" dirty="0"/>
          </a:p>
        </p:txBody>
      </p:sp>
      <p:sp>
        <p:nvSpPr>
          <p:cNvPr id="60" name="Text 57"/>
          <p:cNvSpPr/>
          <p:nvPr/>
        </p:nvSpPr>
        <p:spPr>
          <a:xfrm>
            <a:off x="578644" y="2900363"/>
            <a:ext cx="1057275" cy="157163"/>
          </a:xfrm>
          <a:prstGeom prst="rect">
            <a:avLst/>
          </a:prstGeom>
          <a:noFill/>
          <a:ln/>
        </p:spPr>
        <p:txBody>
          <a:bodyPr wrap="none" lIns="0" tIns="0" rIns="0" bIns="0" rtlCol="0" anchor="ctr"/>
          <a:lstStyle/>
          <a:p>
            <a:pPr algn="ctr" indent="0" marL="0">
              <a:lnSpc>
                <a:spcPts val="92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4</a:t>
            </a:r>
            <a:endParaRPr lang="en-US" sz="800" dirty="0"/>
          </a:p>
        </p:txBody>
      </p:sp>
      <p:sp>
        <p:nvSpPr>
          <p:cNvPr id="61" name="Text 58"/>
          <p:cNvSpPr/>
          <p:nvPr/>
        </p:nvSpPr>
        <p:spPr>
          <a:xfrm>
            <a:off x="3335908" y="2900363"/>
            <a:ext cx="1210866" cy="157163"/>
          </a:xfrm>
          <a:prstGeom prst="roundRect">
            <a:avLst>
              <a:gd name="adj" fmla="val 24242"/>
            </a:avLst>
          </a:prstGeom>
          <a:solidFill>
            <a:srgbClr val="A78BFA"/>
          </a:solidFill>
          <a:ln/>
        </p:spPr>
        <p:txBody>
          <a:bodyPr wrap="square" rtlCol="0" anchor="ctr"/>
          <a:lstStyle/>
          <a:p>
            <a:pPr indent="0" marL="0">
              <a:buNone/>
            </a:pPr>
            <a:endParaRPr lang="en-US" dirty="0"/>
          </a:p>
        </p:txBody>
      </p:sp>
      <p:sp>
        <p:nvSpPr>
          <p:cNvPr id="62" name="Text 59"/>
          <p:cNvSpPr/>
          <p:nvPr/>
        </p:nvSpPr>
        <p:spPr>
          <a:xfrm>
            <a:off x="3335908" y="2900363"/>
            <a:ext cx="1210866" cy="157163"/>
          </a:xfrm>
          <a:prstGeom prst="rect">
            <a:avLst/>
          </a:prstGeom>
          <a:noFill/>
          <a:ln/>
        </p:spPr>
        <p:txBody>
          <a:bodyPr wrap="none" lIns="0" tIns="0" rIns="0" bIns="0" rtlCol="0" anchor="ctr"/>
          <a:lstStyle/>
          <a:p>
            <a:pPr algn="ctr" indent="0" marL="0">
              <a:lnSpc>
                <a:spcPts val="844"/>
              </a:lnSpc>
              <a:buNone/>
            </a:pPr>
            <a:r>
              <a:rPr lang="en-US" sz="800" b="1" spc="23" kern="0" dirty="0">
                <a:solidFill>
                  <a:srgbClr val="FFFFFF"/>
                </a:solidFill>
                <a:latin typeface="Liberation Sans Narrow" pitchFamily="34" charset="0"/>
                <a:ea typeface="Liberation Sans Narrow" pitchFamily="34" charset="-122"/>
                <a:cs typeface="Liberation Sans Narrow" pitchFamily="34" charset="-120"/>
              </a:rPr>
              <a:t>W5–7 parallel</a:t>
            </a:r>
            <a:endParaRPr lang="en-US" sz="800" dirty="0"/>
          </a:p>
        </p:txBody>
      </p:sp>
      <p:sp>
        <p:nvSpPr>
          <p:cNvPr id="63" name="Text 60"/>
          <p:cNvSpPr/>
          <p:nvPr/>
        </p:nvSpPr>
        <p:spPr>
          <a:xfrm>
            <a:off x="6565106" y="2861072"/>
            <a:ext cx="2000250" cy="329184"/>
          </a:xfrm>
          <a:prstGeom prst="rect">
            <a:avLst/>
          </a:prstGeom>
          <a:noFill/>
          <a:ln/>
        </p:spPr>
        <p:txBody>
          <a:bodyPr wrap="square" lIns="85725" tIns="0" rIns="0" bIns="0" rtlCol="0" anchor="t"/>
          <a:lstStyle/>
          <a:p>
            <a:pPr algn="l" indent="0" marL="0">
              <a:lnSpc>
                <a:spcPts val="928"/>
              </a:lnSpc>
              <a:buNone/>
            </a:pPr>
            <a:r>
              <a:rPr lang="en-US" sz="800" dirty="0">
                <a:solidFill>
                  <a:srgbClr val="6D28D9"/>
                </a:solidFill>
                <a:latin typeface="Carlito" pitchFamily="34" charset="0"/>
                <a:ea typeface="Carlito" pitchFamily="34" charset="-122"/>
                <a:cs typeface="Carlito" pitchFamily="34" charset="-120"/>
              </a:rPr>
              <a:t>AI Agent · AI Guru · Flow</a:t>
            </a:r>
            <a:pPr algn="l" indent="0" marL="0">
              <a:lnSpc>
                <a:spcPts val="928"/>
              </a:lnSpc>
              <a:buNone/>
            </a:pPr>
            <a:r>
              <a:rPr lang="en-US" sz="800" dirty="0">
                <a:solidFill>
                  <a:srgbClr val="374151"/>
                </a:solidFill>
                <a:latin typeface="Carlito" pitchFamily="34" charset="0"/>
                <a:ea typeface="Carlito" pitchFamily="34" charset="-122"/>
                <a:cs typeface="Carlito" pitchFamily="34" charset="-120"/>
              </a:rPr>
              <a:t> prompts, routing rules</a:t>
            </a:r>
            <a:endParaRPr lang="en-US" sz="800" dirty="0"/>
          </a:p>
        </p:txBody>
      </p:sp>
      <p:sp>
        <p:nvSpPr>
          <p:cNvPr id="64" name="Text 61"/>
          <p:cNvSpPr/>
          <p:nvPr/>
        </p:nvSpPr>
        <p:spPr>
          <a:xfrm>
            <a:off x="578644" y="3186113"/>
            <a:ext cx="157163" cy="157163"/>
          </a:xfrm>
          <a:prstGeom prst="roundRect">
            <a:avLst>
              <a:gd name="adj" fmla="val 66666"/>
            </a:avLst>
          </a:prstGeom>
          <a:solidFill>
            <a:srgbClr val="7C3AED"/>
          </a:solidFill>
          <a:ln/>
        </p:spPr>
        <p:txBody>
          <a:bodyPr wrap="square" rtlCol="0" anchor="ctr"/>
          <a:lstStyle/>
          <a:p>
            <a:pPr indent="0" marL="0">
              <a:buNone/>
            </a:pPr>
            <a:endParaRPr lang="en-US" dirty="0"/>
          </a:p>
        </p:txBody>
      </p:sp>
      <p:sp>
        <p:nvSpPr>
          <p:cNvPr id="65" name="Text 62"/>
          <p:cNvSpPr/>
          <p:nvPr/>
        </p:nvSpPr>
        <p:spPr>
          <a:xfrm>
            <a:off x="792956" y="3214688"/>
            <a:ext cx="914400" cy="128016"/>
          </a:xfrm>
          <a:prstGeom prst="rect">
            <a:avLst/>
          </a:prstGeom>
          <a:noFill/>
          <a:ln/>
        </p:spPr>
        <p:txBody>
          <a:bodyPr wrap="none" lIns="0" tIns="0" rIns="85725" bIns="0" rtlCol="0" anchor="t"/>
          <a:lstStyle/>
          <a:p>
            <a:pPr algn="l" indent="0" marL="0">
              <a:lnSpc>
                <a:spcPts val="1013"/>
              </a:lnSpc>
              <a:buNone/>
            </a:pPr>
            <a:r>
              <a:rPr lang="en-US" sz="800" dirty="0">
                <a:solidFill>
                  <a:srgbClr val="1F2937"/>
                </a:solidFill>
                <a:latin typeface="Carlito" pitchFamily="34" charset="0"/>
                <a:ea typeface="Carlito" pitchFamily="34" charset="-122"/>
                <a:cs typeface="Carlito" pitchFamily="34" charset="-120"/>
              </a:rPr>
              <a:t>Testing</a:t>
            </a:r>
            <a:endParaRPr lang="en-US" sz="800" dirty="0"/>
          </a:p>
        </p:txBody>
      </p:sp>
      <p:sp>
        <p:nvSpPr>
          <p:cNvPr id="66" name="Text 63"/>
          <p:cNvSpPr/>
          <p:nvPr/>
        </p:nvSpPr>
        <p:spPr>
          <a:xfrm>
            <a:off x="578644" y="3186113"/>
            <a:ext cx="157163" cy="157163"/>
          </a:xfrm>
          <a:prstGeom prst="ellipse">
            <a:avLst/>
          </a:prstGeom>
          <a:solidFill>
            <a:srgbClr val="7C3AED"/>
          </a:solidFill>
          <a:ln/>
        </p:spPr>
        <p:txBody>
          <a:bodyPr wrap="square" rtlCol="0" anchor="ctr"/>
          <a:lstStyle/>
          <a:p>
            <a:pPr indent="0" marL="0">
              <a:buNone/>
            </a:pPr>
            <a:endParaRPr lang="en-US" dirty="0"/>
          </a:p>
        </p:txBody>
      </p:sp>
      <p:sp>
        <p:nvSpPr>
          <p:cNvPr id="67" name="Text 64"/>
          <p:cNvSpPr/>
          <p:nvPr/>
        </p:nvSpPr>
        <p:spPr>
          <a:xfrm>
            <a:off x="578644" y="3186113"/>
            <a:ext cx="1057275" cy="157163"/>
          </a:xfrm>
          <a:prstGeom prst="rect">
            <a:avLst/>
          </a:prstGeom>
          <a:noFill/>
          <a:ln/>
        </p:spPr>
        <p:txBody>
          <a:bodyPr wrap="none" lIns="0" tIns="0" rIns="0" bIns="0" rtlCol="0" anchor="ctr"/>
          <a:lstStyle/>
          <a:p>
            <a:pPr algn="ctr" indent="0" marL="0">
              <a:lnSpc>
                <a:spcPts val="92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5</a:t>
            </a:r>
            <a:endParaRPr lang="en-US" sz="800" dirty="0"/>
          </a:p>
        </p:txBody>
      </p:sp>
      <p:sp>
        <p:nvSpPr>
          <p:cNvPr id="68" name="Text 65"/>
          <p:cNvSpPr/>
          <p:nvPr/>
        </p:nvSpPr>
        <p:spPr>
          <a:xfrm>
            <a:off x="4143375" y="3186113"/>
            <a:ext cx="1210866" cy="157163"/>
          </a:xfrm>
          <a:prstGeom prst="roundRect">
            <a:avLst>
              <a:gd name="adj" fmla="val 24242"/>
            </a:avLst>
          </a:prstGeom>
          <a:solidFill>
            <a:srgbClr val="7C3AED"/>
          </a:solidFill>
          <a:ln/>
        </p:spPr>
        <p:txBody>
          <a:bodyPr wrap="square" rtlCol="0" anchor="ctr"/>
          <a:lstStyle/>
          <a:p>
            <a:pPr indent="0" marL="0">
              <a:buNone/>
            </a:pPr>
            <a:endParaRPr lang="en-US" dirty="0"/>
          </a:p>
        </p:txBody>
      </p:sp>
      <p:sp>
        <p:nvSpPr>
          <p:cNvPr id="69" name="Text 66"/>
          <p:cNvSpPr/>
          <p:nvPr/>
        </p:nvSpPr>
        <p:spPr>
          <a:xfrm>
            <a:off x="4143375" y="3186113"/>
            <a:ext cx="1210866" cy="157163"/>
          </a:xfrm>
          <a:prstGeom prst="rect">
            <a:avLst/>
          </a:prstGeom>
          <a:noFill/>
          <a:ln/>
        </p:spPr>
        <p:txBody>
          <a:bodyPr wrap="none" lIns="0" tIns="0" rIns="0" bIns="0" rtlCol="0" anchor="ctr"/>
          <a:lstStyle/>
          <a:p>
            <a:pPr algn="ctr" indent="0" marL="0">
              <a:lnSpc>
                <a:spcPts val="844"/>
              </a:lnSpc>
              <a:buNone/>
            </a:pPr>
            <a:r>
              <a:rPr lang="en-US" sz="800" b="1" spc="23" kern="0" dirty="0">
                <a:solidFill>
                  <a:srgbClr val="FFFFFF"/>
                </a:solidFill>
                <a:latin typeface="Liberation Sans Narrow" pitchFamily="34" charset="0"/>
                <a:ea typeface="Liberation Sans Narrow" pitchFamily="34" charset="-122"/>
                <a:cs typeface="Liberation Sans Narrow" pitchFamily="34" charset="-120"/>
              </a:rPr>
              <a:t>W7–9</a:t>
            </a:r>
            <a:endParaRPr lang="en-US" sz="800" dirty="0"/>
          </a:p>
        </p:txBody>
      </p:sp>
      <p:sp>
        <p:nvSpPr>
          <p:cNvPr id="70" name="Text 67"/>
          <p:cNvSpPr/>
          <p:nvPr/>
        </p:nvSpPr>
        <p:spPr>
          <a:xfrm>
            <a:off x="6565106" y="3146822"/>
            <a:ext cx="2000250" cy="329184"/>
          </a:xfrm>
          <a:prstGeom prst="rect">
            <a:avLst/>
          </a:prstGeom>
          <a:noFill/>
          <a:ln/>
        </p:spPr>
        <p:txBody>
          <a:bodyPr wrap="square" lIns="85725" tIns="0" rIns="0" bIns="0" rtlCol="0" anchor="t"/>
          <a:lstStyle/>
          <a:p>
            <a:pPr algn="l" indent="0" marL="0">
              <a:lnSpc>
                <a:spcPts val="928"/>
              </a:lnSpc>
              <a:buNone/>
            </a:pPr>
            <a:r>
              <a:rPr lang="en-US" sz="800" dirty="0">
                <a:solidFill>
                  <a:srgbClr val="6D28D9"/>
                </a:solidFill>
                <a:latin typeface="Carlito" pitchFamily="34" charset="0"/>
                <a:ea typeface="Carlito" pitchFamily="34" charset="-122"/>
                <a:cs typeface="Carlito" pitchFamily="34" charset="-120"/>
              </a:rPr>
              <a:t>Functional · Security · UAT</a:t>
            </a:r>
            <a:pPr algn="l" indent="0" marL="0">
              <a:lnSpc>
                <a:spcPts val="928"/>
              </a:lnSpc>
              <a:buNone/>
            </a:pPr>
            <a:r>
              <a:rPr lang="en-US" sz="800" dirty="0">
                <a:solidFill>
                  <a:srgbClr val="374151"/>
                </a:solidFill>
                <a:latin typeface="Carlito" pitchFamily="34" charset="0"/>
                <a:ea typeface="Carlito" pitchFamily="34" charset="-122"/>
                <a:cs typeface="Carlito" pitchFamily="34" charset="-120"/>
              </a:rPr>
              <a:t> with iterative refinement</a:t>
            </a:r>
            <a:endParaRPr lang="en-US" sz="800" dirty="0"/>
          </a:p>
        </p:txBody>
      </p:sp>
      <p:sp>
        <p:nvSpPr>
          <p:cNvPr id="71" name="Text 68"/>
          <p:cNvSpPr/>
          <p:nvPr/>
        </p:nvSpPr>
        <p:spPr>
          <a:xfrm>
            <a:off x="578644" y="3471863"/>
            <a:ext cx="157163" cy="157163"/>
          </a:xfrm>
          <a:prstGeom prst="roundRect">
            <a:avLst>
              <a:gd name="adj" fmla="val 66666"/>
            </a:avLst>
          </a:prstGeom>
          <a:solidFill>
            <a:srgbClr val="7C3AED"/>
          </a:solidFill>
          <a:ln/>
        </p:spPr>
        <p:txBody>
          <a:bodyPr wrap="square" rtlCol="0" anchor="ctr"/>
          <a:lstStyle/>
          <a:p>
            <a:pPr indent="0" marL="0">
              <a:buNone/>
            </a:pPr>
            <a:endParaRPr lang="en-US" dirty="0"/>
          </a:p>
        </p:txBody>
      </p:sp>
      <p:sp>
        <p:nvSpPr>
          <p:cNvPr id="72" name="Text 69"/>
          <p:cNvSpPr/>
          <p:nvPr/>
        </p:nvSpPr>
        <p:spPr>
          <a:xfrm>
            <a:off x="792956" y="3500438"/>
            <a:ext cx="914400" cy="128016"/>
          </a:xfrm>
          <a:prstGeom prst="rect">
            <a:avLst/>
          </a:prstGeom>
          <a:noFill/>
          <a:ln/>
        </p:spPr>
        <p:txBody>
          <a:bodyPr wrap="none" lIns="0" tIns="0" rIns="85725" bIns="0" rtlCol="0" anchor="t"/>
          <a:lstStyle/>
          <a:p>
            <a:pPr algn="l" indent="0" marL="0">
              <a:lnSpc>
                <a:spcPts val="1013"/>
              </a:lnSpc>
              <a:buNone/>
            </a:pPr>
            <a:r>
              <a:rPr lang="en-US" sz="800" dirty="0">
                <a:solidFill>
                  <a:srgbClr val="1F2937"/>
                </a:solidFill>
                <a:latin typeface="Carlito" pitchFamily="34" charset="0"/>
                <a:ea typeface="Carlito" pitchFamily="34" charset="-122"/>
                <a:cs typeface="Carlito" pitchFamily="34" charset="-120"/>
              </a:rPr>
              <a:t>Training</a:t>
            </a:r>
            <a:endParaRPr lang="en-US" sz="800" dirty="0"/>
          </a:p>
        </p:txBody>
      </p:sp>
      <p:sp>
        <p:nvSpPr>
          <p:cNvPr id="73" name="Text 70"/>
          <p:cNvSpPr/>
          <p:nvPr/>
        </p:nvSpPr>
        <p:spPr>
          <a:xfrm>
            <a:off x="578644" y="3471863"/>
            <a:ext cx="157163" cy="157163"/>
          </a:xfrm>
          <a:prstGeom prst="ellipse">
            <a:avLst/>
          </a:prstGeom>
          <a:solidFill>
            <a:srgbClr val="7C3AED"/>
          </a:solidFill>
          <a:ln/>
        </p:spPr>
        <p:txBody>
          <a:bodyPr wrap="square" rtlCol="0" anchor="ctr"/>
          <a:lstStyle/>
          <a:p>
            <a:pPr indent="0" marL="0">
              <a:buNone/>
            </a:pPr>
            <a:endParaRPr lang="en-US" dirty="0"/>
          </a:p>
        </p:txBody>
      </p:sp>
      <p:sp>
        <p:nvSpPr>
          <p:cNvPr id="74" name="Text 71"/>
          <p:cNvSpPr/>
          <p:nvPr/>
        </p:nvSpPr>
        <p:spPr>
          <a:xfrm>
            <a:off x="578644" y="3471863"/>
            <a:ext cx="1057275" cy="157163"/>
          </a:xfrm>
          <a:prstGeom prst="rect">
            <a:avLst/>
          </a:prstGeom>
          <a:noFill/>
          <a:ln/>
        </p:spPr>
        <p:txBody>
          <a:bodyPr wrap="none" lIns="0" tIns="0" rIns="0" bIns="0" rtlCol="0" anchor="ctr"/>
          <a:lstStyle/>
          <a:p>
            <a:pPr algn="ctr" indent="0" marL="0">
              <a:lnSpc>
                <a:spcPts val="92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6</a:t>
            </a:r>
            <a:endParaRPr lang="en-US" sz="800" dirty="0"/>
          </a:p>
        </p:txBody>
      </p:sp>
      <p:sp>
        <p:nvSpPr>
          <p:cNvPr id="75" name="Text 72"/>
          <p:cNvSpPr/>
          <p:nvPr/>
        </p:nvSpPr>
        <p:spPr>
          <a:xfrm>
            <a:off x="4950730" y="3471863"/>
            <a:ext cx="807355" cy="157163"/>
          </a:xfrm>
          <a:prstGeom prst="roundRect">
            <a:avLst>
              <a:gd name="adj" fmla="val 24242"/>
            </a:avLst>
          </a:prstGeom>
          <a:solidFill>
            <a:srgbClr val="7C3AED"/>
          </a:solidFill>
          <a:ln/>
        </p:spPr>
        <p:txBody>
          <a:bodyPr wrap="square" rtlCol="0" anchor="ctr"/>
          <a:lstStyle/>
          <a:p>
            <a:pPr indent="0" marL="0">
              <a:buNone/>
            </a:pPr>
            <a:endParaRPr lang="en-US" dirty="0"/>
          </a:p>
        </p:txBody>
      </p:sp>
      <p:sp>
        <p:nvSpPr>
          <p:cNvPr id="76" name="Text 73"/>
          <p:cNvSpPr/>
          <p:nvPr/>
        </p:nvSpPr>
        <p:spPr>
          <a:xfrm>
            <a:off x="4950730" y="3471863"/>
            <a:ext cx="807355" cy="157163"/>
          </a:xfrm>
          <a:prstGeom prst="rect">
            <a:avLst/>
          </a:prstGeom>
          <a:noFill/>
          <a:ln/>
        </p:spPr>
        <p:txBody>
          <a:bodyPr wrap="none" lIns="0" tIns="0" rIns="0" bIns="0" rtlCol="0" anchor="ctr"/>
          <a:lstStyle/>
          <a:p>
            <a:pPr algn="ctr" indent="0" marL="0">
              <a:lnSpc>
                <a:spcPts val="844"/>
              </a:lnSpc>
              <a:buNone/>
            </a:pPr>
            <a:r>
              <a:rPr lang="en-US" sz="800" b="1" spc="23" kern="0" dirty="0">
                <a:solidFill>
                  <a:srgbClr val="FFFFFF"/>
                </a:solidFill>
                <a:latin typeface="Liberation Sans Narrow" pitchFamily="34" charset="0"/>
                <a:ea typeface="Liberation Sans Narrow" pitchFamily="34" charset="-122"/>
                <a:cs typeface="Liberation Sans Narrow" pitchFamily="34" charset="-120"/>
              </a:rPr>
              <a:t>W9–10</a:t>
            </a:r>
            <a:endParaRPr lang="en-US" sz="800" dirty="0"/>
          </a:p>
        </p:txBody>
      </p:sp>
      <p:sp>
        <p:nvSpPr>
          <p:cNvPr id="77" name="Text 74"/>
          <p:cNvSpPr/>
          <p:nvPr/>
        </p:nvSpPr>
        <p:spPr>
          <a:xfrm>
            <a:off x="6565106" y="3432572"/>
            <a:ext cx="2000250" cy="329184"/>
          </a:xfrm>
          <a:prstGeom prst="rect">
            <a:avLst/>
          </a:prstGeom>
          <a:noFill/>
          <a:ln/>
        </p:spPr>
        <p:txBody>
          <a:bodyPr wrap="square" lIns="85725" tIns="0" rIns="0" bIns="0" rtlCol="0" anchor="t"/>
          <a:lstStyle/>
          <a:p>
            <a:pPr algn="l" indent="0" marL="0">
              <a:lnSpc>
                <a:spcPts val="928"/>
              </a:lnSpc>
              <a:buNone/>
            </a:pPr>
            <a:r>
              <a:rPr lang="en-US" sz="800" dirty="0">
                <a:solidFill>
                  <a:srgbClr val="6D28D9"/>
                </a:solidFill>
                <a:latin typeface="Carlito" pitchFamily="34" charset="0"/>
                <a:ea typeface="Carlito" pitchFamily="34" charset="-122"/>
                <a:cs typeface="Carlito" pitchFamily="34" charset="-120"/>
              </a:rPr>
              <a:t>Role-based training</a:t>
            </a:r>
            <a:pPr algn="l" indent="0" marL="0">
              <a:lnSpc>
                <a:spcPts val="928"/>
              </a:lnSpc>
              <a:buNone/>
            </a:pPr>
            <a:r>
              <a:rPr lang="en-US" sz="800" dirty="0">
                <a:solidFill>
                  <a:srgbClr val="374151"/>
                </a:solidFill>
                <a:latin typeface="Carlito" pitchFamily="34" charset="0"/>
                <a:ea typeface="Carlito" pitchFamily="34" charset="-122"/>
                <a:cs typeface="Carlito" pitchFamily="34" charset="-120"/>
              </a:rPr>
              <a:t> — admins, supervisors, advisors</a:t>
            </a:r>
            <a:endParaRPr lang="en-US" sz="800" dirty="0"/>
          </a:p>
        </p:txBody>
      </p:sp>
      <p:sp>
        <p:nvSpPr>
          <p:cNvPr id="78" name="Text 75"/>
          <p:cNvSpPr/>
          <p:nvPr/>
        </p:nvSpPr>
        <p:spPr>
          <a:xfrm>
            <a:off x="578644" y="3757613"/>
            <a:ext cx="157163" cy="157163"/>
          </a:xfrm>
          <a:prstGeom prst="roundRect">
            <a:avLst>
              <a:gd name="adj" fmla="val 66666"/>
            </a:avLst>
          </a:prstGeom>
          <a:solidFill>
            <a:srgbClr val="6D28D9"/>
          </a:solidFill>
          <a:ln/>
        </p:spPr>
        <p:txBody>
          <a:bodyPr wrap="square" rtlCol="0" anchor="ctr"/>
          <a:lstStyle/>
          <a:p>
            <a:pPr indent="0" marL="0">
              <a:buNone/>
            </a:pPr>
            <a:endParaRPr lang="en-US" dirty="0"/>
          </a:p>
        </p:txBody>
      </p:sp>
      <p:sp>
        <p:nvSpPr>
          <p:cNvPr id="79" name="Text 76"/>
          <p:cNvSpPr/>
          <p:nvPr/>
        </p:nvSpPr>
        <p:spPr>
          <a:xfrm>
            <a:off x="792956" y="3786188"/>
            <a:ext cx="914400" cy="128016"/>
          </a:xfrm>
          <a:prstGeom prst="rect">
            <a:avLst/>
          </a:prstGeom>
          <a:noFill/>
          <a:ln/>
        </p:spPr>
        <p:txBody>
          <a:bodyPr wrap="none" lIns="0" tIns="0" rIns="85725" bIns="0" rtlCol="0" anchor="t"/>
          <a:lstStyle/>
          <a:p>
            <a:pPr algn="l" indent="0" marL="0">
              <a:lnSpc>
                <a:spcPts val="1013"/>
              </a:lnSpc>
              <a:buNone/>
            </a:pPr>
            <a:r>
              <a:rPr lang="en-US" sz="800" dirty="0">
                <a:solidFill>
                  <a:srgbClr val="1F2937"/>
                </a:solidFill>
                <a:latin typeface="Carlito" pitchFamily="34" charset="0"/>
                <a:ea typeface="Carlito" pitchFamily="34" charset="-122"/>
                <a:cs typeface="Carlito" pitchFamily="34" charset="-120"/>
              </a:rPr>
              <a:t>Go-Live</a:t>
            </a:r>
            <a:endParaRPr lang="en-US" sz="800" dirty="0"/>
          </a:p>
        </p:txBody>
      </p:sp>
      <p:sp>
        <p:nvSpPr>
          <p:cNvPr id="80" name="Text 77"/>
          <p:cNvSpPr/>
          <p:nvPr/>
        </p:nvSpPr>
        <p:spPr>
          <a:xfrm>
            <a:off x="578644" y="3757613"/>
            <a:ext cx="157163" cy="157163"/>
          </a:xfrm>
          <a:prstGeom prst="ellipse">
            <a:avLst/>
          </a:prstGeom>
          <a:solidFill>
            <a:srgbClr val="6D28D9"/>
          </a:solidFill>
          <a:ln/>
        </p:spPr>
        <p:txBody>
          <a:bodyPr wrap="square" rtlCol="0" anchor="ctr"/>
          <a:lstStyle/>
          <a:p>
            <a:pPr indent="0" marL="0">
              <a:buNone/>
            </a:pPr>
            <a:endParaRPr lang="en-US" dirty="0"/>
          </a:p>
        </p:txBody>
      </p:sp>
      <p:sp>
        <p:nvSpPr>
          <p:cNvPr id="81" name="Text 78"/>
          <p:cNvSpPr/>
          <p:nvPr/>
        </p:nvSpPr>
        <p:spPr>
          <a:xfrm>
            <a:off x="578644" y="3757613"/>
            <a:ext cx="1057275" cy="157163"/>
          </a:xfrm>
          <a:prstGeom prst="rect">
            <a:avLst/>
          </a:prstGeom>
          <a:noFill/>
          <a:ln/>
        </p:spPr>
        <p:txBody>
          <a:bodyPr wrap="none" lIns="0" tIns="0" rIns="0" bIns="0" rtlCol="0" anchor="ctr"/>
          <a:lstStyle/>
          <a:p>
            <a:pPr algn="ctr" indent="0" marL="0">
              <a:lnSpc>
                <a:spcPts val="92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7</a:t>
            </a:r>
            <a:endParaRPr lang="en-US" sz="800" dirty="0"/>
          </a:p>
        </p:txBody>
      </p:sp>
      <p:sp>
        <p:nvSpPr>
          <p:cNvPr id="82" name="Text 79"/>
          <p:cNvSpPr/>
          <p:nvPr/>
        </p:nvSpPr>
        <p:spPr>
          <a:xfrm>
            <a:off x="5354241" y="3757613"/>
            <a:ext cx="807355" cy="157163"/>
          </a:xfrm>
          <a:prstGeom prst="roundRect">
            <a:avLst>
              <a:gd name="adj" fmla="val 24242"/>
            </a:avLst>
          </a:prstGeom>
          <a:solidFill>
            <a:srgbClr val="6D28D9"/>
          </a:solidFill>
          <a:ln/>
        </p:spPr>
        <p:txBody>
          <a:bodyPr wrap="square" rtlCol="0" anchor="ctr"/>
          <a:lstStyle/>
          <a:p>
            <a:pPr indent="0" marL="0">
              <a:buNone/>
            </a:pPr>
            <a:endParaRPr lang="en-US" dirty="0"/>
          </a:p>
        </p:txBody>
      </p:sp>
      <p:sp>
        <p:nvSpPr>
          <p:cNvPr id="83" name="Text 80"/>
          <p:cNvSpPr/>
          <p:nvPr/>
        </p:nvSpPr>
        <p:spPr>
          <a:xfrm>
            <a:off x="5354241" y="3757613"/>
            <a:ext cx="807355" cy="157163"/>
          </a:xfrm>
          <a:prstGeom prst="rect">
            <a:avLst/>
          </a:prstGeom>
          <a:noFill/>
          <a:ln/>
        </p:spPr>
        <p:txBody>
          <a:bodyPr wrap="none" lIns="0" tIns="0" rIns="0" bIns="0" rtlCol="0" anchor="ctr"/>
          <a:lstStyle/>
          <a:p>
            <a:pPr algn="ctr" indent="0" marL="0">
              <a:lnSpc>
                <a:spcPts val="844"/>
              </a:lnSpc>
              <a:buNone/>
            </a:pPr>
            <a:r>
              <a:rPr lang="en-US" sz="800" b="1" spc="23" kern="0" dirty="0">
                <a:solidFill>
                  <a:srgbClr val="FFFFFF"/>
                </a:solidFill>
                <a:latin typeface="Liberation Sans Narrow" pitchFamily="34" charset="0"/>
                <a:ea typeface="Liberation Sans Narrow" pitchFamily="34" charset="-122"/>
                <a:cs typeface="Liberation Sans Narrow" pitchFamily="34" charset="-120"/>
              </a:rPr>
              <a:t>W10–11</a:t>
            </a:r>
            <a:endParaRPr lang="en-US" sz="800" dirty="0"/>
          </a:p>
        </p:txBody>
      </p:sp>
      <p:sp>
        <p:nvSpPr>
          <p:cNvPr id="84" name="Text 81"/>
          <p:cNvSpPr/>
          <p:nvPr/>
        </p:nvSpPr>
        <p:spPr>
          <a:xfrm>
            <a:off x="6565106" y="3718322"/>
            <a:ext cx="2000250" cy="329184"/>
          </a:xfrm>
          <a:prstGeom prst="rect">
            <a:avLst/>
          </a:prstGeom>
          <a:noFill/>
          <a:ln/>
        </p:spPr>
        <p:txBody>
          <a:bodyPr wrap="square" lIns="85725" tIns="0" rIns="0" bIns="0" rtlCol="0" anchor="t"/>
          <a:lstStyle/>
          <a:p>
            <a:pPr algn="l" indent="0" marL="0">
              <a:lnSpc>
                <a:spcPts val="928"/>
              </a:lnSpc>
              <a:buNone/>
            </a:pPr>
            <a:r>
              <a:rPr lang="en-US" sz="800" dirty="0">
                <a:solidFill>
                  <a:srgbClr val="6D28D9"/>
                </a:solidFill>
                <a:latin typeface="Carlito" pitchFamily="34" charset="0"/>
                <a:ea typeface="Carlito" pitchFamily="34" charset="-122"/>
                <a:cs typeface="Carlito" pitchFamily="34" charset="-120"/>
              </a:rPr>
              <a:t>Production deployment</a:t>
            </a:r>
            <a:pPr algn="l" indent="0" marL="0">
              <a:lnSpc>
                <a:spcPts val="928"/>
              </a:lnSpc>
              <a:buNone/>
            </a:pPr>
            <a:r>
              <a:rPr lang="en-US" sz="800" dirty="0">
                <a:solidFill>
                  <a:srgbClr val="374151"/>
                </a:solidFill>
                <a:latin typeface="Carlito" pitchFamily="34" charset="0"/>
                <a:ea typeface="Carlito" pitchFamily="34" charset="-122"/>
                <a:cs typeface="Carlito" pitchFamily="34" charset="-120"/>
              </a:rPr>
              <a:t> with hypercare support</a:t>
            </a:r>
            <a:endParaRPr lang="en-US" sz="800" dirty="0"/>
          </a:p>
        </p:txBody>
      </p:sp>
      <p:sp>
        <p:nvSpPr>
          <p:cNvPr id="85" name="Text 82"/>
          <p:cNvSpPr/>
          <p:nvPr/>
        </p:nvSpPr>
        <p:spPr>
          <a:xfrm>
            <a:off x="578644" y="4043363"/>
            <a:ext cx="157163" cy="157163"/>
          </a:xfrm>
          <a:prstGeom prst="roundRect">
            <a:avLst>
              <a:gd name="adj" fmla="val 66666"/>
            </a:avLst>
          </a:prstGeom>
          <a:solidFill>
            <a:srgbClr val="5B21B6"/>
          </a:solidFill>
          <a:ln/>
        </p:spPr>
        <p:txBody>
          <a:bodyPr wrap="square" rtlCol="0" anchor="ctr"/>
          <a:lstStyle/>
          <a:p>
            <a:pPr indent="0" marL="0">
              <a:buNone/>
            </a:pPr>
            <a:endParaRPr lang="en-US" dirty="0"/>
          </a:p>
        </p:txBody>
      </p:sp>
      <p:sp>
        <p:nvSpPr>
          <p:cNvPr id="86" name="Text 83"/>
          <p:cNvSpPr/>
          <p:nvPr/>
        </p:nvSpPr>
        <p:spPr>
          <a:xfrm>
            <a:off x="792956" y="4071938"/>
            <a:ext cx="914400" cy="128016"/>
          </a:xfrm>
          <a:prstGeom prst="rect">
            <a:avLst/>
          </a:prstGeom>
          <a:noFill/>
          <a:ln/>
        </p:spPr>
        <p:txBody>
          <a:bodyPr wrap="none" lIns="0" tIns="0" rIns="85725" bIns="0" rtlCol="0" anchor="t"/>
          <a:lstStyle/>
          <a:p>
            <a:pPr algn="l" indent="0" marL="0">
              <a:lnSpc>
                <a:spcPts val="1013"/>
              </a:lnSpc>
              <a:buNone/>
            </a:pPr>
            <a:r>
              <a:rPr lang="en-US" sz="800" dirty="0">
                <a:solidFill>
                  <a:srgbClr val="1F2937"/>
                </a:solidFill>
                <a:latin typeface="Carlito" pitchFamily="34" charset="0"/>
                <a:ea typeface="Carlito" pitchFamily="34" charset="-122"/>
                <a:cs typeface="Carlito" pitchFamily="34" charset="-120"/>
              </a:rPr>
              <a:t>Hypercare</a:t>
            </a:r>
            <a:endParaRPr lang="en-US" sz="800" dirty="0"/>
          </a:p>
        </p:txBody>
      </p:sp>
      <p:sp>
        <p:nvSpPr>
          <p:cNvPr id="87" name="Text 84"/>
          <p:cNvSpPr/>
          <p:nvPr/>
        </p:nvSpPr>
        <p:spPr>
          <a:xfrm>
            <a:off x="578644" y="4043363"/>
            <a:ext cx="157163" cy="157163"/>
          </a:xfrm>
          <a:prstGeom prst="ellipse">
            <a:avLst/>
          </a:prstGeom>
          <a:solidFill>
            <a:srgbClr val="5B21B6"/>
          </a:solidFill>
          <a:ln/>
        </p:spPr>
        <p:txBody>
          <a:bodyPr wrap="square" rtlCol="0" anchor="ctr"/>
          <a:lstStyle/>
          <a:p>
            <a:pPr indent="0" marL="0">
              <a:buNone/>
            </a:pPr>
            <a:endParaRPr lang="en-US" dirty="0"/>
          </a:p>
        </p:txBody>
      </p:sp>
      <p:sp>
        <p:nvSpPr>
          <p:cNvPr id="88" name="Text 85"/>
          <p:cNvSpPr/>
          <p:nvPr/>
        </p:nvSpPr>
        <p:spPr>
          <a:xfrm>
            <a:off x="578644" y="4043363"/>
            <a:ext cx="1057275" cy="157163"/>
          </a:xfrm>
          <a:prstGeom prst="rect">
            <a:avLst/>
          </a:prstGeom>
          <a:noFill/>
          <a:ln/>
        </p:spPr>
        <p:txBody>
          <a:bodyPr wrap="none" lIns="0" tIns="0" rIns="0" bIns="0" rtlCol="0" anchor="ctr"/>
          <a:lstStyle/>
          <a:p>
            <a:pPr algn="ctr" indent="0" marL="0">
              <a:lnSpc>
                <a:spcPts val="928"/>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8</a:t>
            </a:r>
            <a:endParaRPr lang="en-US" sz="800" dirty="0"/>
          </a:p>
        </p:txBody>
      </p:sp>
      <p:sp>
        <p:nvSpPr>
          <p:cNvPr id="89" name="Text 86"/>
          <p:cNvSpPr/>
          <p:nvPr/>
        </p:nvSpPr>
        <p:spPr>
          <a:xfrm>
            <a:off x="6161596" y="4043363"/>
            <a:ext cx="403399" cy="157163"/>
          </a:xfrm>
          <a:prstGeom prst="roundRect">
            <a:avLst>
              <a:gd name="adj" fmla="val 24242"/>
            </a:avLst>
          </a:prstGeom>
          <a:solidFill>
            <a:srgbClr val="5B21B6"/>
          </a:solidFill>
          <a:ln/>
        </p:spPr>
        <p:txBody>
          <a:bodyPr wrap="square" rtlCol="0" anchor="ctr"/>
          <a:lstStyle/>
          <a:p>
            <a:pPr indent="0" marL="0">
              <a:buNone/>
            </a:pPr>
            <a:endParaRPr lang="en-US" dirty="0"/>
          </a:p>
        </p:txBody>
      </p:sp>
      <p:sp>
        <p:nvSpPr>
          <p:cNvPr id="90" name="Text 87"/>
          <p:cNvSpPr/>
          <p:nvPr/>
        </p:nvSpPr>
        <p:spPr>
          <a:xfrm>
            <a:off x="6161596" y="4043363"/>
            <a:ext cx="403399" cy="157163"/>
          </a:xfrm>
          <a:prstGeom prst="rect">
            <a:avLst/>
          </a:prstGeom>
          <a:noFill/>
          <a:ln/>
        </p:spPr>
        <p:txBody>
          <a:bodyPr wrap="none" lIns="0" tIns="0" rIns="0" bIns="0" rtlCol="0" anchor="ctr"/>
          <a:lstStyle/>
          <a:p>
            <a:pPr algn="ctr" indent="0" marL="0">
              <a:lnSpc>
                <a:spcPts val="844"/>
              </a:lnSpc>
              <a:buNone/>
            </a:pPr>
            <a:r>
              <a:rPr lang="en-US" sz="800" b="1" spc="23" kern="0" dirty="0">
                <a:solidFill>
                  <a:srgbClr val="FFFFFF"/>
                </a:solidFill>
                <a:latin typeface="Liberation Sans Narrow" pitchFamily="34" charset="0"/>
                <a:ea typeface="Liberation Sans Narrow" pitchFamily="34" charset="-122"/>
                <a:cs typeface="Liberation Sans Narrow" pitchFamily="34" charset="-120"/>
              </a:rPr>
              <a:t>W12+</a:t>
            </a:r>
            <a:endParaRPr lang="en-US" sz="800" dirty="0"/>
          </a:p>
        </p:txBody>
      </p:sp>
      <p:sp>
        <p:nvSpPr>
          <p:cNvPr id="91" name="Text 88"/>
          <p:cNvSpPr/>
          <p:nvPr/>
        </p:nvSpPr>
        <p:spPr>
          <a:xfrm>
            <a:off x="6565106" y="4004072"/>
            <a:ext cx="2000250" cy="246459"/>
          </a:xfrm>
          <a:prstGeom prst="rect">
            <a:avLst/>
          </a:prstGeom>
          <a:noFill/>
          <a:ln/>
        </p:spPr>
        <p:txBody>
          <a:bodyPr wrap="square" lIns="85725" tIns="0" rIns="0" bIns="0" rtlCol="0" anchor="t"/>
          <a:lstStyle/>
          <a:p>
            <a:pPr algn="l" indent="0" marL="0">
              <a:lnSpc>
                <a:spcPts val="928"/>
              </a:lnSpc>
              <a:buNone/>
            </a:pPr>
            <a:r>
              <a:rPr lang="en-US" sz="800" dirty="0">
                <a:solidFill>
                  <a:srgbClr val="6D28D9"/>
                </a:solidFill>
                <a:latin typeface="Carlito" pitchFamily="34" charset="0"/>
                <a:ea typeface="Carlito" pitchFamily="34" charset="-122"/>
                <a:cs typeface="Carlito" pitchFamily="34" charset="-120"/>
              </a:rPr>
              <a:t>Continuous optimisation</a:t>
            </a:r>
            <a:pPr algn="l" indent="0" marL="0">
              <a:lnSpc>
                <a:spcPts val="928"/>
              </a:lnSpc>
              <a:buNone/>
            </a:pPr>
            <a:r>
              <a:rPr lang="en-US" sz="800" dirty="0">
                <a:solidFill>
                  <a:srgbClr val="374151"/>
                </a:solidFill>
                <a:latin typeface="Carlito" pitchFamily="34" charset="0"/>
                <a:ea typeface="Carlito" pitchFamily="34" charset="-122"/>
                <a:cs typeface="Carlito" pitchFamily="34" charset="-120"/>
              </a:rPr>
              <a:t> — CSM + Account Manager</a:t>
            </a:r>
            <a:endParaRPr lang="en-US" sz="800" dirty="0"/>
          </a:p>
        </p:txBody>
      </p:sp>
      <p:sp>
        <p:nvSpPr>
          <p:cNvPr id="92" name="Text 89"/>
          <p:cNvSpPr/>
          <p:nvPr/>
        </p:nvSpPr>
        <p:spPr>
          <a:xfrm>
            <a:off x="428625" y="4386263"/>
            <a:ext cx="8286750" cy="328613"/>
          </a:xfrm>
          <a:prstGeom prst="roundRect">
            <a:avLst>
              <a:gd name="adj" fmla="val 23188"/>
            </a:avLst>
          </a:prstGeom>
          <a:solidFill>
            <a:srgbClr val="F5F3FF"/>
          </a:solidFill>
          <a:ln/>
        </p:spPr>
        <p:txBody>
          <a:bodyPr wrap="square" rtlCol="0" anchor="ctr"/>
          <a:lstStyle/>
          <a:p>
            <a:pPr indent="0" marL="0">
              <a:buNone/>
            </a:pPr>
            <a:endParaRPr lang="en-US" dirty="0"/>
          </a:p>
        </p:txBody>
      </p:sp>
      <p:sp>
        <p:nvSpPr>
          <p:cNvPr id="93" name="Shape 90"/>
          <p:cNvSpPr/>
          <p:nvPr/>
        </p:nvSpPr>
        <p:spPr>
          <a:xfrm>
            <a:off x="442913" y="4386263"/>
            <a:ext cx="0" cy="328613"/>
          </a:xfrm>
          <a:prstGeom prst="line">
            <a:avLst/>
          </a:prstGeom>
          <a:noFill/>
          <a:ln w="28575">
            <a:solidFill>
              <a:srgbClr val="7C3AED"/>
            </a:solidFill>
            <a:prstDash val="solid"/>
          </a:ln>
        </p:spPr>
      </p:sp>
      <p:sp>
        <p:nvSpPr>
          <p:cNvPr id="94" name="Text 91"/>
          <p:cNvSpPr/>
          <p:nvPr/>
        </p:nvSpPr>
        <p:spPr>
          <a:xfrm>
            <a:off x="600075" y="4471988"/>
            <a:ext cx="157163" cy="157163"/>
          </a:xfrm>
          <a:prstGeom prst="rect">
            <a:avLst/>
          </a:prstGeom>
          <a:noFill/>
          <a:ln/>
        </p:spPr>
        <p:txBody>
          <a:bodyPr wrap="none" lIns="0" tIns="0" rIns="0" bIns="0" rtlCol="0" anchor="ctr"/>
          <a:lstStyle/>
          <a:p>
            <a:pPr algn="ctr" indent="0" marL="0">
              <a:buNone/>
            </a:pPr>
            <a:r>
              <a:rPr lang="en-US" sz="1547" dirty="0">
                <a:solidFill>
                  <a:srgbClr val="7C3AED"/>
                </a:solidFill>
                <a:latin typeface="Segoe UI Symbol" pitchFamily="34" charset="0"/>
                <a:ea typeface="Segoe UI Symbol" pitchFamily="34" charset="-122"/>
                <a:cs typeface="Segoe UI Symbol" pitchFamily="34" charset="-120"/>
              </a:rPr>
              <a:t>✻</a:t>
            </a:r>
            <a:endParaRPr lang="en-US" sz="1547" dirty="0"/>
          </a:p>
        </p:txBody>
      </p:sp>
      <p:sp>
        <p:nvSpPr>
          <p:cNvPr id="95" name="Text 92"/>
          <p:cNvSpPr/>
          <p:nvPr/>
        </p:nvSpPr>
        <p:spPr>
          <a:xfrm>
            <a:off x="871538" y="4475559"/>
            <a:ext cx="7700963" cy="153591"/>
          </a:xfrm>
          <a:prstGeom prst="rect">
            <a:avLst/>
          </a:prstGeom>
          <a:noFill/>
          <a:ln/>
        </p:spPr>
        <p:txBody>
          <a:bodyPr wrap="square" lIns="0" tIns="0" rIns="0" bIns="0" rtlCol="0" anchor="t"/>
          <a:lstStyle/>
          <a:p>
            <a:pPr algn="l" indent="0" marL="0">
              <a:lnSpc>
                <a:spcPts val="1181"/>
              </a:lnSpc>
              <a:buNone/>
            </a:pPr>
            <a:r>
              <a:rPr lang="en-US" sz="800" dirty="0">
                <a:solidFill>
                  <a:srgbClr val="6D28D9"/>
                </a:solidFill>
                <a:latin typeface="Carlito" pitchFamily="34" charset="0"/>
                <a:ea typeface="Carlito" pitchFamily="34" charset="-122"/>
                <a:cs typeface="Carlito" pitchFamily="34" charset="-120"/>
              </a:rPr>
              <a:t>Managed end-to-end by MassaPro. </a:t>
            </a:r>
            <a:pPr algn="l" indent="0" marL="0">
              <a:lnSpc>
                <a:spcPts val="1181"/>
              </a:lnSpc>
              <a:buNone/>
            </a:pPr>
            <a:r>
              <a:rPr lang="en-US" sz="800" i="1" dirty="0">
                <a:solidFill>
                  <a:srgbClr val="6D28D9"/>
                </a:solidFill>
                <a:latin typeface="Carlito" pitchFamily="34" charset="0"/>
                <a:ea typeface="Carlito" pitchFamily="34" charset="-122"/>
                <a:cs typeface="Carlito" pitchFamily="34" charset="-120"/>
              </a:rPr>
              <a:t>Customer provides SMEs, access, and UAT resources.</a:t>
            </a:r>
            <a:endParaRPr lang="en-US" sz="800" dirty="0"/>
          </a:p>
        </p:txBody>
      </p:sp>
      <p:sp>
        <p:nvSpPr>
          <p:cNvPr id="96" name="Text 93"/>
          <p:cNvSpPr/>
          <p:nvPr/>
        </p:nvSpPr>
        <p:spPr>
          <a:xfrm>
            <a:off x="342900" y="4854178"/>
            <a:ext cx="4267609"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MASSAPRO IVR — SALES DECK</a:t>
            </a:r>
            <a:endParaRPr lang="en-US" sz="800" dirty="0"/>
          </a:p>
        </p:txBody>
      </p:sp>
      <p:sp>
        <p:nvSpPr>
          <p:cNvPr id="97" name="Text 94"/>
          <p:cNvSpPr/>
          <p:nvPr/>
        </p:nvSpPr>
        <p:spPr>
          <a:xfrm>
            <a:off x="4624797" y="4854178"/>
            <a:ext cx="3592748"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6B7280"/>
                </a:solidFill>
                <a:latin typeface="Carlito" pitchFamily="34" charset="0"/>
                <a:ea typeface="Carlito" pitchFamily="34" charset="-122"/>
                <a:cs typeface="Carlito" pitchFamily="34" charset="-120"/>
              </a:rPr>
              <a:t>CONFIDENTIAL</a:t>
            </a:r>
            <a:endParaRPr lang="en-US" sz="800" dirty="0"/>
          </a:p>
        </p:txBody>
      </p:sp>
      <p:sp>
        <p:nvSpPr>
          <p:cNvPr id="98" name="Text 95"/>
          <p:cNvSpPr/>
          <p:nvPr/>
        </p:nvSpPr>
        <p:spPr>
          <a:xfrm>
            <a:off x="8231832" y="4854178"/>
            <a:ext cx="684793" cy="164592"/>
          </a:xfrm>
          <a:prstGeom prst="rect">
            <a:avLst/>
          </a:prstGeom>
          <a:noFill/>
          <a:ln/>
        </p:spPr>
        <p:txBody>
          <a:bodyPr wrap="none" lIns="0" tIns="0" rIns="0" bIns="0" rtlCol="0" anchor="t"/>
          <a:lstStyle/>
          <a:p>
            <a:pPr algn="l" indent="0" marL="0">
              <a:lnSpc>
                <a:spcPts val="928"/>
              </a:lnSpc>
              <a:buNone/>
            </a:pPr>
            <a:r>
              <a:rPr lang="en-US" sz="619" spc="25" kern="0" dirty="0">
                <a:solidFill>
                  <a:srgbClr val="6B7280"/>
                </a:solidFill>
                <a:latin typeface="Liberation Sans Narrow" pitchFamily="34" charset="0"/>
                <a:ea typeface="Liberation Sans Narrow" pitchFamily="34" charset="-122"/>
                <a:cs typeface="Liberation Sans Narrow" pitchFamily="34" charset="-120"/>
              </a:rPr>
              <a:t>SLIDE 23 / 24</a:t>
            </a:r>
            <a:endParaRPr lang="en-US" sz="619" dirty="0"/>
          </a:p>
        </p:txBody>
      </p:sp>
      <p:pic>
        <p:nvPicPr>
          <p:cNvPr id="99" name="Image 1" descr="/home/z/my-project/download/slides/massapro-logo.png">    </p:cNvPr>
          <p:cNvPicPr>
            <a:picLocks noChangeAspect="1"/>
          </p:cNvPicPr>
          <p:nvPr/>
        </p:nvPicPr>
        <p:blipFill>
          <a:blip r:embed="rId2"/>
          <a:stretch>
            <a:fillRect/>
          </a:stretch>
        </p:blipFill>
        <p:spPr>
          <a:xfrm>
            <a:off x="342900" y="200025"/>
            <a:ext cx="200025" cy="200025"/>
          </a:xfrm>
          <a:prstGeom prst="rect">
            <a:avLst/>
          </a:prstGeom>
        </p:spPr>
      </p:pic>
      <p:sp>
        <p:nvSpPr>
          <p:cNvPr id="100" name="Text 96"/>
          <p:cNvSpPr/>
          <p:nvPr/>
        </p:nvSpPr>
        <p:spPr>
          <a:xfrm>
            <a:off x="614363" y="219670"/>
            <a:ext cx="769239"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6D28D9"/>
                </a:solidFill>
                <a:latin typeface="Carlito" pitchFamily="34" charset="0"/>
                <a:ea typeface="Carlito" pitchFamily="34" charset="-122"/>
                <a:cs typeface="Carlito" pitchFamily="34" charset="-120"/>
              </a:rPr>
              <a:t>MassaPro</a:t>
            </a:r>
            <a:endParaRPr lang="en-US" sz="844"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7429500" y="-571500"/>
            <a:ext cx="2286000" cy="2286000"/>
          </a:xfrm>
          <a:prstGeom prst="ellipse">
            <a:avLst/>
          </a:prstGeom>
          <a:solidFill>
            <a:srgbClr val="A78BFA">
              <a:alpha val="35000"/>
            </a:srgbClr>
          </a:solidFill>
          <a:ln/>
        </p:spPr>
        <p:txBody>
          <a:bodyPr wrap="square" rtlCol="0" anchor="ctr"/>
          <a:lstStyle/>
          <a:p>
            <a:pPr indent="0" marL="0">
              <a:buNone/>
            </a:pPr>
            <a:endParaRPr lang="en-US" dirty="0"/>
          </a:p>
        </p:txBody>
      </p:sp>
      <p:sp>
        <p:nvSpPr>
          <p:cNvPr id="5" name="Text 1"/>
          <p:cNvSpPr/>
          <p:nvPr/>
        </p:nvSpPr>
        <p:spPr>
          <a:xfrm>
            <a:off x="-428625" y="3571875"/>
            <a:ext cx="2000250" cy="2000250"/>
          </a:xfrm>
          <a:prstGeom prst="ellipse">
            <a:avLst/>
          </a:prstGeom>
          <a:solidFill>
            <a:srgbClr val="6D28D9">
              <a:alpha val="45000"/>
            </a:srgbClr>
          </a:solidFill>
          <a:ln/>
        </p:spPr>
        <p:txBody>
          <a:bodyPr wrap="square" rtlCol="0" anchor="ctr"/>
          <a:lstStyle/>
          <a:p>
            <a:pPr indent="0" marL="0">
              <a:buNone/>
            </a:pPr>
            <a:endParaRPr lang="en-US" dirty="0"/>
          </a:p>
        </p:txBody>
      </p:sp>
      <p:sp>
        <p:nvSpPr>
          <p:cNvPr id="6" name="Text 2"/>
          <p:cNvSpPr/>
          <p:nvPr/>
        </p:nvSpPr>
        <p:spPr>
          <a:xfrm>
            <a:off x="6544456" y="200025"/>
            <a:ext cx="2599544" cy="164592"/>
          </a:xfrm>
          <a:prstGeom prst="rect">
            <a:avLst/>
          </a:prstGeom>
          <a:noFill/>
          <a:ln/>
        </p:spPr>
        <p:txBody>
          <a:bodyPr wrap="square" lIns="0" tIns="0" rIns="0" bIns="0" rtlCol="0" anchor="t"/>
          <a:lstStyle/>
          <a:p>
            <a:pPr algn="l" indent="0" marL="0">
              <a:lnSpc>
                <a:spcPts val="928"/>
              </a:lnSpc>
              <a:buNone/>
            </a:pPr>
            <a:r>
              <a:rPr lang="en-US" sz="800" b="1" spc="111" kern="0" dirty="0">
                <a:solidFill>
                  <a:srgbClr val="FFFFFF">
                    <a:alpha val="65000"/>
                  </a:srgbClr>
                </a:solidFill>
                <a:latin typeface="Liberation Sans Narrow" pitchFamily="34" charset="0"/>
                <a:ea typeface="Liberation Sans Narrow" pitchFamily="34" charset="-122"/>
                <a:cs typeface="Liberation Sans Narrow" pitchFamily="34" charset="-120"/>
              </a:rPr>
              <a:t>CHAPTER 05 — ROADMAP &amp; NEXT STEPS</a:t>
            </a:r>
            <a:endParaRPr lang="en-US" sz="800" dirty="0"/>
          </a:p>
        </p:txBody>
      </p:sp>
      <p:sp>
        <p:nvSpPr>
          <p:cNvPr id="7" name="Text 3"/>
          <p:cNvSpPr/>
          <p:nvPr/>
        </p:nvSpPr>
        <p:spPr>
          <a:xfrm>
            <a:off x="405765" y="487261"/>
            <a:ext cx="1069174" cy="243488"/>
          </a:xfrm>
          <a:prstGeom prst="roundRect">
            <a:avLst>
              <a:gd name="adj" fmla="val 3907985"/>
            </a:avLst>
          </a:prstGeom>
          <a:solidFill>
            <a:srgbClr val="A78BFA">
              <a:alpha val="10000"/>
            </a:srgbClr>
          </a:solidFill>
          <a:ln w="7144">
            <a:solidFill>
              <a:srgbClr val="A78BFA"/>
            </a:solidFill>
            <a:prstDash val="solid"/>
          </a:ln>
        </p:spPr>
        <p:txBody>
          <a:bodyPr wrap="square" rtlCol="0" anchor="ctr"/>
          <a:lstStyle/>
          <a:p>
            <a:pPr indent="0" marL="0">
              <a:buNone/>
            </a:pPr>
            <a:endParaRPr lang="en-US" dirty="0"/>
          </a:p>
        </p:txBody>
      </p:sp>
      <p:sp>
        <p:nvSpPr>
          <p:cNvPr id="8" name="Text 4"/>
          <p:cNvSpPr/>
          <p:nvPr/>
        </p:nvSpPr>
        <p:spPr>
          <a:xfrm>
            <a:off x="649881" y="557213"/>
            <a:ext cx="738104" cy="129679"/>
          </a:xfrm>
          <a:prstGeom prst="rect">
            <a:avLst/>
          </a:prstGeom>
          <a:noFill/>
          <a:ln/>
        </p:spPr>
        <p:txBody>
          <a:bodyPr wrap="none" lIns="0" tIns="0" rIns="0" bIns="0" rtlCol="0" anchor="t"/>
          <a:lstStyle/>
          <a:p>
            <a:pPr algn="l" indent="0" marL="0">
              <a:lnSpc>
                <a:spcPts val="928"/>
              </a:lnSpc>
              <a:buNone/>
            </a:pPr>
            <a:r>
              <a:rPr lang="en-US" sz="800" b="1" spc="111" kern="0" dirty="0">
                <a:solidFill>
                  <a:srgbClr val="A78BFA"/>
                </a:solidFill>
                <a:latin typeface="Carlito" pitchFamily="34" charset="0"/>
                <a:ea typeface="Carlito" pitchFamily="34" charset="-122"/>
                <a:cs typeface="Carlito" pitchFamily="34" charset="-120"/>
              </a:rPr>
              <a:t>NEXT STEPS</a:t>
            </a:r>
            <a:endParaRPr lang="en-US" sz="800" dirty="0"/>
          </a:p>
        </p:txBody>
      </p:sp>
      <p:sp>
        <p:nvSpPr>
          <p:cNvPr id="9" name="Text 5"/>
          <p:cNvSpPr/>
          <p:nvPr/>
        </p:nvSpPr>
        <p:spPr>
          <a:xfrm>
            <a:off x="521494" y="558998"/>
            <a:ext cx="100013" cy="100013"/>
          </a:xfrm>
          <a:prstGeom prst="rect">
            <a:avLst/>
          </a:prstGeom>
          <a:noFill/>
          <a:ln/>
        </p:spPr>
        <p:txBody>
          <a:bodyPr wrap="none" lIns="0" tIns="0" rIns="0" bIns="0" rtlCol="0" anchor="ctr"/>
          <a:lstStyle/>
          <a:p>
            <a:pPr algn="ctr" indent="0" marL="0">
              <a:buNone/>
            </a:pPr>
            <a:r>
              <a:rPr lang="en-US" sz="984" dirty="0">
                <a:solidFill>
                  <a:srgbClr val="A78BFA"/>
                </a:solidFill>
                <a:latin typeface="Segoe UI Symbol" pitchFamily="34" charset="0"/>
                <a:ea typeface="Segoe UI Symbol" pitchFamily="34" charset="-122"/>
                <a:cs typeface="Segoe UI Symbol" pitchFamily="34" charset="-120"/>
              </a:rPr>
              <a:t>▦</a:t>
            </a:r>
            <a:endParaRPr lang="en-US" sz="984" dirty="0"/>
          </a:p>
        </p:txBody>
      </p:sp>
      <p:sp>
        <p:nvSpPr>
          <p:cNvPr id="10" name="Text 6"/>
          <p:cNvSpPr/>
          <p:nvPr/>
        </p:nvSpPr>
        <p:spPr>
          <a:xfrm>
            <a:off x="428625" y="803672"/>
            <a:ext cx="7449503" cy="898353"/>
          </a:xfrm>
          <a:prstGeom prst="rect">
            <a:avLst/>
          </a:prstGeom>
          <a:noFill/>
          <a:ln/>
        </p:spPr>
        <p:txBody>
          <a:bodyPr wrap="none" lIns="0" tIns="0" rIns="0" bIns="0" rtlCol="0" anchor="t">
            <a:normAutofit/>
          </a:bodyPr>
          <a:lstStyle/>
          <a:p>
            <a:pPr algn="l" indent="0" marL="0">
              <a:lnSpc>
                <a:spcPts val="3307"/>
              </a:lnSpc>
              <a:buNone/>
            </a:pPr>
            <a:r>
              <a:rPr lang="en-US" sz="3375" b="1" spc="-84" kern="0" dirty="0">
                <a:solidFill>
                  <a:srgbClr val="FFFFFF"/>
                </a:solidFill>
                <a:latin typeface="Tinos" pitchFamily="34" charset="0"/>
                <a:ea typeface="Tinos" pitchFamily="34" charset="-122"/>
                <a:cs typeface="Tinos" pitchFamily="34" charset="-120"/>
              </a:rPr>
              <a:t>Let's Talk About</a:t>
            </a:r>
            <a:endParaRPr lang="en-US" sz="3375" dirty="0"/>
          </a:p>
          <a:p>
            <a:pPr algn="l" indent="0" marL="0">
              <a:lnSpc>
                <a:spcPts val="3307"/>
              </a:lnSpc>
              <a:buNone/>
            </a:pPr>
            <a:r>
              <a:rPr lang="en-US" sz="3375" b="1" spc="-84" kern="0" dirty="0">
                <a:solidFill>
                  <a:srgbClr val="FFFFFF"/>
                </a:solidFill>
                <a:latin typeface="Tinos" pitchFamily="34" charset="0"/>
                <a:ea typeface="Tinos" pitchFamily="34" charset="-122"/>
                <a:cs typeface="Tinos" pitchFamily="34" charset="-120"/>
              </a:rPr>
              <a:t>Your Case</a:t>
            </a:r>
            <a:endParaRPr lang="en-US" sz="3375" dirty="0"/>
          </a:p>
        </p:txBody>
      </p:sp>
      <p:sp>
        <p:nvSpPr>
          <p:cNvPr id="11" name="Text 7"/>
          <p:cNvSpPr/>
          <p:nvPr/>
        </p:nvSpPr>
        <p:spPr>
          <a:xfrm>
            <a:off x="428625" y="1729457"/>
            <a:ext cx="6772275" cy="196739"/>
          </a:xfrm>
          <a:prstGeom prst="rect">
            <a:avLst/>
          </a:prstGeom>
          <a:noFill/>
          <a:ln/>
        </p:spPr>
        <p:txBody>
          <a:bodyPr wrap="square" lIns="0" tIns="0" rIns="0" bIns="0" rtlCol="0" anchor="t"/>
          <a:lstStyle/>
          <a:p>
            <a:pPr algn="l" indent="0" marL="0">
              <a:lnSpc>
                <a:spcPts val="1434"/>
              </a:lnSpc>
              <a:buNone/>
            </a:pPr>
            <a:r>
              <a:rPr lang="en-US" sz="956" dirty="0">
                <a:solidFill>
                  <a:srgbClr val="FFFFFF">
                    <a:alpha val="85000"/>
                  </a:srgbClr>
                </a:solidFill>
                <a:latin typeface="Carlito" pitchFamily="34" charset="0"/>
                <a:ea typeface="Carlito" pitchFamily="34" charset="-122"/>
                <a:cs typeface="Carlito" pitchFamily="34" charset="-120"/>
              </a:rPr>
              <a:t>Book your discovery session — </a:t>
            </a:r>
            <a:pPr algn="l" indent="0" marL="0">
              <a:lnSpc>
                <a:spcPts val="1434"/>
              </a:lnSpc>
              <a:buNone/>
            </a:pPr>
            <a:r>
              <a:rPr lang="en-US" sz="956" dirty="0">
                <a:solidFill>
                  <a:srgbClr val="C4B5FD">
                    <a:alpha val="85000"/>
                  </a:srgbClr>
                </a:solidFill>
                <a:latin typeface="Liberation Sans Narrow" pitchFamily="34" charset="0"/>
                <a:ea typeface="Liberation Sans Narrow" pitchFamily="34" charset="-122"/>
                <a:cs typeface="Liberation Sans Narrow" pitchFamily="34" charset="-120"/>
              </a:rPr>
              <a:t>30 minutes, no obligation.</a:t>
            </a:r>
            <a:endParaRPr lang="en-US" sz="956" dirty="0"/>
          </a:p>
        </p:txBody>
      </p:sp>
      <p:pic>
        <p:nvPicPr>
          <p:cNvPr id="12" name="Image 2" descr="/tmp/h2p-fit-1786522347044-crn5r3.png">    </p:cNvPr>
          <p:cNvPicPr>
            <a:picLocks noChangeAspect="1"/>
          </p:cNvPicPr>
          <p:nvPr/>
        </p:nvPicPr>
        <p:blipFill>
          <a:blip r:embed="rId3"/>
          <a:stretch>
            <a:fillRect/>
          </a:stretch>
        </p:blipFill>
        <p:spPr>
          <a:xfrm>
            <a:off x="7429500" y="562905"/>
            <a:ext cx="1285875" cy="1285875"/>
          </a:xfrm>
          <a:prstGeom prst="rect">
            <a:avLst/>
          </a:prstGeom>
          <a:effectLst>
            <a:outerShdw sx="100000" sy="100000" kx="0" ky="0" algn="bl" rotWithShape="0" blurRad="342900" dist="114300" dir="5400000">
              <a:srgbClr val="000000">
                <a:alpha val="40000"/>
              </a:srgbClr>
            </a:outerShdw>
          </a:effectLst>
        </p:spPr>
      </p:pic>
      <p:sp>
        <p:nvSpPr>
          <p:cNvPr id="13" name="Text 8"/>
          <p:cNvSpPr/>
          <p:nvPr/>
        </p:nvSpPr>
        <p:spPr>
          <a:xfrm>
            <a:off x="7926459" y="1701476"/>
            <a:ext cx="868926" cy="216027"/>
          </a:xfrm>
          <a:prstGeom prst="roundRect">
            <a:avLst>
              <a:gd name="adj" fmla="val 44087302"/>
            </a:avLst>
          </a:prstGeom>
          <a:solidFill>
            <a:srgbClr val="7C3AED"/>
          </a:solidFill>
          <a:ln w="14288">
            <a:solidFill>
              <a:srgbClr val="FFFFFF"/>
            </a:solidFill>
            <a:prstDash val="solid"/>
          </a:ln>
          <a:effectLst>
            <a:outerShdw sx="100000" sy="100000" kx="0" ky="0" algn="bl" rotWithShape="0" blurRad="133350" dist="38100" dir="5400000">
              <a:srgbClr val="000000">
                <a:alpha val="30000"/>
              </a:srgbClr>
            </a:outerShdw>
          </a:effectLst>
        </p:spPr>
        <p:txBody>
          <a:bodyPr wrap="square" rtlCol="0" anchor="ctr"/>
          <a:lstStyle/>
          <a:p>
            <a:pPr indent="0" marL="0">
              <a:buNone/>
            </a:pPr>
            <a:endParaRPr lang="en-US" dirty="0"/>
          </a:p>
        </p:txBody>
      </p:sp>
      <p:sp>
        <p:nvSpPr>
          <p:cNvPr id="14" name="Text 9"/>
          <p:cNvSpPr/>
          <p:nvPr/>
        </p:nvSpPr>
        <p:spPr>
          <a:xfrm>
            <a:off x="8035044" y="1759483"/>
            <a:ext cx="100013" cy="100013"/>
          </a:xfrm>
          <a:prstGeom prst="rect">
            <a:avLst/>
          </a:prstGeom>
          <a:noFill/>
          <a:ln/>
        </p:spPr>
        <p:txBody>
          <a:bodyPr wrap="none" lIns="0" tIns="0" rIns="0" bIns="0" rtlCol="0" anchor="ctr"/>
          <a:lstStyle/>
          <a:p>
            <a:pPr algn="ctr" indent="0" marL="0">
              <a:buNone/>
            </a:pPr>
            <a:r>
              <a:rPr lang="en-US" sz="984" dirty="0">
                <a:solidFill>
                  <a:srgbClr val="FFFFFF"/>
                </a:solidFill>
                <a:latin typeface="Segoe UI Symbol" pitchFamily="34" charset="0"/>
                <a:ea typeface="Segoe UI Symbol" pitchFamily="34" charset="-122"/>
                <a:cs typeface="Segoe UI Symbol" pitchFamily="34" charset="-120"/>
              </a:rPr>
              <a:t>✦</a:t>
            </a:r>
            <a:endParaRPr lang="en-US" sz="984" dirty="0"/>
          </a:p>
        </p:txBody>
      </p:sp>
      <p:sp>
        <p:nvSpPr>
          <p:cNvPr id="15" name="Text 10"/>
          <p:cNvSpPr/>
          <p:nvPr/>
        </p:nvSpPr>
        <p:spPr>
          <a:xfrm>
            <a:off x="8163632" y="1755911"/>
            <a:ext cx="523168" cy="107156"/>
          </a:xfrm>
          <a:prstGeom prst="rect">
            <a:avLst/>
          </a:prstGeom>
          <a:noFill/>
          <a:ln/>
        </p:spPr>
        <p:txBody>
          <a:bodyPr wrap="none" lIns="0" tIns="0" rIns="0" bIns="0" rtlCol="0" anchor="t"/>
          <a:lstStyle/>
          <a:p>
            <a:pPr algn="l" indent="0" marL="0">
              <a:lnSpc>
                <a:spcPts val="844"/>
              </a:lnSpc>
              <a:buNone/>
            </a:pPr>
            <a:r>
              <a:rPr lang="en-US" sz="600" b="1" spc="45" kern="0" dirty="0">
                <a:solidFill>
                  <a:srgbClr val="FFFFFF"/>
                </a:solidFill>
                <a:latin typeface="Carlito" pitchFamily="34" charset="0"/>
                <a:ea typeface="Carlito" pitchFamily="34" charset="-122"/>
                <a:cs typeface="Carlito" pitchFamily="34" charset="-120"/>
              </a:rPr>
              <a:t>YOUR TEAM</a:t>
            </a:r>
            <a:endParaRPr lang="en-US" sz="600" dirty="0"/>
          </a:p>
        </p:txBody>
      </p:sp>
      <p:sp>
        <p:nvSpPr>
          <p:cNvPr id="16" name="Text 11"/>
          <p:cNvSpPr/>
          <p:nvPr/>
        </p:nvSpPr>
        <p:spPr>
          <a:xfrm>
            <a:off x="432197" y="2146697"/>
            <a:ext cx="2678906" cy="507206"/>
          </a:xfrm>
          <a:prstGeom prst="roundRect">
            <a:avLst>
              <a:gd name="adj" fmla="val 26291"/>
            </a:avLst>
          </a:prstGeom>
          <a:solidFill>
            <a:srgbClr val="FFFFFF">
              <a:alpha val="6000"/>
            </a:srgbClr>
          </a:solidFill>
          <a:ln w="7144">
            <a:solidFill>
              <a:srgbClr val="A78BFA"/>
            </a:solidFill>
            <a:prstDash val="solid"/>
          </a:ln>
        </p:spPr>
        <p:txBody>
          <a:bodyPr wrap="square" rtlCol="0" anchor="ctr"/>
          <a:lstStyle/>
          <a:p>
            <a:pPr indent="0" marL="0">
              <a:buNone/>
            </a:pPr>
            <a:endParaRPr lang="en-US" dirty="0"/>
          </a:p>
        </p:txBody>
      </p:sp>
      <p:sp>
        <p:nvSpPr>
          <p:cNvPr id="17" name="Text 12"/>
          <p:cNvSpPr/>
          <p:nvPr/>
        </p:nvSpPr>
        <p:spPr>
          <a:xfrm>
            <a:off x="550069" y="2250281"/>
            <a:ext cx="300038" cy="300038"/>
          </a:xfrm>
          <a:prstGeom prst="roundRect">
            <a:avLst>
              <a:gd name="adj" fmla="val 31746"/>
            </a:avLst>
          </a:prstGeom>
          <a:solidFill>
            <a:srgbClr val="7C3AED"/>
          </a:solidFill>
          <a:ln/>
        </p:spPr>
        <p:txBody>
          <a:bodyPr wrap="square" rtlCol="0" anchor="ctr"/>
          <a:lstStyle/>
          <a:p>
            <a:pPr indent="0" marL="0">
              <a:buNone/>
            </a:pPr>
            <a:endParaRPr lang="en-US" dirty="0"/>
          </a:p>
        </p:txBody>
      </p:sp>
      <p:sp>
        <p:nvSpPr>
          <p:cNvPr id="18" name="Text 13"/>
          <p:cNvSpPr/>
          <p:nvPr/>
        </p:nvSpPr>
        <p:spPr>
          <a:xfrm>
            <a:off x="586145" y="2286357"/>
            <a:ext cx="227886" cy="227886"/>
          </a:xfrm>
          <a:prstGeom prst="rect">
            <a:avLst/>
          </a:prstGeom>
          <a:noFill/>
          <a:ln/>
        </p:spPr>
        <p:txBody>
          <a:bodyPr wrap="none" lIns="0" tIns="0" rIns="0" bIns="0" rtlCol="0" anchor="ctr"/>
          <a:lstStyle/>
          <a:p>
            <a:pPr algn="ctr" indent="0" marL="0">
              <a:buNone/>
            </a:pPr>
            <a:r>
              <a:rPr lang="en-US" sz="1547" dirty="0">
                <a:solidFill>
                  <a:srgbClr val="FFFFFF"/>
                </a:solidFill>
                <a:latin typeface="Segoe UI Symbol" pitchFamily="34" charset="0"/>
                <a:ea typeface="Segoe UI Symbol" pitchFamily="34" charset="-122"/>
                <a:cs typeface="Segoe UI Symbol" pitchFamily="34" charset="-120"/>
              </a:rPr>
              <a:t>▶</a:t>
            </a:r>
            <a:endParaRPr lang="en-US" sz="1547" dirty="0"/>
          </a:p>
        </p:txBody>
      </p:sp>
      <p:sp>
        <p:nvSpPr>
          <p:cNvPr id="19" name="Text 14"/>
          <p:cNvSpPr/>
          <p:nvPr/>
        </p:nvSpPr>
        <p:spPr>
          <a:xfrm>
            <a:off x="935831" y="2289237"/>
            <a:ext cx="1021648" cy="91440"/>
          </a:xfrm>
          <a:prstGeom prst="rect">
            <a:avLst/>
          </a:prstGeom>
          <a:noFill/>
          <a:ln/>
        </p:spPr>
        <p:txBody>
          <a:bodyPr wrap="none" lIns="0" tIns="0" rIns="0" bIns="0" rtlCol="0" anchor="t">
            <a:normAutofit/>
          </a:bodyPr>
          <a:lstStyle/>
          <a:p>
            <a:pPr algn="l" indent="0" marL="0">
              <a:lnSpc>
                <a:spcPts val="844"/>
              </a:lnSpc>
              <a:buNone/>
            </a:pPr>
            <a:r>
              <a:rPr lang="en-US" sz="800" b="1" spc="79" kern="0" dirty="0">
                <a:solidFill>
                  <a:srgbClr val="C4B5FD"/>
                </a:solidFill>
                <a:latin typeface="Liberation Sans Narrow" pitchFamily="34" charset="0"/>
                <a:ea typeface="Liberation Sans Narrow" pitchFamily="34" charset="-122"/>
                <a:cs typeface="Liberation Sans Narrow" pitchFamily="34" charset="-120"/>
              </a:rPr>
              <a:t>CTA 01</a:t>
            </a:r>
            <a:endParaRPr lang="en-US" sz="800" dirty="0"/>
          </a:p>
        </p:txBody>
      </p:sp>
      <p:sp>
        <p:nvSpPr>
          <p:cNvPr id="20" name="Text 15"/>
          <p:cNvSpPr/>
          <p:nvPr/>
        </p:nvSpPr>
        <p:spPr>
          <a:xfrm>
            <a:off x="935831" y="2396393"/>
            <a:ext cx="868644" cy="126138"/>
          </a:xfrm>
          <a:prstGeom prst="rect">
            <a:avLst/>
          </a:prstGeom>
          <a:noFill/>
          <a:ln/>
        </p:spPr>
        <p:txBody>
          <a:bodyPr wrap="none" lIns="0" tIns="0" rIns="0" bIns="0" rtlCol="0" anchor="t"/>
          <a:lstStyle/>
          <a:p>
            <a:pPr algn="l" indent="0" marL="0">
              <a:lnSpc>
                <a:spcPts val="906"/>
              </a:lnSpc>
              <a:buNone/>
            </a:pPr>
            <a:r>
              <a:rPr lang="en-US" sz="800" b="1" dirty="0">
                <a:solidFill>
                  <a:srgbClr val="FFFFFF"/>
                </a:solidFill>
                <a:latin typeface="Carlito" pitchFamily="34" charset="0"/>
                <a:ea typeface="Carlito" pitchFamily="34" charset="-122"/>
                <a:cs typeface="Carlito" pitchFamily="34" charset="-120"/>
              </a:rPr>
              <a:t>Book a Demo</a:t>
            </a:r>
            <a:endParaRPr lang="en-US" sz="800" dirty="0"/>
          </a:p>
        </p:txBody>
      </p:sp>
      <p:sp>
        <p:nvSpPr>
          <p:cNvPr id="21" name="Text 16"/>
          <p:cNvSpPr/>
          <p:nvPr/>
        </p:nvSpPr>
        <p:spPr>
          <a:xfrm>
            <a:off x="3232547" y="2146697"/>
            <a:ext cx="2678906" cy="507206"/>
          </a:xfrm>
          <a:prstGeom prst="roundRect">
            <a:avLst>
              <a:gd name="adj" fmla="val 26291"/>
            </a:avLst>
          </a:prstGeom>
          <a:solidFill>
            <a:srgbClr val="FFFFFF">
              <a:alpha val="6000"/>
            </a:srgbClr>
          </a:solidFill>
          <a:ln w="7144">
            <a:solidFill>
              <a:srgbClr val="A78BFA"/>
            </a:solidFill>
            <a:prstDash val="solid"/>
          </a:ln>
        </p:spPr>
        <p:txBody>
          <a:bodyPr wrap="square" rtlCol="0" anchor="ctr"/>
          <a:lstStyle/>
          <a:p>
            <a:pPr indent="0" marL="0">
              <a:buNone/>
            </a:pPr>
            <a:endParaRPr lang="en-US" dirty="0"/>
          </a:p>
        </p:txBody>
      </p:sp>
      <p:sp>
        <p:nvSpPr>
          <p:cNvPr id="22" name="Text 17"/>
          <p:cNvSpPr/>
          <p:nvPr/>
        </p:nvSpPr>
        <p:spPr>
          <a:xfrm>
            <a:off x="3350419" y="2250281"/>
            <a:ext cx="300038" cy="300038"/>
          </a:xfrm>
          <a:prstGeom prst="roundRect">
            <a:avLst>
              <a:gd name="adj" fmla="val 31746"/>
            </a:avLst>
          </a:prstGeom>
          <a:solidFill>
            <a:srgbClr val="7C3AED"/>
          </a:solidFill>
          <a:ln/>
        </p:spPr>
        <p:txBody>
          <a:bodyPr wrap="square" rtlCol="0" anchor="ctr"/>
          <a:lstStyle/>
          <a:p>
            <a:pPr indent="0" marL="0">
              <a:buNone/>
            </a:pPr>
            <a:endParaRPr lang="en-US" dirty="0"/>
          </a:p>
        </p:txBody>
      </p:sp>
      <p:sp>
        <p:nvSpPr>
          <p:cNvPr id="23" name="Text 18"/>
          <p:cNvSpPr/>
          <p:nvPr/>
        </p:nvSpPr>
        <p:spPr>
          <a:xfrm>
            <a:off x="3386495" y="2286357"/>
            <a:ext cx="227886" cy="227886"/>
          </a:xfrm>
          <a:prstGeom prst="rect">
            <a:avLst/>
          </a:prstGeom>
          <a:noFill/>
          <a:ln/>
        </p:spPr>
        <p:txBody>
          <a:bodyPr wrap="none" lIns="0" tIns="0" rIns="0" bIns="0" rtlCol="0" anchor="ctr"/>
          <a:lstStyle/>
          <a:p>
            <a:pPr algn="ctr" indent="0" marL="0">
              <a:buNone/>
            </a:pPr>
            <a:r>
              <a:rPr lang="en-US" sz="1547" dirty="0">
                <a:solidFill>
                  <a:srgbClr val="FFFFFF"/>
                </a:solidFill>
                <a:latin typeface="Segoe UI Symbol" pitchFamily="34" charset="0"/>
                <a:ea typeface="Segoe UI Symbol" pitchFamily="34" charset="-122"/>
                <a:cs typeface="Segoe UI Symbol" pitchFamily="34" charset="-120"/>
              </a:rPr>
              <a:t>✦</a:t>
            </a:r>
            <a:endParaRPr lang="en-US" sz="1547" dirty="0"/>
          </a:p>
        </p:txBody>
      </p:sp>
      <p:sp>
        <p:nvSpPr>
          <p:cNvPr id="24" name="Text 19"/>
          <p:cNvSpPr/>
          <p:nvPr/>
        </p:nvSpPr>
        <p:spPr>
          <a:xfrm>
            <a:off x="3736181" y="2289237"/>
            <a:ext cx="2057400" cy="91440"/>
          </a:xfrm>
          <a:prstGeom prst="rect">
            <a:avLst/>
          </a:prstGeom>
          <a:noFill/>
          <a:ln/>
        </p:spPr>
        <p:txBody>
          <a:bodyPr wrap="none" lIns="0" tIns="0" rIns="0" bIns="0" rtlCol="0" anchor="t">
            <a:normAutofit/>
          </a:bodyPr>
          <a:lstStyle/>
          <a:p>
            <a:pPr algn="l" indent="0" marL="0">
              <a:lnSpc>
                <a:spcPts val="844"/>
              </a:lnSpc>
              <a:buNone/>
            </a:pPr>
            <a:r>
              <a:rPr lang="en-US" sz="800" b="1" spc="79" kern="0" dirty="0">
                <a:solidFill>
                  <a:srgbClr val="C4B5FD"/>
                </a:solidFill>
                <a:latin typeface="Liberation Sans Narrow" pitchFamily="34" charset="0"/>
                <a:ea typeface="Liberation Sans Narrow" pitchFamily="34" charset="-122"/>
                <a:cs typeface="Liberation Sans Narrow" pitchFamily="34" charset="-120"/>
              </a:rPr>
              <a:t>CTA 02</a:t>
            </a:r>
            <a:endParaRPr lang="en-US" sz="800" dirty="0"/>
          </a:p>
        </p:txBody>
      </p:sp>
      <p:sp>
        <p:nvSpPr>
          <p:cNvPr id="25" name="Text 20"/>
          <p:cNvSpPr/>
          <p:nvPr/>
        </p:nvSpPr>
        <p:spPr>
          <a:xfrm>
            <a:off x="3736181" y="2396393"/>
            <a:ext cx="1917119" cy="126138"/>
          </a:xfrm>
          <a:prstGeom prst="rect">
            <a:avLst/>
          </a:prstGeom>
          <a:noFill/>
          <a:ln/>
        </p:spPr>
        <p:txBody>
          <a:bodyPr wrap="square" lIns="0" tIns="0" rIns="0" bIns="0" rtlCol="0" anchor="t"/>
          <a:lstStyle/>
          <a:p>
            <a:pPr algn="l" indent="0" marL="0">
              <a:lnSpc>
                <a:spcPts val="906"/>
              </a:lnSpc>
              <a:buNone/>
            </a:pPr>
            <a:r>
              <a:rPr lang="en-US" sz="800" b="1" dirty="0">
                <a:solidFill>
                  <a:srgbClr val="FFFFFF"/>
                </a:solidFill>
                <a:latin typeface="Carlito" pitchFamily="34" charset="0"/>
                <a:ea typeface="Carlito" pitchFamily="34" charset="-122"/>
                <a:cs typeface="Carlito" pitchFamily="34" charset="-120"/>
              </a:rPr>
              <a:t>Request a Worked ROI Example</a:t>
            </a:r>
            <a:endParaRPr lang="en-US" sz="800" dirty="0"/>
          </a:p>
        </p:txBody>
      </p:sp>
      <p:sp>
        <p:nvSpPr>
          <p:cNvPr id="26" name="Text 21"/>
          <p:cNvSpPr/>
          <p:nvPr/>
        </p:nvSpPr>
        <p:spPr>
          <a:xfrm>
            <a:off x="6032897" y="2146697"/>
            <a:ext cx="2678906" cy="507206"/>
          </a:xfrm>
          <a:prstGeom prst="roundRect">
            <a:avLst>
              <a:gd name="adj" fmla="val 26291"/>
            </a:avLst>
          </a:prstGeom>
          <a:solidFill>
            <a:srgbClr val="FFFFFF">
              <a:alpha val="6000"/>
            </a:srgbClr>
          </a:solidFill>
          <a:ln w="7144">
            <a:solidFill>
              <a:srgbClr val="A78BFA"/>
            </a:solidFill>
            <a:prstDash val="solid"/>
          </a:ln>
        </p:spPr>
        <p:txBody>
          <a:bodyPr wrap="square" rtlCol="0" anchor="ctr"/>
          <a:lstStyle/>
          <a:p>
            <a:pPr indent="0" marL="0">
              <a:buNone/>
            </a:pPr>
            <a:endParaRPr lang="en-US" dirty="0"/>
          </a:p>
        </p:txBody>
      </p:sp>
      <p:sp>
        <p:nvSpPr>
          <p:cNvPr id="27" name="Text 22"/>
          <p:cNvSpPr/>
          <p:nvPr/>
        </p:nvSpPr>
        <p:spPr>
          <a:xfrm>
            <a:off x="6150769" y="2250281"/>
            <a:ext cx="300038" cy="300038"/>
          </a:xfrm>
          <a:prstGeom prst="roundRect">
            <a:avLst>
              <a:gd name="adj" fmla="val 31746"/>
            </a:avLst>
          </a:prstGeom>
          <a:solidFill>
            <a:srgbClr val="7C3AED"/>
          </a:solidFill>
          <a:ln/>
        </p:spPr>
        <p:txBody>
          <a:bodyPr wrap="square" rtlCol="0" anchor="ctr"/>
          <a:lstStyle/>
          <a:p>
            <a:pPr indent="0" marL="0">
              <a:buNone/>
            </a:pPr>
            <a:endParaRPr lang="en-US" dirty="0"/>
          </a:p>
        </p:txBody>
      </p:sp>
      <p:sp>
        <p:nvSpPr>
          <p:cNvPr id="28" name="Text 23"/>
          <p:cNvSpPr/>
          <p:nvPr/>
        </p:nvSpPr>
        <p:spPr>
          <a:xfrm>
            <a:off x="6186845" y="2286357"/>
            <a:ext cx="227886" cy="227886"/>
          </a:xfrm>
          <a:prstGeom prst="rect">
            <a:avLst/>
          </a:prstGeom>
          <a:noFill/>
          <a:ln/>
        </p:spPr>
        <p:txBody>
          <a:bodyPr wrap="none" lIns="0" tIns="0" rIns="0" bIns="0" rtlCol="0" anchor="ctr"/>
          <a:lstStyle/>
          <a:p>
            <a:pPr algn="ctr" indent="0" marL="0">
              <a:buNone/>
            </a:pPr>
            <a:r>
              <a:rPr lang="en-US" sz="1547" dirty="0">
                <a:solidFill>
                  <a:srgbClr val="FFFFFF"/>
                </a:solidFill>
                <a:latin typeface="Segoe UI Symbol" pitchFamily="34" charset="0"/>
                <a:ea typeface="Segoe UI Symbol" pitchFamily="34" charset="-122"/>
                <a:cs typeface="Segoe UI Symbol" pitchFamily="34" charset="-120"/>
              </a:rPr>
              <a:t>◎</a:t>
            </a:r>
            <a:endParaRPr lang="en-US" sz="1547" dirty="0"/>
          </a:p>
        </p:txBody>
      </p:sp>
      <p:sp>
        <p:nvSpPr>
          <p:cNvPr id="29" name="Text 24"/>
          <p:cNvSpPr/>
          <p:nvPr/>
        </p:nvSpPr>
        <p:spPr>
          <a:xfrm>
            <a:off x="6536531" y="2289237"/>
            <a:ext cx="1600018" cy="91440"/>
          </a:xfrm>
          <a:prstGeom prst="rect">
            <a:avLst/>
          </a:prstGeom>
          <a:noFill/>
          <a:ln/>
        </p:spPr>
        <p:txBody>
          <a:bodyPr wrap="none" lIns="0" tIns="0" rIns="0" bIns="0" rtlCol="0" anchor="t">
            <a:normAutofit/>
          </a:bodyPr>
          <a:lstStyle/>
          <a:p>
            <a:pPr algn="l" indent="0" marL="0">
              <a:lnSpc>
                <a:spcPts val="844"/>
              </a:lnSpc>
              <a:buNone/>
            </a:pPr>
            <a:r>
              <a:rPr lang="en-US" sz="800" b="1" spc="79" kern="0" dirty="0">
                <a:solidFill>
                  <a:srgbClr val="C4B5FD"/>
                </a:solidFill>
                <a:latin typeface="Liberation Sans Narrow" pitchFamily="34" charset="0"/>
                <a:ea typeface="Liberation Sans Narrow" pitchFamily="34" charset="-122"/>
                <a:cs typeface="Liberation Sans Narrow" pitchFamily="34" charset="-120"/>
              </a:rPr>
              <a:t>CTA 03</a:t>
            </a:r>
            <a:endParaRPr lang="en-US" sz="800" dirty="0"/>
          </a:p>
        </p:txBody>
      </p:sp>
      <p:sp>
        <p:nvSpPr>
          <p:cNvPr id="30" name="Text 25"/>
          <p:cNvSpPr/>
          <p:nvPr/>
        </p:nvSpPr>
        <p:spPr>
          <a:xfrm>
            <a:off x="6536531" y="2396393"/>
            <a:ext cx="1360396" cy="126138"/>
          </a:xfrm>
          <a:prstGeom prst="rect">
            <a:avLst/>
          </a:prstGeom>
          <a:noFill/>
          <a:ln/>
        </p:spPr>
        <p:txBody>
          <a:bodyPr wrap="none" lIns="0" tIns="0" rIns="0" bIns="0" rtlCol="0" anchor="t"/>
          <a:lstStyle/>
          <a:p>
            <a:pPr algn="l" indent="0" marL="0">
              <a:lnSpc>
                <a:spcPts val="906"/>
              </a:lnSpc>
              <a:buNone/>
            </a:pPr>
            <a:r>
              <a:rPr lang="en-US" sz="800" b="1" dirty="0">
                <a:solidFill>
                  <a:srgbClr val="FFFFFF"/>
                </a:solidFill>
                <a:latin typeface="Carlito" pitchFamily="34" charset="0"/>
                <a:ea typeface="Carlito" pitchFamily="34" charset="-122"/>
                <a:cs typeface="Carlito" pitchFamily="34" charset="-120"/>
              </a:rPr>
              <a:t>Schedule a Site Visit</a:t>
            </a:r>
            <a:endParaRPr lang="en-US" sz="800" dirty="0"/>
          </a:p>
        </p:txBody>
      </p:sp>
      <p:sp>
        <p:nvSpPr>
          <p:cNvPr id="31" name="Text 26"/>
          <p:cNvSpPr/>
          <p:nvPr/>
        </p:nvSpPr>
        <p:spPr>
          <a:xfrm>
            <a:off x="428625" y="2914650"/>
            <a:ext cx="8636000" cy="151162"/>
          </a:xfrm>
          <a:prstGeom prst="rect">
            <a:avLst/>
          </a:prstGeom>
          <a:noFill/>
          <a:ln/>
        </p:spPr>
        <p:txBody>
          <a:bodyPr wrap="square" lIns="0" tIns="0" rIns="0" bIns="0" rtlCol="0" anchor="t">
            <a:normAutofit/>
          </a:bodyPr>
          <a:lstStyle/>
          <a:p>
            <a:pPr algn="l" indent="0" marL="0">
              <a:lnSpc>
                <a:spcPts val="844"/>
              </a:lnSpc>
              <a:buNone/>
            </a:pPr>
            <a:r>
              <a:rPr lang="en-US" sz="800" b="1" spc="79" kern="0" dirty="0">
                <a:solidFill>
                  <a:srgbClr val="C4B5FD"/>
                </a:solidFill>
                <a:latin typeface="Carlito" pitchFamily="34" charset="0"/>
                <a:ea typeface="Carlito" pitchFamily="34" charset="-122"/>
                <a:cs typeface="Carlito" pitchFamily="34" charset="-120"/>
              </a:rPr>
              <a:t>WHAT THE DISCOVERY SESSION INCLUDES</a:t>
            </a:r>
            <a:endParaRPr lang="en-US" sz="800" dirty="0"/>
          </a:p>
        </p:txBody>
      </p:sp>
      <p:sp>
        <p:nvSpPr>
          <p:cNvPr id="32" name="Text 27"/>
          <p:cNvSpPr/>
          <p:nvPr/>
        </p:nvSpPr>
        <p:spPr>
          <a:xfrm>
            <a:off x="428625" y="3107531"/>
            <a:ext cx="100013" cy="100013"/>
          </a:xfrm>
          <a:prstGeom prst="rect">
            <a:avLst/>
          </a:prstGeom>
          <a:noFill/>
          <a:ln/>
        </p:spPr>
        <p:txBody>
          <a:bodyPr wrap="none" lIns="0" tIns="0" rIns="0" bIns="0" rtlCol="0" anchor="ctr"/>
          <a:lstStyle/>
          <a:p>
            <a:pPr algn="ctr" indent="0" marL="0">
              <a:buNone/>
            </a:pPr>
            <a:r>
              <a:rPr lang="en-US" sz="984" dirty="0">
                <a:solidFill>
                  <a:srgbClr val="A78BFA"/>
                </a:solidFill>
                <a:latin typeface="Segoe UI Symbol" pitchFamily="34" charset="0"/>
                <a:ea typeface="Segoe UI Symbol" pitchFamily="34" charset="-122"/>
                <a:cs typeface="Segoe UI Symbol" pitchFamily="34" charset="-120"/>
              </a:rPr>
              <a:t>✓</a:t>
            </a:r>
            <a:endParaRPr lang="en-US" sz="984" dirty="0"/>
          </a:p>
        </p:txBody>
      </p:sp>
      <p:sp>
        <p:nvSpPr>
          <p:cNvPr id="33" name="Text 28"/>
          <p:cNvSpPr/>
          <p:nvPr/>
        </p:nvSpPr>
        <p:spPr>
          <a:xfrm>
            <a:off x="585788" y="3093244"/>
            <a:ext cx="3900488" cy="460679"/>
          </a:xfrm>
          <a:prstGeom prst="rect">
            <a:avLst/>
          </a:prstGeom>
          <a:noFill/>
          <a:ln/>
        </p:spPr>
        <p:txBody>
          <a:bodyPr wrap="square" lIns="0" tIns="0" rIns="0" bIns="0" rtlCol="0" anchor="t"/>
          <a:lstStyle/>
          <a:p>
            <a:pPr algn="l" indent="0" marL="0">
              <a:lnSpc>
                <a:spcPts val="906"/>
              </a:lnSpc>
              <a:buNone/>
            </a:pPr>
            <a:r>
              <a:rPr lang="en-US" sz="800" dirty="0">
                <a:solidFill>
                  <a:srgbClr val="FFFFFF">
                    <a:alpha val="85000"/>
                  </a:srgbClr>
                </a:solidFill>
                <a:latin typeface="Liberation Sans Narrow" pitchFamily="34" charset="0"/>
                <a:ea typeface="Liberation Sans Narrow" pitchFamily="34" charset="-122"/>
                <a:cs typeface="Liberation Sans Narrow" pitchFamily="34" charset="-120"/>
              </a:rPr>
              <a:t>Workshop session (60–90 min)</a:t>
            </a:r>
            <a:pPr algn="l" indent="0" marL="0">
              <a:lnSpc>
                <a:spcPts val="906"/>
              </a:lnSpc>
              <a:buNone/>
            </a:pPr>
            <a:r>
              <a:rPr lang="en-US" sz="800" dirty="0">
                <a:solidFill>
                  <a:srgbClr val="FFFFFF">
                    <a:alpha val="85000"/>
                  </a:srgbClr>
                </a:solidFill>
                <a:latin typeface="Carlito" pitchFamily="34" charset="0"/>
                <a:ea typeface="Carlito" pitchFamily="34" charset="-122"/>
                <a:cs typeface="Carlito" pitchFamily="34" charset="-120"/>
              </a:rPr>
              <a:t> — bring one specific process (account opening, claims intake, technical support, concierge, etc.). We map it to MassaPro IVR end-to-end and identify the integration points.</a:t>
            </a:r>
            <a:endParaRPr lang="en-US" sz="800" dirty="0"/>
          </a:p>
        </p:txBody>
      </p:sp>
      <p:sp>
        <p:nvSpPr>
          <p:cNvPr id="34" name="Text 29"/>
          <p:cNvSpPr/>
          <p:nvPr/>
        </p:nvSpPr>
        <p:spPr>
          <a:xfrm>
            <a:off x="4657725" y="3107531"/>
            <a:ext cx="100013" cy="100013"/>
          </a:xfrm>
          <a:prstGeom prst="rect">
            <a:avLst/>
          </a:prstGeom>
          <a:noFill/>
          <a:ln/>
        </p:spPr>
        <p:txBody>
          <a:bodyPr wrap="none" lIns="0" tIns="0" rIns="0" bIns="0" rtlCol="0" anchor="ctr"/>
          <a:lstStyle/>
          <a:p>
            <a:pPr algn="ctr" indent="0" marL="0">
              <a:buNone/>
            </a:pPr>
            <a:r>
              <a:rPr lang="en-US" sz="984" dirty="0">
                <a:solidFill>
                  <a:srgbClr val="A78BFA"/>
                </a:solidFill>
                <a:latin typeface="Segoe UI Symbol" pitchFamily="34" charset="0"/>
                <a:ea typeface="Segoe UI Symbol" pitchFamily="34" charset="-122"/>
                <a:cs typeface="Segoe UI Symbol" pitchFamily="34" charset="-120"/>
              </a:rPr>
              <a:t>✓</a:t>
            </a:r>
            <a:endParaRPr lang="en-US" sz="984" dirty="0"/>
          </a:p>
        </p:txBody>
      </p:sp>
      <p:sp>
        <p:nvSpPr>
          <p:cNvPr id="35" name="Text 30"/>
          <p:cNvSpPr/>
          <p:nvPr/>
        </p:nvSpPr>
        <p:spPr>
          <a:xfrm>
            <a:off x="4814888" y="3093244"/>
            <a:ext cx="3900488" cy="460679"/>
          </a:xfrm>
          <a:prstGeom prst="rect">
            <a:avLst/>
          </a:prstGeom>
          <a:noFill/>
          <a:ln/>
        </p:spPr>
        <p:txBody>
          <a:bodyPr wrap="square" lIns="0" tIns="0" rIns="0" bIns="0" rtlCol="0" anchor="t"/>
          <a:lstStyle/>
          <a:p>
            <a:pPr algn="l" indent="0" marL="0">
              <a:lnSpc>
                <a:spcPts val="906"/>
              </a:lnSpc>
              <a:buNone/>
            </a:pPr>
            <a:r>
              <a:rPr lang="en-US" sz="800" dirty="0">
                <a:solidFill>
                  <a:srgbClr val="FFFFFF">
                    <a:alpha val="85000"/>
                  </a:srgbClr>
                </a:solidFill>
                <a:latin typeface="Carlito" pitchFamily="34" charset="0"/>
                <a:ea typeface="Carlito" pitchFamily="34" charset="-122"/>
                <a:cs typeface="Carlito" pitchFamily="34" charset="-120"/>
              </a:rPr>
              <a:t>Custom ROI estimate — we model the cost-per-interaction comparison between your current model and MassaPro IVR for the specific process, using your volumes and your fully-loaded staffing costs.</a:t>
            </a:r>
            <a:endParaRPr lang="en-US" sz="800" dirty="0"/>
          </a:p>
        </p:txBody>
      </p:sp>
      <p:sp>
        <p:nvSpPr>
          <p:cNvPr id="36" name="Text 31"/>
          <p:cNvSpPr/>
          <p:nvPr/>
        </p:nvSpPr>
        <p:spPr>
          <a:xfrm>
            <a:off x="428625" y="3509590"/>
            <a:ext cx="100013" cy="100013"/>
          </a:xfrm>
          <a:prstGeom prst="rect">
            <a:avLst/>
          </a:prstGeom>
          <a:noFill/>
          <a:ln/>
        </p:spPr>
        <p:txBody>
          <a:bodyPr wrap="none" lIns="0" tIns="0" rIns="0" bIns="0" rtlCol="0" anchor="ctr"/>
          <a:lstStyle/>
          <a:p>
            <a:pPr algn="ctr" indent="0" marL="0">
              <a:buNone/>
            </a:pPr>
            <a:r>
              <a:rPr lang="en-US" sz="984" dirty="0">
                <a:solidFill>
                  <a:srgbClr val="A78BFA"/>
                </a:solidFill>
                <a:latin typeface="Segoe UI Symbol" pitchFamily="34" charset="0"/>
                <a:ea typeface="Segoe UI Symbol" pitchFamily="34" charset="-122"/>
                <a:cs typeface="Segoe UI Symbol" pitchFamily="34" charset="-120"/>
              </a:rPr>
              <a:t>✓</a:t>
            </a:r>
            <a:endParaRPr lang="en-US" sz="984" dirty="0"/>
          </a:p>
        </p:txBody>
      </p:sp>
      <p:sp>
        <p:nvSpPr>
          <p:cNvPr id="37" name="Text 32"/>
          <p:cNvSpPr/>
          <p:nvPr/>
        </p:nvSpPr>
        <p:spPr>
          <a:xfrm>
            <a:off x="585788" y="3495303"/>
            <a:ext cx="3900488" cy="460679"/>
          </a:xfrm>
          <a:prstGeom prst="rect">
            <a:avLst/>
          </a:prstGeom>
          <a:noFill/>
          <a:ln/>
        </p:spPr>
        <p:txBody>
          <a:bodyPr wrap="square" lIns="0" tIns="0" rIns="0" bIns="0" rtlCol="0" anchor="t"/>
          <a:lstStyle/>
          <a:p>
            <a:pPr algn="l" indent="0" marL="0">
              <a:lnSpc>
                <a:spcPts val="906"/>
              </a:lnSpc>
              <a:buNone/>
            </a:pPr>
            <a:r>
              <a:rPr lang="en-US" sz="800" dirty="0">
                <a:solidFill>
                  <a:srgbClr val="FFFFFF">
                    <a:alpha val="85000"/>
                  </a:srgbClr>
                </a:solidFill>
                <a:latin typeface="Carlito" pitchFamily="34" charset="0"/>
                <a:ea typeface="Carlito" pitchFamily="34" charset="-122"/>
                <a:cs typeface="Carlito" pitchFamily="34" charset="-120"/>
              </a:rPr>
              <a:t>Reference architecture — we produce a one-page reference architecture for your IT team, showing the ACD integration, the API gateway, the CRM connectors, and the security boundary.</a:t>
            </a:r>
            <a:endParaRPr lang="en-US" sz="800" dirty="0"/>
          </a:p>
        </p:txBody>
      </p:sp>
      <p:sp>
        <p:nvSpPr>
          <p:cNvPr id="38" name="Text 33"/>
          <p:cNvSpPr/>
          <p:nvPr/>
        </p:nvSpPr>
        <p:spPr>
          <a:xfrm>
            <a:off x="4657725" y="3509590"/>
            <a:ext cx="100013" cy="100013"/>
          </a:xfrm>
          <a:prstGeom prst="rect">
            <a:avLst/>
          </a:prstGeom>
          <a:noFill/>
          <a:ln/>
        </p:spPr>
        <p:txBody>
          <a:bodyPr wrap="none" lIns="0" tIns="0" rIns="0" bIns="0" rtlCol="0" anchor="ctr"/>
          <a:lstStyle/>
          <a:p>
            <a:pPr algn="ctr" indent="0" marL="0">
              <a:buNone/>
            </a:pPr>
            <a:r>
              <a:rPr lang="en-US" sz="984" dirty="0">
                <a:solidFill>
                  <a:srgbClr val="A78BFA"/>
                </a:solidFill>
                <a:latin typeface="Segoe UI Symbol" pitchFamily="34" charset="0"/>
                <a:ea typeface="Segoe UI Symbol" pitchFamily="34" charset="-122"/>
                <a:cs typeface="Segoe UI Symbol" pitchFamily="34" charset="-120"/>
              </a:rPr>
              <a:t>✓</a:t>
            </a:r>
            <a:endParaRPr lang="en-US" sz="984" dirty="0"/>
          </a:p>
        </p:txBody>
      </p:sp>
      <p:sp>
        <p:nvSpPr>
          <p:cNvPr id="39" name="Text 34"/>
          <p:cNvSpPr/>
          <p:nvPr/>
        </p:nvSpPr>
        <p:spPr>
          <a:xfrm>
            <a:off x="4814888" y="3495303"/>
            <a:ext cx="3900488" cy="460679"/>
          </a:xfrm>
          <a:prstGeom prst="rect">
            <a:avLst/>
          </a:prstGeom>
          <a:noFill/>
          <a:ln/>
        </p:spPr>
        <p:txBody>
          <a:bodyPr wrap="square" lIns="0" tIns="0" rIns="0" bIns="0" rtlCol="0" anchor="t"/>
          <a:lstStyle/>
          <a:p>
            <a:pPr algn="l" indent="0" marL="0">
              <a:lnSpc>
                <a:spcPts val="906"/>
              </a:lnSpc>
              <a:buNone/>
            </a:pPr>
            <a:r>
              <a:rPr lang="en-US" sz="800" dirty="0">
                <a:solidFill>
                  <a:srgbClr val="FFFFFF">
                    <a:alpha val="85000"/>
                  </a:srgbClr>
                </a:solidFill>
                <a:latin typeface="Carlito" pitchFamily="34" charset="0"/>
                <a:ea typeface="Carlito" pitchFamily="34" charset="-122"/>
                <a:cs typeface="Carlito" pitchFamily="34" charset="-120"/>
              </a:rPr>
              <a:t>Pilot proposal — if the ROI case holds, we propose a pilot deployment at 1–3 locations, 60–90 days, with success criteria agreed up front. Pilot includes kiosk hardware, platform subscription, and MassaPro implementation team.</a:t>
            </a:r>
            <a:endParaRPr lang="en-US" sz="800" dirty="0"/>
          </a:p>
        </p:txBody>
      </p:sp>
      <p:sp>
        <p:nvSpPr>
          <p:cNvPr id="40" name="Text 35"/>
          <p:cNvSpPr/>
          <p:nvPr/>
        </p:nvSpPr>
        <p:spPr>
          <a:xfrm>
            <a:off x="428625" y="3911650"/>
            <a:ext cx="100013" cy="100013"/>
          </a:xfrm>
          <a:prstGeom prst="rect">
            <a:avLst/>
          </a:prstGeom>
          <a:noFill/>
          <a:ln/>
        </p:spPr>
        <p:txBody>
          <a:bodyPr wrap="none" lIns="0" tIns="0" rIns="0" bIns="0" rtlCol="0" anchor="ctr"/>
          <a:lstStyle/>
          <a:p>
            <a:pPr algn="ctr" indent="0" marL="0">
              <a:buNone/>
            </a:pPr>
            <a:r>
              <a:rPr lang="en-US" sz="984" dirty="0">
                <a:solidFill>
                  <a:srgbClr val="A78BFA"/>
                </a:solidFill>
                <a:latin typeface="Segoe UI Symbol" pitchFamily="34" charset="0"/>
                <a:ea typeface="Segoe UI Symbol" pitchFamily="34" charset="-122"/>
                <a:cs typeface="Segoe UI Symbol" pitchFamily="34" charset="-120"/>
              </a:rPr>
              <a:t>✓</a:t>
            </a:r>
            <a:endParaRPr lang="en-US" sz="984" dirty="0"/>
          </a:p>
        </p:txBody>
      </p:sp>
      <p:sp>
        <p:nvSpPr>
          <p:cNvPr id="41" name="Text 36"/>
          <p:cNvSpPr/>
          <p:nvPr/>
        </p:nvSpPr>
        <p:spPr>
          <a:xfrm>
            <a:off x="585788" y="3897362"/>
            <a:ext cx="8129588" cy="153560"/>
          </a:xfrm>
          <a:prstGeom prst="rect">
            <a:avLst/>
          </a:prstGeom>
          <a:noFill/>
          <a:ln/>
        </p:spPr>
        <p:txBody>
          <a:bodyPr wrap="square" lIns="0" tIns="0" rIns="0" bIns="0" rtlCol="0" anchor="t"/>
          <a:lstStyle/>
          <a:p>
            <a:pPr algn="l" indent="0" marL="0">
              <a:lnSpc>
                <a:spcPts val="906"/>
              </a:lnSpc>
              <a:buNone/>
            </a:pPr>
            <a:r>
              <a:rPr lang="en-US" sz="647" dirty="0">
                <a:solidFill>
                  <a:srgbClr val="FFFFFF">
                    <a:alpha val="85000"/>
                  </a:srgbClr>
                </a:solidFill>
                <a:latin typeface="Carlito" pitchFamily="34" charset="0"/>
                <a:ea typeface="Carlito" pitchFamily="34" charset="-122"/>
                <a:cs typeface="Carlito" pitchFamily="34" charset="-120"/>
              </a:rPr>
              <a:t>Decision points — at the end of the pilot, you have the data to decide: scale to the full network, iterate on the configuration, or stop. No long-term lock-in.</a:t>
            </a:r>
            <a:endParaRPr lang="en-US" sz="647" dirty="0"/>
          </a:p>
        </p:txBody>
      </p:sp>
      <p:sp>
        <p:nvSpPr>
          <p:cNvPr id="42" name="Text 37"/>
          <p:cNvSpPr/>
          <p:nvPr/>
        </p:nvSpPr>
        <p:spPr>
          <a:xfrm>
            <a:off x="432197" y="4421981"/>
            <a:ext cx="8279606" cy="317897"/>
          </a:xfrm>
          <a:prstGeom prst="roundRect">
            <a:avLst>
              <a:gd name="adj" fmla="val 23970"/>
            </a:avLst>
          </a:prstGeom>
          <a:solidFill>
            <a:srgbClr val="FFFFFF">
              <a:alpha val="8000"/>
            </a:srgbClr>
          </a:solidFill>
          <a:ln w="7144">
            <a:solidFill>
              <a:srgbClr val="A78BFA"/>
            </a:solidFill>
            <a:prstDash val="solid"/>
          </a:ln>
        </p:spPr>
        <p:txBody>
          <a:bodyPr wrap="square" rtlCol="0" anchor="ctr"/>
          <a:lstStyle/>
          <a:p>
            <a:pPr indent="0" marL="0">
              <a:buNone/>
            </a:pPr>
            <a:endParaRPr lang="en-US" dirty="0"/>
          </a:p>
        </p:txBody>
      </p:sp>
      <p:sp>
        <p:nvSpPr>
          <p:cNvPr id="43" name="Text 38"/>
          <p:cNvSpPr/>
          <p:nvPr/>
        </p:nvSpPr>
        <p:spPr>
          <a:xfrm>
            <a:off x="750094" y="4525566"/>
            <a:ext cx="1041006" cy="125016"/>
          </a:xfrm>
          <a:prstGeom prst="rect">
            <a:avLst/>
          </a:prstGeom>
          <a:noFill/>
          <a:ln/>
        </p:spPr>
        <p:txBody>
          <a:bodyPr wrap="none" lIns="0" tIns="0" rIns="0" bIns="0" rtlCol="0" anchor="t"/>
          <a:lstStyle/>
          <a:p>
            <a:pPr algn="l" indent="0" marL="0">
              <a:lnSpc>
                <a:spcPts val="1097"/>
              </a:lnSpc>
              <a:buNone/>
            </a:pPr>
            <a:r>
              <a:rPr lang="en-US" sz="800" b="1" dirty="0">
                <a:solidFill>
                  <a:srgbClr val="FFFFFF"/>
                </a:solidFill>
                <a:latin typeface="Carlito" pitchFamily="34" charset="0"/>
                <a:ea typeface="Carlito" pitchFamily="34" charset="-122"/>
                <a:cs typeface="Carlito" pitchFamily="34" charset="-120"/>
              </a:rPr>
              <a:t>No commitment</a:t>
            </a:r>
            <a:endParaRPr lang="en-US" sz="800" dirty="0"/>
          </a:p>
        </p:txBody>
      </p:sp>
      <p:sp>
        <p:nvSpPr>
          <p:cNvPr id="44" name="Text 39"/>
          <p:cNvSpPr/>
          <p:nvPr/>
        </p:nvSpPr>
        <p:spPr>
          <a:xfrm>
            <a:off x="578644" y="4516636"/>
            <a:ext cx="128588" cy="128588"/>
          </a:xfrm>
          <a:prstGeom prst="rect">
            <a:avLst/>
          </a:prstGeom>
          <a:noFill/>
          <a:ln/>
        </p:spPr>
        <p:txBody>
          <a:bodyPr wrap="none" lIns="0" tIns="0" rIns="0" bIns="0" rtlCol="0" anchor="ctr"/>
          <a:lstStyle/>
          <a:p>
            <a:pPr algn="ctr" indent="0" marL="0">
              <a:buNone/>
            </a:pPr>
            <a:r>
              <a:rPr lang="en-US" sz="1266" dirty="0">
                <a:solidFill>
                  <a:srgbClr val="A78BFA"/>
                </a:solidFill>
                <a:latin typeface="Segoe UI Symbol" pitchFamily="34" charset="0"/>
                <a:ea typeface="Segoe UI Symbol" pitchFamily="34" charset="-122"/>
                <a:cs typeface="Segoe UI Symbol" pitchFamily="34" charset="-120"/>
              </a:rPr>
              <a:t>$</a:t>
            </a:r>
            <a:endParaRPr lang="en-US" sz="1266" dirty="0"/>
          </a:p>
        </p:txBody>
      </p:sp>
      <p:sp>
        <p:nvSpPr>
          <p:cNvPr id="45" name="Text 40"/>
          <p:cNvSpPr/>
          <p:nvPr/>
        </p:nvSpPr>
        <p:spPr>
          <a:xfrm>
            <a:off x="1668624" y="4511278"/>
            <a:ext cx="91440" cy="139303"/>
          </a:xfrm>
          <a:prstGeom prst="rect">
            <a:avLst/>
          </a:prstGeom>
          <a:noFill/>
          <a:ln/>
        </p:spPr>
        <p:txBody>
          <a:bodyPr wrap="none" lIns="0" tIns="0" rIns="0" bIns="0" rtlCol="0" anchor="t"/>
          <a:lstStyle/>
          <a:p>
            <a:pPr algn="l" indent="0" marL="0">
              <a:lnSpc>
                <a:spcPts val="1097"/>
              </a:lnSpc>
              <a:buNone/>
            </a:pPr>
            <a:r>
              <a:rPr lang="en-US" sz="800" b="1" dirty="0">
                <a:solidFill>
                  <a:srgbClr val="FFFFFF">
                    <a:alpha val="40000"/>
                  </a:srgbClr>
                </a:solidFill>
                <a:latin typeface="Carlito" pitchFamily="34" charset="0"/>
                <a:ea typeface="Carlito" pitchFamily="34" charset="-122"/>
                <a:cs typeface="Carlito" pitchFamily="34" charset="-120"/>
              </a:rPr>
              <a:t>·</a:t>
            </a:r>
            <a:endParaRPr lang="en-US" sz="800" dirty="0"/>
          </a:p>
        </p:txBody>
      </p:sp>
      <p:sp>
        <p:nvSpPr>
          <p:cNvPr id="46" name="Text 41"/>
          <p:cNvSpPr/>
          <p:nvPr/>
        </p:nvSpPr>
        <p:spPr>
          <a:xfrm>
            <a:off x="1961183" y="4525566"/>
            <a:ext cx="561217" cy="125016"/>
          </a:xfrm>
          <a:prstGeom prst="rect">
            <a:avLst/>
          </a:prstGeom>
          <a:noFill/>
          <a:ln/>
        </p:spPr>
        <p:txBody>
          <a:bodyPr wrap="none" lIns="0" tIns="0" rIns="0" bIns="0" rtlCol="0" anchor="t"/>
          <a:lstStyle/>
          <a:p>
            <a:pPr algn="l" indent="0" marL="0">
              <a:lnSpc>
                <a:spcPts val="1097"/>
              </a:lnSpc>
              <a:buNone/>
            </a:pPr>
            <a:r>
              <a:rPr lang="en-US" sz="800" b="1" dirty="0">
                <a:solidFill>
                  <a:srgbClr val="FFFFFF"/>
                </a:solidFill>
                <a:latin typeface="Carlito" pitchFamily="34" charset="0"/>
                <a:ea typeface="Carlito" pitchFamily="34" charset="-122"/>
                <a:cs typeface="Carlito" pitchFamily="34" charset="-120"/>
              </a:rPr>
              <a:t>No cost</a:t>
            </a:r>
            <a:endParaRPr lang="en-US" sz="800" dirty="0"/>
          </a:p>
        </p:txBody>
      </p:sp>
      <p:sp>
        <p:nvSpPr>
          <p:cNvPr id="47" name="Text 42"/>
          <p:cNvSpPr/>
          <p:nvPr/>
        </p:nvSpPr>
        <p:spPr>
          <a:xfrm>
            <a:off x="1789733" y="4516636"/>
            <a:ext cx="128588" cy="128588"/>
          </a:xfrm>
          <a:prstGeom prst="rect">
            <a:avLst/>
          </a:prstGeom>
          <a:noFill/>
          <a:ln/>
        </p:spPr>
        <p:txBody>
          <a:bodyPr wrap="none" lIns="0" tIns="0" rIns="0" bIns="0" rtlCol="0" anchor="ctr"/>
          <a:lstStyle/>
          <a:p>
            <a:pPr algn="ctr" indent="0" marL="0">
              <a:buNone/>
            </a:pPr>
            <a:r>
              <a:rPr lang="en-US" sz="1266" dirty="0">
                <a:solidFill>
                  <a:srgbClr val="A78BFA"/>
                </a:solidFill>
                <a:latin typeface="Segoe UI Symbol" pitchFamily="34" charset="0"/>
                <a:ea typeface="Segoe UI Symbol" pitchFamily="34" charset="-122"/>
                <a:cs typeface="Segoe UI Symbol" pitchFamily="34" charset="-120"/>
              </a:rPr>
              <a:t>$</a:t>
            </a:r>
            <a:endParaRPr lang="en-US" sz="1266" dirty="0"/>
          </a:p>
        </p:txBody>
      </p:sp>
      <p:sp>
        <p:nvSpPr>
          <p:cNvPr id="48" name="Text 43"/>
          <p:cNvSpPr/>
          <p:nvPr/>
        </p:nvSpPr>
        <p:spPr>
          <a:xfrm>
            <a:off x="2439367" y="4511278"/>
            <a:ext cx="91440" cy="139303"/>
          </a:xfrm>
          <a:prstGeom prst="rect">
            <a:avLst/>
          </a:prstGeom>
          <a:noFill/>
          <a:ln/>
        </p:spPr>
        <p:txBody>
          <a:bodyPr wrap="none" lIns="0" tIns="0" rIns="0" bIns="0" rtlCol="0" anchor="t"/>
          <a:lstStyle/>
          <a:p>
            <a:pPr algn="l" indent="0" marL="0">
              <a:lnSpc>
                <a:spcPts val="1097"/>
              </a:lnSpc>
              <a:buNone/>
            </a:pPr>
            <a:r>
              <a:rPr lang="en-US" sz="800" b="1" dirty="0">
                <a:solidFill>
                  <a:srgbClr val="FFFFFF">
                    <a:alpha val="40000"/>
                  </a:srgbClr>
                </a:solidFill>
                <a:latin typeface="Carlito" pitchFamily="34" charset="0"/>
                <a:ea typeface="Carlito" pitchFamily="34" charset="-122"/>
                <a:cs typeface="Carlito" pitchFamily="34" charset="-120"/>
              </a:rPr>
              <a:t>·</a:t>
            </a:r>
            <a:endParaRPr lang="en-US" sz="800" dirty="0"/>
          </a:p>
        </p:txBody>
      </p:sp>
      <p:sp>
        <p:nvSpPr>
          <p:cNvPr id="49" name="Text 44"/>
          <p:cNvSpPr/>
          <p:nvPr/>
        </p:nvSpPr>
        <p:spPr>
          <a:xfrm>
            <a:off x="2731926" y="4525566"/>
            <a:ext cx="878877" cy="125016"/>
          </a:xfrm>
          <a:prstGeom prst="rect">
            <a:avLst/>
          </a:prstGeom>
          <a:noFill/>
          <a:ln/>
        </p:spPr>
        <p:txBody>
          <a:bodyPr wrap="none" lIns="0" tIns="0" rIns="0" bIns="0" rtlCol="0" anchor="t"/>
          <a:lstStyle/>
          <a:p>
            <a:pPr algn="l" indent="0" marL="0">
              <a:lnSpc>
                <a:spcPts val="1097"/>
              </a:lnSpc>
              <a:buNone/>
            </a:pPr>
            <a:r>
              <a:rPr lang="en-US" sz="800" b="1" dirty="0">
                <a:solidFill>
                  <a:srgbClr val="FFFFFF"/>
                </a:solidFill>
                <a:latin typeface="Carlito" pitchFamily="34" charset="0"/>
                <a:ea typeface="Carlito" pitchFamily="34" charset="-122"/>
                <a:cs typeface="Carlito" pitchFamily="34" charset="-120"/>
              </a:rPr>
              <a:t>No obligation</a:t>
            </a:r>
            <a:endParaRPr lang="en-US" sz="800" dirty="0"/>
          </a:p>
        </p:txBody>
      </p:sp>
      <p:sp>
        <p:nvSpPr>
          <p:cNvPr id="50" name="Text 45"/>
          <p:cNvSpPr/>
          <p:nvPr/>
        </p:nvSpPr>
        <p:spPr>
          <a:xfrm>
            <a:off x="2560476" y="4516636"/>
            <a:ext cx="128588" cy="128588"/>
          </a:xfrm>
          <a:prstGeom prst="rect">
            <a:avLst/>
          </a:prstGeom>
          <a:noFill/>
          <a:ln/>
        </p:spPr>
        <p:txBody>
          <a:bodyPr wrap="none" lIns="0" tIns="0" rIns="0" bIns="0" rtlCol="0" anchor="ctr"/>
          <a:lstStyle/>
          <a:p>
            <a:pPr algn="ctr" indent="0" marL="0">
              <a:buNone/>
            </a:pPr>
            <a:r>
              <a:rPr lang="en-US" sz="1266" dirty="0">
                <a:solidFill>
                  <a:srgbClr val="A78BFA"/>
                </a:solidFill>
                <a:latin typeface="Segoe UI Symbol" pitchFamily="34" charset="0"/>
                <a:ea typeface="Segoe UI Symbol" pitchFamily="34" charset="-122"/>
                <a:cs typeface="Segoe UI Symbol" pitchFamily="34" charset="-120"/>
              </a:rPr>
              <a:t>◯</a:t>
            </a:r>
            <a:endParaRPr lang="en-US" sz="1266" dirty="0"/>
          </a:p>
        </p:txBody>
      </p:sp>
      <p:sp>
        <p:nvSpPr>
          <p:cNvPr id="51" name="Text 46"/>
          <p:cNvSpPr/>
          <p:nvPr/>
        </p:nvSpPr>
        <p:spPr>
          <a:xfrm>
            <a:off x="5981998" y="4521101"/>
            <a:ext cx="1197694" cy="129480"/>
          </a:xfrm>
          <a:prstGeom prst="rect">
            <a:avLst/>
          </a:prstGeom>
          <a:noFill/>
          <a:ln/>
        </p:spPr>
        <p:txBody>
          <a:bodyPr wrap="none" lIns="0" tIns="0" rIns="0" bIns="0" rtlCol="0" anchor="t"/>
          <a:lstStyle/>
          <a:p>
            <a:pPr algn="l" indent="0" marL="0">
              <a:lnSpc>
                <a:spcPts val="1055"/>
              </a:lnSpc>
              <a:buNone/>
            </a:pPr>
            <a:r>
              <a:rPr lang="en-US" sz="800" dirty="0">
                <a:solidFill>
                  <a:srgbClr val="FFFFFF">
                    <a:alpha val="88000"/>
                  </a:srgbClr>
                </a:solidFill>
                <a:latin typeface="Carlito" pitchFamily="34" charset="0"/>
                <a:ea typeface="Carlito" pitchFamily="34" charset="-122"/>
                <a:cs typeface="Carlito" pitchFamily="34" charset="-120"/>
              </a:rPr>
              <a:t>hello@massapro.com</a:t>
            </a:r>
            <a:endParaRPr lang="en-US" sz="800" dirty="0"/>
          </a:p>
        </p:txBody>
      </p:sp>
      <p:sp>
        <p:nvSpPr>
          <p:cNvPr id="52" name="Text 47"/>
          <p:cNvSpPr/>
          <p:nvPr/>
        </p:nvSpPr>
        <p:spPr>
          <a:xfrm>
            <a:off x="5824835" y="4523780"/>
            <a:ext cx="114300" cy="114300"/>
          </a:xfrm>
          <a:prstGeom prst="rect">
            <a:avLst/>
          </a:prstGeom>
          <a:noFill/>
          <a:ln/>
        </p:spPr>
        <p:txBody>
          <a:bodyPr wrap="none" lIns="0" tIns="0" rIns="0" bIns="0" rtlCol="0" anchor="ctr"/>
          <a:lstStyle/>
          <a:p>
            <a:pPr algn="ctr" indent="0" marL="0">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53" name="Text 48"/>
          <p:cNvSpPr/>
          <p:nvPr/>
        </p:nvSpPr>
        <p:spPr>
          <a:xfrm>
            <a:off x="7054453" y="4513957"/>
            <a:ext cx="91440" cy="136624"/>
          </a:xfrm>
          <a:prstGeom prst="rect">
            <a:avLst/>
          </a:prstGeom>
          <a:noFill/>
          <a:ln/>
        </p:spPr>
        <p:txBody>
          <a:bodyPr wrap="square" lIns="0" tIns="0" rIns="0" bIns="0" rtlCol="0" anchor="t"/>
          <a:lstStyle/>
          <a:p>
            <a:pPr algn="l" indent="0" marL="0">
              <a:lnSpc>
                <a:spcPts val="1055"/>
              </a:lnSpc>
              <a:buNone/>
            </a:pPr>
            <a:r>
              <a:rPr lang="en-US" sz="800" dirty="0">
                <a:solidFill>
                  <a:srgbClr val="FFFFFF">
                    <a:alpha val="35000"/>
                  </a:srgbClr>
                </a:solidFill>
                <a:latin typeface="Carlito" pitchFamily="34" charset="0"/>
                <a:ea typeface="Carlito" pitchFamily="34" charset="-122"/>
                <a:cs typeface="Carlito" pitchFamily="34" charset="-120"/>
              </a:rPr>
              <a:t>|</a:t>
            </a:r>
            <a:endParaRPr lang="en-US" sz="800" dirty="0"/>
          </a:p>
        </p:txBody>
      </p:sp>
      <p:sp>
        <p:nvSpPr>
          <p:cNvPr id="54" name="Text 49"/>
          <p:cNvSpPr/>
          <p:nvPr/>
        </p:nvSpPr>
        <p:spPr>
          <a:xfrm>
            <a:off x="7356053" y="4521101"/>
            <a:ext cx="1281861" cy="129480"/>
          </a:xfrm>
          <a:prstGeom prst="rect">
            <a:avLst/>
          </a:prstGeom>
          <a:noFill/>
          <a:ln/>
        </p:spPr>
        <p:txBody>
          <a:bodyPr wrap="none" lIns="0" tIns="0" rIns="0" bIns="0" rtlCol="0" anchor="t"/>
          <a:lstStyle/>
          <a:p>
            <a:pPr algn="l" indent="0" marL="0">
              <a:lnSpc>
                <a:spcPts val="1055"/>
              </a:lnSpc>
              <a:buNone/>
            </a:pPr>
            <a:r>
              <a:rPr lang="en-US" sz="703" dirty="0">
                <a:solidFill>
                  <a:srgbClr val="FFFFFF">
                    <a:alpha val="88000"/>
                  </a:srgbClr>
                </a:solidFill>
                <a:latin typeface="Carlito" pitchFamily="34" charset="0"/>
                <a:ea typeface="Carlito" pitchFamily="34" charset="-122"/>
                <a:cs typeface="Carlito" pitchFamily="34" charset="-120"/>
              </a:rPr>
              <a:t>receptionist.massapro.com</a:t>
            </a:r>
            <a:endParaRPr lang="en-US" sz="703" dirty="0"/>
          </a:p>
        </p:txBody>
      </p:sp>
      <p:sp>
        <p:nvSpPr>
          <p:cNvPr id="55" name="Text 50"/>
          <p:cNvSpPr/>
          <p:nvPr/>
        </p:nvSpPr>
        <p:spPr>
          <a:xfrm>
            <a:off x="7198891" y="4523780"/>
            <a:ext cx="114300" cy="114300"/>
          </a:xfrm>
          <a:prstGeom prst="rect">
            <a:avLst/>
          </a:prstGeom>
          <a:noFill/>
          <a:ln/>
        </p:spPr>
        <p:txBody>
          <a:bodyPr wrap="none" lIns="0" tIns="0" rIns="0" bIns="0" rtlCol="0" anchor="ctr"/>
          <a:lstStyle/>
          <a:p>
            <a:pPr algn="ctr" indent="0" marL="0">
              <a:buNone/>
            </a:pPr>
            <a:r>
              <a:rPr lang="en-US" sz="1125" dirty="0">
                <a:solidFill>
                  <a:srgbClr val="FFFFFF"/>
                </a:solidFill>
                <a:latin typeface="Segoe UI Symbol" pitchFamily="34" charset="0"/>
                <a:ea typeface="Segoe UI Symbol" pitchFamily="34" charset="-122"/>
                <a:cs typeface="Segoe UI Symbol" pitchFamily="34" charset="-120"/>
              </a:rPr>
              <a:t>◯</a:t>
            </a:r>
            <a:endParaRPr lang="en-US" sz="1125" dirty="0"/>
          </a:p>
        </p:txBody>
      </p:sp>
      <p:sp>
        <p:nvSpPr>
          <p:cNvPr id="56" name="Text 51"/>
          <p:cNvSpPr/>
          <p:nvPr/>
        </p:nvSpPr>
        <p:spPr>
          <a:xfrm>
            <a:off x="342900" y="4854178"/>
            <a:ext cx="4267609" cy="164592"/>
          </a:xfrm>
          <a:prstGeom prst="rect">
            <a:avLst/>
          </a:prstGeom>
          <a:noFill/>
          <a:ln/>
        </p:spPr>
        <p:txBody>
          <a:bodyPr wrap="none" lIns="0" tIns="0" rIns="0" bIns="0" rtlCol="0" anchor="t"/>
          <a:lstStyle/>
          <a:p>
            <a:pPr algn="l" indent="0" marL="0">
              <a:lnSpc>
                <a:spcPts val="928"/>
              </a:lnSpc>
              <a:buNone/>
            </a:pPr>
            <a:r>
              <a:rPr lang="en-US" sz="800" spc="25" kern="0" dirty="0">
                <a:solidFill>
                  <a:srgbClr val="FFFFFF">
                    <a:alpha val="55000"/>
                  </a:srgbClr>
                </a:solidFill>
                <a:latin typeface="Carlito" pitchFamily="34" charset="0"/>
                <a:ea typeface="Carlito" pitchFamily="34" charset="-122"/>
                <a:cs typeface="Carlito" pitchFamily="34" charset="-120"/>
              </a:rPr>
              <a:t>MASSAPRO IVR — SALES DECK</a:t>
            </a:r>
            <a:endParaRPr lang="en-US" sz="800" dirty="0"/>
          </a:p>
        </p:txBody>
      </p:sp>
      <p:sp>
        <p:nvSpPr>
          <p:cNvPr id="57" name="Text 52"/>
          <p:cNvSpPr/>
          <p:nvPr/>
        </p:nvSpPr>
        <p:spPr>
          <a:xfrm>
            <a:off x="4624797" y="4854178"/>
            <a:ext cx="3592748" cy="164592"/>
          </a:xfrm>
          <a:prstGeom prst="rect">
            <a:avLst/>
          </a:prstGeom>
          <a:noFill/>
          <a:ln/>
        </p:spPr>
        <p:txBody>
          <a:bodyPr wrap="square" lIns="0" tIns="0" rIns="0" bIns="0" rtlCol="0" anchor="t"/>
          <a:lstStyle/>
          <a:p>
            <a:pPr algn="l" indent="0" marL="0">
              <a:lnSpc>
                <a:spcPts val="928"/>
              </a:lnSpc>
              <a:buNone/>
            </a:pPr>
            <a:r>
              <a:rPr lang="en-US" sz="800" spc="25" kern="0" dirty="0">
                <a:solidFill>
                  <a:srgbClr val="FFFFFF">
                    <a:alpha val="55000"/>
                  </a:srgbClr>
                </a:solidFill>
                <a:latin typeface="Carlito" pitchFamily="34" charset="0"/>
                <a:ea typeface="Carlito" pitchFamily="34" charset="-122"/>
                <a:cs typeface="Carlito" pitchFamily="34" charset="-120"/>
              </a:rPr>
              <a:t>CONFIDENTIAL</a:t>
            </a:r>
            <a:endParaRPr lang="en-US" sz="800" dirty="0"/>
          </a:p>
        </p:txBody>
      </p:sp>
      <p:sp>
        <p:nvSpPr>
          <p:cNvPr id="58" name="Text 53"/>
          <p:cNvSpPr/>
          <p:nvPr/>
        </p:nvSpPr>
        <p:spPr>
          <a:xfrm>
            <a:off x="8231832" y="4854178"/>
            <a:ext cx="684793" cy="164592"/>
          </a:xfrm>
          <a:prstGeom prst="rect">
            <a:avLst/>
          </a:prstGeom>
          <a:noFill/>
          <a:ln/>
        </p:spPr>
        <p:txBody>
          <a:bodyPr wrap="none" lIns="0" tIns="0" rIns="0" bIns="0" rtlCol="0" anchor="t"/>
          <a:lstStyle/>
          <a:p>
            <a:pPr algn="l" indent="0" marL="0">
              <a:lnSpc>
                <a:spcPts val="928"/>
              </a:lnSpc>
              <a:buNone/>
            </a:pPr>
            <a:r>
              <a:rPr lang="en-US" sz="619" spc="25" kern="0" dirty="0">
                <a:solidFill>
                  <a:srgbClr val="FFFFFF">
                    <a:alpha val="55000"/>
                  </a:srgbClr>
                </a:solidFill>
                <a:latin typeface="Liberation Sans Narrow" pitchFamily="34" charset="0"/>
                <a:ea typeface="Liberation Sans Narrow" pitchFamily="34" charset="-122"/>
                <a:cs typeface="Liberation Sans Narrow" pitchFamily="34" charset="-120"/>
              </a:rPr>
              <a:t>SLIDE 24 / 24</a:t>
            </a:r>
            <a:endParaRPr lang="en-US" sz="619" dirty="0"/>
          </a:p>
        </p:txBody>
      </p:sp>
      <p:pic>
        <p:nvPicPr>
          <p:cNvPr id="59" name="Image 3" descr="/home/z/my-project/download/slides/massapro-logo.png">    </p:cNvPr>
          <p:cNvPicPr>
            <a:picLocks noChangeAspect="1"/>
          </p:cNvPicPr>
          <p:nvPr/>
        </p:nvPicPr>
        <p:blipFill>
          <a:blip r:embed="rId4"/>
          <a:stretch>
            <a:fillRect/>
          </a:stretch>
        </p:blipFill>
        <p:spPr>
          <a:xfrm>
            <a:off x="342900" y="200025"/>
            <a:ext cx="200025" cy="200025"/>
          </a:xfrm>
          <a:prstGeom prst="rect">
            <a:avLst/>
          </a:prstGeom>
        </p:spPr>
      </p:pic>
      <p:sp>
        <p:nvSpPr>
          <p:cNvPr id="60" name="Text 54"/>
          <p:cNvSpPr/>
          <p:nvPr/>
        </p:nvSpPr>
        <p:spPr>
          <a:xfrm>
            <a:off x="614363" y="219670"/>
            <a:ext cx="769239" cy="173593"/>
          </a:xfrm>
          <a:prstGeom prst="rect">
            <a:avLst/>
          </a:prstGeom>
          <a:noFill/>
          <a:ln/>
        </p:spPr>
        <p:txBody>
          <a:bodyPr wrap="none" lIns="0" tIns="0" rIns="0" bIns="0" rtlCol="0" anchor="t"/>
          <a:lstStyle/>
          <a:p>
            <a:pPr algn="l" indent="0" marL="0">
              <a:lnSpc>
                <a:spcPts val="1266"/>
              </a:lnSpc>
              <a:buNone/>
            </a:pPr>
            <a:r>
              <a:rPr lang="en-US" sz="844" b="1" spc="17" kern="0" dirty="0">
                <a:solidFill>
                  <a:srgbClr val="A78BFA"/>
                </a:solidFill>
                <a:latin typeface="Carlito" pitchFamily="34" charset="0"/>
                <a:ea typeface="Carlito" pitchFamily="34" charset="-122"/>
                <a:cs typeface="Carlito" pitchFamily="34" charset="-120"/>
              </a:rPr>
              <a:t>MassaPro</a:t>
            </a:r>
            <a:endParaRPr lang="en-US" sz="84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2026-08-12T08:12:27Z</dcterms:created>
  <dcterms:modified xsi:type="dcterms:W3CDTF">2026-08-12T08:12:27Z</dcterms:modified>
</cp:coreProperties>
</file>