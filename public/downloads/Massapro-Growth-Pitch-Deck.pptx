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pic>
        <p:nvPicPr>
          <p:cNvPr id="4" name="Image 2" descr="preencoded.png">    </p:cNvPr>
          <p:cNvPicPr>
            <a:picLocks noChangeAspect="1"/>
          </p:cNvPicPr>
          <p:nvPr/>
        </p:nvPicPr>
        <p:blipFill>
          <a:blip r:embed="rId3"/>
          <a:stretch>
            <a:fillRect/>
          </a:stretch>
        </p:blipFill>
        <p:spPr>
          <a:xfrm>
            <a:off x="5929313" y="-714375"/>
            <a:ext cx="4286250" cy="4286250"/>
          </a:xfrm>
          <a:prstGeom prst="rect">
            <a:avLst/>
          </a:prstGeom>
        </p:spPr>
      </p:pic>
      <p:sp>
        <p:nvSpPr>
          <p:cNvPr id="5" name="Text 0"/>
          <p:cNvSpPr/>
          <p:nvPr/>
        </p:nvSpPr>
        <p:spPr>
          <a:xfrm>
            <a:off x="5929313" y="-714375"/>
            <a:ext cx="4286250" cy="4286250"/>
          </a:xfrm>
          <a:prstGeom prst="ellipse">
            <a:avLst/>
          </a:prstGeom>
          <a:solidFill>
            <a:srgbClr val="7C3AED">
              <a:alpha val="0"/>
            </a:srgbClr>
          </a:solidFill>
          <a:ln/>
        </p:spPr>
        <p:txBody>
          <a:bodyPr wrap="square" rtlCol="0" anchor="ctr"/>
          <a:lstStyle/>
          <a:p>
            <a:pPr indent="0" marL="0">
              <a:buNone/>
            </a:pPr>
            <a:endParaRPr lang="en-US" dirty="0"/>
          </a:p>
        </p:txBody>
      </p:sp>
      <p:pic>
        <p:nvPicPr>
          <p:cNvPr id="6" name="Image 3" descr="preencoded.png">    </p:cNvPr>
          <p:cNvPicPr>
            <a:picLocks noChangeAspect="1"/>
          </p:cNvPicPr>
          <p:nvPr/>
        </p:nvPicPr>
        <p:blipFill>
          <a:blip r:embed="rId4"/>
          <a:stretch>
            <a:fillRect/>
          </a:stretch>
        </p:blipFill>
        <p:spPr>
          <a:xfrm>
            <a:off x="-714375" y="3000375"/>
            <a:ext cx="2857500" cy="2857500"/>
          </a:xfrm>
          <a:prstGeom prst="rect">
            <a:avLst/>
          </a:prstGeom>
        </p:spPr>
      </p:pic>
      <p:sp>
        <p:nvSpPr>
          <p:cNvPr id="7" name="Text 1"/>
          <p:cNvSpPr/>
          <p:nvPr/>
        </p:nvSpPr>
        <p:spPr>
          <a:xfrm>
            <a:off x="-714375" y="3000375"/>
            <a:ext cx="2857500" cy="2857500"/>
          </a:xfrm>
          <a:prstGeom prst="ellipse">
            <a:avLst/>
          </a:prstGeom>
          <a:solidFill>
            <a:srgbClr val="A78BFA">
              <a:alpha val="0"/>
            </a:srgbClr>
          </a:solidFill>
          <a:ln/>
        </p:spPr>
        <p:txBody>
          <a:bodyPr wrap="square" rtlCol="0" anchor="ctr"/>
          <a:lstStyle/>
          <a:p>
            <a:pPr indent="0" marL="0">
              <a:buNone/>
            </a:pPr>
            <a:endParaRPr lang="en-US" dirty="0"/>
          </a:p>
        </p:txBody>
      </p:sp>
      <p:pic>
        <p:nvPicPr>
          <p:cNvPr id="8" name="Image 4" descr="preencoded.png">    </p:cNvPr>
          <p:cNvPicPr>
            <a:picLocks noChangeAspect="1"/>
          </p:cNvPicPr>
          <p:nvPr/>
        </p:nvPicPr>
        <p:blipFill>
          <a:blip r:embed="rId5"/>
          <a:stretch>
            <a:fillRect/>
          </a:stretch>
        </p:blipFill>
        <p:spPr>
          <a:xfrm>
            <a:off x="0" y="0"/>
            <a:ext cx="9144000" cy="5143500"/>
          </a:xfrm>
          <a:prstGeom prst="rect">
            <a:avLst/>
          </a:prstGeom>
        </p:spPr>
      </p:pic>
      <p:sp>
        <p:nvSpPr>
          <p:cNvPr id="9" name="Text 2"/>
          <p:cNvSpPr/>
          <p:nvPr/>
        </p:nvSpPr>
        <p:spPr>
          <a:xfrm>
            <a:off x="571500" y="571500"/>
            <a:ext cx="457200" cy="457200"/>
          </a:xfrm>
          <a:prstGeom prst="roundRect">
            <a:avLst>
              <a:gd name="adj" fmla="val 29167"/>
            </a:avLst>
          </a:prstGeom>
          <a:solidFill>
            <a:srgbClr val="7C3AED"/>
          </a:solidFill>
          <a:ln/>
          <a:effectLst>
            <a:outerShdw sx="100000" sy="100000" kx="0" ky="0" algn="bl" rotWithShape="0" blurRad="304800" dist="76200" dir="5400000">
              <a:srgbClr val="7C3AED">
                <a:alpha val="40000"/>
              </a:srgbClr>
            </a:outerShdw>
          </a:effectLst>
        </p:spPr>
        <p:txBody>
          <a:bodyPr wrap="square" rtlCol="0" anchor="ctr"/>
          <a:lstStyle/>
          <a:p>
            <a:pPr indent="0" marL="0">
              <a:buNone/>
            </a:pPr>
            <a:endParaRPr lang="en-US" dirty="0"/>
          </a:p>
        </p:txBody>
      </p:sp>
      <p:sp>
        <p:nvSpPr>
          <p:cNvPr id="10" name="Text 3"/>
          <p:cNvSpPr/>
          <p:nvPr/>
        </p:nvSpPr>
        <p:spPr>
          <a:xfrm>
            <a:off x="571500" y="571500"/>
            <a:ext cx="514350" cy="457200"/>
          </a:xfrm>
          <a:prstGeom prst="rect">
            <a:avLst/>
          </a:prstGeom>
          <a:noFill/>
          <a:ln/>
        </p:spPr>
        <p:txBody>
          <a:bodyPr wrap="none" lIns="0" tIns="0" rIns="0" bIns="0" rtlCol="0" anchor="ctr"/>
          <a:lstStyle/>
          <a:p>
            <a:pPr algn="ctr" indent="0" marL="0">
              <a:buNone/>
            </a:pPr>
            <a:r>
              <a:rPr lang="en-US" sz="1800" b="1" dirty="0">
                <a:solidFill>
                  <a:srgbClr val="FFFFFF"/>
                </a:solidFill>
                <a:latin typeface="Carlito" pitchFamily="34" charset="0"/>
                <a:ea typeface="Carlito" pitchFamily="34" charset="-122"/>
                <a:cs typeface="Carlito" pitchFamily="34" charset="-120"/>
              </a:rPr>
              <a:t>M</a:t>
            </a:r>
            <a:endParaRPr lang="en-US" sz="1800" dirty="0"/>
          </a:p>
        </p:txBody>
      </p:sp>
      <p:sp>
        <p:nvSpPr>
          <p:cNvPr id="11" name="Text 4"/>
          <p:cNvSpPr/>
          <p:nvPr/>
        </p:nvSpPr>
        <p:spPr>
          <a:xfrm>
            <a:off x="1143000" y="707231"/>
            <a:ext cx="7429500" cy="200597"/>
          </a:xfrm>
          <a:prstGeom prst="rect">
            <a:avLst/>
          </a:prstGeom>
          <a:noFill/>
          <a:ln/>
        </p:spPr>
        <p:txBody>
          <a:bodyPr wrap="none" lIns="0" tIns="0" rIns="0" bIns="0" rtlCol="0" anchor="t"/>
          <a:lstStyle/>
          <a:p>
            <a:pPr algn="l" indent="0" marL="0">
              <a:buNone/>
            </a:pPr>
            <a:r>
              <a:rPr lang="en-US" sz="1238" b="1" spc="50" kern="0" dirty="0">
                <a:solidFill>
                  <a:srgbClr val="A78BFA"/>
                </a:solidFill>
                <a:latin typeface="Carlito" pitchFamily="34" charset="0"/>
                <a:ea typeface="Carlito" pitchFamily="34" charset="-122"/>
                <a:cs typeface="Carlito" pitchFamily="34" charset="-120"/>
              </a:rPr>
              <a:t>MassaPro</a:t>
            </a:r>
            <a:endParaRPr lang="en-US" sz="1238" dirty="0"/>
          </a:p>
        </p:txBody>
      </p:sp>
      <p:sp>
        <p:nvSpPr>
          <p:cNvPr id="12" name="Text 5"/>
          <p:cNvSpPr/>
          <p:nvPr/>
        </p:nvSpPr>
        <p:spPr>
          <a:xfrm>
            <a:off x="571500" y="1871104"/>
            <a:ext cx="8001000" cy="740664"/>
          </a:xfrm>
          <a:prstGeom prst="rect">
            <a:avLst/>
          </a:prstGeom>
          <a:noFill/>
          <a:ln/>
        </p:spPr>
        <p:txBody>
          <a:bodyPr wrap="none" lIns="0" tIns="0" rIns="0" bIns="0" rtlCol="0" anchor="t"/>
          <a:lstStyle/>
          <a:p>
            <a:pPr algn="l" indent="0" marL="0">
              <a:lnSpc>
                <a:spcPts val="5400"/>
              </a:lnSpc>
              <a:buNone/>
            </a:pPr>
            <a:r>
              <a:rPr lang="en-US" sz="5400" b="1" spc="-108" kern="0" dirty="0">
                <a:solidFill>
                  <a:srgbClr val="FFFFFF"/>
                </a:solidFill>
                <a:latin typeface="Tinos" pitchFamily="34" charset="0"/>
                <a:ea typeface="Tinos" pitchFamily="34" charset="-122"/>
                <a:cs typeface="Tinos" pitchFamily="34" charset="-120"/>
              </a:rPr>
              <a:t>MassaPro</a:t>
            </a:r>
            <a:endParaRPr lang="en-US" sz="5400" dirty="0"/>
          </a:p>
        </p:txBody>
      </p:sp>
      <p:sp>
        <p:nvSpPr>
          <p:cNvPr id="13" name="Text 6"/>
          <p:cNvSpPr/>
          <p:nvPr/>
        </p:nvSpPr>
        <p:spPr>
          <a:xfrm>
            <a:off x="571500" y="2671204"/>
            <a:ext cx="8110728" cy="296193"/>
          </a:xfrm>
          <a:prstGeom prst="rect">
            <a:avLst/>
          </a:prstGeom>
          <a:noFill/>
          <a:ln/>
        </p:spPr>
        <p:txBody>
          <a:bodyPr wrap="square" lIns="0" tIns="0" rIns="0" bIns="0" rtlCol="0" anchor="t"/>
          <a:lstStyle/>
          <a:p>
            <a:pPr algn="l" indent="0" marL="0">
              <a:lnSpc>
                <a:spcPts val="2160"/>
              </a:lnSpc>
              <a:buNone/>
            </a:pPr>
            <a:r>
              <a:rPr lang="en-US" sz="1800" dirty="0">
                <a:solidFill>
                  <a:srgbClr val="A78BFA"/>
                </a:solidFill>
                <a:latin typeface="Carlito" pitchFamily="34" charset="0"/>
                <a:ea typeface="Carlito" pitchFamily="34" charset="-122"/>
                <a:cs typeface="Carlito" pitchFamily="34" charset="-120"/>
              </a:rPr>
              <a:t>The Growth Machine for Customer Service</a:t>
            </a:r>
            <a:endParaRPr lang="en-US" sz="1800" dirty="0"/>
          </a:p>
        </p:txBody>
      </p:sp>
      <p:sp>
        <p:nvSpPr>
          <p:cNvPr id="14" name="Text 7"/>
          <p:cNvSpPr/>
          <p:nvPr/>
        </p:nvSpPr>
        <p:spPr>
          <a:xfrm>
            <a:off x="571500" y="3202632"/>
            <a:ext cx="5143500" cy="430366"/>
          </a:xfrm>
          <a:prstGeom prst="rect">
            <a:avLst/>
          </a:prstGeom>
          <a:noFill/>
          <a:ln/>
        </p:spPr>
        <p:txBody>
          <a:bodyPr wrap="square" lIns="0" tIns="0" rIns="0" bIns="0" rtlCol="0" anchor="t"/>
          <a:lstStyle/>
          <a:p>
            <a:pPr algn="l" indent="0" marL="0">
              <a:lnSpc>
                <a:spcPts val="1569"/>
              </a:lnSpc>
              <a:buNone/>
            </a:pPr>
            <a:r>
              <a:rPr lang="en-US" sz="1013" dirty="0">
                <a:solidFill>
                  <a:srgbClr val="FFFFFF">
                    <a:alpha val="75000"/>
                  </a:srgbClr>
                </a:solidFill>
                <a:latin typeface="Carlito" pitchFamily="34" charset="0"/>
                <a:ea typeface="Carlito" pitchFamily="34" charset="-122"/>
                <a:cs typeface="Carlito" pitchFamily="34" charset="-120"/>
              </a:rPr>
              <a:t>Replace your entire call center with one Agentic AI platform — orchestrated by our proprietary LLM, priced per agent, not per minute.</a:t>
            </a:r>
            <a:endParaRPr lang="en-US" sz="1013" dirty="0"/>
          </a:p>
        </p:txBody>
      </p:sp>
      <p:sp>
        <p:nvSpPr>
          <p:cNvPr id="15" name="Text 8"/>
          <p:cNvSpPr/>
          <p:nvPr/>
        </p:nvSpPr>
        <p:spPr>
          <a:xfrm>
            <a:off x="571500" y="3743995"/>
            <a:ext cx="571500" cy="28575"/>
          </a:xfrm>
          <a:prstGeom prst="roundRect">
            <a:avLst>
              <a:gd name="adj" fmla="val 66667"/>
            </a:avLst>
          </a:prstGeom>
          <a:solidFill>
            <a:srgbClr val="A78BFA"/>
          </a:solidFill>
          <a:ln/>
        </p:spPr>
        <p:txBody>
          <a:bodyPr wrap="square" rtlCol="0" anchor="ctr"/>
          <a:lstStyle/>
          <a:p>
            <a:pPr indent="0" marL="0">
              <a:buNone/>
            </a:pPr>
            <a:endParaRPr lang="en-US" dirty="0"/>
          </a:p>
        </p:txBody>
      </p:sp>
      <p:sp>
        <p:nvSpPr>
          <p:cNvPr id="16" name="Text 9"/>
          <p:cNvSpPr/>
          <p:nvPr/>
        </p:nvSpPr>
        <p:spPr>
          <a:xfrm>
            <a:off x="571500" y="4614863"/>
            <a:ext cx="7592467" cy="100013"/>
          </a:xfrm>
          <a:prstGeom prst="rect">
            <a:avLst/>
          </a:prstGeom>
          <a:noFill/>
          <a:ln/>
        </p:spPr>
        <p:txBody>
          <a:bodyPr wrap="square" lIns="0" tIns="0" rIns="0" bIns="0" rtlCol="0" anchor="t"/>
          <a:lstStyle/>
          <a:p>
            <a:pPr algn="l" indent="0" marL="0">
              <a:buNone/>
            </a:pPr>
            <a:r>
              <a:rPr lang="en-US" sz="800" spc="149" kern="0" dirty="0">
                <a:solidFill>
                  <a:srgbClr val="FFFFFF">
                    <a:alpha val="45000"/>
                  </a:srgbClr>
                </a:solidFill>
                <a:latin typeface="Carlito" pitchFamily="34" charset="0"/>
                <a:ea typeface="Carlito" pitchFamily="34" charset="-122"/>
                <a:cs typeface="Carlito" pitchFamily="34" charset="-120"/>
              </a:rPr>
              <a:t>MASSAPRO · ENTERPRISE BROCHURE · 2026</a:t>
            </a:r>
            <a:endParaRPr lang="en-US" sz="800" dirty="0"/>
          </a:p>
        </p:txBody>
      </p:sp>
      <p:sp>
        <p:nvSpPr>
          <p:cNvPr id="17" name="Text 10"/>
          <p:cNvSpPr/>
          <p:nvPr/>
        </p:nvSpPr>
        <p:spPr>
          <a:xfrm>
            <a:off x="8178254" y="4614863"/>
            <a:ext cx="394246" cy="100013"/>
          </a:xfrm>
          <a:prstGeom prst="rect">
            <a:avLst/>
          </a:prstGeom>
          <a:noFill/>
          <a:ln/>
        </p:spPr>
        <p:txBody>
          <a:bodyPr wrap="none" lIns="0" tIns="0" rIns="0" bIns="0" rtlCol="0" anchor="t"/>
          <a:lstStyle/>
          <a:p>
            <a:pPr algn="l" indent="0" marL="0">
              <a:buNone/>
            </a:pPr>
            <a:r>
              <a:rPr lang="en-US" sz="675" spc="149" kern="0" dirty="0">
                <a:solidFill>
                  <a:srgbClr val="FFFFFF">
                    <a:alpha val="45000"/>
                  </a:srgbClr>
                </a:solidFill>
                <a:latin typeface="Liberation Sans Narrow" pitchFamily="34" charset="0"/>
                <a:ea typeface="Liberation Sans Narrow" pitchFamily="34" charset="-122"/>
                <a:cs typeface="Liberation Sans Narrow" pitchFamily="34" charset="-120"/>
              </a:rPr>
              <a:t>01 / 10</a:t>
            </a:r>
            <a:endParaRPr lang="en-US" sz="6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4340" y="488490"/>
            <a:ext cx="1014256" cy="216027"/>
          </a:xfrm>
          <a:prstGeom prst="roundRect">
            <a:avLst>
              <a:gd name="adj" fmla="val 4404762"/>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3" name="Text 1"/>
          <p:cNvSpPr/>
          <p:nvPr/>
        </p:nvSpPr>
        <p:spPr>
          <a:xfrm>
            <a:off x="457200" y="500063"/>
            <a:ext cx="968536" cy="192881"/>
          </a:xfrm>
          <a:prstGeom prst="rect">
            <a:avLst/>
          </a:prstGeom>
          <a:noFill/>
          <a:ln/>
        </p:spPr>
        <p:txBody>
          <a:bodyPr wrap="none" lIns="0" tIns="0" rIns="0" bIns="0" rtlCol="0" anchor="ctr"/>
          <a:lstStyle/>
          <a:p>
            <a:pPr algn="ctr" indent="0" marL="0">
              <a:buNone/>
            </a:pPr>
            <a:r>
              <a:rPr lang="en-US" sz="800" b="1" spc="111" kern="0" dirty="0">
                <a:solidFill>
                  <a:srgbClr val="7C3AED"/>
                </a:solidFill>
                <a:latin typeface="Carlito" pitchFamily="34" charset="0"/>
                <a:ea typeface="Carlito" pitchFamily="34" charset="-122"/>
                <a:cs typeface="Carlito" pitchFamily="34" charset="-120"/>
              </a:rPr>
              <a:t>THE PROBLEM</a:t>
            </a:r>
            <a:endParaRPr lang="en-US" sz="800" dirty="0"/>
          </a:p>
        </p:txBody>
      </p:sp>
      <p:sp>
        <p:nvSpPr>
          <p:cNvPr id="4" name="Text 2"/>
          <p:cNvSpPr/>
          <p:nvPr/>
        </p:nvSpPr>
        <p:spPr>
          <a:xfrm>
            <a:off x="457200" y="807244"/>
            <a:ext cx="7000875" cy="686943"/>
          </a:xfrm>
          <a:prstGeom prst="rect">
            <a:avLst/>
          </a:prstGeom>
          <a:noFill/>
          <a:ln/>
        </p:spPr>
        <p:txBody>
          <a:bodyPr wrap="square" lIns="0" tIns="0" rIns="0" bIns="0" rtlCol="0" anchor="t">
            <a:normAutofit/>
          </a:bodyPr>
          <a:lstStyle/>
          <a:p>
            <a:pPr algn="l" indent="0" marL="0">
              <a:lnSpc>
                <a:spcPts val="2588"/>
              </a:lnSpc>
              <a:buNone/>
            </a:pPr>
            <a:r>
              <a:rPr lang="en-US" sz="2250" b="1" dirty="0">
                <a:solidFill>
                  <a:srgbClr val="1F2937"/>
                </a:solidFill>
                <a:latin typeface="Tinos" pitchFamily="34" charset="0"/>
                <a:ea typeface="Tinos" pitchFamily="34" charset="-122"/>
                <a:cs typeface="Tinos" pitchFamily="34" charset="-120"/>
              </a:rPr>
              <a:t>The Call Center Is a Cost Center.</a:t>
            </a:r>
            <a:endParaRPr lang="en-US" sz="2250" dirty="0"/>
          </a:p>
          <a:p>
            <a:pPr algn="l" indent="0" marL="0">
              <a:lnSpc>
                <a:spcPts val="2588"/>
              </a:lnSpc>
              <a:buNone/>
            </a:pPr>
            <a:r>
              <a:rPr lang="en-US" sz="2250" b="1" dirty="0">
                <a:solidFill>
                  <a:srgbClr val="7C3AED"/>
                </a:solidFill>
                <a:latin typeface="Tinos" pitchFamily="34" charset="0"/>
                <a:ea typeface="Tinos" pitchFamily="34" charset="-122"/>
                <a:cs typeface="Tinos" pitchFamily="34" charset="-120"/>
              </a:rPr>
              <a:t>It Should Be a Growth Engine.</a:t>
            </a:r>
            <a:endParaRPr lang="en-US" sz="2250" dirty="0"/>
          </a:p>
        </p:txBody>
      </p:sp>
      <p:sp>
        <p:nvSpPr>
          <p:cNvPr id="5" name="Text 3"/>
          <p:cNvSpPr/>
          <p:nvPr/>
        </p:nvSpPr>
        <p:spPr>
          <a:xfrm>
            <a:off x="457200" y="1521619"/>
            <a:ext cx="6429375" cy="370332"/>
          </a:xfrm>
          <a:prstGeom prst="rect">
            <a:avLst/>
          </a:prstGeom>
          <a:noFill/>
          <a:ln/>
        </p:spPr>
        <p:txBody>
          <a:bodyPr wrap="square" lIns="0" tIns="0" rIns="0" bIns="0" rtlCol="0" anchor="t"/>
          <a:lstStyle/>
          <a:p>
            <a:pPr algn="l" indent="0" marL="0">
              <a:lnSpc>
                <a:spcPts val="1350"/>
              </a:lnSpc>
              <a:buNone/>
            </a:pPr>
            <a:r>
              <a:rPr lang="en-US" sz="900" dirty="0">
                <a:solidFill>
                  <a:srgbClr val="6B7280"/>
                </a:solidFill>
                <a:latin typeface="Carlito" pitchFamily="34" charset="0"/>
                <a:ea typeface="Carlito" pitchFamily="34" charset="-122"/>
                <a:cs typeface="Carlito" pitchFamily="34" charset="-120"/>
              </a:rPr>
              <a:t>Most enterprises run a fragmented stack — dialer, call center, reporting tool, analytics dashboard, call intelligence layer, QA system — stitched together by per-minute AI token billing that punishes scale.</a:t>
            </a:r>
            <a:endParaRPr lang="en-US" sz="900" dirty="0"/>
          </a:p>
        </p:txBody>
      </p:sp>
      <p:sp>
        <p:nvSpPr>
          <p:cNvPr id="6" name="Text 4"/>
          <p:cNvSpPr/>
          <p:nvPr/>
        </p:nvSpPr>
        <p:spPr>
          <a:xfrm>
            <a:off x="457200" y="2264569"/>
            <a:ext cx="1554435" cy="1889522"/>
          </a:xfrm>
          <a:prstGeom prst="roundRect">
            <a:avLst>
              <a:gd name="adj" fmla="val 6128"/>
            </a:avLst>
          </a:prstGeom>
          <a:solidFill>
            <a:srgbClr val="F9FAFB"/>
          </a:solidFill>
          <a:ln/>
        </p:spPr>
        <p:txBody>
          <a:bodyPr wrap="square" rtlCol="0" anchor="ctr"/>
          <a:lstStyle/>
          <a:p>
            <a:pPr indent="0" marL="0">
              <a:buNone/>
            </a:pPr>
            <a:endParaRPr lang="en-US" dirty="0"/>
          </a:p>
        </p:txBody>
      </p:sp>
      <p:sp>
        <p:nvSpPr>
          <p:cNvPr id="7" name="Shape 5"/>
          <p:cNvSpPr/>
          <p:nvPr/>
        </p:nvSpPr>
        <p:spPr>
          <a:xfrm>
            <a:off x="457200" y="2268141"/>
            <a:ext cx="1554435" cy="0"/>
          </a:xfrm>
          <a:prstGeom prst="line">
            <a:avLst/>
          </a:prstGeom>
          <a:noFill/>
          <a:ln w="7144">
            <a:solidFill>
              <a:srgbClr val="E5E7EB"/>
            </a:solidFill>
            <a:prstDash val="solid"/>
          </a:ln>
        </p:spPr>
      </p:sp>
      <p:sp>
        <p:nvSpPr>
          <p:cNvPr id="8" name="Shape 6"/>
          <p:cNvSpPr/>
          <p:nvPr/>
        </p:nvSpPr>
        <p:spPr>
          <a:xfrm>
            <a:off x="2008063" y="2264569"/>
            <a:ext cx="0" cy="1889522"/>
          </a:xfrm>
          <a:prstGeom prst="line">
            <a:avLst/>
          </a:prstGeom>
          <a:noFill/>
          <a:ln w="7144">
            <a:solidFill>
              <a:srgbClr val="E5E7EB"/>
            </a:solidFill>
            <a:prstDash val="solid"/>
          </a:ln>
        </p:spPr>
      </p:sp>
      <p:sp>
        <p:nvSpPr>
          <p:cNvPr id="9" name="Shape 7"/>
          <p:cNvSpPr/>
          <p:nvPr/>
        </p:nvSpPr>
        <p:spPr>
          <a:xfrm>
            <a:off x="457200" y="4150519"/>
            <a:ext cx="1554435" cy="0"/>
          </a:xfrm>
          <a:prstGeom prst="line">
            <a:avLst/>
          </a:prstGeom>
          <a:noFill/>
          <a:ln w="7144">
            <a:solidFill>
              <a:srgbClr val="E5E7EB"/>
            </a:solidFill>
            <a:prstDash val="solid"/>
          </a:ln>
        </p:spPr>
      </p:sp>
      <p:sp>
        <p:nvSpPr>
          <p:cNvPr id="10" name="Shape 8"/>
          <p:cNvSpPr/>
          <p:nvPr/>
        </p:nvSpPr>
        <p:spPr>
          <a:xfrm>
            <a:off x="471488" y="2264569"/>
            <a:ext cx="0" cy="1889522"/>
          </a:xfrm>
          <a:prstGeom prst="line">
            <a:avLst/>
          </a:prstGeom>
          <a:noFill/>
          <a:ln w="28575">
            <a:solidFill>
              <a:srgbClr val="EF4444"/>
            </a:solidFill>
            <a:prstDash val="solid"/>
          </a:ln>
        </p:spPr>
      </p:sp>
      <p:sp>
        <p:nvSpPr>
          <p:cNvPr id="11" name="Text 9"/>
          <p:cNvSpPr/>
          <p:nvPr/>
        </p:nvSpPr>
        <p:spPr>
          <a:xfrm>
            <a:off x="600075" y="2400300"/>
            <a:ext cx="257175" cy="257175"/>
          </a:xfrm>
          <a:prstGeom prst="roundRect">
            <a:avLst>
              <a:gd name="adj" fmla="val 29630"/>
            </a:avLst>
          </a:prstGeom>
          <a:solidFill>
            <a:srgbClr val="EF4444">
              <a:alpha val="10000"/>
            </a:srgbClr>
          </a:solidFill>
          <a:ln/>
        </p:spPr>
        <p:txBody>
          <a:bodyPr wrap="square" rtlCol="0" anchor="ctr"/>
          <a:lstStyle/>
          <a:p>
            <a:pPr indent="0" marL="0">
              <a:buNone/>
            </a:pPr>
            <a:endParaRPr lang="en-US" dirty="0"/>
          </a:p>
        </p:txBody>
      </p:sp>
      <p:sp>
        <p:nvSpPr>
          <p:cNvPr id="12" name="Text 10"/>
          <p:cNvSpPr/>
          <p:nvPr/>
        </p:nvSpPr>
        <p:spPr>
          <a:xfrm>
            <a:off x="600075" y="2400300"/>
            <a:ext cx="257175" cy="257175"/>
          </a:xfrm>
          <a:prstGeom prst="rect">
            <a:avLst/>
          </a:prstGeom>
          <a:noFill/>
          <a:ln/>
        </p:spPr>
        <p:txBody>
          <a:bodyPr wrap="none" lIns="0" tIns="0" rIns="0" bIns="0" rtlCol="0" anchor="ctr"/>
          <a:lstStyle/>
          <a:p>
            <a:pPr algn="ctr" indent="0" marL="0">
              <a:buNone/>
            </a:pPr>
            <a:r>
              <a:rPr lang="en-US" sz="1013" b="1" dirty="0">
                <a:solidFill>
                  <a:srgbClr val="EF4444"/>
                </a:solidFill>
                <a:latin typeface="Carlito" pitchFamily="34" charset="0"/>
                <a:ea typeface="Carlito" pitchFamily="34" charset="-122"/>
                <a:cs typeface="Carlito" pitchFamily="34" charset="-120"/>
              </a:rPr>
              <a:t>$</a:t>
            </a:r>
            <a:endParaRPr lang="en-US" sz="1013" dirty="0"/>
          </a:p>
        </p:txBody>
      </p:sp>
      <p:sp>
        <p:nvSpPr>
          <p:cNvPr id="13" name="Text 11"/>
          <p:cNvSpPr/>
          <p:nvPr/>
        </p:nvSpPr>
        <p:spPr>
          <a:xfrm>
            <a:off x="600075" y="2728913"/>
            <a:ext cx="1290117" cy="142548"/>
          </a:xfrm>
          <a:prstGeom prst="rect">
            <a:avLst/>
          </a:prstGeom>
          <a:noFill/>
          <a:ln/>
        </p:spPr>
        <p:txBody>
          <a:bodyPr wrap="none" lIns="0" tIns="0" rIns="0" bIns="0" rtlCol="0" anchor="t"/>
          <a:lstStyle/>
          <a:p>
            <a:pPr algn="l" indent="0" marL="0">
              <a:lnSpc>
                <a:spcPts val="1024"/>
              </a:lnSpc>
              <a:buNone/>
            </a:pPr>
            <a:r>
              <a:rPr lang="en-US" sz="800" b="1" dirty="0">
                <a:solidFill>
                  <a:srgbClr val="1F2937"/>
                </a:solidFill>
                <a:latin typeface="Carlito" pitchFamily="34" charset="0"/>
                <a:ea typeface="Carlito" pitchFamily="34" charset="-122"/>
                <a:cs typeface="Carlito" pitchFamily="34" charset="-120"/>
              </a:rPr>
              <a:t>Cost grows with volume</a:t>
            </a:r>
            <a:endParaRPr lang="en-US" sz="800" dirty="0"/>
          </a:p>
        </p:txBody>
      </p:sp>
      <p:sp>
        <p:nvSpPr>
          <p:cNvPr id="14" name="Text 12"/>
          <p:cNvSpPr/>
          <p:nvPr/>
        </p:nvSpPr>
        <p:spPr>
          <a:xfrm>
            <a:off x="600075" y="2930277"/>
            <a:ext cx="1367524" cy="493776"/>
          </a:xfrm>
          <a:prstGeom prst="rect">
            <a:avLst/>
          </a:prstGeom>
          <a:noFill/>
          <a:ln/>
        </p:spPr>
        <p:txBody>
          <a:bodyPr wrap="square" lIns="0" tIns="0" rIns="0" bIns="0" rtlCol="0" anchor="t"/>
          <a:lstStyle/>
          <a:p>
            <a:pPr algn="l" indent="0" marL="0">
              <a:lnSpc>
                <a:spcPts val="1013"/>
              </a:lnSpc>
              <a:buNone/>
            </a:pPr>
            <a:r>
              <a:rPr lang="en-US" sz="800" dirty="0">
                <a:solidFill>
                  <a:srgbClr val="6B7280"/>
                </a:solidFill>
                <a:latin typeface="Carlito" pitchFamily="34" charset="0"/>
                <a:ea typeface="Carlito" pitchFamily="34" charset="-122"/>
                <a:cs typeface="Carlito" pitchFamily="34" charset="-120"/>
              </a:rPr>
              <a:t>Every minute of voice or chat costs more. Per-minute AI token billing punishes growth.</a:t>
            </a:r>
            <a:endParaRPr lang="en-US" sz="800" dirty="0"/>
          </a:p>
        </p:txBody>
      </p:sp>
      <p:sp>
        <p:nvSpPr>
          <p:cNvPr id="15" name="Text 13"/>
          <p:cNvSpPr/>
          <p:nvPr/>
        </p:nvSpPr>
        <p:spPr>
          <a:xfrm>
            <a:off x="2125935" y="2264569"/>
            <a:ext cx="1554435" cy="1889522"/>
          </a:xfrm>
          <a:prstGeom prst="roundRect">
            <a:avLst>
              <a:gd name="adj" fmla="val 6128"/>
            </a:avLst>
          </a:prstGeom>
          <a:solidFill>
            <a:srgbClr val="F9FAFB"/>
          </a:solidFill>
          <a:ln/>
        </p:spPr>
        <p:txBody>
          <a:bodyPr wrap="square" rtlCol="0" anchor="ctr"/>
          <a:lstStyle/>
          <a:p>
            <a:pPr indent="0" marL="0">
              <a:buNone/>
            </a:pPr>
            <a:endParaRPr lang="en-US" dirty="0"/>
          </a:p>
        </p:txBody>
      </p:sp>
      <p:sp>
        <p:nvSpPr>
          <p:cNvPr id="16" name="Shape 14"/>
          <p:cNvSpPr/>
          <p:nvPr/>
        </p:nvSpPr>
        <p:spPr>
          <a:xfrm>
            <a:off x="2125935" y="2268141"/>
            <a:ext cx="1554435" cy="0"/>
          </a:xfrm>
          <a:prstGeom prst="line">
            <a:avLst/>
          </a:prstGeom>
          <a:noFill/>
          <a:ln w="7144">
            <a:solidFill>
              <a:srgbClr val="E5E7EB"/>
            </a:solidFill>
            <a:prstDash val="solid"/>
          </a:ln>
        </p:spPr>
      </p:sp>
      <p:sp>
        <p:nvSpPr>
          <p:cNvPr id="17" name="Shape 15"/>
          <p:cNvSpPr/>
          <p:nvPr/>
        </p:nvSpPr>
        <p:spPr>
          <a:xfrm>
            <a:off x="3676799" y="2264569"/>
            <a:ext cx="0" cy="1889522"/>
          </a:xfrm>
          <a:prstGeom prst="line">
            <a:avLst/>
          </a:prstGeom>
          <a:noFill/>
          <a:ln w="7144">
            <a:solidFill>
              <a:srgbClr val="E5E7EB"/>
            </a:solidFill>
            <a:prstDash val="solid"/>
          </a:ln>
        </p:spPr>
      </p:sp>
      <p:sp>
        <p:nvSpPr>
          <p:cNvPr id="18" name="Shape 16"/>
          <p:cNvSpPr/>
          <p:nvPr/>
        </p:nvSpPr>
        <p:spPr>
          <a:xfrm>
            <a:off x="2125935" y="4150519"/>
            <a:ext cx="1554435" cy="0"/>
          </a:xfrm>
          <a:prstGeom prst="line">
            <a:avLst/>
          </a:prstGeom>
          <a:noFill/>
          <a:ln w="7144">
            <a:solidFill>
              <a:srgbClr val="E5E7EB"/>
            </a:solidFill>
            <a:prstDash val="solid"/>
          </a:ln>
        </p:spPr>
      </p:sp>
      <p:sp>
        <p:nvSpPr>
          <p:cNvPr id="19" name="Shape 17"/>
          <p:cNvSpPr/>
          <p:nvPr/>
        </p:nvSpPr>
        <p:spPr>
          <a:xfrm>
            <a:off x="2140223" y="2264569"/>
            <a:ext cx="0" cy="1889522"/>
          </a:xfrm>
          <a:prstGeom prst="line">
            <a:avLst/>
          </a:prstGeom>
          <a:noFill/>
          <a:ln w="28575">
            <a:solidFill>
              <a:srgbClr val="EF4444"/>
            </a:solidFill>
            <a:prstDash val="solid"/>
          </a:ln>
        </p:spPr>
      </p:sp>
      <p:sp>
        <p:nvSpPr>
          <p:cNvPr id="20" name="Text 18"/>
          <p:cNvSpPr/>
          <p:nvPr/>
        </p:nvSpPr>
        <p:spPr>
          <a:xfrm>
            <a:off x="2268810" y="2400300"/>
            <a:ext cx="257175" cy="257175"/>
          </a:xfrm>
          <a:prstGeom prst="roundRect">
            <a:avLst>
              <a:gd name="adj" fmla="val 29630"/>
            </a:avLst>
          </a:prstGeom>
          <a:solidFill>
            <a:srgbClr val="EF4444">
              <a:alpha val="10000"/>
            </a:srgbClr>
          </a:solidFill>
          <a:ln/>
        </p:spPr>
        <p:txBody>
          <a:bodyPr wrap="square" rtlCol="0" anchor="ctr"/>
          <a:lstStyle/>
          <a:p>
            <a:pPr indent="0" marL="0">
              <a:buNone/>
            </a:pPr>
            <a:endParaRPr lang="en-US" dirty="0"/>
          </a:p>
        </p:txBody>
      </p:sp>
      <p:sp>
        <p:nvSpPr>
          <p:cNvPr id="21" name="Text 19"/>
          <p:cNvSpPr/>
          <p:nvPr/>
        </p:nvSpPr>
        <p:spPr>
          <a:xfrm>
            <a:off x="2268810" y="2400300"/>
            <a:ext cx="257175" cy="257175"/>
          </a:xfrm>
          <a:prstGeom prst="rect">
            <a:avLst/>
          </a:prstGeom>
          <a:noFill/>
          <a:ln/>
        </p:spPr>
        <p:txBody>
          <a:bodyPr wrap="none" lIns="0" tIns="0" rIns="0" bIns="0" rtlCol="0" anchor="ctr"/>
          <a:lstStyle/>
          <a:p>
            <a:pPr algn="ctr" indent="0" marL="0">
              <a:buNone/>
            </a:pPr>
            <a:r>
              <a:rPr lang="en-US" sz="1013" b="1" dirty="0">
                <a:solidFill>
                  <a:srgbClr val="EF4444"/>
                </a:solidFill>
                <a:latin typeface="Carlito" pitchFamily="34" charset="0"/>
                <a:ea typeface="Carlito" pitchFamily="34" charset="-122"/>
                <a:cs typeface="Carlito" pitchFamily="34" charset="-120"/>
              </a:rPr>
              <a:t>⊟</a:t>
            </a:r>
            <a:endParaRPr lang="en-US" sz="1013" dirty="0"/>
          </a:p>
        </p:txBody>
      </p:sp>
      <p:sp>
        <p:nvSpPr>
          <p:cNvPr id="22" name="Text 20"/>
          <p:cNvSpPr/>
          <p:nvPr/>
        </p:nvSpPr>
        <p:spPr>
          <a:xfrm>
            <a:off x="2268810" y="2728913"/>
            <a:ext cx="1290117" cy="142548"/>
          </a:xfrm>
          <a:prstGeom prst="rect">
            <a:avLst/>
          </a:prstGeom>
          <a:noFill/>
          <a:ln/>
        </p:spPr>
        <p:txBody>
          <a:bodyPr wrap="none" lIns="0" tIns="0" rIns="0" bIns="0" rtlCol="0" anchor="t"/>
          <a:lstStyle/>
          <a:p>
            <a:pPr algn="l" indent="0" marL="0">
              <a:lnSpc>
                <a:spcPts val="1024"/>
              </a:lnSpc>
              <a:buNone/>
            </a:pPr>
            <a:r>
              <a:rPr lang="en-US" sz="800" b="1" dirty="0">
                <a:solidFill>
                  <a:srgbClr val="1F2937"/>
                </a:solidFill>
                <a:latin typeface="Carlito" pitchFamily="34" charset="0"/>
                <a:ea typeface="Carlito" pitchFamily="34" charset="-122"/>
                <a:cs typeface="Carlito" pitchFamily="34" charset="-120"/>
              </a:rPr>
              <a:t>Fragmented data</a:t>
            </a:r>
            <a:endParaRPr lang="en-US" sz="800" dirty="0"/>
          </a:p>
        </p:txBody>
      </p:sp>
      <p:sp>
        <p:nvSpPr>
          <p:cNvPr id="23" name="Text 21"/>
          <p:cNvSpPr/>
          <p:nvPr/>
        </p:nvSpPr>
        <p:spPr>
          <a:xfrm>
            <a:off x="2268810" y="2930277"/>
            <a:ext cx="1367524" cy="493776"/>
          </a:xfrm>
          <a:prstGeom prst="rect">
            <a:avLst/>
          </a:prstGeom>
          <a:noFill/>
          <a:ln/>
        </p:spPr>
        <p:txBody>
          <a:bodyPr wrap="square" lIns="0" tIns="0" rIns="0" bIns="0" rtlCol="0" anchor="t"/>
          <a:lstStyle/>
          <a:p>
            <a:pPr algn="l" indent="0" marL="0">
              <a:lnSpc>
                <a:spcPts val="1013"/>
              </a:lnSpc>
              <a:buNone/>
            </a:pPr>
            <a:r>
              <a:rPr lang="en-US" sz="800" dirty="0">
                <a:solidFill>
                  <a:srgbClr val="6B7280"/>
                </a:solidFill>
                <a:latin typeface="Carlito" pitchFamily="34" charset="0"/>
                <a:ea typeface="Carlito" pitchFamily="34" charset="-122"/>
                <a:cs typeface="Carlito" pitchFamily="34" charset="-120"/>
              </a:rPr>
              <a:t>Conversations, insights, and coaching live in different silos across 5–8 vendors.</a:t>
            </a:r>
            <a:endParaRPr lang="en-US" sz="800" dirty="0"/>
          </a:p>
        </p:txBody>
      </p:sp>
      <p:sp>
        <p:nvSpPr>
          <p:cNvPr id="24" name="Text 22"/>
          <p:cNvSpPr/>
          <p:nvPr/>
        </p:nvSpPr>
        <p:spPr>
          <a:xfrm>
            <a:off x="3794671" y="2264569"/>
            <a:ext cx="1554547" cy="1889522"/>
          </a:xfrm>
          <a:prstGeom prst="roundRect">
            <a:avLst>
              <a:gd name="adj" fmla="val 6127"/>
            </a:avLst>
          </a:prstGeom>
          <a:solidFill>
            <a:srgbClr val="F9FAFB"/>
          </a:solidFill>
          <a:ln/>
        </p:spPr>
        <p:txBody>
          <a:bodyPr wrap="square" rtlCol="0" anchor="ctr"/>
          <a:lstStyle/>
          <a:p>
            <a:pPr indent="0" marL="0">
              <a:buNone/>
            </a:pPr>
            <a:endParaRPr lang="en-US" dirty="0"/>
          </a:p>
        </p:txBody>
      </p:sp>
      <p:sp>
        <p:nvSpPr>
          <p:cNvPr id="25" name="Shape 23"/>
          <p:cNvSpPr/>
          <p:nvPr/>
        </p:nvSpPr>
        <p:spPr>
          <a:xfrm>
            <a:off x="3794671" y="2268141"/>
            <a:ext cx="1554547" cy="0"/>
          </a:xfrm>
          <a:prstGeom prst="line">
            <a:avLst/>
          </a:prstGeom>
          <a:noFill/>
          <a:ln w="7144">
            <a:solidFill>
              <a:srgbClr val="E5E7EB"/>
            </a:solidFill>
            <a:prstDash val="solid"/>
          </a:ln>
        </p:spPr>
      </p:sp>
      <p:sp>
        <p:nvSpPr>
          <p:cNvPr id="26" name="Shape 24"/>
          <p:cNvSpPr/>
          <p:nvPr/>
        </p:nvSpPr>
        <p:spPr>
          <a:xfrm>
            <a:off x="5345646" y="2264569"/>
            <a:ext cx="0" cy="1889522"/>
          </a:xfrm>
          <a:prstGeom prst="line">
            <a:avLst/>
          </a:prstGeom>
          <a:noFill/>
          <a:ln w="7144">
            <a:solidFill>
              <a:srgbClr val="E5E7EB"/>
            </a:solidFill>
            <a:prstDash val="solid"/>
          </a:ln>
        </p:spPr>
      </p:sp>
      <p:sp>
        <p:nvSpPr>
          <p:cNvPr id="27" name="Shape 25"/>
          <p:cNvSpPr/>
          <p:nvPr/>
        </p:nvSpPr>
        <p:spPr>
          <a:xfrm>
            <a:off x="3794671" y="4150519"/>
            <a:ext cx="1554547" cy="0"/>
          </a:xfrm>
          <a:prstGeom prst="line">
            <a:avLst/>
          </a:prstGeom>
          <a:noFill/>
          <a:ln w="7144">
            <a:solidFill>
              <a:srgbClr val="E5E7EB"/>
            </a:solidFill>
            <a:prstDash val="solid"/>
          </a:ln>
        </p:spPr>
      </p:sp>
      <p:sp>
        <p:nvSpPr>
          <p:cNvPr id="28" name="Shape 26"/>
          <p:cNvSpPr/>
          <p:nvPr/>
        </p:nvSpPr>
        <p:spPr>
          <a:xfrm>
            <a:off x="3808958" y="2264569"/>
            <a:ext cx="0" cy="1889522"/>
          </a:xfrm>
          <a:prstGeom prst="line">
            <a:avLst/>
          </a:prstGeom>
          <a:noFill/>
          <a:ln w="28575">
            <a:solidFill>
              <a:srgbClr val="EF4444"/>
            </a:solidFill>
            <a:prstDash val="solid"/>
          </a:ln>
        </p:spPr>
      </p:sp>
      <p:sp>
        <p:nvSpPr>
          <p:cNvPr id="29" name="Text 27"/>
          <p:cNvSpPr/>
          <p:nvPr/>
        </p:nvSpPr>
        <p:spPr>
          <a:xfrm>
            <a:off x="3937546" y="2400300"/>
            <a:ext cx="257175" cy="257175"/>
          </a:xfrm>
          <a:prstGeom prst="roundRect">
            <a:avLst>
              <a:gd name="adj" fmla="val 29630"/>
            </a:avLst>
          </a:prstGeom>
          <a:solidFill>
            <a:srgbClr val="EF4444">
              <a:alpha val="10000"/>
            </a:srgbClr>
          </a:solidFill>
          <a:ln/>
        </p:spPr>
        <p:txBody>
          <a:bodyPr wrap="square" rtlCol="0" anchor="ctr"/>
          <a:lstStyle/>
          <a:p>
            <a:pPr indent="0" marL="0">
              <a:buNone/>
            </a:pPr>
            <a:endParaRPr lang="en-US" dirty="0"/>
          </a:p>
        </p:txBody>
      </p:sp>
      <p:sp>
        <p:nvSpPr>
          <p:cNvPr id="30" name="Text 28"/>
          <p:cNvSpPr/>
          <p:nvPr/>
        </p:nvSpPr>
        <p:spPr>
          <a:xfrm>
            <a:off x="3988981" y="2451735"/>
            <a:ext cx="154305" cy="154305"/>
          </a:xfrm>
          <a:prstGeom prst="rect">
            <a:avLst/>
          </a:prstGeom>
          <a:noFill/>
          <a:ln/>
        </p:spPr>
        <p:txBody>
          <a:bodyPr wrap="none" lIns="0" tIns="0" rIns="0" bIns="0" rtlCol="0" anchor="ctr"/>
          <a:lstStyle/>
          <a:p>
            <a:pPr algn="ctr" indent="0" marL="0">
              <a:buNone/>
            </a:pPr>
            <a:r>
              <a:rPr lang="en-US" sz="1013" b="1" dirty="0">
                <a:solidFill>
                  <a:srgbClr val="EF4444"/>
                </a:solidFill>
                <a:latin typeface="Segoe UI Symbol" pitchFamily="34" charset="0"/>
                <a:ea typeface="Segoe UI Symbol" pitchFamily="34" charset="-122"/>
                <a:cs typeface="Segoe UI Symbol" pitchFamily="34" charset="-120"/>
              </a:rPr>
              <a:t>↔</a:t>
            </a:r>
            <a:endParaRPr lang="en-US" sz="1013" dirty="0"/>
          </a:p>
        </p:txBody>
      </p:sp>
      <p:sp>
        <p:nvSpPr>
          <p:cNvPr id="31" name="Text 29"/>
          <p:cNvSpPr/>
          <p:nvPr/>
        </p:nvSpPr>
        <p:spPr>
          <a:xfrm>
            <a:off x="3937546" y="2728913"/>
            <a:ext cx="1290228" cy="142548"/>
          </a:xfrm>
          <a:prstGeom prst="rect">
            <a:avLst/>
          </a:prstGeom>
          <a:noFill/>
          <a:ln/>
        </p:spPr>
        <p:txBody>
          <a:bodyPr wrap="none" lIns="0" tIns="0" rIns="0" bIns="0" rtlCol="0" anchor="t"/>
          <a:lstStyle/>
          <a:p>
            <a:pPr algn="l" indent="0" marL="0">
              <a:lnSpc>
                <a:spcPts val="1024"/>
              </a:lnSpc>
              <a:buNone/>
            </a:pPr>
            <a:r>
              <a:rPr lang="en-US" sz="800" b="1" dirty="0">
                <a:solidFill>
                  <a:srgbClr val="1F2937"/>
                </a:solidFill>
                <a:latin typeface="Carlito" pitchFamily="34" charset="0"/>
                <a:ea typeface="Carlito" pitchFamily="34" charset="-122"/>
                <a:cs typeface="Carlito" pitchFamily="34" charset="-120"/>
              </a:rPr>
              <a:t>Rigid capacity</a:t>
            </a:r>
            <a:endParaRPr lang="en-US" sz="800" dirty="0"/>
          </a:p>
        </p:txBody>
      </p:sp>
      <p:sp>
        <p:nvSpPr>
          <p:cNvPr id="32" name="Text 30"/>
          <p:cNvSpPr/>
          <p:nvPr/>
        </p:nvSpPr>
        <p:spPr>
          <a:xfrm>
            <a:off x="3937546" y="2930277"/>
            <a:ext cx="1367642" cy="329184"/>
          </a:xfrm>
          <a:prstGeom prst="rect">
            <a:avLst/>
          </a:prstGeom>
          <a:noFill/>
          <a:ln/>
        </p:spPr>
        <p:txBody>
          <a:bodyPr wrap="square" lIns="0" tIns="0" rIns="0" bIns="0" rtlCol="0" anchor="t"/>
          <a:lstStyle/>
          <a:p>
            <a:pPr algn="l" indent="0" marL="0">
              <a:lnSpc>
                <a:spcPts val="1013"/>
              </a:lnSpc>
              <a:buNone/>
            </a:pPr>
            <a:r>
              <a:rPr lang="en-US" sz="800" dirty="0">
                <a:solidFill>
                  <a:srgbClr val="6B7280"/>
                </a:solidFill>
                <a:latin typeface="Carlito" pitchFamily="34" charset="0"/>
                <a:ea typeface="Carlito" pitchFamily="34" charset="-122"/>
                <a:cs typeface="Carlito" pitchFamily="34" charset="-120"/>
              </a:rPr>
              <a:t>Headcount and per-token fees cap how fast you can grow.</a:t>
            </a:r>
            <a:endParaRPr lang="en-US" sz="800" dirty="0"/>
          </a:p>
        </p:txBody>
      </p:sp>
      <p:sp>
        <p:nvSpPr>
          <p:cNvPr id="33" name="Text 31"/>
          <p:cNvSpPr/>
          <p:nvPr/>
        </p:nvSpPr>
        <p:spPr>
          <a:xfrm>
            <a:off x="5463518" y="2264569"/>
            <a:ext cx="1554435" cy="1889522"/>
          </a:xfrm>
          <a:prstGeom prst="roundRect">
            <a:avLst>
              <a:gd name="adj" fmla="val 6128"/>
            </a:avLst>
          </a:prstGeom>
          <a:solidFill>
            <a:srgbClr val="F9FAFB"/>
          </a:solidFill>
          <a:ln/>
        </p:spPr>
        <p:txBody>
          <a:bodyPr wrap="square" rtlCol="0" anchor="ctr"/>
          <a:lstStyle/>
          <a:p>
            <a:pPr indent="0" marL="0">
              <a:buNone/>
            </a:pPr>
            <a:endParaRPr lang="en-US" dirty="0"/>
          </a:p>
        </p:txBody>
      </p:sp>
      <p:sp>
        <p:nvSpPr>
          <p:cNvPr id="34" name="Shape 32"/>
          <p:cNvSpPr/>
          <p:nvPr/>
        </p:nvSpPr>
        <p:spPr>
          <a:xfrm>
            <a:off x="5463518" y="2268141"/>
            <a:ext cx="1554435" cy="0"/>
          </a:xfrm>
          <a:prstGeom prst="line">
            <a:avLst/>
          </a:prstGeom>
          <a:noFill/>
          <a:ln w="7144">
            <a:solidFill>
              <a:srgbClr val="E5E7EB"/>
            </a:solidFill>
            <a:prstDash val="solid"/>
          </a:ln>
        </p:spPr>
      </p:sp>
      <p:sp>
        <p:nvSpPr>
          <p:cNvPr id="35" name="Shape 33"/>
          <p:cNvSpPr/>
          <p:nvPr/>
        </p:nvSpPr>
        <p:spPr>
          <a:xfrm>
            <a:off x="7014381" y="2264569"/>
            <a:ext cx="0" cy="1889522"/>
          </a:xfrm>
          <a:prstGeom prst="line">
            <a:avLst/>
          </a:prstGeom>
          <a:noFill/>
          <a:ln w="7144">
            <a:solidFill>
              <a:srgbClr val="E5E7EB"/>
            </a:solidFill>
            <a:prstDash val="solid"/>
          </a:ln>
        </p:spPr>
      </p:sp>
      <p:sp>
        <p:nvSpPr>
          <p:cNvPr id="36" name="Shape 34"/>
          <p:cNvSpPr/>
          <p:nvPr/>
        </p:nvSpPr>
        <p:spPr>
          <a:xfrm>
            <a:off x="5463518" y="4150519"/>
            <a:ext cx="1554435" cy="0"/>
          </a:xfrm>
          <a:prstGeom prst="line">
            <a:avLst/>
          </a:prstGeom>
          <a:noFill/>
          <a:ln w="7144">
            <a:solidFill>
              <a:srgbClr val="E5E7EB"/>
            </a:solidFill>
            <a:prstDash val="solid"/>
          </a:ln>
        </p:spPr>
      </p:sp>
      <p:sp>
        <p:nvSpPr>
          <p:cNvPr id="37" name="Shape 35"/>
          <p:cNvSpPr/>
          <p:nvPr/>
        </p:nvSpPr>
        <p:spPr>
          <a:xfrm>
            <a:off x="5477805" y="2264569"/>
            <a:ext cx="0" cy="1889522"/>
          </a:xfrm>
          <a:prstGeom prst="line">
            <a:avLst/>
          </a:prstGeom>
          <a:noFill/>
          <a:ln w="28575">
            <a:solidFill>
              <a:srgbClr val="EF4444"/>
            </a:solidFill>
            <a:prstDash val="solid"/>
          </a:ln>
        </p:spPr>
      </p:sp>
      <p:sp>
        <p:nvSpPr>
          <p:cNvPr id="38" name="Text 36"/>
          <p:cNvSpPr/>
          <p:nvPr/>
        </p:nvSpPr>
        <p:spPr>
          <a:xfrm>
            <a:off x="5606393" y="2400300"/>
            <a:ext cx="257175" cy="257175"/>
          </a:xfrm>
          <a:prstGeom prst="roundRect">
            <a:avLst>
              <a:gd name="adj" fmla="val 29630"/>
            </a:avLst>
          </a:prstGeom>
          <a:solidFill>
            <a:srgbClr val="EF4444">
              <a:alpha val="10000"/>
            </a:srgbClr>
          </a:solidFill>
          <a:ln/>
        </p:spPr>
        <p:txBody>
          <a:bodyPr wrap="square" rtlCol="0" anchor="ctr"/>
          <a:lstStyle/>
          <a:p>
            <a:pPr indent="0" marL="0">
              <a:buNone/>
            </a:pPr>
            <a:endParaRPr lang="en-US" dirty="0"/>
          </a:p>
        </p:txBody>
      </p:sp>
      <p:sp>
        <p:nvSpPr>
          <p:cNvPr id="39" name="Text 37"/>
          <p:cNvSpPr/>
          <p:nvPr/>
        </p:nvSpPr>
        <p:spPr>
          <a:xfrm>
            <a:off x="5657828" y="2451735"/>
            <a:ext cx="154305" cy="154305"/>
          </a:xfrm>
          <a:prstGeom prst="rect">
            <a:avLst/>
          </a:prstGeom>
          <a:noFill/>
          <a:ln/>
        </p:spPr>
        <p:txBody>
          <a:bodyPr wrap="none" lIns="0" tIns="0" rIns="0" bIns="0" rtlCol="0" anchor="ctr"/>
          <a:lstStyle/>
          <a:p>
            <a:pPr algn="ctr" indent="0" marL="0">
              <a:buNone/>
            </a:pPr>
            <a:r>
              <a:rPr lang="en-US" sz="1013" b="1" dirty="0">
                <a:solidFill>
                  <a:srgbClr val="EF4444"/>
                </a:solidFill>
                <a:latin typeface="Segoe UI Symbol" pitchFamily="34" charset="0"/>
                <a:ea typeface="Segoe UI Symbol" pitchFamily="34" charset="-122"/>
                <a:cs typeface="Segoe UI Symbol" pitchFamily="34" charset="-120"/>
              </a:rPr>
              <a:t>⏱</a:t>
            </a:r>
            <a:endParaRPr lang="en-US" sz="1013" dirty="0"/>
          </a:p>
        </p:txBody>
      </p:sp>
      <p:sp>
        <p:nvSpPr>
          <p:cNvPr id="40" name="Text 38"/>
          <p:cNvSpPr/>
          <p:nvPr/>
        </p:nvSpPr>
        <p:spPr>
          <a:xfrm>
            <a:off x="5606393" y="2728913"/>
            <a:ext cx="1290117" cy="142548"/>
          </a:xfrm>
          <a:prstGeom prst="rect">
            <a:avLst/>
          </a:prstGeom>
          <a:noFill/>
          <a:ln/>
        </p:spPr>
        <p:txBody>
          <a:bodyPr wrap="none" lIns="0" tIns="0" rIns="0" bIns="0" rtlCol="0" anchor="t"/>
          <a:lstStyle/>
          <a:p>
            <a:pPr algn="l" indent="0" marL="0">
              <a:lnSpc>
                <a:spcPts val="1024"/>
              </a:lnSpc>
              <a:buNone/>
            </a:pPr>
            <a:r>
              <a:rPr lang="en-US" sz="800" b="1" dirty="0">
                <a:solidFill>
                  <a:srgbClr val="1F2937"/>
                </a:solidFill>
                <a:latin typeface="Carlito" pitchFamily="34" charset="0"/>
                <a:ea typeface="Carlito" pitchFamily="34" charset="-122"/>
                <a:cs typeface="Carlito" pitchFamily="34" charset="-120"/>
              </a:rPr>
              <a:t>Insight arrives late</a:t>
            </a:r>
            <a:endParaRPr lang="en-US" sz="800" dirty="0"/>
          </a:p>
        </p:txBody>
      </p:sp>
      <p:sp>
        <p:nvSpPr>
          <p:cNvPr id="41" name="Text 39"/>
          <p:cNvSpPr/>
          <p:nvPr/>
        </p:nvSpPr>
        <p:spPr>
          <a:xfrm>
            <a:off x="5606393" y="2930277"/>
            <a:ext cx="1367524" cy="329184"/>
          </a:xfrm>
          <a:prstGeom prst="rect">
            <a:avLst/>
          </a:prstGeom>
          <a:noFill/>
          <a:ln/>
        </p:spPr>
        <p:txBody>
          <a:bodyPr wrap="square" lIns="0" tIns="0" rIns="0" bIns="0" rtlCol="0" anchor="t"/>
          <a:lstStyle/>
          <a:p>
            <a:pPr algn="l" indent="0" marL="0">
              <a:lnSpc>
                <a:spcPts val="1013"/>
              </a:lnSpc>
              <a:buNone/>
            </a:pPr>
            <a:r>
              <a:rPr lang="en-US" sz="800" dirty="0">
                <a:solidFill>
                  <a:srgbClr val="6B7280"/>
                </a:solidFill>
                <a:latin typeface="Carlito" pitchFamily="34" charset="0"/>
                <a:ea typeface="Carlito" pitchFamily="34" charset="-122"/>
                <a:cs typeface="Carlito" pitchFamily="34" charset="-120"/>
              </a:rPr>
              <a:t>Quality control samples 1–3% of calls, post-hoc — too late to act.</a:t>
            </a:r>
            <a:endParaRPr lang="en-US" sz="800" dirty="0"/>
          </a:p>
        </p:txBody>
      </p:sp>
      <p:sp>
        <p:nvSpPr>
          <p:cNvPr id="42" name="Text 40"/>
          <p:cNvSpPr/>
          <p:nvPr/>
        </p:nvSpPr>
        <p:spPr>
          <a:xfrm>
            <a:off x="7132253" y="2264569"/>
            <a:ext cx="1554547" cy="1889522"/>
          </a:xfrm>
          <a:prstGeom prst="roundRect">
            <a:avLst>
              <a:gd name="adj" fmla="val 6127"/>
            </a:avLst>
          </a:prstGeom>
          <a:solidFill>
            <a:srgbClr val="F9FAFB"/>
          </a:solidFill>
          <a:ln/>
        </p:spPr>
        <p:txBody>
          <a:bodyPr wrap="square" rtlCol="0" anchor="ctr"/>
          <a:lstStyle/>
          <a:p>
            <a:pPr indent="0" marL="0">
              <a:buNone/>
            </a:pPr>
            <a:endParaRPr lang="en-US" dirty="0"/>
          </a:p>
        </p:txBody>
      </p:sp>
      <p:sp>
        <p:nvSpPr>
          <p:cNvPr id="43" name="Shape 41"/>
          <p:cNvSpPr/>
          <p:nvPr/>
        </p:nvSpPr>
        <p:spPr>
          <a:xfrm>
            <a:off x="7132253" y="2268141"/>
            <a:ext cx="1554547" cy="0"/>
          </a:xfrm>
          <a:prstGeom prst="line">
            <a:avLst/>
          </a:prstGeom>
          <a:noFill/>
          <a:ln w="7144">
            <a:solidFill>
              <a:srgbClr val="E5E7EB"/>
            </a:solidFill>
            <a:prstDash val="solid"/>
          </a:ln>
        </p:spPr>
      </p:sp>
      <p:sp>
        <p:nvSpPr>
          <p:cNvPr id="44" name="Shape 42"/>
          <p:cNvSpPr/>
          <p:nvPr/>
        </p:nvSpPr>
        <p:spPr>
          <a:xfrm>
            <a:off x="8683228" y="2264569"/>
            <a:ext cx="0" cy="1889522"/>
          </a:xfrm>
          <a:prstGeom prst="line">
            <a:avLst/>
          </a:prstGeom>
          <a:noFill/>
          <a:ln w="7144">
            <a:solidFill>
              <a:srgbClr val="E5E7EB"/>
            </a:solidFill>
            <a:prstDash val="solid"/>
          </a:ln>
        </p:spPr>
      </p:sp>
      <p:sp>
        <p:nvSpPr>
          <p:cNvPr id="45" name="Shape 43"/>
          <p:cNvSpPr/>
          <p:nvPr/>
        </p:nvSpPr>
        <p:spPr>
          <a:xfrm>
            <a:off x="7132253" y="4150519"/>
            <a:ext cx="1554547" cy="0"/>
          </a:xfrm>
          <a:prstGeom prst="line">
            <a:avLst/>
          </a:prstGeom>
          <a:noFill/>
          <a:ln w="7144">
            <a:solidFill>
              <a:srgbClr val="E5E7EB"/>
            </a:solidFill>
            <a:prstDash val="solid"/>
          </a:ln>
        </p:spPr>
      </p:sp>
      <p:sp>
        <p:nvSpPr>
          <p:cNvPr id="46" name="Shape 44"/>
          <p:cNvSpPr/>
          <p:nvPr/>
        </p:nvSpPr>
        <p:spPr>
          <a:xfrm>
            <a:off x="7146541" y="2264569"/>
            <a:ext cx="0" cy="1889522"/>
          </a:xfrm>
          <a:prstGeom prst="line">
            <a:avLst/>
          </a:prstGeom>
          <a:noFill/>
          <a:ln w="28575">
            <a:solidFill>
              <a:srgbClr val="EF4444"/>
            </a:solidFill>
            <a:prstDash val="solid"/>
          </a:ln>
        </p:spPr>
      </p:sp>
      <p:sp>
        <p:nvSpPr>
          <p:cNvPr id="47" name="Text 45"/>
          <p:cNvSpPr/>
          <p:nvPr/>
        </p:nvSpPr>
        <p:spPr>
          <a:xfrm>
            <a:off x="7275128" y="2400300"/>
            <a:ext cx="257175" cy="257175"/>
          </a:xfrm>
          <a:prstGeom prst="roundRect">
            <a:avLst>
              <a:gd name="adj" fmla="val 29630"/>
            </a:avLst>
          </a:prstGeom>
          <a:solidFill>
            <a:srgbClr val="EF4444">
              <a:alpha val="10000"/>
            </a:srgbClr>
          </a:solidFill>
          <a:ln/>
        </p:spPr>
        <p:txBody>
          <a:bodyPr wrap="square" rtlCol="0" anchor="ctr"/>
          <a:lstStyle/>
          <a:p>
            <a:pPr indent="0" marL="0">
              <a:buNone/>
            </a:pPr>
            <a:endParaRPr lang="en-US" dirty="0"/>
          </a:p>
        </p:txBody>
      </p:sp>
      <p:sp>
        <p:nvSpPr>
          <p:cNvPr id="48" name="Text 46"/>
          <p:cNvSpPr/>
          <p:nvPr/>
        </p:nvSpPr>
        <p:spPr>
          <a:xfrm>
            <a:off x="7275128" y="2400300"/>
            <a:ext cx="257175" cy="257175"/>
          </a:xfrm>
          <a:prstGeom prst="rect">
            <a:avLst/>
          </a:prstGeom>
          <a:noFill/>
          <a:ln/>
        </p:spPr>
        <p:txBody>
          <a:bodyPr wrap="none" lIns="0" tIns="0" rIns="0" bIns="0" rtlCol="0" anchor="ctr"/>
          <a:lstStyle/>
          <a:p>
            <a:pPr algn="ctr" indent="0" marL="0">
              <a:buNone/>
            </a:pPr>
            <a:r>
              <a:rPr lang="en-US" sz="1013" b="1" dirty="0">
                <a:solidFill>
                  <a:srgbClr val="EF4444"/>
                </a:solidFill>
                <a:latin typeface="Carlito" pitchFamily="34" charset="0"/>
                <a:ea typeface="Carlito" pitchFamily="34" charset="-122"/>
                <a:cs typeface="Carlito" pitchFamily="34" charset="-120"/>
              </a:rPr>
              <a:t>⊕</a:t>
            </a:r>
            <a:endParaRPr lang="en-US" sz="1013" dirty="0"/>
          </a:p>
        </p:txBody>
      </p:sp>
      <p:sp>
        <p:nvSpPr>
          <p:cNvPr id="49" name="Text 47"/>
          <p:cNvSpPr/>
          <p:nvPr/>
        </p:nvSpPr>
        <p:spPr>
          <a:xfrm>
            <a:off x="7275128" y="2728913"/>
            <a:ext cx="1290228" cy="142548"/>
          </a:xfrm>
          <a:prstGeom prst="rect">
            <a:avLst/>
          </a:prstGeom>
          <a:noFill/>
          <a:ln/>
        </p:spPr>
        <p:txBody>
          <a:bodyPr wrap="none" lIns="0" tIns="0" rIns="0" bIns="0" rtlCol="0" anchor="t"/>
          <a:lstStyle/>
          <a:p>
            <a:pPr algn="l" indent="0" marL="0">
              <a:lnSpc>
                <a:spcPts val="1024"/>
              </a:lnSpc>
              <a:buNone/>
            </a:pPr>
            <a:r>
              <a:rPr lang="en-US" sz="800" b="1" dirty="0">
                <a:solidFill>
                  <a:srgbClr val="1F2937"/>
                </a:solidFill>
                <a:latin typeface="Carlito" pitchFamily="34" charset="0"/>
                <a:ea typeface="Carlito" pitchFamily="34" charset="-122"/>
                <a:cs typeface="Carlito" pitchFamily="34" charset="-120"/>
              </a:rPr>
              <a:t>AI bolted on</a:t>
            </a:r>
            <a:endParaRPr lang="en-US" sz="800" dirty="0"/>
          </a:p>
        </p:txBody>
      </p:sp>
      <p:sp>
        <p:nvSpPr>
          <p:cNvPr id="50" name="Text 48"/>
          <p:cNvSpPr/>
          <p:nvPr/>
        </p:nvSpPr>
        <p:spPr>
          <a:xfrm>
            <a:off x="7275128" y="2930277"/>
            <a:ext cx="1367642" cy="493776"/>
          </a:xfrm>
          <a:prstGeom prst="rect">
            <a:avLst/>
          </a:prstGeom>
          <a:noFill/>
          <a:ln/>
        </p:spPr>
        <p:txBody>
          <a:bodyPr wrap="square" lIns="0" tIns="0" rIns="0" bIns="0" rtlCol="0" anchor="t"/>
          <a:lstStyle/>
          <a:p>
            <a:pPr algn="l" indent="0" marL="0">
              <a:lnSpc>
                <a:spcPts val="1013"/>
              </a:lnSpc>
              <a:buNone/>
            </a:pPr>
            <a:r>
              <a:rPr lang="en-US" sz="800" dirty="0">
                <a:solidFill>
                  <a:srgbClr val="6B7280"/>
                </a:solidFill>
                <a:latin typeface="Carlito" pitchFamily="34" charset="0"/>
                <a:ea typeface="Carlito" pitchFamily="34" charset="-122"/>
                <a:cs typeface="Carlito" pitchFamily="34" charset="-120"/>
              </a:rPr>
              <a:t>Licensed LLMs, generic voice models, rented infrastructure — none of it owned.</a:t>
            </a:r>
            <a:endParaRPr lang="en-US" sz="800" dirty="0"/>
          </a:p>
        </p:txBody>
      </p:sp>
      <p:sp>
        <p:nvSpPr>
          <p:cNvPr id="51" name="Text 49"/>
          <p:cNvSpPr/>
          <p:nvPr/>
        </p:nvSpPr>
        <p:spPr>
          <a:xfrm>
            <a:off x="457200" y="4325541"/>
            <a:ext cx="8229600" cy="389334"/>
          </a:xfrm>
          <a:prstGeom prst="roundRect">
            <a:avLst>
              <a:gd name="adj" fmla="val 19572"/>
            </a:avLst>
          </a:prstGeom>
          <a:solidFill>
            <a:srgbClr val="F5F3FF"/>
          </a:solidFill>
          <a:ln/>
        </p:spPr>
        <p:txBody>
          <a:bodyPr wrap="square" rtlCol="0" anchor="ctr"/>
          <a:lstStyle/>
          <a:p>
            <a:pPr indent="0" marL="0">
              <a:buNone/>
            </a:pPr>
            <a:endParaRPr lang="en-US" dirty="0"/>
          </a:p>
        </p:txBody>
      </p:sp>
      <p:sp>
        <p:nvSpPr>
          <p:cNvPr id="52" name="Shape 50"/>
          <p:cNvSpPr/>
          <p:nvPr/>
        </p:nvSpPr>
        <p:spPr>
          <a:xfrm>
            <a:off x="471488" y="4325541"/>
            <a:ext cx="0" cy="389334"/>
          </a:xfrm>
          <a:prstGeom prst="line">
            <a:avLst/>
          </a:prstGeom>
          <a:noFill/>
          <a:ln w="28575">
            <a:solidFill>
              <a:srgbClr val="7C3AED"/>
            </a:solidFill>
            <a:prstDash val="solid"/>
          </a:ln>
        </p:spPr>
      </p:sp>
      <p:sp>
        <p:nvSpPr>
          <p:cNvPr id="53" name="Text 51"/>
          <p:cNvSpPr/>
          <p:nvPr/>
        </p:nvSpPr>
        <p:spPr>
          <a:xfrm>
            <a:off x="457200" y="4325541"/>
            <a:ext cx="8229600" cy="420481"/>
          </a:xfrm>
          <a:prstGeom prst="rect">
            <a:avLst/>
          </a:prstGeom>
          <a:noFill/>
          <a:ln/>
        </p:spPr>
        <p:txBody>
          <a:bodyPr wrap="square" lIns="142875" tIns="114300" rIns="142875" bIns="114300" rtlCol="0" anchor="t"/>
          <a:lstStyle/>
          <a:p>
            <a:pPr algn="l" indent="0" marL="0">
              <a:lnSpc>
                <a:spcPts val="1266"/>
              </a:lnSpc>
              <a:buNone/>
            </a:pPr>
            <a:r>
              <a:rPr lang="en-US" sz="844" dirty="0">
                <a:solidFill>
                  <a:srgbClr val="1F2937"/>
                </a:solidFill>
                <a:latin typeface="Carlito" pitchFamily="34" charset="0"/>
                <a:ea typeface="Carlito" pitchFamily="34" charset="-122"/>
                <a:cs typeface="Carlito" pitchFamily="34" charset="-120"/>
              </a:rPr>
              <a:t>The harder you scale, the more it costs. </a:t>
            </a:r>
            <a:pPr algn="l" indent="0" marL="0">
              <a:lnSpc>
                <a:spcPts val="1266"/>
              </a:lnSpc>
              <a:buNone/>
            </a:pPr>
            <a:r>
              <a:rPr lang="en-US" sz="844" b="1" dirty="0">
                <a:solidFill>
                  <a:srgbClr val="7C3AED"/>
                </a:solidFill>
                <a:latin typeface="Carlito" pitchFamily="34" charset="0"/>
                <a:ea typeface="Carlito" pitchFamily="34" charset="-122"/>
                <a:cs typeface="Carlito" pitchFamily="34" charset="-120"/>
              </a:rPr>
              <a:t>Growth becomes the bottleneck, not the breakthrough.</a:t>
            </a:r>
            <a:endParaRPr lang="en-US" sz="844" dirty="0"/>
          </a:p>
        </p:txBody>
      </p:sp>
      <p:sp>
        <p:nvSpPr>
          <p:cNvPr id="54" name="Text 52"/>
          <p:cNvSpPr/>
          <p:nvPr/>
        </p:nvSpPr>
        <p:spPr>
          <a:xfrm>
            <a:off x="342900" y="4879181"/>
            <a:ext cx="8145438" cy="129679"/>
          </a:xfrm>
          <a:prstGeom prst="rect">
            <a:avLst/>
          </a:prstGeom>
          <a:noFill/>
          <a:ln/>
        </p:spPr>
        <p:txBody>
          <a:bodyPr wrap="square" lIns="0" tIns="0" rIns="0" bIns="0" rtlCol="0" anchor="t"/>
          <a:lstStyle/>
          <a:p>
            <a:pPr algn="l" indent="0" marL="0">
              <a:buNone/>
            </a:pPr>
            <a:r>
              <a:rPr lang="en-US" sz="800" spc="25" kern="0" dirty="0">
                <a:solidFill>
                  <a:srgbClr val="6B7280"/>
                </a:solidFill>
                <a:latin typeface="Carlito" pitchFamily="34" charset="0"/>
                <a:ea typeface="Carlito" pitchFamily="34" charset="-122"/>
                <a:cs typeface="Carlito" pitchFamily="34" charset="-120"/>
              </a:rPr>
              <a:t>MASSAPRO — THE GROWTH MACHINE FOR CUSTOMER SERVICE</a:t>
            </a:r>
            <a:endParaRPr lang="en-US" sz="800" dirty="0"/>
          </a:p>
        </p:txBody>
      </p:sp>
      <p:sp>
        <p:nvSpPr>
          <p:cNvPr id="55" name="Text 53"/>
          <p:cNvSpPr/>
          <p:nvPr/>
        </p:nvSpPr>
        <p:spPr>
          <a:xfrm>
            <a:off x="8483221" y="4879181"/>
            <a:ext cx="453969" cy="129679"/>
          </a:xfrm>
          <a:prstGeom prst="rect">
            <a:avLst/>
          </a:prstGeom>
          <a:noFill/>
          <a:ln/>
        </p:spPr>
        <p:txBody>
          <a:bodyPr wrap="square" lIns="0" tIns="0" rIns="0" bIns="0" rtlCol="0" anchor="t"/>
          <a:lstStyle/>
          <a:p>
            <a:pPr algn="l" indent="0" marL="0">
              <a:buNone/>
            </a:pPr>
            <a:r>
              <a:rPr lang="en-US" sz="800" spc="25" kern="0" dirty="0">
                <a:solidFill>
                  <a:srgbClr val="6B7280"/>
                </a:solidFill>
                <a:latin typeface="Liberation Sans Narrow" pitchFamily="34" charset="0"/>
                <a:ea typeface="Liberation Sans Narrow" pitchFamily="34" charset="-122"/>
                <a:cs typeface="Liberation Sans Narrow" pitchFamily="34" charset="-120"/>
              </a:rPr>
              <a:t>02 / 10</a:t>
            </a:r>
            <a:endParaRPr lang="en-US" sz="800" dirty="0"/>
          </a:p>
        </p:txBody>
      </p:sp>
      <p:sp>
        <p:nvSpPr>
          <p:cNvPr id="56" name="Text 54"/>
          <p:cNvSpPr/>
          <p:nvPr/>
        </p:nvSpPr>
        <p:spPr>
          <a:xfrm>
            <a:off x="342900" y="200025"/>
            <a:ext cx="228600" cy="228600"/>
          </a:xfrm>
          <a:prstGeom prst="roundRect">
            <a:avLst>
              <a:gd name="adj" fmla="val 33333"/>
            </a:avLst>
          </a:prstGeom>
          <a:solidFill>
            <a:srgbClr val="7C3AED"/>
          </a:solidFill>
          <a:ln/>
        </p:spPr>
        <p:txBody>
          <a:bodyPr wrap="square" rtlCol="0" anchor="ctr"/>
          <a:lstStyle/>
          <a:p>
            <a:pPr indent="0" marL="0">
              <a:buNone/>
            </a:pPr>
            <a:endParaRPr lang="en-US" dirty="0"/>
          </a:p>
        </p:txBody>
      </p:sp>
      <p:sp>
        <p:nvSpPr>
          <p:cNvPr id="57" name="Text 55"/>
          <p:cNvSpPr/>
          <p:nvPr/>
        </p:nvSpPr>
        <p:spPr>
          <a:xfrm>
            <a:off x="342900" y="200025"/>
            <a:ext cx="264319" cy="228600"/>
          </a:xfrm>
          <a:prstGeom prst="rect">
            <a:avLst/>
          </a:prstGeom>
          <a:noFill/>
          <a:ln/>
        </p:spPr>
        <p:txBody>
          <a:bodyPr wrap="none" lIns="0" tIns="0" rIns="0" bIns="0" rtlCol="0" anchor="ctr"/>
          <a:lstStyle/>
          <a:p>
            <a:pPr algn="ctr" indent="0" marL="0">
              <a:buNone/>
            </a:pPr>
            <a:r>
              <a:rPr lang="en-US" sz="1013" b="1" dirty="0">
                <a:solidFill>
                  <a:srgbClr val="FFFFFF"/>
                </a:solidFill>
                <a:latin typeface="Carlito" pitchFamily="34" charset="0"/>
                <a:ea typeface="Carlito" pitchFamily="34" charset="-122"/>
                <a:cs typeface="Carlito" pitchFamily="34" charset="-120"/>
              </a:rPr>
              <a:t>M</a:t>
            </a:r>
            <a:endParaRPr lang="en-US" sz="1013" dirty="0"/>
          </a:p>
        </p:txBody>
      </p:sp>
      <p:sp>
        <p:nvSpPr>
          <p:cNvPr id="58" name="Text 56"/>
          <p:cNvSpPr/>
          <p:nvPr/>
        </p:nvSpPr>
        <p:spPr>
          <a:xfrm>
            <a:off x="642938" y="246459"/>
            <a:ext cx="820531" cy="146590"/>
          </a:xfrm>
          <a:prstGeom prst="rect">
            <a:avLst/>
          </a:prstGeom>
          <a:noFill/>
          <a:ln/>
        </p:spPr>
        <p:txBody>
          <a:bodyPr wrap="none" lIns="0" tIns="0" rIns="0" bIns="0" rtlCol="0" anchor="t"/>
          <a:lstStyle/>
          <a:p>
            <a:pPr algn="l" indent="0" marL="0">
              <a:buNone/>
            </a:pPr>
            <a:r>
              <a:rPr lang="en-US" sz="900" b="1" spc="18" kern="0" dirty="0">
                <a:solidFill>
                  <a:srgbClr val="6D28D9"/>
                </a:solidFill>
                <a:latin typeface="Carlito" pitchFamily="34" charset="0"/>
                <a:ea typeface="Carlito" pitchFamily="34" charset="-122"/>
                <a:cs typeface="Carlito" pitchFamily="34" charset="-120"/>
              </a:rPr>
              <a:t>MassaPro</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4340" y="488490"/>
            <a:ext cx="1051538" cy="216027"/>
          </a:xfrm>
          <a:prstGeom prst="roundRect">
            <a:avLst>
              <a:gd name="adj" fmla="val 4404762"/>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3" name="Text 1"/>
          <p:cNvSpPr/>
          <p:nvPr/>
        </p:nvSpPr>
        <p:spPr>
          <a:xfrm>
            <a:off x="457200" y="500063"/>
            <a:ext cx="1005818" cy="192881"/>
          </a:xfrm>
          <a:prstGeom prst="rect">
            <a:avLst/>
          </a:prstGeom>
          <a:noFill/>
          <a:ln/>
        </p:spPr>
        <p:txBody>
          <a:bodyPr wrap="none" lIns="0" tIns="0" rIns="0" bIns="0" rtlCol="0" anchor="ctr"/>
          <a:lstStyle/>
          <a:p>
            <a:pPr algn="ctr" indent="0" marL="0">
              <a:buNone/>
            </a:pPr>
            <a:r>
              <a:rPr lang="en-US" sz="800" b="1" spc="111" kern="0" dirty="0">
                <a:solidFill>
                  <a:srgbClr val="7C3AED"/>
                </a:solidFill>
                <a:latin typeface="Carlito" pitchFamily="34" charset="0"/>
                <a:ea typeface="Carlito" pitchFamily="34" charset="-122"/>
                <a:cs typeface="Carlito" pitchFamily="34" charset="-120"/>
              </a:rPr>
              <a:t>THE SOLUTION</a:t>
            </a:r>
            <a:endParaRPr lang="en-US" sz="800" dirty="0"/>
          </a:p>
        </p:txBody>
      </p:sp>
      <p:sp>
        <p:nvSpPr>
          <p:cNvPr id="4" name="Text 2"/>
          <p:cNvSpPr/>
          <p:nvPr/>
        </p:nvSpPr>
        <p:spPr>
          <a:xfrm>
            <a:off x="457200" y="807244"/>
            <a:ext cx="7715250" cy="337060"/>
          </a:xfrm>
          <a:prstGeom prst="rect">
            <a:avLst/>
          </a:prstGeom>
          <a:noFill/>
          <a:ln/>
        </p:spPr>
        <p:txBody>
          <a:bodyPr wrap="square" lIns="0" tIns="0" rIns="0" bIns="0" rtlCol="0" anchor="t"/>
          <a:lstStyle/>
          <a:p>
            <a:pPr algn="l" indent="0" marL="0">
              <a:lnSpc>
                <a:spcPts val="2458"/>
              </a:lnSpc>
              <a:buNone/>
            </a:pPr>
            <a:r>
              <a:rPr lang="en-US" sz="2138" b="1" dirty="0">
                <a:solidFill>
                  <a:srgbClr val="1F2937"/>
                </a:solidFill>
                <a:latin typeface="Tinos" pitchFamily="34" charset="0"/>
                <a:ea typeface="Tinos" pitchFamily="34" charset="-122"/>
                <a:cs typeface="Tinos" pitchFamily="34" charset="-120"/>
              </a:rPr>
              <a:t>One Platform. A Complete </a:t>
            </a:r>
            <a:pPr algn="l" indent="0" marL="0">
              <a:lnSpc>
                <a:spcPts val="2458"/>
              </a:lnSpc>
              <a:buNone/>
            </a:pPr>
            <a:r>
              <a:rPr lang="en-US" sz="2138" b="1" dirty="0">
                <a:solidFill>
                  <a:srgbClr val="7C3AED"/>
                </a:solidFill>
                <a:latin typeface="Tinos" pitchFamily="34" charset="0"/>
                <a:ea typeface="Tinos" pitchFamily="34" charset="-122"/>
                <a:cs typeface="Tinos" pitchFamily="34" charset="-120"/>
              </a:rPr>
              <a:t>Agentic AI Workforce.</a:t>
            </a:r>
            <a:endParaRPr lang="en-US" sz="2138" dirty="0"/>
          </a:p>
        </p:txBody>
      </p:sp>
      <p:sp>
        <p:nvSpPr>
          <p:cNvPr id="5" name="Text 3"/>
          <p:cNvSpPr/>
          <p:nvPr/>
        </p:nvSpPr>
        <p:spPr>
          <a:xfrm>
            <a:off x="457200" y="1190774"/>
            <a:ext cx="6786563" cy="538139"/>
          </a:xfrm>
          <a:prstGeom prst="rect">
            <a:avLst/>
          </a:prstGeom>
          <a:noFill/>
          <a:ln/>
        </p:spPr>
        <p:txBody>
          <a:bodyPr wrap="square" lIns="0" tIns="0" rIns="0" bIns="0" rtlCol="0" anchor="t"/>
          <a:lstStyle/>
          <a:p>
            <a:pPr algn="l" indent="0" marL="0">
              <a:lnSpc>
                <a:spcPts val="1308"/>
              </a:lnSpc>
              <a:buNone/>
            </a:pPr>
            <a:r>
              <a:rPr lang="en-US" sz="844" dirty="0">
                <a:solidFill>
                  <a:srgbClr val="6B7280"/>
                </a:solidFill>
                <a:latin typeface="Carlito" pitchFamily="34" charset="0"/>
                <a:ea typeface="Carlito" pitchFamily="34" charset="-122"/>
                <a:cs typeface="Carlito" pitchFamily="34" charset="-120"/>
              </a:rPr>
              <a:t>MassaPro replaces the entire call center and customer journey stack with a single, proprietary platform — engineered in-house, owned end-to-end, and orchestrated by our own LLM. No dialer to license. No call center to staff. No reporting tool to bolt on. No analytics layer to integrate. No call intelligence vendor to manage. All of it — in one platform.</a:t>
            </a:r>
            <a:endParaRPr lang="en-US" sz="844" dirty="0"/>
          </a:p>
        </p:txBody>
      </p:sp>
      <p:sp>
        <p:nvSpPr>
          <p:cNvPr id="6" name="Text 4"/>
          <p:cNvSpPr/>
          <p:nvPr/>
        </p:nvSpPr>
        <p:spPr>
          <a:xfrm>
            <a:off x="460772" y="2035522"/>
            <a:ext cx="4021931" cy="2675781"/>
          </a:xfrm>
          <a:prstGeom prst="roundRect">
            <a:avLst>
              <a:gd name="adj" fmla="val 4984"/>
            </a:avLst>
          </a:prstGeom>
          <a:solidFill>
            <a:srgbClr val="FEF2F2"/>
          </a:solidFill>
          <a:ln w="7144">
            <a:solidFill>
              <a:srgbClr val="FECACA"/>
            </a:solidFill>
            <a:prstDash val="solid"/>
          </a:ln>
        </p:spPr>
        <p:txBody>
          <a:bodyPr wrap="square" rtlCol="0" anchor="ctr"/>
          <a:lstStyle/>
          <a:p>
            <a:pPr indent="0" marL="0">
              <a:buNone/>
            </a:pPr>
            <a:endParaRPr lang="en-US" dirty="0"/>
          </a:p>
        </p:txBody>
      </p:sp>
      <p:sp>
        <p:nvSpPr>
          <p:cNvPr id="7" name="Text 5"/>
          <p:cNvSpPr/>
          <p:nvPr/>
        </p:nvSpPr>
        <p:spPr>
          <a:xfrm>
            <a:off x="650081" y="2210544"/>
            <a:ext cx="3643313" cy="162020"/>
          </a:xfrm>
          <a:prstGeom prst="rect">
            <a:avLst/>
          </a:prstGeom>
          <a:noFill/>
          <a:ln/>
        </p:spPr>
        <p:txBody>
          <a:bodyPr wrap="none" lIns="0" tIns="0" rIns="0" bIns="0" rtlCol="0" anchor="t"/>
          <a:lstStyle/>
          <a:p>
            <a:pPr algn="l" indent="0" marL="0">
              <a:buNone/>
            </a:pPr>
            <a:r>
              <a:rPr lang="en-US" sz="1013" b="1" spc="-10" kern="0" dirty="0">
                <a:solidFill>
                  <a:srgbClr val="B91C1C"/>
                </a:solidFill>
                <a:latin typeface="Carlito" pitchFamily="34" charset="0"/>
                <a:ea typeface="Carlito" pitchFamily="34" charset="-122"/>
                <a:cs typeface="Carlito" pitchFamily="34" charset="-120"/>
              </a:rPr>
              <a:t>What you stop paying for</a:t>
            </a:r>
            <a:endParaRPr lang="en-US" sz="1013" dirty="0"/>
          </a:p>
        </p:txBody>
      </p:sp>
      <p:sp>
        <p:nvSpPr>
          <p:cNvPr id="8" name="Text 6"/>
          <p:cNvSpPr/>
          <p:nvPr/>
        </p:nvSpPr>
        <p:spPr>
          <a:xfrm>
            <a:off x="650081" y="2489150"/>
            <a:ext cx="3643313" cy="1291019"/>
          </a:xfrm>
          <a:prstGeom prst="rect">
            <a:avLst/>
          </a:prstGeom>
          <a:noFill/>
          <a:ln/>
        </p:spPr>
        <p:txBody>
          <a:bodyPr wrap="square" lIns="0" tIns="0" rIns="0" bIns="0" rtlCol="0" anchor="t"/>
          <a:lstStyle/>
          <a:p>
            <a:pPr algn="l" indent="0" marL="0">
              <a:lnSpc>
                <a:spcPts val="1097"/>
              </a:lnSpc>
              <a:spcAft>
                <a:spcPts val="506"/>
              </a:spcAft>
              <a:buNone/>
            </a:pPr>
            <a:r>
              <a:rPr lang="en-US" sz="600" dirty="0">
                <a:solidFill>
                  <a:srgbClr val="EF4444"/>
                </a:solidFill>
                <a:latin typeface="Carlito" pitchFamily="34" charset="0"/>
                <a:ea typeface="Carlito" pitchFamily="34" charset="-122"/>
                <a:cs typeface="Carlito" pitchFamily="34" charset="-120"/>
              </a:rPr>
              <a:t>●  </a:t>
            </a:r>
            <a:pPr algn="l" indent="0" marL="0">
              <a:lnSpc>
                <a:spcPts val="1097"/>
              </a:lnSpc>
              <a:spcAft>
                <a:spcPts val="506"/>
              </a:spcAft>
              <a:buNone/>
            </a:pPr>
            <a:r>
              <a:rPr lang="en-US" sz="800" dirty="0">
                <a:solidFill>
                  <a:srgbClr val="7F1D1D"/>
                </a:solidFill>
                <a:latin typeface="Carlito" pitchFamily="34" charset="0"/>
                <a:ea typeface="Carlito" pitchFamily="34" charset="-122"/>
                <a:cs typeface="Carlito" pitchFamily="34" charset="-120"/>
              </a:rPr>
              <a:t>Separate dialer licenses</a:t>
            </a:r>
            <a:endParaRPr lang="en-US" sz="800" dirty="0"/>
          </a:p>
          <a:p>
            <a:pPr algn="l" indent="0" marL="0">
              <a:lnSpc>
                <a:spcPts val="1097"/>
              </a:lnSpc>
              <a:spcAft>
                <a:spcPts val="506"/>
              </a:spcAft>
              <a:buNone/>
            </a:pPr>
            <a:r>
              <a:rPr lang="en-US" sz="600" dirty="0">
                <a:solidFill>
                  <a:srgbClr val="EF4444"/>
                </a:solidFill>
                <a:latin typeface="Carlito" pitchFamily="34" charset="0"/>
                <a:ea typeface="Carlito" pitchFamily="34" charset="-122"/>
                <a:cs typeface="Carlito" pitchFamily="34" charset="-120"/>
              </a:rPr>
              <a:t>●  </a:t>
            </a:r>
            <a:pPr algn="l" indent="0" marL="0">
              <a:lnSpc>
                <a:spcPts val="1097"/>
              </a:lnSpc>
              <a:spcAft>
                <a:spcPts val="506"/>
              </a:spcAft>
              <a:buNone/>
            </a:pPr>
            <a:r>
              <a:rPr lang="en-US" sz="800" dirty="0">
                <a:solidFill>
                  <a:srgbClr val="7F1D1D"/>
                </a:solidFill>
                <a:latin typeface="Carlito" pitchFamily="34" charset="0"/>
                <a:ea typeface="Carlito" pitchFamily="34" charset="-122"/>
                <a:cs typeface="Carlito" pitchFamily="34" charset="-120"/>
              </a:rPr>
              <a:t>Per-minute AI token billing (voice and text)</a:t>
            </a:r>
            <a:endParaRPr lang="en-US" sz="800" dirty="0"/>
          </a:p>
          <a:p>
            <a:pPr algn="l" indent="0" marL="0">
              <a:lnSpc>
                <a:spcPts val="1097"/>
              </a:lnSpc>
              <a:spcAft>
                <a:spcPts val="506"/>
              </a:spcAft>
              <a:buNone/>
            </a:pPr>
            <a:r>
              <a:rPr lang="en-US" sz="600" dirty="0">
                <a:solidFill>
                  <a:srgbClr val="EF4444"/>
                </a:solidFill>
                <a:latin typeface="Carlito" pitchFamily="34" charset="0"/>
                <a:ea typeface="Carlito" pitchFamily="34" charset="-122"/>
                <a:cs typeface="Carlito" pitchFamily="34" charset="-120"/>
              </a:rPr>
              <a:t>●  </a:t>
            </a:r>
            <a:pPr algn="l" indent="0" marL="0">
              <a:lnSpc>
                <a:spcPts val="1097"/>
              </a:lnSpc>
              <a:spcAft>
                <a:spcPts val="506"/>
              </a:spcAft>
              <a:buNone/>
            </a:pPr>
            <a:r>
              <a:rPr lang="en-US" sz="800" dirty="0">
                <a:solidFill>
                  <a:srgbClr val="7F1D1D"/>
                </a:solidFill>
                <a:latin typeface="Carlito" pitchFamily="34" charset="0"/>
                <a:ea typeface="Carlito" pitchFamily="34" charset="-122"/>
                <a:cs typeface="Carlito" pitchFamily="34" charset="-120"/>
              </a:rPr>
              <a:t>Standalone QA / call intelligence tools</a:t>
            </a:r>
            <a:endParaRPr lang="en-US" sz="800" dirty="0"/>
          </a:p>
          <a:p>
            <a:pPr algn="l" indent="0" marL="0">
              <a:lnSpc>
                <a:spcPts val="1097"/>
              </a:lnSpc>
              <a:spcAft>
                <a:spcPts val="506"/>
              </a:spcAft>
              <a:buNone/>
            </a:pPr>
            <a:r>
              <a:rPr lang="en-US" sz="600" dirty="0">
                <a:solidFill>
                  <a:srgbClr val="EF4444"/>
                </a:solidFill>
                <a:latin typeface="Carlito" pitchFamily="34" charset="0"/>
                <a:ea typeface="Carlito" pitchFamily="34" charset="-122"/>
                <a:cs typeface="Carlito" pitchFamily="34" charset="-120"/>
              </a:rPr>
              <a:t>●  </a:t>
            </a:r>
            <a:pPr algn="l" indent="0" marL="0">
              <a:lnSpc>
                <a:spcPts val="1097"/>
              </a:lnSpc>
              <a:spcAft>
                <a:spcPts val="506"/>
              </a:spcAft>
              <a:buNone/>
            </a:pPr>
            <a:r>
              <a:rPr lang="en-US" sz="800" dirty="0">
                <a:solidFill>
                  <a:srgbClr val="7F1D1D"/>
                </a:solidFill>
                <a:latin typeface="Carlito" pitchFamily="34" charset="0"/>
                <a:ea typeface="Carlito" pitchFamily="34" charset="-122"/>
                <a:cs typeface="Carlito" pitchFamily="34" charset="-120"/>
              </a:rPr>
              <a:t>Third-party analytics dashboards</a:t>
            </a:r>
            <a:endParaRPr lang="en-US" sz="800" dirty="0"/>
          </a:p>
          <a:p>
            <a:pPr algn="l" indent="0" marL="0">
              <a:lnSpc>
                <a:spcPts val="1097"/>
              </a:lnSpc>
              <a:spcAft>
                <a:spcPts val="506"/>
              </a:spcAft>
              <a:buNone/>
            </a:pPr>
            <a:r>
              <a:rPr lang="en-US" sz="600" dirty="0">
                <a:solidFill>
                  <a:srgbClr val="EF4444"/>
                </a:solidFill>
                <a:latin typeface="Carlito" pitchFamily="34" charset="0"/>
                <a:ea typeface="Carlito" pitchFamily="34" charset="-122"/>
                <a:cs typeface="Carlito" pitchFamily="34" charset="-120"/>
              </a:rPr>
              <a:t>●  </a:t>
            </a:r>
            <a:pPr algn="l" indent="0" marL="0">
              <a:lnSpc>
                <a:spcPts val="1097"/>
              </a:lnSpc>
              <a:spcAft>
                <a:spcPts val="506"/>
              </a:spcAft>
              <a:buNone/>
            </a:pPr>
            <a:r>
              <a:rPr lang="en-US" sz="800" dirty="0">
                <a:solidFill>
                  <a:srgbClr val="7F1D1D"/>
                </a:solidFill>
                <a:latin typeface="Carlito" pitchFamily="34" charset="0"/>
                <a:ea typeface="Carlito" pitchFamily="34" charset="-122"/>
                <a:cs typeface="Carlito" pitchFamily="34" charset="-120"/>
              </a:rPr>
              <a:t>Licensed LLM usage fees</a:t>
            </a:r>
            <a:endParaRPr lang="en-US" sz="800" dirty="0"/>
          </a:p>
          <a:p>
            <a:pPr algn="l" indent="0" marL="0">
              <a:lnSpc>
                <a:spcPts val="1097"/>
              </a:lnSpc>
              <a:spcAft>
                <a:spcPts val="506"/>
              </a:spcAft>
              <a:buNone/>
            </a:pPr>
            <a:r>
              <a:rPr lang="en-US" sz="600" dirty="0">
                <a:solidFill>
                  <a:srgbClr val="EF4444"/>
                </a:solidFill>
                <a:latin typeface="Carlito" pitchFamily="34" charset="0"/>
                <a:ea typeface="Carlito" pitchFamily="34" charset="-122"/>
                <a:cs typeface="Carlito" pitchFamily="34" charset="-120"/>
              </a:rPr>
              <a:t>●  </a:t>
            </a:r>
            <a:pPr algn="l" indent="0" marL="0">
              <a:lnSpc>
                <a:spcPts val="1097"/>
              </a:lnSpc>
              <a:spcAft>
                <a:spcPts val="506"/>
              </a:spcAft>
              <a:buNone/>
            </a:pPr>
            <a:r>
              <a:rPr lang="en-US" sz="800" dirty="0">
                <a:solidFill>
                  <a:srgbClr val="7F1D1D"/>
                </a:solidFill>
                <a:latin typeface="Carlito" pitchFamily="34" charset="0"/>
                <a:ea typeface="Carlito" pitchFamily="34" charset="-122"/>
                <a:cs typeface="Carlito" pitchFamily="34" charset="-120"/>
              </a:rPr>
              <a:t>Human agent headcount that scales linearly with volume</a:t>
            </a:r>
            <a:endParaRPr lang="en-US" sz="800" dirty="0"/>
          </a:p>
        </p:txBody>
      </p:sp>
      <p:sp>
        <p:nvSpPr>
          <p:cNvPr id="9" name="Text 7"/>
          <p:cNvSpPr/>
          <p:nvPr/>
        </p:nvSpPr>
        <p:spPr>
          <a:xfrm>
            <a:off x="4661297" y="2035522"/>
            <a:ext cx="4021931" cy="2675781"/>
          </a:xfrm>
          <a:prstGeom prst="roundRect">
            <a:avLst>
              <a:gd name="adj" fmla="val 4984"/>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10" name="Text 8"/>
          <p:cNvSpPr/>
          <p:nvPr/>
        </p:nvSpPr>
        <p:spPr>
          <a:xfrm>
            <a:off x="4850606" y="2210544"/>
            <a:ext cx="3643313" cy="162020"/>
          </a:xfrm>
          <a:prstGeom prst="rect">
            <a:avLst/>
          </a:prstGeom>
          <a:noFill/>
          <a:ln/>
        </p:spPr>
        <p:txBody>
          <a:bodyPr wrap="none" lIns="0" tIns="0" rIns="0" bIns="0" rtlCol="0" anchor="t"/>
          <a:lstStyle/>
          <a:p>
            <a:pPr algn="l" indent="0" marL="0">
              <a:buNone/>
            </a:pPr>
            <a:r>
              <a:rPr lang="en-US" sz="1013" b="1" spc="-10" kern="0" dirty="0">
                <a:solidFill>
                  <a:srgbClr val="6D28D9"/>
                </a:solidFill>
                <a:latin typeface="Carlito" pitchFamily="34" charset="0"/>
                <a:ea typeface="Carlito" pitchFamily="34" charset="-122"/>
                <a:cs typeface="Carlito" pitchFamily="34" charset="-120"/>
              </a:rPr>
              <a:t>What you get instead</a:t>
            </a:r>
            <a:endParaRPr lang="en-US" sz="1013" dirty="0"/>
          </a:p>
        </p:txBody>
      </p:sp>
      <p:sp>
        <p:nvSpPr>
          <p:cNvPr id="11" name="Text 9"/>
          <p:cNvSpPr/>
          <p:nvPr/>
        </p:nvSpPr>
        <p:spPr>
          <a:xfrm>
            <a:off x="4850606" y="2489150"/>
            <a:ext cx="3643313" cy="859393"/>
          </a:xfrm>
          <a:prstGeom prst="rect">
            <a:avLst/>
          </a:prstGeom>
          <a:noFill/>
          <a:ln/>
        </p:spPr>
        <p:txBody>
          <a:bodyPr wrap="square" lIns="0" tIns="0" rIns="0" bIns="0" rtlCol="0" anchor="t"/>
          <a:lstStyle/>
          <a:p>
            <a:pPr algn="l" indent="0" marL="0">
              <a:lnSpc>
                <a:spcPts val="1097"/>
              </a:lnSpc>
              <a:spcAft>
                <a:spcPts val="506"/>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1097"/>
              </a:lnSpc>
              <a:spcAft>
                <a:spcPts val="506"/>
              </a:spcAft>
              <a:buNone/>
            </a:pPr>
            <a:r>
              <a:rPr lang="en-US" sz="800" b="1" dirty="0">
                <a:solidFill>
                  <a:srgbClr val="6D28D9"/>
                </a:solidFill>
                <a:latin typeface="Carlito" pitchFamily="34" charset="0"/>
                <a:ea typeface="Carlito" pitchFamily="34" charset="-122"/>
                <a:cs typeface="Carlito" pitchFamily="34" charset="-120"/>
              </a:rPr>
              <a:t>One proprietary LLM</a:t>
            </a:r>
            <a:pPr algn="l" indent="0" marL="0">
              <a:lnSpc>
                <a:spcPts val="1097"/>
              </a:lnSpc>
              <a:spcAft>
                <a:spcPts val="506"/>
              </a:spcAft>
              <a:buNone/>
            </a:pPr>
            <a:r>
              <a:rPr lang="en-US" sz="800" dirty="0">
                <a:solidFill>
                  <a:srgbClr val="1F2937"/>
                </a:solidFill>
                <a:latin typeface="Carlito" pitchFamily="34" charset="0"/>
                <a:ea typeface="Carlito" pitchFamily="34" charset="-122"/>
                <a:cs typeface="Carlito" pitchFamily="34" charset="-120"/>
              </a:rPr>
              <a:t> orchestrating every customer touchpoint</a:t>
            </a:r>
            <a:endParaRPr lang="en-US" sz="800" dirty="0"/>
          </a:p>
          <a:p>
            <a:pPr algn="l" indent="0" marL="0">
              <a:lnSpc>
                <a:spcPts val="1097"/>
              </a:lnSpc>
              <a:spcAft>
                <a:spcPts val="506"/>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1097"/>
              </a:lnSpc>
              <a:spcAft>
                <a:spcPts val="506"/>
              </a:spcAft>
              <a:buNone/>
            </a:pPr>
            <a:r>
              <a:rPr lang="en-US" sz="800" b="1" dirty="0">
                <a:solidFill>
                  <a:srgbClr val="6D28D9"/>
                </a:solidFill>
                <a:latin typeface="Carlito" pitchFamily="34" charset="0"/>
                <a:ea typeface="Carlito" pitchFamily="34" charset="-122"/>
                <a:cs typeface="Carlito" pitchFamily="34" charset="-120"/>
              </a:rPr>
              <a:t>One workforce</a:t>
            </a:r>
            <a:pPr algn="l" indent="0" marL="0">
              <a:lnSpc>
                <a:spcPts val="1097"/>
              </a:lnSpc>
              <a:spcAft>
                <a:spcPts val="506"/>
              </a:spcAft>
              <a:buNone/>
            </a:pPr>
            <a:r>
              <a:rPr lang="en-US" sz="800" dirty="0">
                <a:solidFill>
                  <a:srgbClr val="1F2937"/>
                </a:solidFill>
                <a:latin typeface="Carlito" pitchFamily="34" charset="0"/>
                <a:ea typeface="Carlito" pitchFamily="34" charset="-122"/>
                <a:cs typeface="Carlito" pitchFamily="34" charset="-120"/>
              </a:rPr>
              <a:t> of specialized AI agents across every channel</a:t>
            </a:r>
            <a:endParaRPr lang="en-US" sz="800" dirty="0"/>
          </a:p>
          <a:p>
            <a:pPr algn="l" indent="0" marL="0">
              <a:lnSpc>
                <a:spcPts val="1097"/>
              </a:lnSpc>
              <a:spcAft>
                <a:spcPts val="506"/>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1097"/>
              </a:lnSpc>
              <a:spcAft>
                <a:spcPts val="506"/>
              </a:spcAft>
              <a:buNone/>
            </a:pPr>
            <a:r>
              <a:rPr lang="en-US" sz="800" b="1" dirty="0">
                <a:solidFill>
                  <a:srgbClr val="6D28D9"/>
                </a:solidFill>
                <a:latin typeface="Carlito" pitchFamily="34" charset="0"/>
                <a:ea typeface="Carlito" pitchFamily="34" charset="-122"/>
                <a:cs typeface="Carlito" pitchFamily="34" charset="-120"/>
              </a:rPr>
              <a:t>One pricing model</a:t>
            </a:r>
            <a:pPr algn="l" indent="0" marL="0">
              <a:lnSpc>
                <a:spcPts val="1097"/>
              </a:lnSpc>
              <a:spcAft>
                <a:spcPts val="506"/>
              </a:spcAft>
              <a:buNone/>
            </a:pPr>
            <a:r>
              <a:rPr lang="en-US" sz="800" dirty="0">
                <a:solidFill>
                  <a:srgbClr val="1F2937"/>
                </a:solidFill>
                <a:latin typeface="Carlito" pitchFamily="34" charset="0"/>
                <a:ea typeface="Carlito" pitchFamily="34" charset="-122"/>
                <a:cs typeface="Carlito" pitchFamily="34" charset="-120"/>
              </a:rPr>
              <a:t> — pay per agent + volume, not per minute</a:t>
            </a:r>
            <a:endParaRPr lang="en-US" sz="800" dirty="0"/>
          </a:p>
          <a:p>
            <a:pPr algn="l" indent="0" marL="0">
              <a:lnSpc>
                <a:spcPts val="1097"/>
              </a:lnSpc>
              <a:spcAft>
                <a:spcPts val="506"/>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1097"/>
              </a:lnSpc>
              <a:spcAft>
                <a:spcPts val="506"/>
              </a:spcAft>
              <a:buNone/>
            </a:pPr>
            <a:r>
              <a:rPr lang="en-US" sz="800" b="1" dirty="0">
                <a:solidFill>
                  <a:srgbClr val="6D28D9"/>
                </a:solidFill>
                <a:latin typeface="Carlito" pitchFamily="34" charset="0"/>
                <a:ea typeface="Carlito" pitchFamily="34" charset="-122"/>
                <a:cs typeface="Carlito" pitchFamily="34" charset="-120"/>
              </a:rPr>
              <a:t>One platform</a:t>
            </a:r>
            <a:pPr algn="l" indent="0" marL="0">
              <a:lnSpc>
                <a:spcPts val="1097"/>
              </a:lnSpc>
              <a:spcAft>
                <a:spcPts val="506"/>
              </a:spcAft>
              <a:buNone/>
            </a:pPr>
            <a:r>
              <a:rPr lang="en-US" sz="800" dirty="0">
                <a:solidFill>
                  <a:srgbClr val="1F2937"/>
                </a:solidFill>
                <a:latin typeface="Carlito" pitchFamily="34" charset="0"/>
                <a:ea typeface="Carlito" pitchFamily="34" charset="-122"/>
                <a:cs typeface="Carlito" pitchFamily="34" charset="-120"/>
              </a:rPr>
              <a:t> that turns service into a growth engine</a:t>
            </a:r>
            <a:endParaRPr lang="en-US" sz="800" dirty="0"/>
          </a:p>
        </p:txBody>
      </p:sp>
      <p:sp>
        <p:nvSpPr>
          <p:cNvPr id="12" name="Text 10"/>
          <p:cNvSpPr/>
          <p:nvPr/>
        </p:nvSpPr>
        <p:spPr>
          <a:xfrm>
            <a:off x="342900" y="4879181"/>
            <a:ext cx="8145438" cy="129679"/>
          </a:xfrm>
          <a:prstGeom prst="rect">
            <a:avLst/>
          </a:prstGeom>
          <a:noFill/>
          <a:ln/>
        </p:spPr>
        <p:txBody>
          <a:bodyPr wrap="square" lIns="0" tIns="0" rIns="0" bIns="0" rtlCol="0" anchor="t"/>
          <a:lstStyle/>
          <a:p>
            <a:pPr algn="l" indent="0" marL="0">
              <a:buNone/>
            </a:pPr>
            <a:r>
              <a:rPr lang="en-US" sz="800" spc="25" kern="0" dirty="0">
                <a:solidFill>
                  <a:srgbClr val="6B7280"/>
                </a:solidFill>
                <a:latin typeface="Carlito" pitchFamily="34" charset="0"/>
                <a:ea typeface="Carlito" pitchFamily="34" charset="-122"/>
                <a:cs typeface="Carlito" pitchFamily="34" charset="-120"/>
              </a:rPr>
              <a:t>MASSAPRO — THE GROWTH MACHINE FOR CUSTOMER SERVICE</a:t>
            </a:r>
            <a:endParaRPr lang="en-US" sz="800" dirty="0"/>
          </a:p>
        </p:txBody>
      </p:sp>
      <p:sp>
        <p:nvSpPr>
          <p:cNvPr id="13" name="Text 11"/>
          <p:cNvSpPr/>
          <p:nvPr/>
        </p:nvSpPr>
        <p:spPr>
          <a:xfrm>
            <a:off x="8483221" y="4879181"/>
            <a:ext cx="453969" cy="129679"/>
          </a:xfrm>
          <a:prstGeom prst="rect">
            <a:avLst/>
          </a:prstGeom>
          <a:noFill/>
          <a:ln/>
        </p:spPr>
        <p:txBody>
          <a:bodyPr wrap="square" lIns="0" tIns="0" rIns="0" bIns="0" rtlCol="0" anchor="t"/>
          <a:lstStyle/>
          <a:p>
            <a:pPr algn="l" indent="0" marL="0">
              <a:buNone/>
            </a:pPr>
            <a:r>
              <a:rPr lang="en-US" sz="800" spc="25" kern="0" dirty="0">
                <a:solidFill>
                  <a:srgbClr val="6B7280"/>
                </a:solidFill>
                <a:latin typeface="Liberation Sans Narrow" pitchFamily="34" charset="0"/>
                <a:ea typeface="Liberation Sans Narrow" pitchFamily="34" charset="-122"/>
                <a:cs typeface="Liberation Sans Narrow" pitchFamily="34" charset="-120"/>
              </a:rPr>
              <a:t>03 / 10</a:t>
            </a:r>
            <a:endParaRPr lang="en-US" sz="800" dirty="0"/>
          </a:p>
        </p:txBody>
      </p:sp>
      <p:sp>
        <p:nvSpPr>
          <p:cNvPr id="14" name="Text 12"/>
          <p:cNvSpPr/>
          <p:nvPr/>
        </p:nvSpPr>
        <p:spPr>
          <a:xfrm>
            <a:off x="342900" y="200025"/>
            <a:ext cx="228600" cy="228600"/>
          </a:xfrm>
          <a:prstGeom prst="roundRect">
            <a:avLst>
              <a:gd name="adj" fmla="val 33333"/>
            </a:avLst>
          </a:prstGeom>
          <a:solidFill>
            <a:srgbClr val="7C3AED"/>
          </a:solidFill>
          <a:ln/>
        </p:spPr>
        <p:txBody>
          <a:bodyPr wrap="square" rtlCol="0" anchor="ctr"/>
          <a:lstStyle/>
          <a:p>
            <a:pPr indent="0" marL="0">
              <a:buNone/>
            </a:pPr>
            <a:endParaRPr lang="en-US" dirty="0"/>
          </a:p>
        </p:txBody>
      </p:sp>
      <p:sp>
        <p:nvSpPr>
          <p:cNvPr id="15" name="Text 13"/>
          <p:cNvSpPr/>
          <p:nvPr/>
        </p:nvSpPr>
        <p:spPr>
          <a:xfrm>
            <a:off x="342900" y="200025"/>
            <a:ext cx="264319" cy="228600"/>
          </a:xfrm>
          <a:prstGeom prst="rect">
            <a:avLst/>
          </a:prstGeom>
          <a:noFill/>
          <a:ln/>
        </p:spPr>
        <p:txBody>
          <a:bodyPr wrap="none" lIns="0" tIns="0" rIns="0" bIns="0" rtlCol="0" anchor="ctr"/>
          <a:lstStyle/>
          <a:p>
            <a:pPr algn="ctr" indent="0" marL="0">
              <a:buNone/>
            </a:pPr>
            <a:r>
              <a:rPr lang="en-US" sz="1013" b="1" dirty="0">
                <a:solidFill>
                  <a:srgbClr val="FFFFFF"/>
                </a:solidFill>
                <a:latin typeface="Carlito" pitchFamily="34" charset="0"/>
                <a:ea typeface="Carlito" pitchFamily="34" charset="-122"/>
                <a:cs typeface="Carlito" pitchFamily="34" charset="-120"/>
              </a:rPr>
              <a:t>M</a:t>
            </a:r>
            <a:endParaRPr lang="en-US" sz="1013" dirty="0"/>
          </a:p>
        </p:txBody>
      </p:sp>
      <p:sp>
        <p:nvSpPr>
          <p:cNvPr id="16" name="Text 14"/>
          <p:cNvSpPr/>
          <p:nvPr/>
        </p:nvSpPr>
        <p:spPr>
          <a:xfrm>
            <a:off x="642938" y="246459"/>
            <a:ext cx="820531" cy="146590"/>
          </a:xfrm>
          <a:prstGeom prst="rect">
            <a:avLst/>
          </a:prstGeom>
          <a:noFill/>
          <a:ln/>
        </p:spPr>
        <p:txBody>
          <a:bodyPr wrap="none" lIns="0" tIns="0" rIns="0" bIns="0" rtlCol="0" anchor="t"/>
          <a:lstStyle/>
          <a:p>
            <a:pPr algn="l" indent="0" marL="0">
              <a:buNone/>
            </a:pPr>
            <a:r>
              <a:rPr lang="en-US" sz="900" b="1" spc="18" kern="0" dirty="0">
                <a:solidFill>
                  <a:srgbClr val="6D28D9"/>
                </a:solidFill>
                <a:latin typeface="Carlito" pitchFamily="34" charset="0"/>
                <a:ea typeface="Carlito" pitchFamily="34" charset="-122"/>
                <a:cs typeface="Carlito" pitchFamily="34" charset="-120"/>
              </a:rPr>
              <a:t>MassaPro</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434340" y="488490"/>
            <a:ext cx="1563767" cy="216027"/>
          </a:xfrm>
          <a:prstGeom prst="roundRect">
            <a:avLst>
              <a:gd name="adj" fmla="val 4404762"/>
            </a:avLst>
          </a:prstGeom>
          <a:solidFill>
            <a:srgbClr val="A78BFA">
              <a:alpha val="10000"/>
            </a:srgbClr>
          </a:solidFill>
          <a:ln w="7144">
            <a:solidFill>
              <a:srgbClr val="A78BFA"/>
            </a:solidFill>
            <a:prstDash val="solid"/>
          </a:ln>
        </p:spPr>
        <p:txBody>
          <a:bodyPr wrap="square" rtlCol="0" anchor="ctr"/>
          <a:lstStyle/>
          <a:p>
            <a:pPr indent="0" marL="0">
              <a:buNone/>
            </a:pPr>
            <a:endParaRPr lang="en-US" dirty="0"/>
          </a:p>
        </p:txBody>
      </p:sp>
      <p:sp>
        <p:nvSpPr>
          <p:cNvPr id="5" name="Text 1"/>
          <p:cNvSpPr/>
          <p:nvPr/>
        </p:nvSpPr>
        <p:spPr>
          <a:xfrm>
            <a:off x="457200" y="500063"/>
            <a:ext cx="1518047" cy="192881"/>
          </a:xfrm>
          <a:prstGeom prst="rect">
            <a:avLst/>
          </a:prstGeom>
          <a:noFill/>
          <a:ln/>
        </p:spPr>
        <p:txBody>
          <a:bodyPr wrap="none" lIns="0" tIns="0" rIns="0" bIns="0" rtlCol="0" anchor="ctr"/>
          <a:lstStyle/>
          <a:p>
            <a:pPr algn="ctr" indent="0" marL="0">
              <a:buNone/>
            </a:pPr>
            <a:r>
              <a:rPr lang="en-US" sz="800" b="1" spc="111" kern="0" dirty="0">
                <a:solidFill>
                  <a:srgbClr val="A78BFA"/>
                </a:solidFill>
                <a:latin typeface="Carlito" pitchFamily="34" charset="0"/>
                <a:ea typeface="Carlito" pitchFamily="34" charset="-122"/>
                <a:cs typeface="Carlito" pitchFamily="34" charset="-120"/>
              </a:rPr>
              <a:t>THE CORE TECHNOLOGY</a:t>
            </a:r>
            <a:endParaRPr lang="en-US" sz="800" dirty="0"/>
          </a:p>
        </p:txBody>
      </p:sp>
      <p:sp>
        <p:nvSpPr>
          <p:cNvPr id="6" name="Text 2"/>
          <p:cNvSpPr/>
          <p:nvPr/>
        </p:nvSpPr>
        <p:spPr>
          <a:xfrm>
            <a:off x="457200" y="807244"/>
            <a:ext cx="7715250" cy="337060"/>
          </a:xfrm>
          <a:prstGeom prst="rect">
            <a:avLst/>
          </a:prstGeom>
          <a:noFill/>
          <a:ln/>
        </p:spPr>
        <p:txBody>
          <a:bodyPr wrap="square" lIns="0" tIns="0" rIns="0" bIns="0" rtlCol="0" anchor="t"/>
          <a:lstStyle/>
          <a:p>
            <a:pPr algn="l" indent="0" marL="0">
              <a:lnSpc>
                <a:spcPts val="2458"/>
              </a:lnSpc>
              <a:buNone/>
            </a:pPr>
            <a:r>
              <a:rPr lang="en-US" sz="2138" b="1" dirty="0">
                <a:solidFill>
                  <a:srgbClr val="FFFFFF"/>
                </a:solidFill>
                <a:latin typeface="Tinos" pitchFamily="34" charset="0"/>
                <a:ea typeface="Tinos" pitchFamily="34" charset="-122"/>
                <a:cs typeface="Tinos" pitchFamily="34" charset="-120"/>
              </a:rPr>
              <a:t>One LLM. Every Customer Journey. </a:t>
            </a:r>
            <a:pPr algn="l" indent="0" marL="0">
              <a:lnSpc>
                <a:spcPts val="2458"/>
              </a:lnSpc>
              <a:buNone/>
            </a:pPr>
            <a:r>
              <a:rPr lang="en-US" sz="2138" b="1" dirty="0">
                <a:solidFill>
                  <a:srgbClr val="A78BFA"/>
                </a:solidFill>
                <a:latin typeface="Tinos" pitchFamily="34" charset="0"/>
                <a:ea typeface="Tinos" pitchFamily="34" charset="-122"/>
                <a:cs typeface="Tinos" pitchFamily="34" charset="-120"/>
              </a:rPr>
              <a:t>Fully Owned.</a:t>
            </a:r>
            <a:endParaRPr lang="en-US" sz="2138" dirty="0"/>
          </a:p>
        </p:txBody>
      </p:sp>
      <p:sp>
        <p:nvSpPr>
          <p:cNvPr id="7" name="Text 3"/>
          <p:cNvSpPr/>
          <p:nvPr/>
        </p:nvSpPr>
        <p:spPr>
          <a:xfrm>
            <a:off x="457200" y="1190774"/>
            <a:ext cx="6786563" cy="538139"/>
          </a:xfrm>
          <a:prstGeom prst="rect">
            <a:avLst/>
          </a:prstGeom>
          <a:noFill/>
          <a:ln/>
        </p:spPr>
        <p:txBody>
          <a:bodyPr wrap="square" lIns="0" tIns="0" rIns="0" bIns="0" rtlCol="0" anchor="t"/>
          <a:lstStyle/>
          <a:p>
            <a:pPr algn="l" indent="0" marL="0">
              <a:lnSpc>
                <a:spcPts val="1308"/>
              </a:lnSpc>
              <a:buNone/>
            </a:pPr>
            <a:r>
              <a:rPr lang="en-US" sz="844" dirty="0">
                <a:solidFill>
                  <a:srgbClr val="FFFFFF">
                    <a:alpha val="78000"/>
                  </a:srgbClr>
                </a:solidFill>
                <a:latin typeface="Carlito" pitchFamily="34" charset="0"/>
                <a:ea typeface="Carlito" pitchFamily="34" charset="-122"/>
                <a:cs typeface="Carlito" pitchFamily="34" charset="-120"/>
              </a:rPr>
              <a:t>At the core of MassaPro is our proprietary Large Language Model — fine-tuned with Direct Preference Optimization (DPO) on real customer interaction data, and aligned to your brand's tone, products, and service scenarios. Unlike providers who license a generic LLM and resell tokens, we own the model — which is why we can price per agent instead of per token.</a:t>
            </a:r>
            <a:endParaRPr lang="en-US" sz="844" dirty="0"/>
          </a:p>
        </p:txBody>
      </p:sp>
      <p:sp>
        <p:nvSpPr>
          <p:cNvPr id="8" name="Text 4"/>
          <p:cNvSpPr/>
          <p:nvPr/>
        </p:nvSpPr>
        <p:spPr>
          <a:xfrm>
            <a:off x="460772" y="2035522"/>
            <a:ext cx="4693332" cy="2675781"/>
          </a:xfrm>
          <a:prstGeom prst="roundRect">
            <a:avLst>
              <a:gd name="adj" fmla="val 4984"/>
            </a:avLst>
          </a:prstGeom>
          <a:solidFill>
            <a:srgbClr val="FFFFFF">
              <a:alpha val="4000"/>
            </a:srgbClr>
          </a:solidFill>
          <a:ln w="7144">
            <a:solidFill>
              <a:srgbClr val="A78BFA"/>
            </a:solidFill>
            <a:prstDash val="solid"/>
          </a:ln>
        </p:spPr>
        <p:txBody>
          <a:bodyPr wrap="square" rtlCol="0" anchor="ctr"/>
          <a:lstStyle/>
          <a:p>
            <a:pPr indent="0" marL="0">
              <a:buNone/>
            </a:pPr>
            <a:endParaRPr lang="en-US" dirty="0"/>
          </a:p>
        </p:txBody>
      </p:sp>
      <p:sp>
        <p:nvSpPr>
          <p:cNvPr id="9" name="Text 5"/>
          <p:cNvSpPr/>
          <p:nvPr/>
        </p:nvSpPr>
        <p:spPr>
          <a:xfrm>
            <a:off x="635794" y="2196257"/>
            <a:ext cx="4343288" cy="138875"/>
          </a:xfrm>
          <a:prstGeom prst="rect">
            <a:avLst/>
          </a:prstGeom>
          <a:noFill/>
          <a:ln/>
        </p:spPr>
        <p:txBody>
          <a:bodyPr wrap="none" lIns="0" tIns="0" rIns="0" bIns="0" rtlCol="0" anchor="t"/>
          <a:lstStyle/>
          <a:p>
            <a:pPr algn="l" indent="0" marL="0">
              <a:buNone/>
            </a:pPr>
            <a:r>
              <a:rPr lang="en-US" sz="900" b="1" dirty="0">
                <a:solidFill>
                  <a:srgbClr val="A78BFA"/>
                </a:solidFill>
                <a:latin typeface="Carlito" pitchFamily="34" charset="0"/>
                <a:ea typeface="Carlito" pitchFamily="34" charset="-122"/>
                <a:cs typeface="Carlito" pitchFamily="34" charset="-120"/>
              </a:rPr>
              <a:t>What our LLM does</a:t>
            </a:r>
            <a:endParaRPr lang="en-US" sz="900" dirty="0"/>
          </a:p>
        </p:txBody>
      </p:sp>
      <p:sp>
        <p:nvSpPr>
          <p:cNvPr id="10" name="Text 6"/>
          <p:cNvSpPr/>
          <p:nvPr/>
        </p:nvSpPr>
        <p:spPr>
          <a:xfrm>
            <a:off x="635794" y="2453432"/>
            <a:ext cx="4343288" cy="1302377"/>
          </a:xfrm>
          <a:prstGeom prst="rect">
            <a:avLst/>
          </a:prstGeom>
          <a:noFill/>
          <a:ln/>
        </p:spPr>
        <p:txBody>
          <a:bodyPr wrap="square" lIns="0" tIns="0" rIns="0" bIns="0" rtlCol="0" anchor="t"/>
          <a:lstStyle/>
          <a:p>
            <a:pPr algn="l" indent="0" marL="0">
              <a:lnSpc>
                <a:spcPts val="1097"/>
              </a:lnSpc>
              <a:spcAft>
                <a:spcPts val="506"/>
              </a:spcAft>
              <a:buNone/>
            </a:pPr>
            <a:r>
              <a:rPr lang="en-US" sz="600" dirty="0">
                <a:solidFill>
                  <a:srgbClr val="A78BFA"/>
                </a:solidFill>
                <a:latin typeface="Carlito" pitchFamily="34" charset="0"/>
                <a:ea typeface="Carlito" pitchFamily="34" charset="-122"/>
                <a:cs typeface="Carlito" pitchFamily="34" charset="-120"/>
              </a:rPr>
              <a:t>●  </a:t>
            </a:r>
            <a:pPr algn="l" indent="0" marL="0">
              <a:lnSpc>
                <a:spcPts val="1097"/>
              </a:lnSpc>
              <a:spcAft>
                <a:spcPts val="506"/>
              </a:spcAft>
              <a:buNone/>
            </a:pPr>
            <a:r>
              <a:rPr lang="en-US" sz="800" b="1" dirty="0">
                <a:solidFill>
                  <a:srgbClr val="FFFFFF"/>
                </a:solidFill>
                <a:latin typeface="Carlito" pitchFamily="34" charset="0"/>
                <a:ea typeface="Carlito" pitchFamily="34" charset="-122"/>
                <a:cs typeface="Carlito" pitchFamily="34" charset="-120"/>
              </a:rPr>
              <a:t>Reasons across every channel</a:t>
            </a:r>
            <a:pPr algn="l" indent="0" marL="0">
              <a:lnSpc>
                <a:spcPts val="1097"/>
              </a:lnSpc>
              <a:spcAft>
                <a:spcPts val="506"/>
              </a:spcAft>
              <a:buNone/>
            </a:pPr>
            <a:r>
              <a:rPr lang="en-US" sz="800" dirty="0">
                <a:solidFill>
                  <a:srgbClr val="FFFFFF"/>
                </a:solidFill>
                <a:latin typeface="Carlito" pitchFamily="34" charset="0"/>
                <a:ea typeface="Carlito" pitchFamily="34" charset="-122"/>
                <a:cs typeface="Carlito" pitchFamily="34" charset="-120"/>
              </a:rPr>
              <a:t> — voice, chat, email, WhatsApp, social, SMS — one brain, every surface</a:t>
            </a:r>
            <a:endParaRPr lang="en-US" sz="800" dirty="0"/>
          </a:p>
          <a:p>
            <a:pPr algn="l" indent="0" marL="0">
              <a:lnSpc>
                <a:spcPts val="1097"/>
              </a:lnSpc>
              <a:spcAft>
                <a:spcPts val="506"/>
              </a:spcAft>
              <a:buNone/>
            </a:pPr>
            <a:r>
              <a:rPr lang="en-US" sz="600" dirty="0">
                <a:solidFill>
                  <a:srgbClr val="A78BFA"/>
                </a:solidFill>
                <a:latin typeface="Carlito" pitchFamily="34" charset="0"/>
                <a:ea typeface="Carlito" pitchFamily="34" charset="-122"/>
                <a:cs typeface="Carlito" pitchFamily="34" charset="-120"/>
              </a:rPr>
              <a:t>●  </a:t>
            </a:r>
            <a:pPr algn="l" indent="0" marL="0">
              <a:lnSpc>
                <a:spcPts val="1097"/>
              </a:lnSpc>
              <a:spcAft>
                <a:spcPts val="506"/>
              </a:spcAft>
              <a:buNone/>
            </a:pPr>
            <a:r>
              <a:rPr lang="en-US" sz="800" b="1" dirty="0">
                <a:solidFill>
                  <a:srgbClr val="FFFFFF"/>
                </a:solidFill>
                <a:latin typeface="Carlito" pitchFamily="34" charset="0"/>
                <a:ea typeface="Carlito" pitchFamily="34" charset="-122"/>
                <a:cs typeface="Carlito" pitchFamily="34" charset="-120"/>
              </a:rPr>
              <a:t>Aligns to human preferences</a:t>
            </a:r>
            <a:pPr algn="l" indent="0" marL="0">
              <a:lnSpc>
                <a:spcPts val="1097"/>
              </a:lnSpc>
              <a:spcAft>
                <a:spcPts val="506"/>
              </a:spcAft>
              <a:buNone/>
            </a:pPr>
            <a:r>
              <a:rPr lang="en-US" sz="800" dirty="0">
                <a:solidFill>
                  <a:srgbClr val="FFFFFF"/>
                </a:solidFill>
                <a:latin typeface="Carlito" pitchFamily="34" charset="0"/>
                <a:ea typeface="Carlito" pitchFamily="34" charset="-122"/>
                <a:cs typeface="Carlito" pitchFamily="34" charset="-120"/>
              </a:rPr>
              <a:t> — DPO training improves helpfulness, tone, and consistency over time</a:t>
            </a:r>
            <a:endParaRPr lang="en-US" sz="800" dirty="0"/>
          </a:p>
          <a:p>
            <a:pPr algn="l" indent="0" marL="0">
              <a:lnSpc>
                <a:spcPts val="1097"/>
              </a:lnSpc>
              <a:spcAft>
                <a:spcPts val="506"/>
              </a:spcAft>
              <a:buNone/>
            </a:pPr>
            <a:r>
              <a:rPr lang="en-US" sz="600" dirty="0">
                <a:solidFill>
                  <a:srgbClr val="A78BFA"/>
                </a:solidFill>
                <a:latin typeface="Carlito" pitchFamily="34" charset="0"/>
                <a:ea typeface="Carlito" pitchFamily="34" charset="-122"/>
                <a:cs typeface="Carlito" pitchFamily="34" charset="-120"/>
              </a:rPr>
              <a:t>●  </a:t>
            </a:r>
            <a:pPr algn="l" indent="0" marL="0">
              <a:lnSpc>
                <a:spcPts val="1097"/>
              </a:lnSpc>
              <a:spcAft>
                <a:spcPts val="506"/>
              </a:spcAft>
              <a:buNone/>
            </a:pPr>
            <a:r>
              <a:rPr lang="en-US" sz="800" b="1" dirty="0">
                <a:solidFill>
                  <a:srgbClr val="FFFFFF"/>
                </a:solidFill>
                <a:latin typeface="Carlito" pitchFamily="34" charset="0"/>
                <a:ea typeface="Carlito" pitchFamily="34" charset="-122"/>
                <a:cs typeface="Carlito" pitchFamily="34" charset="-120"/>
              </a:rPr>
              <a:t>Grounds every response in your knowledge</a:t>
            </a:r>
            <a:pPr algn="l" indent="0" marL="0">
              <a:lnSpc>
                <a:spcPts val="1097"/>
              </a:lnSpc>
              <a:spcAft>
                <a:spcPts val="506"/>
              </a:spcAft>
              <a:buNone/>
            </a:pPr>
            <a:r>
              <a:rPr lang="en-US" sz="800" dirty="0">
                <a:solidFill>
                  <a:srgbClr val="FFFFFF"/>
                </a:solidFill>
                <a:latin typeface="Carlito" pitchFamily="34" charset="0"/>
                <a:ea typeface="Carlito" pitchFamily="34" charset="-122"/>
                <a:cs typeface="Carlito" pitchFamily="34" charset="-120"/>
              </a:rPr>
              <a:t> — your docs, your CRM, your product catalog, your policies</a:t>
            </a:r>
            <a:endParaRPr lang="en-US" sz="800" dirty="0"/>
          </a:p>
          <a:p>
            <a:pPr algn="l" indent="0" marL="0">
              <a:lnSpc>
                <a:spcPts val="1097"/>
              </a:lnSpc>
              <a:spcAft>
                <a:spcPts val="506"/>
              </a:spcAft>
              <a:buNone/>
            </a:pPr>
            <a:r>
              <a:rPr lang="en-US" sz="600" dirty="0">
                <a:solidFill>
                  <a:srgbClr val="A78BFA"/>
                </a:solidFill>
                <a:latin typeface="Carlito" pitchFamily="34" charset="0"/>
                <a:ea typeface="Carlito" pitchFamily="34" charset="-122"/>
                <a:cs typeface="Carlito" pitchFamily="34" charset="-120"/>
              </a:rPr>
              <a:t>●  </a:t>
            </a:r>
            <a:pPr algn="l" indent="0" marL="0">
              <a:lnSpc>
                <a:spcPts val="1097"/>
              </a:lnSpc>
              <a:spcAft>
                <a:spcPts val="506"/>
              </a:spcAft>
              <a:buNone/>
            </a:pPr>
            <a:r>
              <a:rPr lang="en-US" sz="800" b="1" dirty="0">
                <a:solidFill>
                  <a:srgbClr val="FFFFFF"/>
                </a:solidFill>
                <a:latin typeface="Carlito" pitchFamily="34" charset="0"/>
                <a:ea typeface="Carlito" pitchFamily="34" charset="-122"/>
                <a:cs typeface="Carlito" pitchFamily="34" charset="-120"/>
              </a:rPr>
              <a:t>Coordinates multi-agent workflows</a:t>
            </a:r>
            <a:pPr algn="l" indent="0" marL="0">
              <a:lnSpc>
                <a:spcPts val="1097"/>
              </a:lnSpc>
              <a:spcAft>
                <a:spcPts val="506"/>
              </a:spcAft>
              <a:buNone/>
            </a:pPr>
            <a:r>
              <a:rPr lang="en-US" sz="800" dirty="0">
                <a:solidFill>
                  <a:srgbClr val="FFFFFF"/>
                </a:solidFill>
                <a:latin typeface="Carlito" pitchFamily="34" charset="0"/>
                <a:ea typeface="Carlito" pitchFamily="34" charset="-122"/>
                <a:cs typeface="Carlito" pitchFamily="34" charset="-120"/>
              </a:rPr>
              <a:t> — sales, service, retention, claims agents working as one team</a:t>
            </a:r>
            <a:endParaRPr lang="en-US" sz="800" dirty="0"/>
          </a:p>
        </p:txBody>
      </p:sp>
      <p:sp>
        <p:nvSpPr>
          <p:cNvPr id="11" name="Text 7"/>
          <p:cNvSpPr/>
          <p:nvPr/>
        </p:nvSpPr>
        <p:spPr>
          <a:xfrm>
            <a:off x="635794" y="3807172"/>
            <a:ext cx="4343288" cy="242888"/>
          </a:xfrm>
          <a:prstGeom prst="roundRect">
            <a:avLst>
              <a:gd name="adj" fmla="val 31372"/>
            </a:avLst>
          </a:prstGeom>
          <a:solidFill>
            <a:srgbClr val="7C3AED">
              <a:alpha val="18000"/>
            </a:srgbClr>
          </a:solidFill>
          <a:ln/>
        </p:spPr>
        <p:txBody>
          <a:bodyPr wrap="square" rtlCol="0" anchor="ctr"/>
          <a:lstStyle/>
          <a:p>
            <a:pPr indent="0" marL="0">
              <a:buNone/>
            </a:pPr>
            <a:endParaRPr lang="en-US" dirty="0"/>
          </a:p>
        </p:txBody>
      </p:sp>
      <p:sp>
        <p:nvSpPr>
          <p:cNvPr id="12" name="Shape 8"/>
          <p:cNvSpPr/>
          <p:nvPr/>
        </p:nvSpPr>
        <p:spPr>
          <a:xfrm>
            <a:off x="646509" y="3807172"/>
            <a:ext cx="0" cy="242888"/>
          </a:xfrm>
          <a:prstGeom prst="line">
            <a:avLst/>
          </a:prstGeom>
          <a:noFill/>
          <a:ln w="21431">
            <a:solidFill>
              <a:srgbClr val="A78BFA"/>
            </a:solidFill>
            <a:prstDash val="solid"/>
          </a:ln>
        </p:spPr>
      </p:sp>
      <p:sp>
        <p:nvSpPr>
          <p:cNvPr id="13" name="Text 9"/>
          <p:cNvSpPr/>
          <p:nvPr/>
        </p:nvSpPr>
        <p:spPr>
          <a:xfrm>
            <a:off x="635794" y="3807172"/>
            <a:ext cx="4343288" cy="310896"/>
          </a:xfrm>
          <a:prstGeom prst="rect">
            <a:avLst/>
          </a:prstGeom>
          <a:noFill/>
          <a:ln/>
        </p:spPr>
        <p:txBody>
          <a:bodyPr wrap="square" lIns="100013" tIns="71438" rIns="100013" bIns="71438" rtlCol="0" anchor="t"/>
          <a:lstStyle/>
          <a:p>
            <a:pPr algn="l" indent="0" marL="0">
              <a:buNone/>
            </a:pPr>
            <a:r>
              <a:rPr lang="en-US" sz="800" dirty="0">
                <a:solidFill>
                  <a:srgbClr val="FFFFFF">
                    <a:alpha val="90000"/>
                  </a:srgbClr>
                </a:solidFill>
                <a:latin typeface="Carlito" pitchFamily="34" charset="0"/>
                <a:ea typeface="Carlito" pitchFamily="34" charset="-122"/>
                <a:cs typeface="Carlito" pitchFamily="34" charset="-120"/>
              </a:rPr>
              <a:t>Streams responses in </a:t>
            </a:r>
            <a:pPr algn="l" indent="0" marL="0">
              <a:buNone/>
            </a:pPr>
            <a:r>
              <a:rPr lang="en-US" sz="800" b="1" dirty="0">
                <a:solidFill>
                  <a:srgbClr val="A78BFA">
                    <a:alpha val="90000"/>
                  </a:srgbClr>
                </a:solidFill>
                <a:latin typeface="Liberation Sans Narrow" pitchFamily="34" charset="0"/>
                <a:ea typeface="Liberation Sans Narrow" pitchFamily="34" charset="-122"/>
                <a:cs typeface="Liberation Sans Narrow" pitchFamily="34" charset="-120"/>
              </a:rPr>
              <a:t>&lt;30ms</a:t>
            </a:r>
            <a:pPr algn="l" indent="0" marL="0">
              <a:buNone/>
            </a:pPr>
            <a:r>
              <a:rPr lang="en-US" sz="800" dirty="0">
                <a:solidFill>
                  <a:srgbClr val="FFFFFF">
                    <a:alpha val="90000"/>
                  </a:srgbClr>
                </a:solidFill>
                <a:latin typeface="Carlito" pitchFamily="34" charset="0"/>
                <a:ea typeface="Carlito" pitchFamily="34" charset="-122"/>
                <a:cs typeface="Carlito" pitchFamily="34" charset="-120"/>
              </a:rPr>
              <a:t> — human-like latency on every voice interaction</a:t>
            </a:r>
            <a:endParaRPr lang="en-US" sz="800" dirty="0"/>
          </a:p>
        </p:txBody>
      </p:sp>
      <p:pic>
        <p:nvPicPr>
          <p:cNvPr id="14" name="Image 2" descr="preencoded.png">    </p:cNvPr>
          <p:cNvPicPr>
            <a:picLocks noChangeAspect="1"/>
          </p:cNvPicPr>
          <p:nvPr/>
        </p:nvPicPr>
        <p:blipFill>
          <a:blip r:embed="rId3"/>
          <a:stretch>
            <a:fillRect/>
          </a:stretch>
        </p:blipFill>
        <p:spPr>
          <a:xfrm>
            <a:off x="5329126" y="2031950"/>
            <a:ext cx="3357563" cy="2682925"/>
          </a:xfrm>
          <a:prstGeom prst="rect">
            <a:avLst/>
          </a:prstGeom>
        </p:spPr>
      </p:pic>
      <p:sp>
        <p:nvSpPr>
          <p:cNvPr id="15" name="Text 10"/>
          <p:cNvSpPr/>
          <p:nvPr/>
        </p:nvSpPr>
        <p:spPr>
          <a:xfrm>
            <a:off x="5332698" y="2035522"/>
            <a:ext cx="3350419" cy="2675781"/>
          </a:xfrm>
          <a:prstGeom prst="roundRect">
            <a:avLst>
              <a:gd name="adj" fmla="val 4984"/>
            </a:avLst>
          </a:prstGeom>
          <a:noFill/>
          <a:ln w="7144">
            <a:solidFill>
              <a:srgbClr val="A78BFA"/>
            </a:solidFill>
            <a:prstDash val="solid"/>
          </a:ln>
        </p:spPr>
        <p:txBody>
          <a:bodyPr wrap="square" rtlCol="0" anchor="ctr"/>
          <a:lstStyle/>
          <a:p>
            <a:pPr indent="0" marL="0">
              <a:buNone/>
            </a:pPr>
            <a:endParaRPr lang="en-US" dirty="0"/>
          </a:p>
        </p:txBody>
      </p:sp>
      <p:sp>
        <p:nvSpPr>
          <p:cNvPr id="16" name="Text 11"/>
          <p:cNvSpPr/>
          <p:nvPr/>
        </p:nvSpPr>
        <p:spPr>
          <a:xfrm>
            <a:off x="5507720" y="2196257"/>
            <a:ext cx="3000375" cy="138875"/>
          </a:xfrm>
          <a:prstGeom prst="rect">
            <a:avLst/>
          </a:prstGeom>
          <a:noFill/>
          <a:ln/>
        </p:spPr>
        <p:txBody>
          <a:bodyPr wrap="none" lIns="0" tIns="0" rIns="0" bIns="0" rtlCol="0" anchor="t"/>
          <a:lstStyle/>
          <a:p>
            <a:pPr algn="l" indent="0" marL="0">
              <a:buNone/>
            </a:pPr>
            <a:r>
              <a:rPr lang="en-US" sz="900" b="1" dirty="0">
                <a:solidFill>
                  <a:srgbClr val="A78BFA"/>
                </a:solidFill>
                <a:latin typeface="Carlito" pitchFamily="34" charset="0"/>
                <a:ea typeface="Carlito" pitchFamily="34" charset="-122"/>
                <a:cs typeface="Carlito" pitchFamily="34" charset="-120"/>
              </a:rPr>
              <a:t>Why ownership matters</a:t>
            </a:r>
            <a:endParaRPr lang="en-US" sz="900" dirty="0"/>
          </a:p>
        </p:txBody>
      </p:sp>
      <p:sp>
        <p:nvSpPr>
          <p:cNvPr id="17" name="Text 12"/>
          <p:cNvSpPr/>
          <p:nvPr/>
        </p:nvSpPr>
        <p:spPr>
          <a:xfrm>
            <a:off x="5507720" y="2453432"/>
            <a:ext cx="3000375" cy="889254"/>
          </a:xfrm>
          <a:prstGeom prst="rect">
            <a:avLst/>
          </a:prstGeom>
          <a:noFill/>
          <a:ln/>
        </p:spPr>
        <p:txBody>
          <a:bodyPr wrap="square" lIns="0" tIns="0" rIns="0" bIns="0" rtlCol="0" anchor="t"/>
          <a:lstStyle/>
          <a:p>
            <a:pPr algn="l" indent="0" marL="0">
              <a:lnSpc>
                <a:spcPts val="1097"/>
              </a:lnSpc>
              <a:spcAft>
                <a:spcPts val="563"/>
              </a:spcAft>
              <a:buNone/>
            </a:pPr>
            <a:r>
              <a:rPr lang="en-US" sz="600" dirty="0">
                <a:solidFill>
                  <a:srgbClr val="A78BFA"/>
                </a:solidFill>
                <a:latin typeface="Carlito" pitchFamily="34" charset="0"/>
                <a:ea typeface="Carlito" pitchFamily="34" charset="-122"/>
                <a:cs typeface="Carlito" pitchFamily="34" charset="-120"/>
              </a:rPr>
              <a:t>●  </a:t>
            </a:r>
            <a:pPr algn="l" indent="0" marL="0">
              <a:lnSpc>
                <a:spcPts val="1097"/>
              </a:lnSpc>
              <a:spcAft>
                <a:spcPts val="563"/>
              </a:spcAft>
              <a:buNone/>
            </a:pPr>
            <a:r>
              <a:rPr lang="en-US" sz="800" dirty="0">
                <a:solidFill>
                  <a:srgbClr val="FFFFFF"/>
                </a:solidFill>
                <a:latin typeface="Carlito" pitchFamily="34" charset="0"/>
                <a:ea typeface="Carlito" pitchFamily="34" charset="-122"/>
                <a:cs typeface="Carlito" pitchFamily="34" charset="-120"/>
              </a:rPr>
              <a:t>No token-based billing surprises</a:t>
            </a:r>
            <a:endParaRPr lang="en-US" sz="800" dirty="0"/>
          </a:p>
          <a:p>
            <a:pPr algn="l" indent="0" marL="0">
              <a:lnSpc>
                <a:spcPts val="1097"/>
              </a:lnSpc>
              <a:spcAft>
                <a:spcPts val="563"/>
              </a:spcAft>
              <a:buNone/>
            </a:pPr>
            <a:r>
              <a:rPr lang="en-US" sz="600" dirty="0">
                <a:solidFill>
                  <a:srgbClr val="A78BFA"/>
                </a:solidFill>
                <a:latin typeface="Carlito" pitchFamily="34" charset="0"/>
                <a:ea typeface="Carlito" pitchFamily="34" charset="-122"/>
                <a:cs typeface="Carlito" pitchFamily="34" charset="-120"/>
              </a:rPr>
              <a:t>●  </a:t>
            </a:r>
            <a:pPr algn="l" indent="0" marL="0">
              <a:lnSpc>
                <a:spcPts val="1097"/>
              </a:lnSpc>
              <a:spcAft>
                <a:spcPts val="563"/>
              </a:spcAft>
              <a:buNone/>
            </a:pPr>
            <a:r>
              <a:rPr lang="en-US" sz="800" dirty="0">
                <a:solidFill>
                  <a:srgbClr val="FFFFFF"/>
                </a:solidFill>
                <a:latin typeface="Carlito" pitchFamily="34" charset="0"/>
                <a:ea typeface="Carlito" pitchFamily="34" charset="-122"/>
                <a:cs typeface="Carlito" pitchFamily="34" charset="-120"/>
              </a:rPr>
              <a:t>No third-party model deprecation risk</a:t>
            </a:r>
            <a:endParaRPr lang="en-US" sz="800" dirty="0"/>
          </a:p>
          <a:p>
            <a:pPr algn="l" indent="0" marL="0">
              <a:lnSpc>
                <a:spcPts val="1097"/>
              </a:lnSpc>
              <a:spcAft>
                <a:spcPts val="563"/>
              </a:spcAft>
              <a:buNone/>
            </a:pPr>
            <a:r>
              <a:rPr lang="en-US" sz="600" dirty="0">
                <a:solidFill>
                  <a:srgbClr val="A78BFA"/>
                </a:solidFill>
                <a:latin typeface="Carlito" pitchFamily="34" charset="0"/>
                <a:ea typeface="Carlito" pitchFamily="34" charset="-122"/>
                <a:cs typeface="Carlito" pitchFamily="34" charset="-120"/>
              </a:rPr>
              <a:t>●  </a:t>
            </a:r>
            <a:pPr algn="l" indent="0" marL="0">
              <a:lnSpc>
                <a:spcPts val="1097"/>
              </a:lnSpc>
              <a:spcAft>
                <a:spcPts val="563"/>
              </a:spcAft>
              <a:buNone/>
            </a:pPr>
            <a:r>
              <a:rPr lang="en-US" sz="800" dirty="0">
                <a:solidFill>
                  <a:srgbClr val="FFFFFF"/>
                </a:solidFill>
                <a:latin typeface="Carlito" pitchFamily="34" charset="0"/>
                <a:ea typeface="Carlito" pitchFamily="34" charset="-122"/>
                <a:cs typeface="Carlito" pitchFamily="34" charset="-120"/>
              </a:rPr>
              <a:t>Full data sovereignty — your conversations never leave the platform</a:t>
            </a:r>
            <a:endParaRPr lang="en-US" sz="800" dirty="0"/>
          </a:p>
          <a:p>
            <a:pPr algn="l" indent="0" marL="0">
              <a:lnSpc>
                <a:spcPts val="1097"/>
              </a:lnSpc>
              <a:spcAft>
                <a:spcPts val="563"/>
              </a:spcAft>
              <a:buNone/>
            </a:pPr>
            <a:r>
              <a:rPr lang="en-US" sz="600" dirty="0">
                <a:solidFill>
                  <a:srgbClr val="A78BFA"/>
                </a:solidFill>
                <a:latin typeface="Carlito" pitchFamily="34" charset="0"/>
                <a:ea typeface="Carlito" pitchFamily="34" charset="-122"/>
                <a:cs typeface="Carlito" pitchFamily="34" charset="-120"/>
              </a:rPr>
              <a:t>●  </a:t>
            </a:r>
            <a:pPr algn="l" indent="0" marL="0">
              <a:lnSpc>
                <a:spcPts val="1097"/>
              </a:lnSpc>
              <a:spcAft>
                <a:spcPts val="563"/>
              </a:spcAft>
              <a:buNone/>
            </a:pPr>
            <a:r>
              <a:rPr lang="en-US" sz="800" dirty="0">
                <a:solidFill>
                  <a:srgbClr val="FFFFFF"/>
                </a:solidFill>
                <a:latin typeface="Carlito" pitchFamily="34" charset="0"/>
                <a:ea typeface="Carlito" pitchFamily="34" charset="-122"/>
                <a:cs typeface="Carlito" pitchFamily="34" charset="-120"/>
              </a:rPr>
              <a:t>Fine-tuning on your domain, not a rented general-purpose model</a:t>
            </a:r>
            <a:endParaRPr lang="en-US" sz="800" dirty="0"/>
          </a:p>
        </p:txBody>
      </p:sp>
      <p:sp>
        <p:nvSpPr>
          <p:cNvPr id="18" name="Text 13"/>
          <p:cNvSpPr/>
          <p:nvPr/>
        </p:nvSpPr>
        <p:spPr>
          <a:xfrm>
            <a:off x="342900" y="4879181"/>
            <a:ext cx="8145438" cy="129679"/>
          </a:xfrm>
          <a:prstGeom prst="rect">
            <a:avLst/>
          </a:prstGeom>
          <a:noFill/>
          <a:ln/>
        </p:spPr>
        <p:txBody>
          <a:bodyPr wrap="square" lIns="0" tIns="0" rIns="0" bIns="0" rtlCol="0" anchor="t"/>
          <a:lstStyle/>
          <a:p>
            <a:pPr algn="l" indent="0" marL="0">
              <a:buNone/>
            </a:pPr>
            <a:r>
              <a:rPr lang="en-US" sz="800" spc="25" kern="0" dirty="0">
                <a:solidFill>
                  <a:srgbClr val="FFFFFF">
                    <a:alpha val="55000"/>
                  </a:srgbClr>
                </a:solidFill>
                <a:latin typeface="Carlito" pitchFamily="34" charset="0"/>
                <a:ea typeface="Carlito" pitchFamily="34" charset="-122"/>
                <a:cs typeface="Carlito" pitchFamily="34" charset="-120"/>
              </a:rPr>
              <a:t>MASSAPRO — THE GROWTH MACHINE FOR CUSTOMER SERVICE</a:t>
            </a:r>
            <a:endParaRPr lang="en-US" sz="800" dirty="0"/>
          </a:p>
        </p:txBody>
      </p:sp>
      <p:sp>
        <p:nvSpPr>
          <p:cNvPr id="19" name="Text 14"/>
          <p:cNvSpPr/>
          <p:nvPr/>
        </p:nvSpPr>
        <p:spPr>
          <a:xfrm>
            <a:off x="8483221" y="4879181"/>
            <a:ext cx="453969" cy="129679"/>
          </a:xfrm>
          <a:prstGeom prst="rect">
            <a:avLst/>
          </a:prstGeom>
          <a:noFill/>
          <a:ln/>
        </p:spPr>
        <p:txBody>
          <a:bodyPr wrap="square" lIns="0" tIns="0" rIns="0" bIns="0" rtlCol="0" anchor="t"/>
          <a:lstStyle/>
          <a:p>
            <a:pPr algn="l" indent="0" marL="0">
              <a:buNone/>
            </a:pPr>
            <a:r>
              <a:rPr lang="en-US" sz="800" spc="25" kern="0" dirty="0">
                <a:solidFill>
                  <a:srgbClr val="FFFFFF">
                    <a:alpha val="55000"/>
                  </a:srgbClr>
                </a:solidFill>
                <a:latin typeface="Liberation Sans Narrow" pitchFamily="34" charset="0"/>
                <a:ea typeface="Liberation Sans Narrow" pitchFamily="34" charset="-122"/>
                <a:cs typeface="Liberation Sans Narrow" pitchFamily="34" charset="-120"/>
              </a:rPr>
              <a:t>04 / 10</a:t>
            </a:r>
            <a:endParaRPr lang="en-US" sz="800" dirty="0"/>
          </a:p>
        </p:txBody>
      </p:sp>
      <p:sp>
        <p:nvSpPr>
          <p:cNvPr id="20" name="Text 15"/>
          <p:cNvSpPr/>
          <p:nvPr/>
        </p:nvSpPr>
        <p:spPr>
          <a:xfrm>
            <a:off x="342900" y="200025"/>
            <a:ext cx="228600" cy="228600"/>
          </a:xfrm>
          <a:prstGeom prst="roundRect">
            <a:avLst>
              <a:gd name="adj" fmla="val 33333"/>
            </a:avLst>
          </a:prstGeom>
          <a:solidFill>
            <a:srgbClr val="7C3AED"/>
          </a:solidFill>
          <a:ln/>
        </p:spPr>
        <p:txBody>
          <a:bodyPr wrap="square" rtlCol="0" anchor="ctr"/>
          <a:lstStyle/>
          <a:p>
            <a:pPr indent="0" marL="0">
              <a:buNone/>
            </a:pPr>
            <a:endParaRPr lang="en-US" dirty="0"/>
          </a:p>
        </p:txBody>
      </p:sp>
      <p:sp>
        <p:nvSpPr>
          <p:cNvPr id="21" name="Text 16"/>
          <p:cNvSpPr/>
          <p:nvPr/>
        </p:nvSpPr>
        <p:spPr>
          <a:xfrm>
            <a:off x="342900" y="200025"/>
            <a:ext cx="264319" cy="228600"/>
          </a:xfrm>
          <a:prstGeom prst="rect">
            <a:avLst/>
          </a:prstGeom>
          <a:noFill/>
          <a:ln/>
        </p:spPr>
        <p:txBody>
          <a:bodyPr wrap="none" lIns="0" tIns="0" rIns="0" bIns="0" rtlCol="0" anchor="ctr"/>
          <a:lstStyle/>
          <a:p>
            <a:pPr algn="ctr" indent="0" marL="0">
              <a:buNone/>
            </a:pPr>
            <a:r>
              <a:rPr lang="en-US" sz="1013" b="1" dirty="0">
                <a:solidFill>
                  <a:srgbClr val="FFFFFF"/>
                </a:solidFill>
                <a:latin typeface="Carlito" pitchFamily="34" charset="0"/>
                <a:ea typeface="Carlito" pitchFamily="34" charset="-122"/>
                <a:cs typeface="Carlito" pitchFamily="34" charset="-120"/>
              </a:rPr>
              <a:t>M</a:t>
            </a:r>
            <a:endParaRPr lang="en-US" sz="1013" dirty="0"/>
          </a:p>
        </p:txBody>
      </p:sp>
      <p:sp>
        <p:nvSpPr>
          <p:cNvPr id="22" name="Text 17"/>
          <p:cNvSpPr/>
          <p:nvPr/>
        </p:nvSpPr>
        <p:spPr>
          <a:xfrm>
            <a:off x="642938" y="246459"/>
            <a:ext cx="820531" cy="146590"/>
          </a:xfrm>
          <a:prstGeom prst="rect">
            <a:avLst/>
          </a:prstGeom>
          <a:noFill/>
          <a:ln/>
        </p:spPr>
        <p:txBody>
          <a:bodyPr wrap="none" lIns="0" tIns="0" rIns="0" bIns="0" rtlCol="0" anchor="t"/>
          <a:lstStyle/>
          <a:p>
            <a:pPr algn="l" indent="0" marL="0">
              <a:buNone/>
            </a:pPr>
            <a:r>
              <a:rPr lang="en-US" sz="900" b="1" spc="18" kern="0" dirty="0">
                <a:solidFill>
                  <a:srgbClr val="A78BFA"/>
                </a:solidFill>
                <a:latin typeface="Carlito" pitchFamily="34" charset="0"/>
                <a:ea typeface="Carlito" pitchFamily="34" charset="-122"/>
                <a:cs typeface="Carlito" pitchFamily="34" charset="-120"/>
              </a:rPr>
              <a:t>MassaPro</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4340" y="488490"/>
            <a:ext cx="1767029" cy="216027"/>
          </a:xfrm>
          <a:prstGeom prst="roundRect">
            <a:avLst>
              <a:gd name="adj" fmla="val 4404762"/>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3" name="Text 1"/>
          <p:cNvSpPr/>
          <p:nvPr/>
        </p:nvSpPr>
        <p:spPr>
          <a:xfrm>
            <a:off x="457200" y="500063"/>
            <a:ext cx="1721309" cy="192881"/>
          </a:xfrm>
          <a:prstGeom prst="rect">
            <a:avLst/>
          </a:prstGeom>
          <a:noFill/>
          <a:ln/>
        </p:spPr>
        <p:txBody>
          <a:bodyPr wrap="none" lIns="0" tIns="0" rIns="0" bIns="0" rtlCol="0" anchor="ctr"/>
          <a:lstStyle/>
          <a:p>
            <a:pPr algn="ctr" indent="0" marL="0">
              <a:buNone/>
            </a:pPr>
            <a:r>
              <a:rPr lang="en-US" sz="800" b="1" spc="111" kern="0" dirty="0">
                <a:solidFill>
                  <a:srgbClr val="7C3AED"/>
                </a:solidFill>
                <a:latin typeface="Carlito" pitchFamily="34" charset="0"/>
                <a:ea typeface="Carlito" pitchFamily="34" charset="-122"/>
                <a:cs typeface="Carlito" pitchFamily="34" charset="-120"/>
              </a:rPr>
              <a:t>OMNI-CHANNEL EXECUTION</a:t>
            </a:r>
            <a:endParaRPr lang="en-US" sz="800" dirty="0"/>
          </a:p>
        </p:txBody>
      </p:sp>
      <p:sp>
        <p:nvSpPr>
          <p:cNvPr id="4" name="Text 2"/>
          <p:cNvSpPr/>
          <p:nvPr/>
        </p:nvSpPr>
        <p:spPr>
          <a:xfrm>
            <a:off x="457200" y="807244"/>
            <a:ext cx="7715250" cy="337060"/>
          </a:xfrm>
          <a:prstGeom prst="rect">
            <a:avLst/>
          </a:prstGeom>
          <a:noFill/>
          <a:ln/>
        </p:spPr>
        <p:txBody>
          <a:bodyPr wrap="square" lIns="0" tIns="0" rIns="0" bIns="0" rtlCol="0" anchor="t"/>
          <a:lstStyle/>
          <a:p>
            <a:pPr algn="l" indent="0" marL="0">
              <a:lnSpc>
                <a:spcPts val="2458"/>
              </a:lnSpc>
              <a:buNone/>
            </a:pPr>
            <a:r>
              <a:rPr lang="en-US" sz="2138" b="1" dirty="0">
                <a:solidFill>
                  <a:srgbClr val="1F2937"/>
                </a:solidFill>
                <a:latin typeface="Tinos" pitchFamily="34" charset="0"/>
                <a:ea typeface="Tinos" pitchFamily="34" charset="-122"/>
                <a:cs typeface="Tinos" pitchFamily="34" charset="-120"/>
              </a:rPr>
              <a:t>One Workforce. Every Channel. </a:t>
            </a:r>
            <a:pPr algn="l" indent="0" marL="0">
              <a:lnSpc>
                <a:spcPts val="2458"/>
              </a:lnSpc>
              <a:buNone/>
            </a:pPr>
            <a:r>
              <a:rPr lang="en-US" sz="2138" b="1" dirty="0">
                <a:solidFill>
                  <a:srgbClr val="7C3AED"/>
                </a:solidFill>
                <a:latin typeface="Tinos" pitchFamily="34" charset="0"/>
                <a:ea typeface="Tinos" pitchFamily="34" charset="-122"/>
                <a:cs typeface="Tinos" pitchFamily="34" charset="-120"/>
              </a:rPr>
              <a:t>Zero Handoffs.</a:t>
            </a:r>
            <a:endParaRPr lang="en-US" sz="2138" dirty="0"/>
          </a:p>
        </p:txBody>
      </p:sp>
      <p:sp>
        <p:nvSpPr>
          <p:cNvPr id="5" name="Text 3"/>
          <p:cNvSpPr/>
          <p:nvPr/>
        </p:nvSpPr>
        <p:spPr>
          <a:xfrm>
            <a:off x="457200" y="1190774"/>
            <a:ext cx="7000875" cy="358759"/>
          </a:xfrm>
          <a:prstGeom prst="rect">
            <a:avLst/>
          </a:prstGeom>
          <a:noFill/>
          <a:ln/>
        </p:spPr>
        <p:txBody>
          <a:bodyPr wrap="square" lIns="0" tIns="0" rIns="0" bIns="0" rtlCol="0" anchor="t"/>
          <a:lstStyle/>
          <a:p>
            <a:pPr algn="l" indent="0" marL="0">
              <a:lnSpc>
                <a:spcPts val="1308"/>
              </a:lnSpc>
              <a:buNone/>
            </a:pPr>
            <a:r>
              <a:rPr lang="en-US" sz="844" dirty="0">
                <a:solidFill>
                  <a:srgbClr val="6B7280"/>
                </a:solidFill>
                <a:latin typeface="Carlito" pitchFamily="34" charset="0"/>
                <a:ea typeface="Carlito" pitchFamily="34" charset="-122"/>
                <a:cs typeface="Carlito" pitchFamily="34" charset="-120"/>
              </a:rPr>
              <a:t>MassaPro's proprietary LLM orchestrates the entire customer journey across every channel — voice, chat, email, WhatsApp, social, SMS — with full context preserved as customers move between them. No channel silos. No context loss. No "please repeat your issue" moments.</a:t>
            </a:r>
            <a:endParaRPr lang="en-US" sz="844" dirty="0"/>
          </a:p>
        </p:txBody>
      </p:sp>
      <p:sp>
        <p:nvSpPr>
          <p:cNvPr id="6" name="Text 4"/>
          <p:cNvSpPr/>
          <p:nvPr/>
        </p:nvSpPr>
        <p:spPr>
          <a:xfrm>
            <a:off x="460772" y="1840855"/>
            <a:ext cx="1293019" cy="821531"/>
          </a:xfrm>
          <a:prstGeom prst="roundRect">
            <a:avLst>
              <a:gd name="adj" fmla="val 11594"/>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7" name="Text 5"/>
          <p:cNvSpPr/>
          <p:nvPr/>
        </p:nvSpPr>
        <p:spPr>
          <a:xfrm>
            <a:off x="992981" y="1944439"/>
            <a:ext cx="228600" cy="228600"/>
          </a:xfrm>
          <a:prstGeom prst="roundRect">
            <a:avLst>
              <a:gd name="adj" fmla="val 33333"/>
            </a:avLst>
          </a:prstGeom>
          <a:solidFill>
            <a:srgbClr val="7C3AED"/>
          </a:solidFill>
          <a:ln/>
        </p:spPr>
        <p:txBody>
          <a:bodyPr wrap="square" rtlCol="0" anchor="ctr"/>
          <a:lstStyle/>
          <a:p>
            <a:pPr indent="0" marL="0">
              <a:buNone/>
            </a:pPr>
            <a:endParaRPr lang="en-US" dirty="0"/>
          </a:p>
        </p:txBody>
      </p:sp>
      <p:sp>
        <p:nvSpPr>
          <p:cNvPr id="8" name="Text 6"/>
          <p:cNvSpPr/>
          <p:nvPr/>
        </p:nvSpPr>
        <p:spPr>
          <a:xfrm>
            <a:off x="1038701" y="1990159"/>
            <a:ext cx="137160" cy="137160"/>
          </a:xfrm>
          <a:prstGeom prst="rect">
            <a:avLst/>
          </a:prstGeom>
          <a:noFill/>
          <a:ln/>
        </p:spPr>
        <p:txBody>
          <a:bodyPr wrap="none" lIns="0" tIns="0" rIns="0" bIns="0" rtlCol="0" anchor="ctr"/>
          <a:lstStyle/>
          <a:p>
            <a:pPr algn="ctr" indent="0" marL="0">
              <a:buNone/>
            </a:pPr>
            <a:r>
              <a:rPr lang="en-US" sz="900" b="1" dirty="0">
                <a:solidFill>
                  <a:srgbClr val="FFFFFF"/>
                </a:solidFill>
                <a:latin typeface="Segoe UI Symbol" pitchFamily="34" charset="0"/>
                <a:ea typeface="Segoe UI Symbol" pitchFamily="34" charset="-122"/>
                <a:cs typeface="Segoe UI Symbol" pitchFamily="34" charset="-120"/>
              </a:rPr>
              <a:t>📞</a:t>
            </a:r>
            <a:endParaRPr lang="en-US" sz="900" dirty="0"/>
          </a:p>
        </p:txBody>
      </p:sp>
      <p:sp>
        <p:nvSpPr>
          <p:cNvPr id="9" name="Text 7"/>
          <p:cNvSpPr/>
          <p:nvPr/>
        </p:nvSpPr>
        <p:spPr>
          <a:xfrm>
            <a:off x="927652" y="2215902"/>
            <a:ext cx="359258" cy="115443"/>
          </a:xfrm>
          <a:prstGeom prst="rect">
            <a:avLst/>
          </a:prstGeom>
          <a:noFill/>
          <a:ln/>
        </p:spPr>
        <p:txBody>
          <a:bodyPr wrap="square" lIns="0" tIns="0" rIns="0" bIns="0" rtlCol="0" anchor="t">
            <a:normAutofit/>
          </a:bodyPr>
          <a:lstStyle/>
          <a:p>
            <a:pPr algn="ctr" indent="0" marL="0">
              <a:buNone/>
            </a:pPr>
            <a:r>
              <a:rPr lang="en-US" sz="800" b="1" dirty="0">
                <a:solidFill>
                  <a:srgbClr val="6D28D9"/>
                </a:solidFill>
                <a:latin typeface="Carlito" pitchFamily="34" charset="0"/>
                <a:ea typeface="Carlito" pitchFamily="34" charset="-122"/>
                <a:cs typeface="Carlito" pitchFamily="34" charset="-120"/>
              </a:rPr>
              <a:t>Voice</a:t>
            </a:r>
            <a:endParaRPr lang="en-US" sz="800" dirty="0"/>
          </a:p>
        </p:txBody>
      </p:sp>
      <p:sp>
        <p:nvSpPr>
          <p:cNvPr id="10" name="Text 8"/>
          <p:cNvSpPr/>
          <p:nvPr/>
        </p:nvSpPr>
        <p:spPr>
          <a:xfrm>
            <a:off x="535781" y="2358777"/>
            <a:ext cx="1177290" cy="200025"/>
          </a:xfrm>
          <a:prstGeom prst="rect">
            <a:avLst/>
          </a:prstGeom>
          <a:noFill/>
          <a:ln/>
        </p:spPr>
        <p:txBody>
          <a:bodyPr wrap="square" lIns="0" tIns="0" rIns="0" bIns="0" rtlCol="0" anchor="t"/>
          <a:lstStyle/>
          <a:p>
            <a:pPr algn="ctr" indent="0" marL="0">
              <a:lnSpc>
                <a:spcPts val="788"/>
              </a:lnSpc>
              <a:buNone/>
            </a:pPr>
            <a:r>
              <a:rPr lang="en-US" sz="800" dirty="0">
                <a:solidFill>
                  <a:srgbClr val="6B7280"/>
                </a:solidFill>
                <a:latin typeface="Carlito" pitchFamily="34" charset="0"/>
                <a:ea typeface="Carlito" pitchFamily="34" charset="-122"/>
                <a:cs typeface="Carlito" pitchFamily="34" charset="-120"/>
              </a:rPr>
              <a:t>Inbound + outbound, sub-300ms streaming</a:t>
            </a:r>
            <a:endParaRPr lang="en-US" sz="800" dirty="0"/>
          </a:p>
        </p:txBody>
      </p:sp>
      <p:sp>
        <p:nvSpPr>
          <p:cNvPr id="11" name="Text 9"/>
          <p:cNvSpPr/>
          <p:nvPr/>
        </p:nvSpPr>
        <p:spPr>
          <a:xfrm>
            <a:off x="1846659" y="1840855"/>
            <a:ext cx="1293019" cy="821531"/>
          </a:xfrm>
          <a:prstGeom prst="roundRect">
            <a:avLst>
              <a:gd name="adj" fmla="val 11594"/>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12" name="Text 10"/>
          <p:cNvSpPr/>
          <p:nvPr/>
        </p:nvSpPr>
        <p:spPr>
          <a:xfrm>
            <a:off x="2378869" y="1944439"/>
            <a:ext cx="228600" cy="228600"/>
          </a:xfrm>
          <a:prstGeom prst="roundRect">
            <a:avLst>
              <a:gd name="adj" fmla="val 33333"/>
            </a:avLst>
          </a:prstGeom>
          <a:solidFill>
            <a:srgbClr val="7C3AED"/>
          </a:solidFill>
          <a:ln/>
        </p:spPr>
        <p:txBody>
          <a:bodyPr wrap="square" rtlCol="0" anchor="ctr"/>
          <a:lstStyle/>
          <a:p>
            <a:pPr indent="0" marL="0">
              <a:buNone/>
            </a:pPr>
            <a:endParaRPr lang="en-US" dirty="0"/>
          </a:p>
        </p:txBody>
      </p:sp>
      <p:sp>
        <p:nvSpPr>
          <p:cNvPr id="13" name="Text 11"/>
          <p:cNvSpPr/>
          <p:nvPr/>
        </p:nvSpPr>
        <p:spPr>
          <a:xfrm>
            <a:off x="2424589" y="1990159"/>
            <a:ext cx="137160" cy="137160"/>
          </a:xfrm>
          <a:prstGeom prst="rect">
            <a:avLst/>
          </a:prstGeom>
          <a:noFill/>
          <a:ln/>
        </p:spPr>
        <p:txBody>
          <a:bodyPr wrap="none" lIns="0" tIns="0" rIns="0" bIns="0" rtlCol="0" anchor="ctr"/>
          <a:lstStyle/>
          <a:p>
            <a:pPr algn="ctr" indent="0" marL="0">
              <a:buNone/>
            </a:pPr>
            <a:r>
              <a:rPr lang="en-US" sz="900" b="1" dirty="0">
                <a:solidFill>
                  <a:srgbClr val="FFFFFF"/>
                </a:solidFill>
                <a:latin typeface="Segoe UI Symbol" pitchFamily="34" charset="0"/>
                <a:ea typeface="Segoe UI Symbol" pitchFamily="34" charset="-122"/>
                <a:cs typeface="Segoe UI Symbol" pitchFamily="34" charset="-120"/>
              </a:rPr>
              <a:t>💬</a:t>
            </a:r>
            <a:endParaRPr lang="en-US" sz="900" dirty="0"/>
          </a:p>
        </p:txBody>
      </p:sp>
      <p:sp>
        <p:nvSpPr>
          <p:cNvPr id="14" name="Text 12"/>
          <p:cNvSpPr/>
          <p:nvPr/>
        </p:nvSpPr>
        <p:spPr>
          <a:xfrm>
            <a:off x="2243430" y="2215902"/>
            <a:ext cx="499365" cy="115443"/>
          </a:xfrm>
          <a:prstGeom prst="rect">
            <a:avLst/>
          </a:prstGeom>
          <a:noFill/>
          <a:ln/>
        </p:spPr>
        <p:txBody>
          <a:bodyPr wrap="none" lIns="0" tIns="0" rIns="0" bIns="0" rtlCol="0" anchor="t">
            <a:normAutofit/>
          </a:bodyPr>
          <a:lstStyle/>
          <a:p>
            <a:pPr algn="ctr" indent="0" marL="0">
              <a:buNone/>
            </a:pPr>
            <a:r>
              <a:rPr lang="en-US" sz="675" b="1" dirty="0">
                <a:solidFill>
                  <a:srgbClr val="6D28D9"/>
                </a:solidFill>
                <a:latin typeface="Carlito" pitchFamily="34" charset="0"/>
                <a:ea typeface="Carlito" pitchFamily="34" charset="-122"/>
                <a:cs typeface="Carlito" pitchFamily="34" charset="-120"/>
              </a:rPr>
              <a:t>Live Chat</a:t>
            </a:r>
            <a:endParaRPr lang="en-US" sz="675" dirty="0"/>
          </a:p>
        </p:txBody>
      </p:sp>
      <p:sp>
        <p:nvSpPr>
          <p:cNvPr id="15" name="Text 13"/>
          <p:cNvSpPr/>
          <p:nvPr/>
        </p:nvSpPr>
        <p:spPr>
          <a:xfrm>
            <a:off x="2219527" y="2358777"/>
            <a:ext cx="547284" cy="153619"/>
          </a:xfrm>
          <a:prstGeom prst="rect">
            <a:avLst/>
          </a:prstGeom>
          <a:noFill/>
          <a:ln/>
        </p:spPr>
        <p:txBody>
          <a:bodyPr wrap="none" lIns="0" tIns="0" rIns="0" bIns="0" rtlCol="0" anchor="t"/>
          <a:lstStyle/>
          <a:p>
            <a:pPr algn="ctr" indent="0" marL="0">
              <a:lnSpc>
                <a:spcPts val="788"/>
              </a:lnSpc>
              <a:buNone/>
            </a:pPr>
            <a:r>
              <a:rPr lang="en-US" sz="600" dirty="0">
                <a:solidFill>
                  <a:srgbClr val="6B7280"/>
                </a:solidFill>
                <a:latin typeface="Carlito" pitchFamily="34" charset="0"/>
                <a:ea typeface="Carlito" pitchFamily="34" charset="-122"/>
                <a:cs typeface="Carlito" pitchFamily="34" charset="-120"/>
              </a:rPr>
              <a:t>Web + mobile</a:t>
            </a:r>
            <a:endParaRPr lang="en-US" sz="600" dirty="0"/>
          </a:p>
        </p:txBody>
      </p:sp>
      <p:sp>
        <p:nvSpPr>
          <p:cNvPr id="16" name="Text 14"/>
          <p:cNvSpPr/>
          <p:nvPr/>
        </p:nvSpPr>
        <p:spPr>
          <a:xfrm>
            <a:off x="3232547" y="1840855"/>
            <a:ext cx="1293019" cy="821531"/>
          </a:xfrm>
          <a:prstGeom prst="roundRect">
            <a:avLst>
              <a:gd name="adj" fmla="val 11594"/>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17" name="Text 15"/>
          <p:cNvSpPr/>
          <p:nvPr/>
        </p:nvSpPr>
        <p:spPr>
          <a:xfrm>
            <a:off x="3764756" y="1944439"/>
            <a:ext cx="228600" cy="228600"/>
          </a:xfrm>
          <a:prstGeom prst="roundRect">
            <a:avLst>
              <a:gd name="adj" fmla="val 33333"/>
            </a:avLst>
          </a:prstGeom>
          <a:solidFill>
            <a:srgbClr val="7C3AED"/>
          </a:solidFill>
          <a:ln/>
        </p:spPr>
        <p:txBody>
          <a:bodyPr wrap="square" rtlCol="0" anchor="ctr"/>
          <a:lstStyle/>
          <a:p>
            <a:pPr indent="0" marL="0">
              <a:buNone/>
            </a:pPr>
            <a:endParaRPr lang="en-US" dirty="0"/>
          </a:p>
        </p:txBody>
      </p:sp>
      <p:sp>
        <p:nvSpPr>
          <p:cNvPr id="18" name="Text 16"/>
          <p:cNvSpPr/>
          <p:nvPr/>
        </p:nvSpPr>
        <p:spPr>
          <a:xfrm>
            <a:off x="3810476" y="1990159"/>
            <a:ext cx="137160" cy="137160"/>
          </a:xfrm>
          <a:prstGeom prst="rect">
            <a:avLst/>
          </a:prstGeom>
          <a:noFill/>
          <a:ln/>
        </p:spPr>
        <p:txBody>
          <a:bodyPr wrap="none" lIns="0" tIns="0" rIns="0" bIns="0" rtlCol="0" anchor="ctr"/>
          <a:lstStyle/>
          <a:p>
            <a:pPr algn="ctr" indent="0" marL="0">
              <a:buNone/>
            </a:pPr>
            <a:r>
              <a:rPr lang="en-US" sz="900" b="1" dirty="0">
                <a:solidFill>
                  <a:srgbClr val="FFFFFF"/>
                </a:solidFill>
                <a:latin typeface="Segoe UI Symbol" pitchFamily="34" charset="0"/>
                <a:ea typeface="Segoe UI Symbol" pitchFamily="34" charset="-122"/>
                <a:cs typeface="Segoe UI Symbol" pitchFamily="34" charset="-120"/>
              </a:rPr>
              <a:t>📧</a:t>
            </a:r>
            <a:endParaRPr lang="en-US" sz="900" dirty="0"/>
          </a:p>
        </p:txBody>
      </p:sp>
      <p:sp>
        <p:nvSpPr>
          <p:cNvPr id="19" name="Text 17"/>
          <p:cNvSpPr/>
          <p:nvPr/>
        </p:nvSpPr>
        <p:spPr>
          <a:xfrm>
            <a:off x="3698318" y="2215902"/>
            <a:ext cx="361364" cy="115443"/>
          </a:xfrm>
          <a:prstGeom prst="rect">
            <a:avLst/>
          </a:prstGeom>
          <a:noFill/>
          <a:ln/>
        </p:spPr>
        <p:txBody>
          <a:bodyPr wrap="square" lIns="0" tIns="0" rIns="0" bIns="0" rtlCol="0" anchor="t">
            <a:normAutofit/>
          </a:bodyPr>
          <a:lstStyle/>
          <a:p>
            <a:pPr algn="ctr" indent="0" marL="0">
              <a:buNone/>
            </a:pPr>
            <a:r>
              <a:rPr lang="en-US" sz="800" b="1" dirty="0">
                <a:solidFill>
                  <a:srgbClr val="6D28D9"/>
                </a:solidFill>
                <a:latin typeface="Carlito" pitchFamily="34" charset="0"/>
                <a:ea typeface="Carlito" pitchFamily="34" charset="-122"/>
                <a:cs typeface="Carlito" pitchFamily="34" charset="-120"/>
              </a:rPr>
              <a:t>Email</a:t>
            </a:r>
            <a:endParaRPr lang="en-US" sz="800" dirty="0"/>
          </a:p>
        </p:txBody>
      </p:sp>
      <p:sp>
        <p:nvSpPr>
          <p:cNvPr id="20" name="Text 18"/>
          <p:cNvSpPr/>
          <p:nvPr/>
        </p:nvSpPr>
        <p:spPr>
          <a:xfrm>
            <a:off x="3444180" y="2358777"/>
            <a:ext cx="869752" cy="153619"/>
          </a:xfrm>
          <a:prstGeom prst="rect">
            <a:avLst/>
          </a:prstGeom>
          <a:noFill/>
          <a:ln/>
        </p:spPr>
        <p:txBody>
          <a:bodyPr wrap="square" lIns="0" tIns="0" rIns="0" bIns="0" rtlCol="0" anchor="t"/>
          <a:lstStyle/>
          <a:p>
            <a:pPr algn="ctr" indent="0" marL="0">
              <a:lnSpc>
                <a:spcPts val="788"/>
              </a:lnSpc>
              <a:buNone/>
            </a:pPr>
            <a:r>
              <a:rPr lang="en-US" sz="600" dirty="0">
                <a:solidFill>
                  <a:srgbClr val="6B7280"/>
                </a:solidFill>
                <a:latin typeface="Carlito" pitchFamily="34" charset="0"/>
                <a:ea typeface="Carlito" pitchFamily="34" charset="-122"/>
                <a:cs typeface="Carlito" pitchFamily="34" charset="-120"/>
              </a:rPr>
              <a:t>Auto-drafted, brand-aligned</a:t>
            </a:r>
            <a:endParaRPr lang="en-US" sz="600" dirty="0"/>
          </a:p>
        </p:txBody>
      </p:sp>
      <p:sp>
        <p:nvSpPr>
          <p:cNvPr id="21" name="Text 19"/>
          <p:cNvSpPr/>
          <p:nvPr/>
        </p:nvSpPr>
        <p:spPr>
          <a:xfrm>
            <a:off x="4618434" y="1840855"/>
            <a:ext cx="1293019" cy="821531"/>
          </a:xfrm>
          <a:prstGeom prst="roundRect">
            <a:avLst>
              <a:gd name="adj" fmla="val 11594"/>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22" name="Text 20"/>
          <p:cNvSpPr/>
          <p:nvPr/>
        </p:nvSpPr>
        <p:spPr>
          <a:xfrm>
            <a:off x="5150644" y="1944439"/>
            <a:ext cx="228600" cy="228600"/>
          </a:xfrm>
          <a:prstGeom prst="roundRect">
            <a:avLst>
              <a:gd name="adj" fmla="val 33333"/>
            </a:avLst>
          </a:prstGeom>
          <a:solidFill>
            <a:srgbClr val="7C3AED"/>
          </a:solidFill>
          <a:ln/>
        </p:spPr>
        <p:txBody>
          <a:bodyPr wrap="square" rtlCol="0" anchor="ctr"/>
          <a:lstStyle/>
          <a:p>
            <a:pPr indent="0" marL="0">
              <a:buNone/>
            </a:pPr>
            <a:endParaRPr lang="en-US" dirty="0"/>
          </a:p>
        </p:txBody>
      </p:sp>
      <p:sp>
        <p:nvSpPr>
          <p:cNvPr id="23" name="Text 21"/>
          <p:cNvSpPr/>
          <p:nvPr/>
        </p:nvSpPr>
        <p:spPr>
          <a:xfrm>
            <a:off x="5196364" y="1990159"/>
            <a:ext cx="137160" cy="137160"/>
          </a:xfrm>
          <a:prstGeom prst="rect">
            <a:avLst/>
          </a:prstGeom>
          <a:noFill/>
          <a:ln/>
        </p:spPr>
        <p:txBody>
          <a:bodyPr wrap="none" lIns="0" tIns="0" rIns="0" bIns="0" rtlCol="0" anchor="ctr"/>
          <a:lstStyle/>
          <a:p>
            <a:pPr algn="ctr" indent="0" marL="0">
              <a:buNone/>
            </a:pPr>
            <a:r>
              <a:rPr lang="en-US" sz="900" b="1" dirty="0">
                <a:solidFill>
                  <a:srgbClr val="FFFFFF"/>
                </a:solidFill>
                <a:latin typeface="Segoe UI Symbol" pitchFamily="34" charset="0"/>
                <a:ea typeface="Segoe UI Symbol" pitchFamily="34" charset="-122"/>
                <a:cs typeface="Segoe UI Symbol" pitchFamily="34" charset="-120"/>
              </a:rPr>
              <a:t>🟢</a:t>
            </a:r>
            <a:endParaRPr lang="en-US" sz="900" dirty="0"/>
          </a:p>
        </p:txBody>
      </p:sp>
      <p:sp>
        <p:nvSpPr>
          <p:cNvPr id="24" name="Text 22"/>
          <p:cNvSpPr/>
          <p:nvPr/>
        </p:nvSpPr>
        <p:spPr>
          <a:xfrm>
            <a:off x="4985752" y="2215902"/>
            <a:ext cx="558272" cy="115443"/>
          </a:xfrm>
          <a:prstGeom prst="rect">
            <a:avLst/>
          </a:prstGeom>
          <a:noFill/>
          <a:ln/>
        </p:spPr>
        <p:txBody>
          <a:bodyPr wrap="none" lIns="0" tIns="0" rIns="0" bIns="0" rtlCol="0" anchor="t">
            <a:normAutofit/>
          </a:bodyPr>
          <a:lstStyle/>
          <a:p>
            <a:pPr algn="ctr" indent="0" marL="0">
              <a:buNone/>
            </a:pPr>
            <a:r>
              <a:rPr lang="en-US" sz="800" b="1" dirty="0">
                <a:solidFill>
                  <a:srgbClr val="6D28D9"/>
                </a:solidFill>
                <a:latin typeface="Carlito" pitchFamily="34" charset="0"/>
                <a:ea typeface="Carlito" pitchFamily="34" charset="-122"/>
                <a:cs typeface="Carlito" pitchFamily="34" charset="-120"/>
              </a:rPr>
              <a:t>WhatsApp</a:t>
            </a:r>
            <a:endParaRPr lang="en-US" sz="800" dirty="0"/>
          </a:p>
        </p:txBody>
      </p:sp>
      <p:sp>
        <p:nvSpPr>
          <p:cNvPr id="25" name="Text 23"/>
          <p:cNvSpPr/>
          <p:nvPr/>
        </p:nvSpPr>
        <p:spPr>
          <a:xfrm>
            <a:off x="4907684" y="2358777"/>
            <a:ext cx="714408" cy="153619"/>
          </a:xfrm>
          <a:prstGeom prst="rect">
            <a:avLst/>
          </a:prstGeom>
          <a:noFill/>
          <a:ln/>
        </p:spPr>
        <p:txBody>
          <a:bodyPr wrap="none" lIns="0" tIns="0" rIns="0" bIns="0" rtlCol="0" anchor="t"/>
          <a:lstStyle/>
          <a:p>
            <a:pPr algn="ctr" indent="0" marL="0">
              <a:lnSpc>
                <a:spcPts val="788"/>
              </a:lnSpc>
              <a:buNone/>
            </a:pPr>
            <a:r>
              <a:rPr lang="en-US" sz="600" dirty="0">
                <a:solidFill>
                  <a:srgbClr val="6B7280"/>
                </a:solidFill>
                <a:latin typeface="Carlito" pitchFamily="34" charset="0"/>
                <a:ea typeface="Carlito" pitchFamily="34" charset="-122"/>
                <a:cs typeface="Carlito" pitchFamily="34" charset="-120"/>
              </a:rPr>
              <a:t>+ social messaging</a:t>
            </a:r>
            <a:endParaRPr lang="en-US" sz="600" dirty="0"/>
          </a:p>
        </p:txBody>
      </p:sp>
      <p:sp>
        <p:nvSpPr>
          <p:cNvPr id="26" name="Text 24"/>
          <p:cNvSpPr/>
          <p:nvPr/>
        </p:nvSpPr>
        <p:spPr>
          <a:xfrm>
            <a:off x="6004322" y="1840855"/>
            <a:ext cx="1293019" cy="821531"/>
          </a:xfrm>
          <a:prstGeom prst="roundRect">
            <a:avLst>
              <a:gd name="adj" fmla="val 11594"/>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27" name="Text 25"/>
          <p:cNvSpPr/>
          <p:nvPr/>
        </p:nvSpPr>
        <p:spPr>
          <a:xfrm>
            <a:off x="6536531" y="1944439"/>
            <a:ext cx="228600" cy="228600"/>
          </a:xfrm>
          <a:prstGeom prst="roundRect">
            <a:avLst>
              <a:gd name="adj" fmla="val 33333"/>
            </a:avLst>
          </a:prstGeom>
          <a:solidFill>
            <a:srgbClr val="7C3AED"/>
          </a:solidFill>
          <a:ln/>
        </p:spPr>
        <p:txBody>
          <a:bodyPr wrap="square" rtlCol="0" anchor="ctr"/>
          <a:lstStyle/>
          <a:p>
            <a:pPr indent="0" marL="0">
              <a:buNone/>
            </a:pPr>
            <a:endParaRPr lang="en-US" dirty="0"/>
          </a:p>
        </p:txBody>
      </p:sp>
      <p:sp>
        <p:nvSpPr>
          <p:cNvPr id="28" name="Text 26"/>
          <p:cNvSpPr/>
          <p:nvPr/>
        </p:nvSpPr>
        <p:spPr>
          <a:xfrm>
            <a:off x="6582251" y="1990159"/>
            <a:ext cx="137160" cy="137160"/>
          </a:xfrm>
          <a:prstGeom prst="rect">
            <a:avLst/>
          </a:prstGeom>
          <a:noFill/>
          <a:ln/>
        </p:spPr>
        <p:txBody>
          <a:bodyPr wrap="none" lIns="0" tIns="0" rIns="0" bIns="0" rtlCol="0" anchor="ctr"/>
          <a:lstStyle/>
          <a:p>
            <a:pPr algn="ctr" indent="0" marL="0">
              <a:buNone/>
            </a:pPr>
            <a:r>
              <a:rPr lang="en-US" sz="900" b="1" dirty="0">
                <a:solidFill>
                  <a:srgbClr val="FFFFFF"/>
                </a:solidFill>
                <a:latin typeface="Segoe UI Symbol" pitchFamily="34" charset="0"/>
                <a:ea typeface="Segoe UI Symbol" pitchFamily="34" charset="-122"/>
                <a:cs typeface="Segoe UI Symbol" pitchFamily="34" charset="-120"/>
              </a:rPr>
              <a:t>📱</a:t>
            </a:r>
            <a:endParaRPr lang="en-US" sz="900" dirty="0"/>
          </a:p>
        </p:txBody>
      </p:sp>
      <p:sp>
        <p:nvSpPr>
          <p:cNvPr id="29" name="Text 27"/>
          <p:cNvSpPr/>
          <p:nvPr/>
        </p:nvSpPr>
        <p:spPr>
          <a:xfrm>
            <a:off x="6503955" y="2215902"/>
            <a:ext cx="293642" cy="115443"/>
          </a:xfrm>
          <a:prstGeom prst="rect">
            <a:avLst/>
          </a:prstGeom>
          <a:noFill/>
          <a:ln/>
        </p:spPr>
        <p:txBody>
          <a:bodyPr wrap="none" lIns="0" tIns="0" rIns="0" bIns="0" rtlCol="0" anchor="t">
            <a:normAutofit/>
          </a:bodyPr>
          <a:lstStyle/>
          <a:p>
            <a:pPr algn="ctr" indent="0" marL="0">
              <a:buNone/>
            </a:pPr>
            <a:r>
              <a:rPr lang="en-US" sz="800" b="1" dirty="0">
                <a:solidFill>
                  <a:srgbClr val="6D28D9"/>
                </a:solidFill>
                <a:latin typeface="Carlito" pitchFamily="34" charset="0"/>
                <a:ea typeface="Carlito" pitchFamily="34" charset="-122"/>
                <a:cs typeface="Carlito" pitchFamily="34" charset="-120"/>
              </a:rPr>
              <a:t>SMS</a:t>
            </a:r>
            <a:endParaRPr lang="en-US" sz="800" dirty="0"/>
          </a:p>
        </p:txBody>
      </p:sp>
      <p:sp>
        <p:nvSpPr>
          <p:cNvPr id="30" name="Text 28"/>
          <p:cNvSpPr/>
          <p:nvPr/>
        </p:nvSpPr>
        <p:spPr>
          <a:xfrm>
            <a:off x="6366344" y="2358777"/>
            <a:ext cx="568863" cy="153619"/>
          </a:xfrm>
          <a:prstGeom prst="rect">
            <a:avLst/>
          </a:prstGeom>
          <a:noFill/>
          <a:ln/>
        </p:spPr>
        <p:txBody>
          <a:bodyPr wrap="none" lIns="0" tIns="0" rIns="0" bIns="0" rtlCol="0" anchor="t"/>
          <a:lstStyle/>
          <a:p>
            <a:pPr algn="ctr" indent="0" marL="0">
              <a:lnSpc>
                <a:spcPts val="788"/>
              </a:lnSpc>
              <a:buNone/>
            </a:pPr>
            <a:r>
              <a:rPr lang="en-US" sz="600" dirty="0">
                <a:solidFill>
                  <a:srgbClr val="6B7280"/>
                </a:solidFill>
                <a:latin typeface="Carlito" pitchFamily="34" charset="0"/>
                <a:ea typeface="Carlito" pitchFamily="34" charset="-122"/>
                <a:cs typeface="Carlito" pitchFamily="34" charset="-120"/>
              </a:rPr>
              <a:t>Two-way text</a:t>
            </a:r>
            <a:endParaRPr lang="en-US" sz="600" dirty="0"/>
          </a:p>
        </p:txBody>
      </p:sp>
      <p:sp>
        <p:nvSpPr>
          <p:cNvPr id="31" name="Text 29"/>
          <p:cNvSpPr/>
          <p:nvPr/>
        </p:nvSpPr>
        <p:spPr>
          <a:xfrm>
            <a:off x="7390209" y="1840855"/>
            <a:ext cx="1293019" cy="821531"/>
          </a:xfrm>
          <a:prstGeom prst="roundRect">
            <a:avLst>
              <a:gd name="adj" fmla="val 11594"/>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32" name="Text 30"/>
          <p:cNvSpPr/>
          <p:nvPr/>
        </p:nvSpPr>
        <p:spPr>
          <a:xfrm>
            <a:off x="7922419" y="1944439"/>
            <a:ext cx="228600" cy="228600"/>
          </a:xfrm>
          <a:prstGeom prst="roundRect">
            <a:avLst>
              <a:gd name="adj" fmla="val 33333"/>
            </a:avLst>
          </a:prstGeom>
          <a:solidFill>
            <a:srgbClr val="7C3AED"/>
          </a:solidFill>
          <a:ln/>
        </p:spPr>
        <p:txBody>
          <a:bodyPr wrap="square" rtlCol="0" anchor="ctr"/>
          <a:lstStyle/>
          <a:p>
            <a:pPr indent="0" marL="0">
              <a:buNone/>
            </a:pPr>
            <a:endParaRPr lang="en-US" dirty="0"/>
          </a:p>
        </p:txBody>
      </p:sp>
      <p:sp>
        <p:nvSpPr>
          <p:cNvPr id="33" name="Text 31"/>
          <p:cNvSpPr/>
          <p:nvPr/>
        </p:nvSpPr>
        <p:spPr>
          <a:xfrm>
            <a:off x="7968139" y="1990159"/>
            <a:ext cx="137160" cy="137160"/>
          </a:xfrm>
          <a:prstGeom prst="rect">
            <a:avLst/>
          </a:prstGeom>
          <a:noFill/>
          <a:ln/>
        </p:spPr>
        <p:txBody>
          <a:bodyPr wrap="none" lIns="0" tIns="0" rIns="0" bIns="0" rtlCol="0" anchor="ctr"/>
          <a:lstStyle/>
          <a:p>
            <a:pPr algn="ctr" indent="0" marL="0">
              <a:buNone/>
            </a:pPr>
            <a:r>
              <a:rPr lang="en-US" sz="900" b="1" dirty="0">
                <a:solidFill>
                  <a:srgbClr val="FFFFFF"/>
                </a:solidFill>
                <a:latin typeface="Segoe UI Symbol" pitchFamily="34" charset="0"/>
                <a:ea typeface="Segoe UI Symbol" pitchFamily="34" charset="-122"/>
                <a:cs typeface="Segoe UI Symbol" pitchFamily="34" charset="-120"/>
              </a:rPr>
              <a:t>🔗</a:t>
            </a:r>
            <a:endParaRPr lang="en-US" sz="900" dirty="0"/>
          </a:p>
        </p:txBody>
      </p:sp>
      <p:sp>
        <p:nvSpPr>
          <p:cNvPr id="34" name="Text 32"/>
          <p:cNvSpPr/>
          <p:nvPr/>
        </p:nvSpPr>
        <p:spPr>
          <a:xfrm>
            <a:off x="7759981" y="2215902"/>
            <a:ext cx="553476" cy="115443"/>
          </a:xfrm>
          <a:prstGeom prst="rect">
            <a:avLst/>
          </a:prstGeom>
          <a:noFill/>
          <a:ln/>
        </p:spPr>
        <p:txBody>
          <a:bodyPr wrap="none" lIns="0" tIns="0" rIns="0" bIns="0" rtlCol="0" anchor="t">
            <a:normAutofit/>
          </a:bodyPr>
          <a:lstStyle/>
          <a:p>
            <a:pPr algn="ctr" indent="0" marL="0">
              <a:buNone/>
            </a:pPr>
            <a:r>
              <a:rPr lang="en-US" sz="800" b="1" dirty="0">
                <a:solidFill>
                  <a:srgbClr val="6D28D9"/>
                </a:solidFill>
                <a:latin typeface="Carlito" pitchFamily="34" charset="0"/>
                <a:ea typeface="Carlito" pitchFamily="34" charset="-122"/>
                <a:cs typeface="Carlito" pitchFamily="34" charset="-120"/>
              </a:rPr>
              <a:t>CRM Sync</a:t>
            </a:r>
            <a:endParaRPr lang="en-US" sz="800" dirty="0"/>
          </a:p>
        </p:txBody>
      </p:sp>
      <p:sp>
        <p:nvSpPr>
          <p:cNvPr id="35" name="Text 33"/>
          <p:cNvSpPr/>
          <p:nvPr/>
        </p:nvSpPr>
        <p:spPr>
          <a:xfrm>
            <a:off x="7492075" y="2358777"/>
            <a:ext cx="1089176" cy="153619"/>
          </a:xfrm>
          <a:prstGeom prst="rect">
            <a:avLst/>
          </a:prstGeom>
          <a:noFill/>
          <a:ln/>
        </p:spPr>
        <p:txBody>
          <a:bodyPr wrap="square" lIns="0" tIns="0" rIns="0" bIns="0" rtlCol="0" anchor="t"/>
          <a:lstStyle/>
          <a:p>
            <a:pPr algn="ctr" indent="0" marL="0">
              <a:lnSpc>
                <a:spcPts val="788"/>
              </a:lnSpc>
              <a:buNone/>
            </a:pPr>
            <a:r>
              <a:rPr lang="en-US" sz="600" dirty="0">
                <a:solidFill>
                  <a:srgbClr val="6B7280"/>
                </a:solidFill>
                <a:latin typeface="Carlito" pitchFamily="34" charset="0"/>
                <a:ea typeface="Carlito" pitchFamily="34" charset="-122"/>
                <a:cs typeface="Carlito" pitchFamily="34" charset="-120"/>
              </a:rPr>
              <a:t>Salesforce, HubSpot, Dynamics</a:t>
            </a:r>
            <a:endParaRPr lang="en-US" sz="600" dirty="0"/>
          </a:p>
        </p:txBody>
      </p:sp>
      <p:pic>
        <p:nvPicPr>
          <p:cNvPr id="36" name="Image 0" descr="preencoded.png">    </p:cNvPr>
          <p:cNvPicPr>
            <a:picLocks noChangeAspect="1"/>
          </p:cNvPicPr>
          <p:nvPr/>
        </p:nvPicPr>
        <p:blipFill>
          <a:blip r:embed="rId1"/>
          <a:stretch>
            <a:fillRect/>
          </a:stretch>
        </p:blipFill>
        <p:spPr>
          <a:xfrm>
            <a:off x="457200" y="2823121"/>
            <a:ext cx="4050506" cy="1891754"/>
          </a:xfrm>
          <a:prstGeom prst="rect">
            <a:avLst/>
          </a:prstGeom>
        </p:spPr>
      </p:pic>
      <p:sp>
        <p:nvSpPr>
          <p:cNvPr id="37" name="Text 34"/>
          <p:cNvSpPr/>
          <p:nvPr/>
        </p:nvSpPr>
        <p:spPr>
          <a:xfrm>
            <a:off x="460772" y="2826693"/>
            <a:ext cx="4043363" cy="1884611"/>
          </a:xfrm>
          <a:prstGeom prst="roundRect">
            <a:avLst>
              <a:gd name="adj" fmla="val 7076"/>
            </a:avLst>
          </a:prstGeom>
          <a:noFill/>
          <a:ln w="7144">
            <a:solidFill>
              <a:srgbClr val="EDE9FE"/>
            </a:solidFill>
            <a:prstDash val="solid"/>
          </a:ln>
        </p:spPr>
        <p:txBody>
          <a:bodyPr wrap="square" rtlCol="0" anchor="ctr"/>
          <a:lstStyle/>
          <a:p>
            <a:pPr indent="0" marL="0">
              <a:buNone/>
            </a:pPr>
            <a:endParaRPr lang="en-US" dirty="0"/>
          </a:p>
        </p:txBody>
      </p:sp>
      <p:sp>
        <p:nvSpPr>
          <p:cNvPr id="38" name="Text 35"/>
          <p:cNvSpPr/>
          <p:nvPr/>
        </p:nvSpPr>
        <p:spPr>
          <a:xfrm>
            <a:off x="607219" y="2958852"/>
            <a:ext cx="3860197" cy="125403"/>
          </a:xfrm>
          <a:prstGeom prst="rect">
            <a:avLst/>
          </a:prstGeom>
          <a:noFill/>
          <a:ln/>
        </p:spPr>
        <p:txBody>
          <a:bodyPr wrap="square" lIns="0" tIns="0" rIns="0" bIns="0" rtlCol="0" anchor="t"/>
          <a:lstStyle/>
          <a:p>
            <a:pPr algn="l" indent="0" marL="0">
              <a:buNone/>
            </a:pPr>
            <a:r>
              <a:rPr lang="en-US" sz="800" b="1" dirty="0">
                <a:solidFill>
                  <a:srgbClr val="6D28D9"/>
                </a:solidFill>
                <a:latin typeface="Carlito" pitchFamily="34" charset="0"/>
                <a:ea typeface="Carlito" pitchFamily="34" charset="-122"/>
                <a:cs typeface="Carlito" pitchFamily="34" charset="-120"/>
              </a:rPr>
              <a:t>What's different from a typical omnichannel tool</a:t>
            </a:r>
            <a:endParaRPr lang="en-US" sz="800" dirty="0"/>
          </a:p>
        </p:txBody>
      </p:sp>
      <p:sp>
        <p:nvSpPr>
          <p:cNvPr id="39" name="Text 36"/>
          <p:cNvSpPr/>
          <p:nvPr/>
        </p:nvSpPr>
        <p:spPr>
          <a:xfrm>
            <a:off x="607219" y="3144589"/>
            <a:ext cx="3750469" cy="587216"/>
          </a:xfrm>
          <a:prstGeom prst="rect">
            <a:avLst/>
          </a:prstGeom>
          <a:noFill/>
          <a:ln/>
        </p:spPr>
        <p:txBody>
          <a:bodyPr wrap="square" lIns="0" tIns="0" rIns="0" bIns="0" rtlCol="0" anchor="t"/>
          <a:lstStyle/>
          <a:p>
            <a:pPr algn="l" indent="0" marL="0">
              <a:lnSpc>
                <a:spcPts val="1013"/>
              </a:lnSpc>
              <a:spcAft>
                <a:spcPts val="450"/>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1013"/>
              </a:lnSpc>
              <a:spcAft>
                <a:spcPts val="450"/>
              </a:spcAft>
              <a:buNone/>
            </a:pPr>
            <a:r>
              <a:rPr lang="en-US" sz="800" dirty="0">
                <a:solidFill>
                  <a:srgbClr val="1F2937"/>
                </a:solidFill>
                <a:latin typeface="Carlito" pitchFamily="34" charset="0"/>
                <a:ea typeface="Carlito" pitchFamily="34" charset="-122"/>
                <a:cs typeface="Carlito" pitchFamily="34" charset="-120"/>
              </a:rPr>
              <a:t>One AI agent handles the same customer across channels — </a:t>
            </a:r>
            <a:pPr algn="l" indent="0" marL="0">
              <a:lnSpc>
                <a:spcPts val="1013"/>
              </a:lnSpc>
              <a:spcAft>
                <a:spcPts val="450"/>
              </a:spcAft>
              <a:buNone/>
            </a:pPr>
            <a:r>
              <a:rPr lang="en-US" sz="800" b="1" dirty="0">
                <a:solidFill>
                  <a:srgbClr val="6D28D9"/>
                </a:solidFill>
                <a:latin typeface="Carlito" pitchFamily="34" charset="0"/>
                <a:ea typeface="Carlito" pitchFamily="34" charset="-122"/>
                <a:cs typeface="Carlito" pitchFamily="34" charset="-120"/>
              </a:rPr>
              <a:t>no re-routing, no re-explaining</a:t>
            </a:r>
            <a:endParaRPr lang="en-US" sz="800" dirty="0"/>
          </a:p>
          <a:p>
            <a:pPr algn="l" indent="0" marL="0">
              <a:lnSpc>
                <a:spcPts val="1013"/>
              </a:lnSpc>
              <a:spcAft>
                <a:spcPts val="450"/>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1013"/>
              </a:lnSpc>
              <a:spcAft>
                <a:spcPts val="450"/>
              </a:spcAft>
              <a:buNone/>
            </a:pPr>
            <a:r>
              <a:rPr lang="en-US" sz="800" dirty="0">
                <a:solidFill>
                  <a:srgbClr val="1F2937"/>
                </a:solidFill>
                <a:latin typeface="Carlito" pitchFamily="34" charset="0"/>
                <a:ea typeface="Carlito" pitchFamily="34" charset="-122"/>
                <a:cs typeface="Carlito" pitchFamily="34" charset="-120"/>
              </a:rPr>
              <a:t>Real-time channel switching mid-conversation</a:t>
            </a:r>
            <a:endParaRPr lang="en-US" sz="800" dirty="0"/>
          </a:p>
          <a:p>
            <a:pPr algn="l" indent="0" marL="0">
              <a:lnSpc>
                <a:spcPts val="1013"/>
              </a:lnSpc>
              <a:spcAft>
                <a:spcPts val="450"/>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1013"/>
              </a:lnSpc>
              <a:spcAft>
                <a:spcPts val="450"/>
              </a:spcAft>
              <a:buNone/>
            </a:pPr>
            <a:r>
              <a:rPr lang="en-US" sz="800" dirty="0">
                <a:solidFill>
                  <a:srgbClr val="1F2937"/>
                </a:solidFill>
                <a:latin typeface="Carlito" pitchFamily="34" charset="0"/>
                <a:ea typeface="Carlito" pitchFamily="34" charset="-122"/>
                <a:cs typeface="Carlito" pitchFamily="34" charset="-120"/>
              </a:rPr>
              <a:t>Full interaction history available to every agent, every channel, every time</a:t>
            </a:r>
            <a:endParaRPr lang="en-US" sz="800" dirty="0"/>
          </a:p>
        </p:txBody>
      </p:sp>
      <p:sp>
        <p:nvSpPr>
          <p:cNvPr id="40" name="Text 37"/>
          <p:cNvSpPr/>
          <p:nvPr/>
        </p:nvSpPr>
        <p:spPr>
          <a:xfrm>
            <a:off x="4636294" y="2823121"/>
            <a:ext cx="4050506" cy="1891754"/>
          </a:xfrm>
          <a:prstGeom prst="roundRect">
            <a:avLst>
              <a:gd name="adj" fmla="val 7049"/>
            </a:avLst>
          </a:prstGeom>
          <a:solidFill>
            <a:srgbClr val="1A0B2E"/>
          </a:solidFill>
          <a:ln/>
        </p:spPr>
        <p:txBody>
          <a:bodyPr wrap="square" rtlCol="0" anchor="ctr"/>
          <a:lstStyle/>
          <a:p>
            <a:pPr indent="0" marL="0">
              <a:buNone/>
            </a:pPr>
            <a:endParaRPr lang="en-US" dirty="0"/>
          </a:p>
        </p:txBody>
      </p:sp>
      <p:sp>
        <p:nvSpPr>
          <p:cNvPr id="41" name="Text 38"/>
          <p:cNvSpPr/>
          <p:nvPr/>
        </p:nvSpPr>
        <p:spPr>
          <a:xfrm>
            <a:off x="4779169" y="2951708"/>
            <a:ext cx="3874484" cy="125403"/>
          </a:xfrm>
          <a:prstGeom prst="rect">
            <a:avLst/>
          </a:prstGeom>
          <a:noFill/>
          <a:ln/>
        </p:spPr>
        <p:txBody>
          <a:bodyPr wrap="square" lIns="0" tIns="0" rIns="0" bIns="0" rtlCol="0" anchor="t"/>
          <a:lstStyle/>
          <a:p>
            <a:pPr algn="l" indent="0" marL="0">
              <a:buNone/>
            </a:pPr>
            <a:r>
              <a:rPr lang="en-US" sz="800" b="1" dirty="0">
                <a:solidFill>
                  <a:srgbClr val="A78BFA"/>
                </a:solidFill>
                <a:latin typeface="Carlito" pitchFamily="34" charset="0"/>
                <a:ea typeface="Carlito" pitchFamily="34" charset="-122"/>
                <a:cs typeface="Carlito" pitchFamily="34" charset="-120"/>
              </a:rPr>
              <a:t>What "replacing the call center" actually means</a:t>
            </a:r>
            <a:endParaRPr lang="en-US" sz="800" dirty="0"/>
          </a:p>
        </p:txBody>
      </p:sp>
      <p:sp>
        <p:nvSpPr>
          <p:cNvPr id="42" name="Text 39"/>
          <p:cNvSpPr/>
          <p:nvPr/>
        </p:nvSpPr>
        <p:spPr>
          <a:xfrm>
            <a:off x="4779169" y="3137446"/>
            <a:ext cx="3764756" cy="587216"/>
          </a:xfrm>
          <a:prstGeom prst="rect">
            <a:avLst/>
          </a:prstGeom>
          <a:noFill/>
          <a:ln/>
        </p:spPr>
        <p:txBody>
          <a:bodyPr wrap="square" lIns="0" tIns="0" rIns="0" bIns="0" rtlCol="0" anchor="t"/>
          <a:lstStyle/>
          <a:p>
            <a:pPr algn="l" indent="0" marL="0">
              <a:lnSpc>
                <a:spcPts val="1013"/>
              </a:lnSpc>
              <a:spcAft>
                <a:spcPts val="450"/>
              </a:spcAft>
              <a:buNone/>
            </a:pPr>
            <a:r>
              <a:rPr lang="en-US" sz="600" dirty="0">
                <a:solidFill>
                  <a:srgbClr val="A78BFA"/>
                </a:solidFill>
                <a:latin typeface="Carlito" pitchFamily="34" charset="0"/>
                <a:ea typeface="Carlito" pitchFamily="34" charset="-122"/>
                <a:cs typeface="Carlito" pitchFamily="34" charset="-120"/>
              </a:rPr>
              <a:t>●  </a:t>
            </a:r>
            <a:pPr algn="l" indent="0" marL="0">
              <a:lnSpc>
                <a:spcPts val="1013"/>
              </a:lnSpc>
              <a:spcAft>
                <a:spcPts val="450"/>
              </a:spcAft>
              <a:buNone/>
            </a:pPr>
            <a:r>
              <a:rPr lang="en-US" sz="800" dirty="0">
                <a:solidFill>
                  <a:srgbClr val="FFFFFF"/>
                </a:solidFill>
                <a:latin typeface="Carlito" pitchFamily="34" charset="0"/>
                <a:ea typeface="Carlito" pitchFamily="34" charset="-122"/>
                <a:cs typeface="Carlito" pitchFamily="34" charset="-120"/>
              </a:rPr>
              <a:t>Not a chatbot bolted onto a phone system</a:t>
            </a:r>
            <a:endParaRPr lang="en-US" sz="800" dirty="0"/>
          </a:p>
          <a:p>
            <a:pPr algn="l" indent="0" marL="0">
              <a:lnSpc>
                <a:spcPts val="1013"/>
              </a:lnSpc>
              <a:spcAft>
                <a:spcPts val="450"/>
              </a:spcAft>
              <a:buNone/>
            </a:pPr>
            <a:r>
              <a:rPr lang="en-US" sz="600" dirty="0">
                <a:solidFill>
                  <a:srgbClr val="A78BFA"/>
                </a:solidFill>
                <a:latin typeface="Carlito" pitchFamily="34" charset="0"/>
                <a:ea typeface="Carlito" pitchFamily="34" charset="-122"/>
                <a:cs typeface="Carlito" pitchFamily="34" charset="-120"/>
              </a:rPr>
              <a:t>●  </a:t>
            </a:r>
            <a:pPr algn="l" indent="0" marL="0">
              <a:lnSpc>
                <a:spcPts val="1013"/>
              </a:lnSpc>
              <a:spcAft>
                <a:spcPts val="450"/>
              </a:spcAft>
              <a:buNone/>
            </a:pPr>
            <a:r>
              <a:rPr lang="en-US" sz="800" dirty="0">
                <a:solidFill>
                  <a:srgbClr val="FFFFFF"/>
                </a:solidFill>
                <a:latin typeface="Carlito" pitchFamily="34" charset="0"/>
                <a:ea typeface="Carlito" pitchFamily="34" charset="-122"/>
                <a:cs typeface="Carlito" pitchFamily="34" charset="-120"/>
              </a:rPr>
              <a:t>A single </a:t>
            </a:r>
            <a:pPr algn="l" indent="0" marL="0">
              <a:lnSpc>
                <a:spcPts val="1013"/>
              </a:lnSpc>
              <a:spcAft>
                <a:spcPts val="450"/>
              </a:spcAft>
              <a:buNone/>
            </a:pPr>
            <a:r>
              <a:rPr lang="en-US" sz="800" b="1" dirty="0">
                <a:solidFill>
                  <a:srgbClr val="FFFFFF"/>
                </a:solidFill>
                <a:latin typeface="Carlito" pitchFamily="34" charset="0"/>
                <a:ea typeface="Carlito" pitchFamily="34" charset="-122"/>
                <a:cs typeface="Carlito" pitchFamily="34" charset="-120"/>
              </a:rPr>
              <a:t>agentic workforce</a:t>
            </a:r>
            <a:pPr algn="l" indent="0" marL="0">
              <a:lnSpc>
                <a:spcPts val="1013"/>
              </a:lnSpc>
              <a:spcAft>
                <a:spcPts val="450"/>
              </a:spcAft>
              <a:buNone/>
            </a:pPr>
            <a:r>
              <a:rPr lang="en-US" sz="800" dirty="0">
                <a:solidFill>
                  <a:srgbClr val="FFFFFF"/>
                </a:solidFill>
                <a:latin typeface="Carlito" pitchFamily="34" charset="0"/>
                <a:ea typeface="Carlito" pitchFamily="34" charset="-122"/>
                <a:cs typeface="Carlito" pitchFamily="34" charset="-120"/>
              </a:rPr>
              <a:t> that meets customers wherever they are</a:t>
            </a:r>
            <a:endParaRPr lang="en-US" sz="800" dirty="0"/>
          </a:p>
          <a:p>
            <a:pPr algn="l" indent="0" marL="0">
              <a:lnSpc>
                <a:spcPts val="1013"/>
              </a:lnSpc>
              <a:spcAft>
                <a:spcPts val="450"/>
              </a:spcAft>
              <a:buNone/>
            </a:pPr>
            <a:r>
              <a:rPr lang="en-US" sz="600" dirty="0">
                <a:solidFill>
                  <a:srgbClr val="A78BFA"/>
                </a:solidFill>
                <a:latin typeface="Carlito" pitchFamily="34" charset="0"/>
                <a:ea typeface="Carlito" pitchFamily="34" charset="-122"/>
                <a:cs typeface="Carlito" pitchFamily="34" charset="-120"/>
              </a:rPr>
              <a:t>●  </a:t>
            </a:r>
            <a:pPr algn="l" indent="0" marL="0">
              <a:lnSpc>
                <a:spcPts val="1013"/>
              </a:lnSpc>
              <a:spcAft>
                <a:spcPts val="450"/>
              </a:spcAft>
              <a:buNone/>
            </a:pPr>
            <a:r>
              <a:rPr lang="en-US" sz="800" dirty="0">
                <a:solidFill>
                  <a:srgbClr val="FFFFFF"/>
                </a:solidFill>
                <a:latin typeface="Carlito" pitchFamily="34" charset="0"/>
                <a:ea typeface="Carlito" pitchFamily="34" charset="-122"/>
                <a:cs typeface="Carlito" pitchFamily="34" charset="-120"/>
              </a:rPr>
              <a:t>One brain orchestrating every channel — voice, chat, email, social, SMS</a:t>
            </a:r>
            <a:endParaRPr lang="en-US" sz="800" dirty="0"/>
          </a:p>
        </p:txBody>
      </p:sp>
      <p:sp>
        <p:nvSpPr>
          <p:cNvPr id="43" name="Text 40"/>
          <p:cNvSpPr/>
          <p:nvPr/>
        </p:nvSpPr>
        <p:spPr>
          <a:xfrm>
            <a:off x="342900" y="4879181"/>
            <a:ext cx="8145438" cy="129679"/>
          </a:xfrm>
          <a:prstGeom prst="rect">
            <a:avLst/>
          </a:prstGeom>
          <a:noFill/>
          <a:ln/>
        </p:spPr>
        <p:txBody>
          <a:bodyPr wrap="square" lIns="0" tIns="0" rIns="0" bIns="0" rtlCol="0" anchor="t"/>
          <a:lstStyle/>
          <a:p>
            <a:pPr algn="l" indent="0" marL="0">
              <a:buNone/>
            </a:pPr>
            <a:r>
              <a:rPr lang="en-US" sz="800" spc="25" kern="0" dirty="0">
                <a:solidFill>
                  <a:srgbClr val="6B7280"/>
                </a:solidFill>
                <a:latin typeface="Carlito" pitchFamily="34" charset="0"/>
                <a:ea typeface="Carlito" pitchFamily="34" charset="-122"/>
                <a:cs typeface="Carlito" pitchFamily="34" charset="-120"/>
              </a:rPr>
              <a:t>MASSAPRO — THE GROWTH MACHINE FOR CUSTOMER SERVICE</a:t>
            </a:r>
            <a:endParaRPr lang="en-US" sz="800" dirty="0"/>
          </a:p>
        </p:txBody>
      </p:sp>
      <p:sp>
        <p:nvSpPr>
          <p:cNvPr id="44" name="Text 41"/>
          <p:cNvSpPr/>
          <p:nvPr/>
        </p:nvSpPr>
        <p:spPr>
          <a:xfrm>
            <a:off x="8483221" y="4879181"/>
            <a:ext cx="453969" cy="129679"/>
          </a:xfrm>
          <a:prstGeom prst="rect">
            <a:avLst/>
          </a:prstGeom>
          <a:noFill/>
          <a:ln/>
        </p:spPr>
        <p:txBody>
          <a:bodyPr wrap="square" lIns="0" tIns="0" rIns="0" bIns="0" rtlCol="0" anchor="t"/>
          <a:lstStyle/>
          <a:p>
            <a:pPr algn="l" indent="0" marL="0">
              <a:buNone/>
            </a:pPr>
            <a:r>
              <a:rPr lang="en-US" sz="800" spc="25" kern="0" dirty="0">
                <a:solidFill>
                  <a:srgbClr val="6B7280"/>
                </a:solidFill>
                <a:latin typeface="Liberation Sans Narrow" pitchFamily="34" charset="0"/>
                <a:ea typeface="Liberation Sans Narrow" pitchFamily="34" charset="-122"/>
                <a:cs typeface="Liberation Sans Narrow" pitchFamily="34" charset="-120"/>
              </a:rPr>
              <a:t>05 / 10</a:t>
            </a:r>
            <a:endParaRPr lang="en-US" sz="800" dirty="0"/>
          </a:p>
        </p:txBody>
      </p:sp>
      <p:sp>
        <p:nvSpPr>
          <p:cNvPr id="45" name="Text 42"/>
          <p:cNvSpPr/>
          <p:nvPr/>
        </p:nvSpPr>
        <p:spPr>
          <a:xfrm>
            <a:off x="342900" y="200025"/>
            <a:ext cx="228600" cy="228600"/>
          </a:xfrm>
          <a:prstGeom prst="roundRect">
            <a:avLst>
              <a:gd name="adj" fmla="val 33333"/>
            </a:avLst>
          </a:prstGeom>
          <a:solidFill>
            <a:srgbClr val="7C3AED"/>
          </a:solidFill>
          <a:ln/>
        </p:spPr>
        <p:txBody>
          <a:bodyPr wrap="square" rtlCol="0" anchor="ctr"/>
          <a:lstStyle/>
          <a:p>
            <a:pPr indent="0" marL="0">
              <a:buNone/>
            </a:pPr>
            <a:endParaRPr lang="en-US" dirty="0"/>
          </a:p>
        </p:txBody>
      </p:sp>
      <p:sp>
        <p:nvSpPr>
          <p:cNvPr id="46" name="Text 43"/>
          <p:cNvSpPr/>
          <p:nvPr/>
        </p:nvSpPr>
        <p:spPr>
          <a:xfrm>
            <a:off x="342900" y="200025"/>
            <a:ext cx="264319" cy="228600"/>
          </a:xfrm>
          <a:prstGeom prst="rect">
            <a:avLst/>
          </a:prstGeom>
          <a:noFill/>
          <a:ln/>
        </p:spPr>
        <p:txBody>
          <a:bodyPr wrap="none" lIns="0" tIns="0" rIns="0" bIns="0" rtlCol="0" anchor="ctr"/>
          <a:lstStyle/>
          <a:p>
            <a:pPr algn="ctr" indent="0" marL="0">
              <a:buNone/>
            </a:pPr>
            <a:r>
              <a:rPr lang="en-US" sz="1013" b="1" dirty="0">
                <a:solidFill>
                  <a:srgbClr val="FFFFFF"/>
                </a:solidFill>
                <a:latin typeface="Carlito" pitchFamily="34" charset="0"/>
                <a:ea typeface="Carlito" pitchFamily="34" charset="-122"/>
                <a:cs typeface="Carlito" pitchFamily="34" charset="-120"/>
              </a:rPr>
              <a:t>M</a:t>
            </a:r>
            <a:endParaRPr lang="en-US" sz="1013" dirty="0"/>
          </a:p>
        </p:txBody>
      </p:sp>
      <p:sp>
        <p:nvSpPr>
          <p:cNvPr id="47" name="Text 44"/>
          <p:cNvSpPr/>
          <p:nvPr/>
        </p:nvSpPr>
        <p:spPr>
          <a:xfrm>
            <a:off x="642938" y="246459"/>
            <a:ext cx="820531" cy="146590"/>
          </a:xfrm>
          <a:prstGeom prst="rect">
            <a:avLst/>
          </a:prstGeom>
          <a:noFill/>
          <a:ln/>
        </p:spPr>
        <p:txBody>
          <a:bodyPr wrap="none" lIns="0" tIns="0" rIns="0" bIns="0" rtlCol="0" anchor="t"/>
          <a:lstStyle/>
          <a:p>
            <a:pPr algn="l" indent="0" marL="0">
              <a:buNone/>
            </a:pPr>
            <a:r>
              <a:rPr lang="en-US" sz="900" b="1" spc="18" kern="0" dirty="0">
                <a:solidFill>
                  <a:srgbClr val="6D28D9"/>
                </a:solidFill>
                <a:latin typeface="Carlito" pitchFamily="34" charset="0"/>
                <a:ea typeface="Carlito" pitchFamily="34" charset="-122"/>
                <a:cs typeface="Carlito" pitchFamily="34" charset="-120"/>
              </a:rPr>
              <a:t>MassaPro</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77190" y="417052"/>
            <a:ext cx="1510189" cy="216027"/>
          </a:xfrm>
          <a:prstGeom prst="roundRect">
            <a:avLst>
              <a:gd name="adj" fmla="val 4404762"/>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3" name="Text 1"/>
          <p:cNvSpPr/>
          <p:nvPr/>
        </p:nvSpPr>
        <p:spPr>
          <a:xfrm>
            <a:off x="400050" y="428625"/>
            <a:ext cx="1464469" cy="192881"/>
          </a:xfrm>
          <a:prstGeom prst="rect">
            <a:avLst/>
          </a:prstGeom>
          <a:noFill/>
          <a:ln/>
        </p:spPr>
        <p:txBody>
          <a:bodyPr wrap="none" lIns="0" tIns="0" rIns="0" bIns="0" rtlCol="0" anchor="ctr"/>
          <a:lstStyle/>
          <a:p>
            <a:pPr algn="ctr" indent="0" marL="0">
              <a:buNone/>
            </a:pPr>
            <a:r>
              <a:rPr lang="en-US" sz="800" b="1" spc="111" kern="0" dirty="0">
                <a:solidFill>
                  <a:srgbClr val="7C3AED"/>
                </a:solidFill>
                <a:latin typeface="Carlito" pitchFamily="34" charset="0"/>
                <a:ea typeface="Carlito" pitchFamily="34" charset="-122"/>
                <a:cs typeface="Carlito" pitchFamily="34" charset="-120"/>
              </a:rPr>
              <a:t>ALL-IN-ONE PLATFORM</a:t>
            </a:r>
            <a:endParaRPr lang="en-US" sz="800" dirty="0"/>
          </a:p>
        </p:txBody>
      </p:sp>
      <p:sp>
        <p:nvSpPr>
          <p:cNvPr id="4" name="Text 2"/>
          <p:cNvSpPr/>
          <p:nvPr/>
        </p:nvSpPr>
        <p:spPr>
          <a:xfrm>
            <a:off x="400050" y="707231"/>
            <a:ext cx="7858125" cy="529781"/>
          </a:xfrm>
          <a:prstGeom prst="rect">
            <a:avLst/>
          </a:prstGeom>
          <a:noFill/>
          <a:ln/>
        </p:spPr>
        <p:txBody>
          <a:bodyPr wrap="square" lIns="0" tIns="0" rIns="0" bIns="0" rtlCol="0" anchor="t">
            <a:normAutofit/>
          </a:bodyPr>
          <a:lstStyle/>
          <a:p>
            <a:pPr algn="l" indent="0" marL="0">
              <a:lnSpc>
                <a:spcPts val="2025"/>
              </a:lnSpc>
              <a:buNone/>
            </a:pPr>
            <a:r>
              <a:rPr lang="en-US" sz="1688" b="1" dirty="0">
                <a:solidFill>
                  <a:srgbClr val="1F2937"/>
                </a:solidFill>
                <a:latin typeface="Tinos" pitchFamily="34" charset="0"/>
                <a:ea typeface="Tinos" pitchFamily="34" charset="-122"/>
                <a:cs typeface="Tinos" pitchFamily="34" charset="-120"/>
              </a:rPr>
              <a:t>No Dialer. No Call Center. No Reporting Tool. No Analytics Layer. No Call Intelligence Vendor. </a:t>
            </a:r>
            <a:pPr algn="l" indent="0" marL="0">
              <a:lnSpc>
                <a:spcPts val="2025"/>
              </a:lnSpc>
              <a:buNone/>
            </a:pPr>
            <a:r>
              <a:rPr lang="en-US" sz="1688" b="1" dirty="0">
                <a:solidFill>
                  <a:srgbClr val="7C3AED"/>
                </a:solidFill>
                <a:latin typeface="Tinos" pitchFamily="34" charset="0"/>
                <a:ea typeface="Tinos" pitchFamily="34" charset="-122"/>
                <a:cs typeface="Tinos" pitchFamily="34" charset="-120"/>
              </a:rPr>
              <a:t>Just MassaPro.</a:t>
            </a:r>
            <a:endParaRPr lang="en-US" sz="1688" dirty="0"/>
          </a:p>
        </p:txBody>
      </p:sp>
      <p:sp>
        <p:nvSpPr>
          <p:cNvPr id="5" name="Text 3"/>
          <p:cNvSpPr/>
          <p:nvPr/>
        </p:nvSpPr>
        <p:spPr>
          <a:xfrm>
            <a:off x="400050" y="1264444"/>
            <a:ext cx="7858125" cy="329184"/>
          </a:xfrm>
          <a:prstGeom prst="rect">
            <a:avLst/>
          </a:prstGeom>
          <a:noFill/>
          <a:ln/>
        </p:spPr>
        <p:txBody>
          <a:bodyPr wrap="square" lIns="0" tIns="0" rIns="0" bIns="0" rtlCol="0" anchor="t"/>
          <a:lstStyle/>
          <a:p>
            <a:pPr algn="l" indent="0" marL="0">
              <a:lnSpc>
                <a:spcPts val="1097"/>
              </a:lnSpc>
              <a:buNone/>
            </a:pPr>
            <a:r>
              <a:rPr lang="en-US" sz="800" dirty="0">
                <a:solidFill>
                  <a:srgbClr val="6B7280"/>
                </a:solidFill>
                <a:latin typeface="Carlito" pitchFamily="34" charset="0"/>
                <a:ea typeface="Carlito" pitchFamily="34" charset="-122"/>
                <a:cs typeface="Carlito" pitchFamily="34" charset="-120"/>
              </a:rPr>
              <a:t>Most enterprises pay 5–8 vendors to deliver what should be one capability: talking to customers at scale. MassaPro consolidates all of it into a single platform, owned and operated by one vendor.</a:t>
            </a:r>
            <a:endParaRPr lang="en-US" sz="800" dirty="0"/>
          </a:p>
        </p:txBody>
      </p:sp>
      <p:sp>
        <p:nvSpPr>
          <p:cNvPr id="6" name="Text 4"/>
          <p:cNvSpPr/>
          <p:nvPr/>
        </p:nvSpPr>
        <p:spPr>
          <a:xfrm>
            <a:off x="403622" y="1803797"/>
            <a:ext cx="8336756" cy="2557463"/>
          </a:xfrm>
          <a:prstGeom prst="roundRect">
            <a:avLst>
              <a:gd name="adj" fmla="val 4469"/>
            </a:avLst>
          </a:prstGeom>
          <a:solidFill>
            <a:srgbClr val="FFFFFF"/>
          </a:solidFill>
          <a:ln w="7144">
            <a:solidFill>
              <a:srgbClr val="E5E7EB"/>
            </a:solidFill>
            <a:prstDash val="solid"/>
          </a:ln>
        </p:spPr>
        <p:txBody>
          <a:bodyPr wrap="square" rtlCol="0" anchor="ctr"/>
          <a:lstStyle/>
          <a:p>
            <a:pPr indent="0" marL="0">
              <a:buNone/>
            </a:pPr>
            <a:endParaRPr lang="en-US"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07194" y="1807369"/>
          <a:ext cx="8329613" cy="914400"/>
        </p:xfrm>
        <a:graphic>
          <a:graphicData uri="http://schemas.openxmlformats.org/drawingml/2006/table">
            <a:tbl>
              <a:tblPr/>
              <a:tblGrid>
                <a:gridCol w="3165239"/>
                <a:gridCol w="5164373"/>
              </a:tblGrid>
              <a:tr h="0">
                <a:tc>
                  <a:txBody>
                    <a:bodyPr/>
                    <a:lstStyle/>
                    <a:p>
                      <a:pPr algn="l" indent="0" marL="0">
                        <a:buNone/>
                      </a:pPr>
                      <a:r>
                        <a:rPr lang="en-US" sz="800" b="1" dirty="0">
                          <a:solidFill>
                            <a:srgbClr val="FFFFFF"/>
                          </a:solidFill>
                          <a:latin typeface="Carlito" pitchFamily="34" charset="0"/>
                          <a:ea typeface="Carlito" pitchFamily="34" charset="-122"/>
                          <a:cs typeface="Carlito" pitchFamily="34" charset="-120"/>
                        </a:rPr>
                        <a:t>What you used to buy separately</a:t>
                      </a:r>
                      <a:endParaRPr lang="en-US" sz="800" dirty="0">
                        <a:latin typeface="Carlito" charset="0"/>
                        <a:ea typeface="Carlito" charset="0"/>
                        <a:cs typeface="Carlito" charset="0"/>
                      </a:endParaRPr>
                    </a:p>
                  </a:txBody>
                  <a:tcPr marL="85725" marR="114300" marT="114300" marB="85725" anchor="ctr">
                    <a:lnL w="6350" cap="flat" cmpd="sng" algn="ctr">
                      <a:solidFill>
                        <a:srgbClr val="1F2937"/>
                      </a:solidFill>
                      <a:prstDash val="solid"/>
                      <a:round/>
                      <a:headEnd type="none" w="med" len="med"/>
                      <a:tailEnd type="none" w="med" len="med"/>
                    </a:lnL>
                    <a:lnR w="6350" cap="flat" cmpd="sng" algn="ctr">
                      <a:solidFill>
                        <a:srgbClr val="1F2937"/>
                      </a:solidFill>
                      <a:prstDash val="solid"/>
                      <a:round/>
                      <a:headEnd type="none" w="med" len="med"/>
                      <a:tailEnd type="none" w="med" len="med"/>
                    </a:lnR>
                    <a:lnT w="6350" cap="flat" cmpd="sng" algn="ctr">
                      <a:solidFill>
                        <a:srgbClr val="1F2937"/>
                      </a:solidFill>
                      <a:prstDash val="solid"/>
                      <a:round/>
                      <a:headEnd type="none" w="med" len="med"/>
                      <a:tailEnd type="none" w="med" len="med"/>
                    </a:lnT>
                    <a:lnB w="6350" cap="flat" cmpd="sng" algn="ctr">
                      <a:solidFill>
                        <a:srgbClr val="1F2937"/>
                      </a:solidFill>
                      <a:prstDash val="solid"/>
                      <a:round/>
                      <a:headEnd type="none" w="med" len="med"/>
                      <a:tailEnd type="none" w="med" len="med"/>
                    </a:lnB>
                  </a:tcPr>
                </a:tc>
                <a:tc>
                  <a:txBody>
                    <a:bodyPr/>
                    <a:lstStyle/>
                    <a:p>
                      <a:pPr algn="l" indent="0" marL="0">
                        <a:buNone/>
                      </a:pPr>
                      <a:r>
                        <a:rPr lang="en-US" sz="800" b="1" dirty="0">
                          <a:solidFill>
                            <a:srgbClr val="FFFFFF"/>
                          </a:solidFill>
                          <a:latin typeface="Carlito" pitchFamily="34" charset="0"/>
                          <a:ea typeface="Carlito" pitchFamily="34" charset="-122"/>
                          <a:cs typeface="Carlito" pitchFamily="34" charset="-120"/>
                        </a:rPr>
                        <a:t>What MassaPro replaces it with</a:t>
                      </a:r>
                      <a:endParaRPr lang="en-US" sz="800" dirty="0">
                        <a:latin typeface="Carlito" charset="0"/>
                        <a:ea typeface="Carlito" charset="0"/>
                        <a:cs typeface="Carlito" charset="0"/>
                      </a:endParaRPr>
                    </a:p>
                  </a:txBody>
                  <a:tcPr marL="85725" marR="114300" marT="114300" marB="85725" anchor="ctr">
                    <a:lnL w="6350" cap="flat" cmpd="sng" algn="ctr">
                      <a:solidFill>
                        <a:srgbClr val="1F2937"/>
                      </a:solidFill>
                      <a:prstDash val="solid"/>
                      <a:round/>
                      <a:headEnd type="none" w="med" len="med"/>
                      <a:tailEnd type="none" w="med" len="med"/>
                    </a:lnL>
                    <a:lnR w="6350" cap="flat" cmpd="sng" algn="ctr">
                      <a:solidFill>
                        <a:srgbClr val="1F2937"/>
                      </a:solidFill>
                      <a:prstDash val="solid"/>
                      <a:round/>
                      <a:headEnd type="none" w="med" len="med"/>
                      <a:tailEnd type="none" w="med" len="med"/>
                    </a:lnR>
                    <a:lnT w="6350" cap="flat" cmpd="sng" algn="ctr">
                      <a:solidFill>
                        <a:srgbClr val="1F2937"/>
                      </a:solidFill>
                      <a:prstDash val="solid"/>
                      <a:round/>
                      <a:headEnd type="none" w="med" len="med"/>
                      <a:tailEnd type="none" w="med" len="med"/>
                    </a:lnT>
                    <a:lnB w="6350" cap="flat" cmpd="sng" algn="ctr">
                      <a:solidFill>
                        <a:srgbClr val="1F2937"/>
                      </a:solidFill>
                      <a:prstDash val="solid"/>
                      <a:round/>
                      <a:headEnd type="none" w="med" len="med"/>
                      <a:tailEnd type="none" w="med" len="med"/>
                    </a:lnB>
                  </a:tcPr>
                </a:tc>
              </a:tr>
              <a:tr h="0">
                <a:tc>
                  <a:txBody>
                    <a:bodyPr/>
                    <a:lstStyle/>
                    <a:p>
                      <a:pPr algn="l" indent="0" marL="0">
                        <a:buNone/>
                      </a:pPr>
                      <a:r>
                        <a:rPr lang="en-US" sz="800" dirty="0">
                          <a:solidFill>
                            <a:srgbClr val="991B1B"/>
                          </a:solidFill>
                          <a:latin typeface="Carlito" pitchFamily="34" charset="0"/>
                          <a:ea typeface="Carlito" pitchFamily="34" charset="-122"/>
                          <a:cs typeface="Carlito" pitchFamily="34" charset="-120"/>
                        </a:rPr>
                        <a:t>Predictive dialer license</a:t>
                      </a:r>
                      <a:endParaRPr lang="en-US" sz="800" dirty="0">
                        <a:latin typeface="Carlito" charset="0"/>
                        <a:ea typeface="Carlito" charset="0"/>
                        <a:cs typeface="Carlito" charset="0"/>
                      </a:endParaRPr>
                    </a:p>
                  </a:txBody>
                  <a:tcPr marL="71438" marR="114300" marT="114300" marB="71438" anchor="ctr">
                    <a:lnL w="6350" cap="flat" cmpd="sng" algn="ctr">
                      <a:solidFill>
                        <a:srgbClr val="1F2937"/>
                      </a:solidFill>
                      <a:prstDash val="solid"/>
                      <a:round/>
                      <a:headEnd type="none" w="med" len="med"/>
                      <a:tailEnd type="none" w="med" len="med"/>
                    </a:lnL>
                    <a:lnR w="6350" cap="flat" cmpd="sng" algn="ctr">
                      <a:solidFill>
                        <a:srgbClr val="1F2937"/>
                      </a:solidFill>
                      <a:prstDash val="solid"/>
                      <a:round/>
                      <a:headEnd type="none" w="med" len="med"/>
                      <a:tailEnd type="none" w="med" len="med"/>
                    </a:lnR>
                    <a:lnT w="6350" cap="flat" cmpd="sng" algn="ctr">
                      <a:solidFill>
                        <a:srgbClr val="1F2937"/>
                      </a:solidFill>
                      <a:prstDash val="solid"/>
                      <a:round/>
                      <a:headEnd type="none" w="med" len="med"/>
                      <a:tailEnd type="none" w="med" len="med"/>
                    </a:lnT>
                    <a:lnB w="6350" cap="flat" cmpd="sng" algn="ctr">
                      <a:solidFill>
                        <a:srgbClr val="1F2937"/>
                      </a:solidFill>
                      <a:prstDash val="solid"/>
                      <a:round/>
                      <a:headEnd type="none" w="med" len="med"/>
                      <a:tailEnd type="none" w="med" len="med"/>
                    </a:lnB>
                  </a:tcPr>
                </a:tc>
                <a:tc>
                  <a:txBody>
                    <a:bodyPr/>
                    <a:lstStyle/>
                    <a:p>
                      <a:pPr algn="l" indent="0" marL="0">
                        <a:buNone/>
                      </a:pPr>
                      <a:r>
                        <a:rPr lang="en-US" sz="800" dirty="0">
                          <a:solidFill>
                            <a:srgbClr val="1F2937"/>
                          </a:solidFill>
                          <a:latin typeface="Carlito" pitchFamily="34" charset="0"/>
                          <a:ea typeface="Carlito" pitchFamily="34" charset="-122"/>
                          <a:cs typeface="Carlito" pitchFamily="34" charset="-120"/>
                        </a:rPr>
                        <a:t>Native outbound voice + omnichannel orchestration</a:t>
                      </a:r>
                      <a:endParaRPr lang="en-US" sz="800" dirty="0">
                        <a:latin typeface="Carlito" charset="0"/>
                        <a:ea typeface="Carlito" charset="0"/>
                        <a:cs typeface="Carlito" charset="0"/>
                      </a:endParaRPr>
                    </a:p>
                  </a:txBody>
                  <a:tcPr marL="71438" marR="114300" marT="114300" marB="71438" anchor="ctr">
                    <a:lnL w="6350" cap="flat" cmpd="sng" algn="ctr">
                      <a:solidFill>
                        <a:srgbClr val="1F2937"/>
                      </a:solidFill>
                      <a:prstDash val="solid"/>
                      <a:round/>
                      <a:headEnd type="none" w="med" len="med"/>
                      <a:tailEnd type="none" w="med" len="med"/>
                    </a:lnL>
                    <a:lnR w="6350" cap="flat" cmpd="sng" algn="ctr">
                      <a:solidFill>
                        <a:srgbClr val="1F2937"/>
                      </a:solidFill>
                      <a:prstDash val="solid"/>
                      <a:round/>
                      <a:headEnd type="none" w="med" len="med"/>
                      <a:tailEnd type="none" w="med" len="med"/>
                    </a:lnR>
                    <a:lnT w="6350" cap="flat" cmpd="sng" algn="ctr">
                      <a:solidFill>
                        <a:srgbClr val="1F2937"/>
                      </a:solidFill>
                      <a:prstDash val="solid"/>
                      <a:round/>
                      <a:headEnd type="none" w="med" len="med"/>
                      <a:tailEnd type="none" w="med" len="med"/>
                    </a:lnT>
                    <a:lnB w="6350" cap="flat" cmpd="sng" algn="ctr">
                      <a:solidFill>
                        <a:srgbClr val="1F2937"/>
                      </a:solidFill>
                      <a:prstDash val="solid"/>
                      <a:round/>
                      <a:headEnd type="none" w="med" len="med"/>
                      <a:tailEnd type="none" w="med" len="med"/>
                    </a:lnB>
                  </a:tcPr>
                </a:tc>
              </a:tr>
              <a:tr h="0">
                <a:tc>
                  <a:txBody>
                    <a:bodyPr/>
                    <a:lstStyle/>
                    <a:p>
                      <a:pPr algn="l" indent="0" marL="0">
                        <a:buNone/>
                      </a:pPr>
                      <a:r>
                        <a:rPr lang="en-US" sz="800" dirty="0">
                          <a:solidFill>
                            <a:srgbClr val="991B1B"/>
                          </a:solidFill>
                          <a:latin typeface="Carlito" pitchFamily="34" charset="0"/>
                          <a:ea typeface="Carlito" pitchFamily="34" charset="-122"/>
                          <a:cs typeface="Carlito" pitchFamily="34" charset="-120"/>
                        </a:rPr>
                        <a:t>Call center platform (Genesys, Five9, NICE)</a:t>
                      </a:r>
                      <a:endParaRPr lang="en-US" sz="800" dirty="0">
                        <a:latin typeface="Carlito" charset="0"/>
                        <a:ea typeface="Carlito" charset="0"/>
                        <a:cs typeface="Carlito" charset="0"/>
                      </a:endParaRPr>
                    </a:p>
                  </a:txBody>
                  <a:tcPr marL="71438" marR="114300" marT="114300" marB="71438" anchor="ctr">
                    <a:lnL w="6350" cap="flat" cmpd="sng" algn="ctr">
                      <a:solidFill>
                        <a:srgbClr val="1F2937"/>
                      </a:solidFill>
                      <a:prstDash val="solid"/>
                      <a:round/>
                      <a:headEnd type="none" w="med" len="med"/>
                      <a:tailEnd type="none" w="med" len="med"/>
                    </a:lnL>
                    <a:lnR w="6350" cap="flat" cmpd="sng" algn="ctr">
                      <a:solidFill>
                        <a:srgbClr val="1F2937"/>
                      </a:solidFill>
                      <a:prstDash val="solid"/>
                      <a:round/>
                      <a:headEnd type="none" w="med" len="med"/>
                      <a:tailEnd type="none" w="med" len="med"/>
                    </a:lnR>
                    <a:lnT w="6350" cap="flat" cmpd="sng" algn="ctr">
                      <a:solidFill>
                        <a:srgbClr val="1F2937"/>
                      </a:solidFill>
                      <a:prstDash val="solid"/>
                      <a:round/>
                      <a:headEnd type="none" w="med" len="med"/>
                      <a:tailEnd type="none" w="med" len="med"/>
                    </a:lnT>
                    <a:lnB w="6350" cap="flat" cmpd="sng" algn="ctr">
                      <a:solidFill>
                        <a:srgbClr val="1F2937"/>
                      </a:solidFill>
                      <a:prstDash val="solid"/>
                      <a:round/>
                      <a:headEnd type="none" w="med" len="med"/>
                      <a:tailEnd type="none" w="med" len="med"/>
                    </a:lnB>
                  </a:tcPr>
                </a:tc>
                <a:tc>
                  <a:txBody>
                    <a:bodyPr/>
                    <a:lstStyle/>
                    <a:p>
                      <a:pPr algn="l" indent="0" marL="0">
                        <a:buNone/>
                      </a:pPr>
                      <a:r>
                        <a:rPr lang="en-US" sz="800" dirty="0">
                          <a:solidFill>
                            <a:srgbClr val="1F2937"/>
                          </a:solidFill>
                          <a:latin typeface="Carlito" pitchFamily="34" charset="0"/>
                          <a:ea typeface="Carlito" pitchFamily="34" charset="-122"/>
                          <a:cs typeface="Carlito" pitchFamily="34" charset="-120"/>
                        </a:rPr>
                        <a:t>MassaPro agentic workforce + Omni execution layer</a:t>
                      </a:r>
                      <a:endParaRPr lang="en-US" sz="800" dirty="0">
                        <a:latin typeface="Carlito" charset="0"/>
                        <a:ea typeface="Carlito" charset="0"/>
                        <a:cs typeface="Carlito" charset="0"/>
                      </a:endParaRPr>
                    </a:p>
                  </a:txBody>
                  <a:tcPr marL="71438" marR="114300" marT="114300" marB="71438" anchor="ctr">
                    <a:lnL w="6350" cap="flat" cmpd="sng" algn="ctr">
                      <a:solidFill>
                        <a:srgbClr val="1F2937"/>
                      </a:solidFill>
                      <a:prstDash val="solid"/>
                      <a:round/>
                      <a:headEnd type="none" w="med" len="med"/>
                      <a:tailEnd type="none" w="med" len="med"/>
                    </a:lnL>
                    <a:lnR w="6350" cap="flat" cmpd="sng" algn="ctr">
                      <a:solidFill>
                        <a:srgbClr val="1F2937"/>
                      </a:solidFill>
                      <a:prstDash val="solid"/>
                      <a:round/>
                      <a:headEnd type="none" w="med" len="med"/>
                      <a:tailEnd type="none" w="med" len="med"/>
                    </a:lnR>
                    <a:lnT w="6350" cap="flat" cmpd="sng" algn="ctr">
                      <a:solidFill>
                        <a:srgbClr val="1F2937"/>
                      </a:solidFill>
                      <a:prstDash val="solid"/>
                      <a:round/>
                      <a:headEnd type="none" w="med" len="med"/>
                      <a:tailEnd type="none" w="med" len="med"/>
                    </a:lnT>
                    <a:lnB w="6350" cap="flat" cmpd="sng" algn="ctr">
                      <a:solidFill>
                        <a:srgbClr val="1F2937"/>
                      </a:solidFill>
                      <a:prstDash val="solid"/>
                      <a:round/>
                      <a:headEnd type="none" w="med" len="med"/>
                      <a:tailEnd type="none" w="med" len="med"/>
                    </a:lnB>
                  </a:tcPr>
                </a:tc>
              </a:tr>
              <a:tr h="0">
                <a:tc>
                  <a:txBody>
                    <a:bodyPr/>
                    <a:lstStyle/>
                    <a:p>
                      <a:pPr algn="l" indent="0" marL="0">
                        <a:buNone/>
                      </a:pPr>
                      <a:r>
                        <a:rPr lang="en-US" sz="800" dirty="0">
                          <a:solidFill>
                            <a:srgbClr val="991B1B"/>
                          </a:solidFill>
                          <a:latin typeface="Carlito" pitchFamily="34" charset="0"/>
                          <a:ea typeface="Carlito" pitchFamily="34" charset="-122"/>
                          <a:cs typeface="Carlito" pitchFamily="34" charset="-120"/>
                        </a:rPr>
                        <a:t>Conversation intelligence (Gong, Chorus)</a:t>
                      </a:r>
                      <a:endParaRPr lang="en-US" sz="800" dirty="0">
                        <a:latin typeface="Carlito" charset="0"/>
                        <a:ea typeface="Carlito" charset="0"/>
                        <a:cs typeface="Carlito" charset="0"/>
                      </a:endParaRPr>
                    </a:p>
                  </a:txBody>
                  <a:tcPr marL="71438" marR="114300" marT="114300" marB="71438" anchor="ctr">
                    <a:lnL w="6350" cap="flat" cmpd="sng" algn="ctr">
                      <a:solidFill>
                        <a:srgbClr val="1F2937"/>
                      </a:solidFill>
                      <a:prstDash val="solid"/>
                      <a:round/>
                      <a:headEnd type="none" w="med" len="med"/>
                      <a:tailEnd type="none" w="med" len="med"/>
                    </a:lnL>
                    <a:lnR w="6350" cap="flat" cmpd="sng" algn="ctr">
                      <a:solidFill>
                        <a:srgbClr val="1F2937"/>
                      </a:solidFill>
                      <a:prstDash val="solid"/>
                      <a:round/>
                      <a:headEnd type="none" w="med" len="med"/>
                      <a:tailEnd type="none" w="med" len="med"/>
                    </a:lnR>
                    <a:lnT w="6350" cap="flat" cmpd="sng" algn="ctr">
                      <a:solidFill>
                        <a:srgbClr val="1F2937"/>
                      </a:solidFill>
                      <a:prstDash val="solid"/>
                      <a:round/>
                      <a:headEnd type="none" w="med" len="med"/>
                      <a:tailEnd type="none" w="med" len="med"/>
                    </a:lnT>
                    <a:lnB w="6350" cap="flat" cmpd="sng" algn="ctr">
                      <a:solidFill>
                        <a:srgbClr val="1F2937"/>
                      </a:solidFill>
                      <a:prstDash val="solid"/>
                      <a:round/>
                      <a:headEnd type="none" w="med" len="med"/>
                      <a:tailEnd type="none" w="med" len="med"/>
                    </a:lnB>
                  </a:tcPr>
                </a:tc>
                <a:tc>
                  <a:txBody>
                    <a:bodyPr/>
                    <a:lstStyle/>
                    <a:p>
                      <a:pPr algn="l" indent="0" marL="0">
                        <a:buNone/>
                      </a:pPr>
                      <a:r>
                        <a:rPr lang="en-US" sz="800" dirty="0">
                          <a:solidFill>
                            <a:srgbClr val="1F2937"/>
                          </a:solidFill>
                          <a:latin typeface="Carlito" pitchFamily="34" charset="0"/>
                          <a:ea typeface="Carlito" pitchFamily="34" charset="-122"/>
                          <a:cs typeface="Carlito" pitchFamily="34" charset="-120"/>
                        </a:rPr>
                        <a:t>AI Analytics baked into every interaction, in real time</a:t>
                      </a:r>
                      <a:endParaRPr lang="en-US" sz="800" dirty="0">
                        <a:latin typeface="Carlito" charset="0"/>
                        <a:ea typeface="Carlito" charset="0"/>
                        <a:cs typeface="Carlito" charset="0"/>
                      </a:endParaRPr>
                    </a:p>
                  </a:txBody>
                  <a:tcPr marL="71438" marR="114300" marT="114300" marB="71438" anchor="ctr">
                    <a:lnL w="6350" cap="flat" cmpd="sng" algn="ctr">
                      <a:solidFill>
                        <a:srgbClr val="1F2937"/>
                      </a:solidFill>
                      <a:prstDash val="solid"/>
                      <a:round/>
                      <a:headEnd type="none" w="med" len="med"/>
                      <a:tailEnd type="none" w="med" len="med"/>
                    </a:lnL>
                    <a:lnR w="6350" cap="flat" cmpd="sng" algn="ctr">
                      <a:solidFill>
                        <a:srgbClr val="1F2937"/>
                      </a:solidFill>
                      <a:prstDash val="solid"/>
                      <a:round/>
                      <a:headEnd type="none" w="med" len="med"/>
                      <a:tailEnd type="none" w="med" len="med"/>
                    </a:lnR>
                    <a:lnT w="6350" cap="flat" cmpd="sng" algn="ctr">
                      <a:solidFill>
                        <a:srgbClr val="1F2937"/>
                      </a:solidFill>
                      <a:prstDash val="solid"/>
                      <a:round/>
                      <a:headEnd type="none" w="med" len="med"/>
                      <a:tailEnd type="none" w="med" len="med"/>
                    </a:lnT>
                    <a:lnB w="6350" cap="flat" cmpd="sng" algn="ctr">
                      <a:solidFill>
                        <a:srgbClr val="1F2937"/>
                      </a:solidFill>
                      <a:prstDash val="solid"/>
                      <a:round/>
                      <a:headEnd type="none" w="med" len="med"/>
                      <a:tailEnd type="none" w="med" len="med"/>
                    </a:lnB>
                  </a:tcPr>
                </a:tc>
              </a:tr>
              <a:tr h="0">
                <a:tc>
                  <a:txBody>
                    <a:bodyPr/>
                    <a:lstStyle/>
                    <a:p>
                      <a:pPr algn="l" indent="0" marL="0">
                        <a:buNone/>
                      </a:pPr>
                      <a:r>
                        <a:rPr lang="en-US" sz="800" dirty="0">
                          <a:solidFill>
                            <a:srgbClr val="991B1B"/>
                          </a:solidFill>
                          <a:latin typeface="Carlito" pitchFamily="34" charset="0"/>
                          <a:ea typeface="Carlito" pitchFamily="34" charset="-122"/>
                          <a:cs typeface="Carlito" pitchFamily="34" charset="-120"/>
                        </a:rPr>
                        <a:t>QA / scorecard tool</a:t>
                      </a:r>
                      <a:endParaRPr lang="en-US" sz="800" dirty="0">
                        <a:latin typeface="Carlito" charset="0"/>
                        <a:ea typeface="Carlito" charset="0"/>
                        <a:cs typeface="Carlito" charset="0"/>
                      </a:endParaRPr>
                    </a:p>
                  </a:txBody>
                  <a:tcPr marL="71438" marR="114300" marT="114300" marB="71438" anchor="ctr">
                    <a:lnL w="6350" cap="flat" cmpd="sng" algn="ctr">
                      <a:solidFill>
                        <a:srgbClr val="1F2937"/>
                      </a:solidFill>
                      <a:prstDash val="solid"/>
                      <a:round/>
                      <a:headEnd type="none" w="med" len="med"/>
                      <a:tailEnd type="none" w="med" len="med"/>
                    </a:lnL>
                    <a:lnR w="6350" cap="flat" cmpd="sng" algn="ctr">
                      <a:solidFill>
                        <a:srgbClr val="1F2937"/>
                      </a:solidFill>
                      <a:prstDash val="solid"/>
                      <a:round/>
                      <a:headEnd type="none" w="med" len="med"/>
                      <a:tailEnd type="none" w="med" len="med"/>
                    </a:lnR>
                    <a:lnT w="6350" cap="flat" cmpd="sng" algn="ctr">
                      <a:solidFill>
                        <a:srgbClr val="1F2937"/>
                      </a:solidFill>
                      <a:prstDash val="solid"/>
                      <a:round/>
                      <a:headEnd type="none" w="med" len="med"/>
                      <a:tailEnd type="none" w="med" len="med"/>
                    </a:lnT>
                    <a:lnB w="6350" cap="flat" cmpd="sng" algn="ctr">
                      <a:solidFill>
                        <a:srgbClr val="1F2937"/>
                      </a:solidFill>
                      <a:prstDash val="solid"/>
                      <a:round/>
                      <a:headEnd type="none" w="med" len="med"/>
                      <a:tailEnd type="none" w="med" len="med"/>
                    </a:lnB>
                  </a:tcPr>
                </a:tc>
                <a:tc>
                  <a:txBody>
                    <a:bodyPr/>
                    <a:lstStyle/>
                    <a:p>
                      <a:pPr algn="l" indent="0" marL="0">
                        <a:buNone/>
                      </a:pPr>
                      <a:r>
                        <a:rPr lang="en-US" sz="800" dirty="0">
                          <a:solidFill>
                            <a:srgbClr val="1F2937"/>
                          </a:solidFill>
                          <a:latin typeface="Carlito" pitchFamily="34" charset="0"/>
                          <a:ea typeface="Carlito" pitchFamily="34" charset="-122"/>
                          <a:cs typeface="Carlito" pitchFamily="34" charset="-120"/>
                        </a:rPr>
                        <a:t>AI Quality automated scorecards on 100% of interactions</a:t>
                      </a:r>
                      <a:endParaRPr lang="en-US" sz="800" dirty="0">
                        <a:latin typeface="Carlito" charset="0"/>
                        <a:ea typeface="Carlito" charset="0"/>
                        <a:cs typeface="Carlito" charset="0"/>
                      </a:endParaRPr>
                    </a:p>
                  </a:txBody>
                  <a:tcPr marL="71438" marR="114300" marT="114300" marB="71438" anchor="ctr">
                    <a:lnL w="6350" cap="flat" cmpd="sng" algn="ctr">
                      <a:solidFill>
                        <a:srgbClr val="1F2937"/>
                      </a:solidFill>
                      <a:prstDash val="solid"/>
                      <a:round/>
                      <a:headEnd type="none" w="med" len="med"/>
                      <a:tailEnd type="none" w="med" len="med"/>
                    </a:lnL>
                    <a:lnR w="6350" cap="flat" cmpd="sng" algn="ctr">
                      <a:solidFill>
                        <a:srgbClr val="1F2937"/>
                      </a:solidFill>
                      <a:prstDash val="solid"/>
                      <a:round/>
                      <a:headEnd type="none" w="med" len="med"/>
                      <a:tailEnd type="none" w="med" len="med"/>
                    </a:lnR>
                    <a:lnT w="6350" cap="flat" cmpd="sng" algn="ctr">
                      <a:solidFill>
                        <a:srgbClr val="1F2937"/>
                      </a:solidFill>
                      <a:prstDash val="solid"/>
                      <a:round/>
                      <a:headEnd type="none" w="med" len="med"/>
                      <a:tailEnd type="none" w="med" len="med"/>
                    </a:lnT>
                    <a:lnB w="6350" cap="flat" cmpd="sng" algn="ctr">
                      <a:solidFill>
                        <a:srgbClr val="1F2937"/>
                      </a:solidFill>
                      <a:prstDash val="solid"/>
                      <a:round/>
                      <a:headEnd type="none" w="med" len="med"/>
                      <a:tailEnd type="none" w="med" len="med"/>
                    </a:lnB>
                  </a:tcPr>
                </a:tc>
              </a:tr>
              <a:tr h="0">
                <a:tc>
                  <a:txBody>
                    <a:bodyPr/>
                    <a:lstStyle/>
                    <a:p>
                      <a:pPr algn="l" indent="0" marL="0">
                        <a:buNone/>
                      </a:pPr>
                      <a:r>
                        <a:rPr lang="en-US" sz="800" dirty="0">
                          <a:solidFill>
                            <a:srgbClr val="991B1B"/>
                          </a:solidFill>
                          <a:latin typeface="Carlito" pitchFamily="34" charset="0"/>
                          <a:ea typeface="Carlito" pitchFamily="34" charset="-122"/>
                          <a:cs typeface="Carlito" pitchFamily="34" charset="-120"/>
                        </a:rPr>
                        <a:t>Reporting &amp; BI dashboards</a:t>
                      </a:r>
                      <a:endParaRPr lang="en-US" sz="800" dirty="0">
                        <a:latin typeface="Carlito" charset="0"/>
                        <a:ea typeface="Carlito" charset="0"/>
                        <a:cs typeface="Carlito" charset="0"/>
                      </a:endParaRPr>
                    </a:p>
                  </a:txBody>
                  <a:tcPr marL="71438" marR="114300" marT="114300" marB="71438" anchor="ctr">
                    <a:lnL w="6350" cap="flat" cmpd="sng" algn="ctr">
                      <a:solidFill>
                        <a:srgbClr val="1F2937"/>
                      </a:solidFill>
                      <a:prstDash val="solid"/>
                      <a:round/>
                      <a:headEnd type="none" w="med" len="med"/>
                      <a:tailEnd type="none" w="med" len="med"/>
                    </a:lnL>
                    <a:lnR w="6350" cap="flat" cmpd="sng" algn="ctr">
                      <a:solidFill>
                        <a:srgbClr val="1F2937"/>
                      </a:solidFill>
                      <a:prstDash val="solid"/>
                      <a:round/>
                      <a:headEnd type="none" w="med" len="med"/>
                      <a:tailEnd type="none" w="med" len="med"/>
                    </a:lnR>
                    <a:lnT w="6350" cap="flat" cmpd="sng" algn="ctr">
                      <a:solidFill>
                        <a:srgbClr val="1F2937"/>
                      </a:solidFill>
                      <a:prstDash val="solid"/>
                      <a:round/>
                      <a:headEnd type="none" w="med" len="med"/>
                      <a:tailEnd type="none" w="med" len="med"/>
                    </a:lnT>
                    <a:lnB w="6350" cap="flat" cmpd="sng" algn="ctr">
                      <a:solidFill>
                        <a:srgbClr val="1F2937"/>
                      </a:solidFill>
                      <a:prstDash val="solid"/>
                      <a:round/>
                      <a:headEnd type="none" w="med" len="med"/>
                      <a:tailEnd type="none" w="med" len="med"/>
                    </a:lnB>
                  </a:tcPr>
                </a:tc>
                <a:tc>
                  <a:txBody>
                    <a:bodyPr/>
                    <a:lstStyle/>
                    <a:p>
                      <a:pPr algn="l" indent="0" marL="0">
                        <a:buNone/>
                      </a:pPr>
                      <a:r>
                        <a:rPr lang="en-US" sz="800" dirty="0">
                          <a:solidFill>
                            <a:srgbClr val="1F2937"/>
                          </a:solidFill>
                          <a:latin typeface="Carlito" pitchFamily="34" charset="0"/>
                          <a:ea typeface="Carlito" pitchFamily="34" charset="-122"/>
                          <a:cs typeface="Carlito" pitchFamily="34" charset="-120"/>
                        </a:rPr>
                        <a:t>Native dashboards + Clara conversational analytics assistant</a:t>
                      </a:r>
                      <a:endParaRPr lang="en-US" sz="800" dirty="0">
                        <a:latin typeface="Carlito" charset="0"/>
                        <a:ea typeface="Carlito" charset="0"/>
                        <a:cs typeface="Carlito" charset="0"/>
                      </a:endParaRPr>
                    </a:p>
                  </a:txBody>
                  <a:tcPr marL="71438" marR="114300" marT="114300" marB="71438" anchor="ctr">
                    <a:lnL w="6350" cap="flat" cmpd="sng" algn="ctr">
                      <a:solidFill>
                        <a:srgbClr val="1F2937"/>
                      </a:solidFill>
                      <a:prstDash val="solid"/>
                      <a:round/>
                      <a:headEnd type="none" w="med" len="med"/>
                      <a:tailEnd type="none" w="med" len="med"/>
                    </a:lnL>
                    <a:lnR w="6350" cap="flat" cmpd="sng" algn="ctr">
                      <a:solidFill>
                        <a:srgbClr val="1F2937"/>
                      </a:solidFill>
                      <a:prstDash val="solid"/>
                      <a:round/>
                      <a:headEnd type="none" w="med" len="med"/>
                      <a:tailEnd type="none" w="med" len="med"/>
                    </a:lnR>
                    <a:lnT w="6350" cap="flat" cmpd="sng" algn="ctr">
                      <a:solidFill>
                        <a:srgbClr val="1F2937"/>
                      </a:solidFill>
                      <a:prstDash val="solid"/>
                      <a:round/>
                      <a:headEnd type="none" w="med" len="med"/>
                      <a:tailEnd type="none" w="med" len="med"/>
                    </a:lnT>
                    <a:lnB w="6350" cap="flat" cmpd="sng" algn="ctr">
                      <a:solidFill>
                        <a:srgbClr val="1F2937"/>
                      </a:solidFill>
                      <a:prstDash val="solid"/>
                      <a:round/>
                      <a:headEnd type="none" w="med" len="med"/>
                      <a:tailEnd type="none" w="med" len="med"/>
                    </a:lnB>
                  </a:tcPr>
                </a:tc>
              </a:tr>
              <a:tr h="0">
                <a:tc>
                  <a:txBody>
                    <a:bodyPr/>
                    <a:lstStyle/>
                    <a:p>
                      <a:pPr algn="l" indent="0" marL="0">
                        <a:buNone/>
                      </a:pPr>
                      <a:r>
                        <a:rPr lang="en-US" sz="800" dirty="0">
                          <a:solidFill>
                            <a:srgbClr val="991B1B"/>
                          </a:solidFill>
                          <a:latin typeface="Carlito" pitchFamily="34" charset="0"/>
                          <a:ea typeface="Carlito" pitchFamily="34" charset="-122"/>
                          <a:cs typeface="Carlito" pitchFamily="34" charset="-120"/>
                        </a:rPr>
                        <a:t>Licensed LLM tokens (OpenAI, Anthropic)</a:t>
                      </a:r>
                      <a:endParaRPr lang="en-US" sz="800" dirty="0">
                        <a:latin typeface="Carlito" charset="0"/>
                        <a:ea typeface="Carlito" charset="0"/>
                        <a:cs typeface="Carlito" charset="0"/>
                      </a:endParaRPr>
                    </a:p>
                  </a:txBody>
                  <a:tcPr marL="71438" marR="114300" marT="114300" marB="71438" anchor="ctr">
                    <a:lnL w="6350" cap="flat" cmpd="sng" algn="ctr">
                      <a:solidFill>
                        <a:srgbClr val="1F2937"/>
                      </a:solidFill>
                      <a:prstDash val="solid"/>
                      <a:round/>
                      <a:headEnd type="none" w="med" len="med"/>
                      <a:tailEnd type="none" w="med" len="med"/>
                    </a:lnL>
                    <a:lnR w="6350" cap="flat" cmpd="sng" algn="ctr">
                      <a:solidFill>
                        <a:srgbClr val="1F2937"/>
                      </a:solidFill>
                      <a:prstDash val="solid"/>
                      <a:round/>
                      <a:headEnd type="none" w="med" len="med"/>
                      <a:tailEnd type="none" w="med" len="med"/>
                    </a:lnR>
                    <a:lnT w="6350" cap="flat" cmpd="sng" algn="ctr">
                      <a:solidFill>
                        <a:srgbClr val="1F2937"/>
                      </a:solidFill>
                      <a:prstDash val="solid"/>
                      <a:round/>
                      <a:headEnd type="none" w="med" len="med"/>
                      <a:tailEnd type="none" w="med" len="med"/>
                    </a:lnT>
                    <a:lnB w="6350" cap="flat" cmpd="sng" algn="ctr">
                      <a:solidFill>
                        <a:srgbClr val="1F2937"/>
                      </a:solidFill>
                      <a:prstDash val="solid"/>
                      <a:round/>
                      <a:headEnd type="none" w="med" len="med"/>
                      <a:tailEnd type="none" w="med" len="med"/>
                    </a:lnB>
                  </a:tcPr>
                </a:tc>
                <a:tc>
                  <a:txBody>
                    <a:bodyPr/>
                    <a:lstStyle/>
                    <a:p>
                      <a:pPr algn="l" indent="0" marL="0">
                        <a:buNone/>
                      </a:pPr>
                      <a:r>
                        <a:rPr lang="en-US" sz="800" dirty="0">
                          <a:solidFill>
                            <a:srgbClr val="1F2937"/>
                          </a:solidFill>
                          <a:latin typeface="Carlito" pitchFamily="34" charset="0"/>
                          <a:ea typeface="Carlito" pitchFamily="34" charset="-122"/>
                          <a:cs typeface="Carlito" pitchFamily="34" charset="-120"/>
                        </a:rPr>
                        <a:t>MassaPro proprietary LLM — no per-token billing</a:t>
                      </a:r>
                      <a:endParaRPr lang="en-US" sz="800" dirty="0">
                        <a:latin typeface="Carlito" charset="0"/>
                        <a:ea typeface="Carlito" charset="0"/>
                        <a:cs typeface="Carlito" charset="0"/>
                      </a:endParaRPr>
                    </a:p>
                  </a:txBody>
                  <a:tcPr marL="71438" marR="114300" marT="114300" marB="71438" anchor="ctr">
                    <a:lnL w="6350" cap="flat" cmpd="sng" algn="ctr">
                      <a:solidFill>
                        <a:srgbClr val="1F2937"/>
                      </a:solidFill>
                      <a:prstDash val="solid"/>
                      <a:round/>
                      <a:headEnd type="none" w="med" len="med"/>
                      <a:tailEnd type="none" w="med" len="med"/>
                    </a:lnL>
                    <a:lnR w="6350" cap="flat" cmpd="sng" algn="ctr">
                      <a:solidFill>
                        <a:srgbClr val="1F2937"/>
                      </a:solidFill>
                      <a:prstDash val="solid"/>
                      <a:round/>
                      <a:headEnd type="none" w="med" len="med"/>
                      <a:tailEnd type="none" w="med" len="med"/>
                    </a:lnR>
                    <a:lnT w="6350" cap="flat" cmpd="sng" algn="ctr">
                      <a:solidFill>
                        <a:srgbClr val="1F2937"/>
                      </a:solidFill>
                      <a:prstDash val="solid"/>
                      <a:round/>
                      <a:headEnd type="none" w="med" len="med"/>
                      <a:tailEnd type="none" w="med" len="med"/>
                    </a:lnT>
                    <a:lnB w="6350" cap="flat" cmpd="sng" algn="ctr">
                      <a:solidFill>
                        <a:srgbClr val="1F2937"/>
                      </a:solidFill>
                      <a:prstDash val="solid"/>
                      <a:round/>
                      <a:headEnd type="none" w="med" len="med"/>
                      <a:tailEnd type="none" w="med" len="med"/>
                    </a:lnB>
                  </a:tcPr>
                </a:tc>
              </a:tr>
              <a:tr h="0">
                <a:tc>
                  <a:txBody>
                    <a:bodyPr/>
                    <a:lstStyle/>
                    <a:p>
                      <a:pPr algn="l" indent="0" marL="0">
                        <a:buNone/>
                      </a:pPr>
                      <a:r>
                        <a:rPr lang="en-US" sz="800" dirty="0">
                          <a:solidFill>
                            <a:srgbClr val="991B1B"/>
                          </a:solidFill>
                          <a:latin typeface="Carlito" pitchFamily="34" charset="0"/>
                          <a:ea typeface="Carlito" pitchFamily="34" charset="-122"/>
                          <a:cs typeface="Carlito" pitchFamily="34" charset="-120"/>
                        </a:rPr>
                        <a:t>Voice recognition vendor (Deepgram, AssemblyAI)</a:t>
                      </a:r>
                      <a:endParaRPr lang="en-US" sz="800" dirty="0">
                        <a:latin typeface="Carlito" charset="0"/>
                        <a:ea typeface="Carlito" charset="0"/>
                        <a:cs typeface="Carlito" charset="0"/>
                      </a:endParaRPr>
                    </a:p>
                  </a:txBody>
                  <a:tcPr marL="71438" marR="114300" marT="114300" marB="71438" anchor="ctr">
                    <a:lnL w="6350" cap="flat" cmpd="sng" algn="ctr">
                      <a:solidFill>
                        <a:srgbClr val="1F2937"/>
                      </a:solidFill>
                      <a:prstDash val="solid"/>
                      <a:round/>
                      <a:headEnd type="none" w="med" len="med"/>
                      <a:tailEnd type="none" w="med" len="med"/>
                    </a:lnL>
                    <a:lnR w="6350" cap="flat" cmpd="sng" algn="ctr">
                      <a:solidFill>
                        <a:srgbClr val="1F2937"/>
                      </a:solidFill>
                      <a:prstDash val="solid"/>
                      <a:round/>
                      <a:headEnd type="none" w="med" len="med"/>
                      <a:tailEnd type="none" w="med" len="med"/>
                    </a:lnR>
                    <a:lnT w="6350" cap="flat" cmpd="sng" algn="ctr">
                      <a:solidFill>
                        <a:srgbClr val="1F2937"/>
                      </a:solidFill>
                      <a:prstDash val="solid"/>
                      <a:round/>
                      <a:headEnd type="none" w="med" len="med"/>
                      <a:tailEnd type="none" w="med" len="med"/>
                    </a:lnT>
                    <a:lnB w="6350" cap="flat" cmpd="sng" algn="ctr">
                      <a:solidFill>
                        <a:srgbClr val="1F2937"/>
                      </a:solidFill>
                      <a:prstDash val="solid"/>
                      <a:round/>
                      <a:headEnd type="none" w="med" len="med"/>
                      <a:tailEnd type="none" w="med" len="med"/>
                    </a:lnB>
                  </a:tcPr>
                </a:tc>
                <a:tc>
                  <a:txBody>
                    <a:bodyPr/>
                    <a:lstStyle/>
                    <a:p>
                      <a:pPr algn="l" indent="0" marL="0">
                        <a:buNone/>
                      </a:pPr>
                      <a:r>
                        <a:rPr lang="en-US" sz="800" dirty="0">
                          <a:solidFill>
                            <a:srgbClr val="1F2937"/>
                          </a:solidFill>
                          <a:latin typeface="Carlito" pitchFamily="34" charset="0"/>
                          <a:ea typeface="Carlito" pitchFamily="34" charset="-122"/>
                          <a:cs typeface="Carlito" pitchFamily="34" charset="-120"/>
                        </a:rPr>
                        <a:t>Proprietary Voice Recognition — 7.7% WER, lowest in industry</a:t>
                      </a:r>
                      <a:endParaRPr lang="en-US" sz="800" dirty="0">
                        <a:latin typeface="Carlito" charset="0"/>
                        <a:ea typeface="Carlito" charset="0"/>
                        <a:cs typeface="Carlito" charset="0"/>
                      </a:endParaRPr>
                    </a:p>
                  </a:txBody>
                  <a:tcPr marL="71438" marR="114300" marT="114300" marB="71438" anchor="ctr">
                    <a:lnL w="6350" cap="flat" cmpd="sng" algn="ctr">
                      <a:solidFill>
                        <a:srgbClr val="1F2937"/>
                      </a:solidFill>
                      <a:prstDash val="solid"/>
                      <a:round/>
                      <a:headEnd type="none" w="med" len="med"/>
                      <a:tailEnd type="none" w="med" len="med"/>
                    </a:lnL>
                    <a:lnR w="6350" cap="flat" cmpd="sng" algn="ctr">
                      <a:solidFill>
                        <a:srgbClr val="1F2937"/>
                      </a:solidFill>
                      <a:prstDash val="solid"/>
                      <a:round/>
                      <a:headEnd type="none" w="med" len="med"/>
                      <a:tailEnd type="none" w="med" len="med"/>
                    </a:lnR>
                    <a:lnT w="6350" cap="flat" cmpd="sng" algn="ctr">
                      <a:solidFill>
                        <a:srgbClr val="1F2937"/>
                      </a:solidFill>
                      <a:prstDash val="solid"/>
                      <a:round/>
                      <a:headEnd type="none" w="med" len="med"/>
                      <a:tailEnd type="none" w="med" len="med"/>
                    </a:lnT>
                    <a:lnB w="6350" cap="flat" cmpd="sng" algn="ctr">
                      <a:solidFill>
                        <a:srgbClr val="1F2937"/>
                      </a:solidFill>
                      <a:prstDash val="solid"/>
                      <a:round/>
                      <a:headEnd type="none" w="med" len="med"/>
                      <a:tailEnd type="none" w="med" len="med"/>
                    </a:lnB>
                  </a:tcPr>
                </a:tc>
              </a:tr>
              <a:tr h="0">
                <a:tc>
                  <a:txBody>
                    <a:bodyPr/>
                    <a:lstStyle/>
                    <a:p>
                      <a:pPr algn="l" indent="0" marL="0">
                        <a:buNone/>
                      </a:pPr>
                      <a:r>
                        <a:rPr lang="en-US" sz="800" dirty="0">
                          <a:solidFill>
                            <a:srgbClr val="991B1B"/>
                          </a:solidFill>
                          <a:latin typeface="Carlito" pitchFamily="34" charset="0"/>
                          <a:ea typeface="Carlito" pitchFamily="34" charset="-122"/>
                          <a:cs typeface="Carlito" pitchFamily="34" charset="-120"/>
                        </a:rPr>
                        <a:t>Voice synthesis vendor (ElevenLabs)</a:t>
                      </a:r>
                      <a:endParaRPr lang="en-US" sz="800" dirty="0">
                        <a:latin typeface="Carlito" charset="0"/>
                        <a:ea typeface="Carlito" charset="0"/>
                        <a:cs typeface="Carlito" charset="0"/>
                      </a:endParaRPr>
                    </a:p>
                  </a:txBody>
                  <a:tcPr marL="71438" marR="114300" marT="114300" marB="71438" anchor="ctr">
                    <a:lnL w="6350" cap="flat" cmpd="sng" algn="ctr">
                      <a:solidFill>
                        <a:srgbClr val="1F2937"/>
                      </a:solidFill>
                      <a:prstDash val="solid"/>
                      <a:round/>
                      <a:headEnd type="none" w="med" len="med"/>
                      <a:tailEnd type="none" w="med" len="med"/>
                    </a:lnL>
                    <a:lnR w="6350" cap="flat" cmpd="sng" algn="ctr">
                      <a:solidFill>
                        <a:srgbClr val="1F2937"/>
                      </a:solidFill>
                      <a:prstDash val="solid"/>
                      <a:round/>
                      <a:headEnd type="none" w="med" len="med"/>
                      <a:tailEnd type="none" w="med" len="med"/>
                    </a:lnR>
                    <a:lnT w="6350" cap="flat" cmpd="sng" algn="ctr">
                      <a:solidFill>
                        <a:srgbClr val="1F2937"/>
                      </a:solidFill>
                      <a:prstDash val="solid"/>
                      <a:round/>
                      <a:headEnd type="none" w="med" len="med"/>
                      <a:tailEnd type="none" w="med" len="med"/>
                    </a:lnT>
                    <a:lnB w="6350" cap="flat" cmpd="sng" algn="ctr">
                      <a:solidFill>
                        <a:srgbClr val="1F2937"/>
                      </a:solidFill>
                      <a:prstDash val="solid"/>
                      <a:round/>
                      <a:headEnd type="none" w="med" len="med"/>
                      <a:tailEnd type="none" w="med" len="med"/>
                    </a:lnB>
                  </a:tcPr>
                </a:tc>
                <a:tc>
                  <a:txBody>
                    <a:bodyPr/>
                    <a:lstStyle/>
                    <a:p>
                      <a:pPr algn="l" indent="0" marL="0">
                        <a:buNone/>
                      </a:pPr>
                      <a:r>
                        <a:rPr lang="en-US" sz="800" dirty="0">
                          <a:solidFill>
                            <a:srgbClr val="1F2937"/>
                          </a:solidFill>
                          <a:latin typeface="Carlito" pitchFamily="34" charset="0"/>
                          <a:ea typeface="Carlito" pitchFamily="34" charset="-122"/>
                          <a:cs typeface="Carlito" pitchFamily="34" charset="-120"/>
                        </a:rPr>
                        <a:t>Proprietary AI Voice + cloning — outperforms ElevenLabs across every demographic</a:t>
                      </a:r>
                      <a:endParaRPr lang="en-US" sz="800" dirty="0">
                        <a:latin typeface="Carlito" charset="0"/>
                        <a:ea typeface="Carlito" charset="0"/>
                        <a:cs typeface="Carlito" charset="0"/>
                      </a:endParaRPr>
                    </a:p>
                  </a:txBody>
                  <a:tcPr marL="71438" marR="114300" marT="114300" marB="71438" anchor="ctr">
                    <a:lnL w="6350" cap="flat" cmpd="sng" algn="ctr">
                      <a:solidFill>
                        <a:srgbClr val="1F2937"/>
                      </a:solidFill>
                      <a:prstDash val="solid"/>
                      <a:round/>
                      <a:headEnd type="none" w="med" len="med"/>
                      <a:tailEnd type="none" w="med" len="med"/>
                    </a:lnL>
                    <a:lnR w="6350" cap="flat" cmpd="sng" algn="ctr">
                      <a:solidFill>
                        <a:srgbClr val="1F2937"/>
                      </a:solidFill>
                      <a:prstDash val="solid"/>
                      <a:round/>
                      <a:headEnd type="none" w="med" len="med"/>
                      <a:tailEnd type="none" w="med" len="med"/>
                    </a:lnR>
                    <a:lnT w="6350" cap="flat" cmpd="sng" algn="ctr">
                      <a:solidFill>
                        <a:srgbClr val="1F2937"/>
                      </a:solidFill>
                      <a:prstDash val="solid"/>
                      <a:round/>
                      <a:headEnd type="none" w="med" len="med"/>
                      <a:tailEnd type="none" w="med" len="med"/>
                    </a:lnT>
                    <a:lnB w="6350" cap="flat" cmpd="sng" algn="ctr">
                      <a:solidFill>
                        <a:srgbClr val="1F2937"/>
                      </a:solidFill>
                      <a:prstDash val="solid"/>
                      <a:round/>
                      <a:headEnd type="none" w="med" len="med"/>
                      <a:tailEnd type="none" w="med" len="med"/>
                    </a:lnB>
                  </a:tcPr>
                </a:tc>
              </a:tr>
              <a:tr h="0">
                <a:tc>
                  <a:txBody>
                    <a:bodyPr/>
                    <a:lstStyle/>
                    <a:p>
                      <a:pPr algn="l" indent="0" marL="0">
                        <a:buNone/>
                      </a:pPr>
                      <a:r>
                        <a:rPr lang="en-US" sz="800" dirty="0">
                          <a:solidFill>
                            <a:srgbClr val="991B1B"/>
                          </a:solidFill>
                          <a:latin typeface="Carlito" pitchFamily="34" charset="0"/>
                          <a:ea typeface="Carlito" pitchFamily="34" charset="-122"/>
                          <a:cs typeface="Carlito" pitchFamily="34" charset="-120"/>
                        </a:rPr>
                        <a:t>Workflow / journey builder (Zendesk, Intercom)</a:t>
                      </a:r>
                      <a:endParaRPr lang="en-US" sz="800" dirty="0">
                        <a:latin typeface="Carlito" charset="0"/>
                        <a:ea typeface="Carlito" charset="0"/>
                        <a:cs typeface="Carlito" charset="0"/>
                      </a:endParaRPr>
                    </a:p>
                  </a:txBody>
                  <a:tcPr marL="71438" marR="114300" marT="114300" marB="71438" anchor="ctr">
                    <a:lnL w="6350" cap="flat" cmpd="sng" algn="ctr">
                      <a:solidFill>
                        <a:srgbClr val="1F2937"/>
                      </a:solidFill>
                      <a:prstDash val="solid"/>
                      <a:round/>
                      <a:headEnd type="none" w="med" len="med"/>
                      <a:tailEnd type="none" w="med" len="med"/>
                    </a:lnL>
                    <a:lnR w="6350" cap="flat" cmpd="sng" algn="ctr">
                      <a:solidFill>
                        <a:srgbClr val="1F2937"/>
                      </a:solidFill>
                      <a:prstDash val="solid"/>
                      <a:round/>
                      <a:headEnd type="none" w="med" len="med"/>
                      <a:tailEnd type="none" w="med" len="med"/>
                    </a:lnR>
                    <a:lnT w="6350" cap="flat" cmpd="sng" algn="ctr">
                      <a:solidFill>
                        <a:srgbClr val="1F2937"/>
                      </a:solidFill>
                      <a:prstDash val="solid"/>
                      <a:round/>
                      <a:headEnd type="none" w="med" len="med"/>
                      <a:tailEnd type="none" w="med" len="med"/>
                    </a:lnT>
                    <a:lnB w="6350" cap="flat" cmpd="sng" algn="ctr">
                      <a:solidFill>
                        <a:srgbClr val="1F2937"/>
                      </a:solidFill>
                      <a:prstDash val="solid"/>
                      <a:round/>
                      <a:headEnd type="none" w="med" len="med"/>
                      <a:tailEnd type="none" w="med" len="med"/>
                    </a:lnB>
                  </a:tcPr>
                </a:tc>
                <a:tc>
                  <a:txBody>
                    <a:bodyPr/>
                    <a:lstStyle/>
                    <a:p>
                      <a:pPr algn="l" indent="0" marL="0">
                        <a:buNone/>
                      </a:pPr>
                      <a:r>
                        <a:rPr lang="en-US" sz="800" dirty="0">
                          <a:solidFill>
                            <a:srgbClr val="1F2937"/>
                          </a:solidFill>
                          <a:latin typeface="Carlito" pitchFamily="34" charset="0"/>
                          <a:ea typeface="Carlito" pitchFamily="34" charset="-122"/>
                          <a:cs typeface="Carlito" pitchFamily="34" charset="-120"/>
                        </a:rPr>
                        <a:t>Flow drag-and-drop journey designer with native agentic nodes</a:t>
                      </a:r>
                      <a:endParaRPr lang="en-US" sz="800" dirty="0">
                        <a:latin typeface="Carlito" charset="0"/>
                        <a:ea typeface="Carlito" charset="0"/>
                        <a:cs typeface="Carlito" charset="0"/>
                      </a:endParaRPr>
                    </a:p>
                  </a:txBody>
                  <a:tcPr marL="71438" marR="114300" marT="114300" marB="71438" anchor="ctr">
                    <a:lnL w="6350" cap="flat" cmpd="sng" algn="ctr">
                      <a:solidFill>
                        <a:srgbClr val="1F2937"/>
                      </a:solidFill>
                      <a:prstDash val="solid"/>
                      <a:round/>
                      <a:headEnd type="none" w="med" len="med"/>
                      <a:tailEnd type="none" w="med" len="med"/>
                    </a:lnL>
                    <a:lnR w="6350" cap="flat" cmpd="sng" algn="ctr">
                      <a:solidFill>
                        <a:srgbClr val="1F2937"/>
                      </a:solidFill>
                      <a:prstDash val="solid"/>
                      <a:round/>
                      <a:headEnd type="none" w="med" len="med"/>
                      <a:tailEnd type="none" w="med" len="med"/>
                    </a:lnR>
                    <a:lnT w="6350" cap="flat" cmpd="sng" algn="ctr">
                      <a:solidFill>
                        <a:srgbClr val="1F2937"/>
                      </a:solidFill>
                      <a:prstDash val="solid"/>
                      <a:round/>
                      <a:headEnd type="none" w="med" len="med"/>
                      <a:tailEnd type="none" w="med" len="med"/>
                    </a:lnT>
                    <a:lnB w="6350" cap="flat" cmpd="sng" algn="ctr">
                      <a:solidFill>
                        <a:srgbClr val="1F2937"/>
                      </a:solidFill>
                      <a:prstDash val="solid"/>
                      <a:round/>
                      <a:headEnd type="none" w="med" len="med"/>
                      <a:tailEnd type="none" w="med" len="med"/>
                    </a:lnB>
                  </a:tcPr>
                </a:tc>
              </a:tr>
              <a:tr h="0">
                <a:tc>
                  <a:txBody>
                    <a:bodyPr/>
                    <a:lstStyle/>
                    <a:p>
                      <a:pPr algn="l" indent="0" marL="0">
                        <a:buNone/>
                      </a:pPr>
                      <a:r>
                        <a:rPr lang="en-US" sz="800" dirty="0">
                          <a:solidFill>
                            <a:srgbClr val="991B1B"/>
                          </a:solidFill>
                          <a:latin typeface="Carlito" pitchFamily="34" charset="0"/>
                          <a:ea typeface="Carlito" pitchFamily="34" charset="-122"/>
                          <a:cs typeface="Carlito" pitchFamily="34" charset="-120"/>
                        </a:rPr>
                        <a:t>Integration platform (Zapier, Workato)</a:t>
                      </a:r>
                      <a:endParaRPr lang="en-US" sz="800" dirty="0">
                        <a:latin typeface="Carlito" charset="0"/>
                        <a:ea typeface="Carlito" charset="0"/>
                        <a:cs typeface="Carlito" charset="0"/>
                      </a:endParaRPr>
                    </a:p>
                  </a:txBody>
                  <a:tcPr marL="71438" marR="114300" marT="114300" marB="71438" anchor="ctr">
                    <a:lnL w="6350" cap="flat" cmpd="sng" algn="ctr">
                      <a:solidFill>
                        <a:srgbClr val="1F2937"/>
                      </a:solidFill>
                      <a:prstDash val="solid"/>
                      <a:round/>
                      <a:headEnd type="none" w="med" len="med"/>
                      <a:tailEnd type="none" w="med" len="med"/>
                    </a:lnL>
                    <a:lnR w="6350" cap="flat" cmpd="sng" algn="ctr">
                      <a:solidFill>
                        <a:srgbClr val="1F2937"/>
                      </a:solidFill>
                      <a:prstDash val="solid"/>
                      <a:round/>
                      <a:headEnd type="none" w="med" len="med"/>
                      <a:tailEnd type="none" w="med" len="med"/>
                    </a:lnR>
                    <a:lnT w="6350" cap="flat" cmpd="sng" algn="ctr">
                      <a:solidFill>
                        <a:srgbClr val="1F2937"/>
                      </a:solidFill>
                      <a:prstDash val="solid"/>
                      <a:round/>
                      <a:headEnd type="none" w="med" len="med"/>
                      <a:tailEnd type="none" w="med" len="med"/>
                    </a:lnT>
                    <a:lnB w="6350" cap="flat" cmpd="sng" algn="ctr">
                      <a:solidFill>
                        <a:srgbClr val="1F2937"/>
                      </a:solidFill>
                      <a:prstDash val="solid"/>
                      <a:round/>
                      <a:headEnd type="none" w="med" len="med"/>
                      <a:tailEnd type="none" w="med" len="med"/>
                    </a:lnB>
                  </a:tcPr>
                </a:tc>
                <a:tc>
                  <a:txBody>
                    <a:bodyPr/>
                    <a:lstStyle/>
                    <a:p>
                      <a:pPr algn="l" indent="0" marL="0">
                        <a:buNone/>
                      </a:pPr>
                      <a:r>
                        <a:rPr lang="en-US" sz="800" dirty="0">
                          <a:solidFill>
                            <a:srgbClr val="1F2937"/>
                          </a:solidFill>
                          <a:latin typeface="Carlito" pitchFamily="34" charset="0"/>
                          <a:ea typeface="Carlito" pitchFamily="34" charset="-122"/>
                          <a:cs typeface="Carlito" pitchFamily="34" charset="-120"/>
                        </a:rPr>
                        <a:t>AI Marketplace with pre-built connectors + MCP + REST APIs</a:t>
                      </a:r>
                      <a:endParaRPr lang="en-US" sz="800" dirty="0">
                        <a:latin typeface="Carlito" charset="0"/>
                        <a:ea typeface="Carlito" charset="0"/>
                        <a:cs typeface="Carlito" charset="0"/>
                      </a:endParaRPr>
                    </a:p>
                  </a:txBody>
                  <a:tcPr marL="71438" marR="114300" marT="114300" marB="71438" anchor="ctr">
                    <a:lnL w="6350" cap="flat" cmpd="sng" algn="ctr">
                      <a:solidFill>
                        <a:srgbClr val="1F2937"/>
                      </a:solidFill>
                      <a:prstDash val="solid"/>
                      <a:round/>
                      <a:headEnd type="none" w="med" len="med"/>
                      <a:tailEnd type="none" w="med" len="med"/>
                    </a:lnL>
                    <a:lnR w="6350" cap="flat" cmpd="sng" algn="ctr">
                      <a:solidFill>
                        <a:srgbClr val="1F2937"/>
                      </a:solidFill>
                      <a:prstDash val="solid"/>
                      <a:round/>
                      <a:headEnd type="none" w="med" len="med"/>
                      <a:tailEnd type="none" w="med" len="med"/>
                    </a:lnR>
                    <a:lnT w="6350" cap="flat" cmpd="sng" algn="ctr">
                      <a:solidFill>
                        <a:srgbClr val="1F2937"/>
                      </a:solidFill>
                      <a:prstDash val="solid"/>
                      <a:round/>
                      <a:headEnd type="none" w="med" len="med"/>
                      <a:tailEnd type="none" w="med" len="med"/>
                    </a:lnT>
                    <a:lnB w="6350" cap="flat" cmpd="sng" algn="ctr">
                      <a:solidFill>
                        <a:srgbClr val="1F2937"/>
                      </a:solidFill>
                      <a:prstDash val="solid"/>
                      <a:round/>
                      <a:headEnd type="none" w="med" len="med"/>
                      <a:tailEnd type="none" w="med" len="med"/>
                    </a:lnB>
                  </a:tcPr>
                </a:tc>
              </a:tr>
            </a:tbl>
          </a:graphicData>
        </a:graphic>
      </p:graphicFrame>
      <p:sp>
        <p:nvSpPr>
          <p:cNvPr id="8" name="Text 5"/>
          <p:cNvSpPr/>
          <p:nvPr/>
        </p:nvSpPr>
        <p:spPr>
          <a:xfrm>
            <a:off x="400050" y="4464844"/>
            <a:ext cx="8343900" cy="321469"/>
          </a:xfrm>
          <a:prstGeom prst="roundRect">
            <a:avLst>
              <a:gd name="adj" fmla="val 29630"/>
            </a:avLst>
          </a:prstGeom>
          <a:solidFill>
            <a:srgbClr val="1A0B2E"/>
          </a:solidFill>
          <a:ln/>
        </p:spPr>
        <p:txBody>
          <a:bodyPr wrap="square" rtlCol="0" anchor="ctr"/>
          <a:lstStyle/>
          <a:p>
            <a:pPr indent="0" marL="0">
              <a:buNone/>
            </a:pPr>
            <a:endParaRPr lang="en-US" dirty="0"/>
          </a:p>
        </p:txBody>
      </p:sp>
      <p:sp>
        <p:nvSpPr>
          <p:cNvPr id="9" name="Text 6"/>
          <p:cNvSpPr/>
          <p:nvPr/>
        </p:nvSpPr>
        <p:spPr>
          <a:xfrm>
            <a:off x="400050" y="4464844"/>
            <a:ext cx="8343900" cy="347186"/>
          </a:xfrm>
          <a:prstGeom prst="rect">
            <a:avLst/>
          </a:prstGeom>
          <a:noFill/>
          <a:ln/>
        </p:spPr>
        <p:txBody>
          <a:bodyPr wrap="square" lIns="142875" tIns="100013" rIns="142875" bIns="100013" rtlCol="0" anchor="t"/>
          <a:lstStyle/>
          <a:p>
            <a:pPr algn="ctr" indent="0" marL="0">
              <a:buNone/>
            </a:pPr>
            <a:r>
              <a:rPr lang="en-US" sz="844" b="1" spc="8" kern="0" dirty="0">
                <a:solidFill>
                  <a:srgbClr val="FFFFFF"/>
                </a:solidFill>
                <a:latin typeface="Carlito" pitchFamily="34" charset="0"/>
                <a:ea typeface="Carlito" pitchFamily="34" charset="-122"/>
                <a:cs typeface="Carlito" pitchFamily="34" charset="-120"/>
              </a:rPr>
              <a:t>One platform. One vendor. One bill. </a:t>
            </a:r>
            <a:pPr algn="ctr" indent="0" marL="0">
              <a:buNone/>
            </a:pPr>
            <a:r>
              <a:rPr lang="en-US" sz="844" b="1" spc="8" kern="0" dirty="0">
                <a:solidFill>
                  <a:srgbClr val="A78BFA"/>
                </a:solidFill>
                <a:latin typeface="Carlito" pitchFamily="34" charset="0"/>
                <a:ea typeface="Carlito" pitchFamily="34" charset="-122"/>
                <a:cs typeface="Carlito" pitchFamily="34" charset="-120"/>
              </a:rPr>
              <a:t>One brain orchestrating all of it.</a:t>
            </a:r>
            <a:endParaRPr lang="en-US" sz="844" dirty="0"/>
          </a:p>
        </p:txBody>
      </p:sp>
      <p:sp>
        <p:nvSpPr>
          <p:cNvPr id="10" name="Text 7"/>
          <p:cNvSpPr/>
          <p:nvPr/>
        </p:nvSpPr>
        <p:spPr>
          <a:xfrm>
            <a:off x="342900" y="4879181"/>
            <a:ext cx="8145438" cy="129679"/>
          </a:xfrm>
          <a:prstGeom prst="rect">
            <a:avLst/>
          </a:prstGeom>
          <a:noFill/>
          <a:ln/>
        </p:spPr>
        <p:txBody>
          <a:bodyPr wrap="square" lIns="0" tIns="0" rIns="0" bIns="0" rtlCol="0" anchor="t"/>
          <a:lstStyle/>
          <a:p>
            <a:pPr algn="l" indent="0" marL="0">
              <a:buNone/>
            </a:pPr>
            <a:r>
              <a:rPr lang="en-US" sz="800" spc="25" kern="0" dirty="0">
                <a:solidFill>
                  <a:srgbClr val="6B7280"/>
                </a:solidFill>
                <a:latin typeface="Carlito" pitchFamily="34" charset="0"/>
                <a:ea typeface="Carlito" pitchFamily="34" charset="-122"/>
                <a:cs typeface="Carlito" pitchFamily="34" charset="-120"/>
              </a:rPr>
              <a:t>MASSAPRO — THE GROWTH MACHINE FOR CUSTOMER SERVICE</a:t>
            </a:r>
            <a:endParaRPr lang="en-US" sz="800" dirty="0"/>
          </a:p>
        </p:txBody>
      </p:sp>
      <p:sp>
        <p:nvSpPr>
          <p:cNvPr id="11" name="Text 8"/>
          <p:cNvSpPr/>
          <p:nvPr/>
        </p:nvSpPr>
        <p:spPr>
          <a:xfrm>
            <a:off x="8483221" y="4879181"/>
            <a:ext cx="453969" cy="129679"/>
          </a:xfrm>
          <a:prstGeom prst="rect">
            <a:avLst/>
          </a:prstGeom>
          <a:noFill/>
          <a:ln/>
        </p:spPr>
        <p:txBody>
          <a:bodyPr wrap="square" lIns="0" tIns="0" rIns="0" bIns="0" rtlCol="0" anchor="t"/>
          <a:lstStyle/>
          <a:p>
            <a:pPr algn="l" indent="0" marL="0">
              <a:buNone/>
            </a:pPr>
            <a:r>
              <a:rPr lang="en-US" sz="800" spc="25" kern="0" dirty="0">
                <a:solidFill>
                  <a:srgbClr val="6B7280"/>
                </a:solidFill>
                <a:latin typeface="Liberation Sans Narrow" pitchFamily="34" charset="0"/>
                <a:ea typeface="Liberation Sans Narrow" pitchFamily="34" charset="-122"/>
                <a:cs typeface="Liberation Sans Narrow" pitchFamily="34" charset="-120"/>
              </a:rPr>
              <a:t>06 / 10</a:t>
            </a:r>
            <a:endParaRPr lang="en-US" sz="800" dirty="0"/>
          </a:p>
        </p:txBody>
      </p:sp>
      <p:sp>
        <p:nvSpPr>
          <p:cNvPr id="12" name="Text 9"/>
          <p:cNvSpPr/>
          <p:nvPr/>
        </p:nvSpPr>
        <p:spPr>
          <a:xfrm>
            <a:off x="342900" y="200025"/>
            <a:ext cx="228600" cy="228600"/>
          </a:xfrm>
          <a:prstGeom prst="roundRect">
            <a:avLst>
              <a:gd name="adj" fmla="val 33333"/>
            </a:avLst>
          </a:prstGeom>
          <a:solidFill>
            <a:srgbClr val="7C3AED"/>
          </a:solidFill>
          <a:ln/>
        </p:spPr>
        <p:txBody>
          <a:bodyPr wrap="square" rtlCol="0" anchor="ctr"/>
          <a:lstStyle/>
          <a:p>
            <a:pPr indent="0" marL="0">
              <a:buNone/>
            </a:pPr>
            <a:endParaRPr lang="en-US" dirty="0"/>
          </a:p>
        </p:txBody>
      </p:sp>
      <p:sp>
        <p:nvSpPr>
          <p:cNvPr id="13" name="Text 10"/>
          <p:cNvSpPr/>
          <p:nvPr/>
        </p:nvSpPr>
        <p:spPr>
          <a:xfrm>
            <a:off x="342900" y="200025"/>
            <a:ext cx="264319" cy="228600"/>
          </a:xfrm>
          <a:prstGeom prst="rect">
            <a:avLst/>
          </a:prstGeom>
          <a:noFill/>
          <a:ln/>
        </p:spPr>
        <p:txBody>
          <a:bodyPr wrap="none" lIns="0" tIns="0" rIns="0" bIns="0" rtlCol="0" anchor="ctr"/>
          <a:lstStyle/>
          <a:p>
            <a:pPr algn="ctr" indent="0" marL="0">
              <a:buNone/>
            </a:pPr>
            <a:r>
              <a:rPr lang="en-US" sz="1013" b="1" dirty="0">
                <a:solidFill>
                  <a:srgbClr val="FFFFFF"/>
                </a:solidFill>
                <a:latin typeface="Carlito" pitchFamily="34" charset="0"/>
                <a:ea typeface="Carlito" pitchFamily="34" charset="-122"/>
                <a:cs typeface="Carlito" pitchFamily="34" charset="-120"/>
              </a:rPr>
              <a:t>M</a:t>
            </a:r>
            <a:endParaRPr lang="en-US" sz="1013" dirty="0"/>
          </a:p>
        </p:txBody>
      </p:sp>
      <p:sp>
        <p:nvSpPr>
          <p:cNvPr id="14" name="Text 11"/>
          <p:cNvSpPr/>
          <p:nvPr/>
        </p:nvSpPr>
        <p:spPr>
          <a:xfrm>
            <a:off x="642938" y="246459"/>
            <a:ext cx="820531" cy="146590"/>
          </a:xfrm>
          <a:prstGeom prst="rect">
            <a:avLst/>
          </a:prstGeom>
          <a:noFill/>
          <a:ln/>
        </p:spPr>
        <p:txBody>
          <a:bodyPr wrap="none" lIns="0" tIns="0" rIns="0" bIns="0" rtlCol="0" anchor="t"/>
          <a:lstStyle/>
          <a:p>
            <a:pPr algn="l" indent="0" marL="0">
              <a:buNone/>
            </a:pPr>
            <a:r>
              <a:rPr lang="en-US" sz="900" b="1" spc="18" kern="0" dirty="0">
                <a:solidFill>
                  <a:srgbClr val="6D28D9"/>
                </a:solidFill>
                <a:latin typeface="Carlito" pitchFamily="34" charset="0"/>
                <a:ea typeface="Carlito" pitchFamily="34" charset="-122"/>
                <a:cs typeface="Carlito" pitchFamily="34" charset="-120"/>
              </a:rPr>
              <a:t>MassaPro</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sp>
        <p:nvSpPr>
          <p:cNvPr id="4" name="Text 0"/>
          <p:cNvSpPr/>
          <p:nvPr/>
        </p:nvSpPr>
        <p:spPr>
          <a:xfrm>
            <a:off x="434340" y="488490"/>
            <a:ext cx="1500701" cy="216027"/>
          </a:xfrm>
          <a:prstGeom prst="roundRect">
            <a:avLst>
              <a:gd name="adj" fmla="val 4404762"/>
            </a:avLst>
          </a:prstGeom>
          <a:solidFill>
            <a:srgbClr val="A78BFA">
              <a:alpha val="10000"/>
            </a:srgbClr>
          </a:solidFill>
          <a:ln w="7144">
            <a:solidFill>
              <a:srgbClr val="A78BFA"/>
            </a:solidFill>
            <a:prstDash val="solid"/>
          </a:ln>
        </p:spPr>
        <p:txBody>
          <a:bodyPr wrap="square" rtlCol="0" anchor="ctr"/>
          <a:lstStyle/>
          <a:p>
            <a:pPr indent="0" marL="0">
              <a:buNone/>
            </a:pPr>
            <a:endParaRPr lang="en-US" dirty="0"/>
          </a:p>
        </p:txBody>
      </p:sp>
      <p:sp>
        <p:nvSpPr>
          <p:cNvPr id="5" name="Text 1"/>
          <p:cNvSpPr/>
          <p:nvPr/>
        </p:nvSpPr>
        <p:spPr>
          <a:xfrm>
            <a:off x="457200" y="500063"/>
            <a:ext cx="1454981" cy="192881"/>
          </a:xfrm>
          <a:prstGeom prst="rect">
            <a:avLst/>
          </a:prstGeom>
          <a:noFill/>
          <a:ln/>
        </p:spPr>
        <p:txBody>
          <a:bodyPr wrap="none" lIns="0" tIns="0" rIns="0" bIns="0" rtlCol="0" anchor="ctr"/>
          <a:lstStyle/>
          <a:p>
            <a:pPr algn="ctr" indent="0" marL="0">
              <a:buNone/>
            </a:pPr>
            <a:r>
              <a:rPr lang="en-US" sz="800" b="1" spc="111" kern="0" dirty="0">
                <a:solidFill>
                  <a:srgbClr val="A78BFA"/>
                </a:solidFill>
                <a:latin typeface="Carlito" pitchFamily="34" charset="0"/>
                <a:ea typeface="Carlito" pitchFamily="34" charset="-122"/>
                <a:cs typeface="Carlito" pitchFamily="34" charset="-120"/>
              </a:rPr>
              <a:t>AGENTIC AI IN ACTION</a:t>
            </a:r>
            <a:endParaRPr lang="en-US" sz="800" dirty="0"/>
          </a:p>
        </p:txBody>
      </p:sp>
      <p:sp>
        <p:nvSpPr>
          <p:cNvPr id="6" name="Text 2"/>
          <p:cNvSpPr/>
          <p:nvPr/>
        </p:nvSpPr>
        <p:spPr>
          <a:xfrm>
            <a:off x="457200" y="807244"/>
            <a:ext cx="7715250" cy="337060"/>
          </a:xfrm>
          <a:prstGeom prst="rect">
            <a:avLst/>
          </a:prstGeom>
          <a:noFill/>
          <a:ln/>
        </p:spPr>
        <p:txBody>
          <a:bodyPr wrap="square" lIns="0" tIns="0" rIns="0" bIns="0" rtlCol="0" anchor="t"/>
          <a:lstStyle/>
          <a:p>
            <a:pPr algn="l" indent="0" marL="0">
              <a:lnSpc>
                <a:spcPts val="2458"/>
              </a:lnSpc>
              <a:buNone/>
            </a:pPr>
            <a:r>
              <a:rPr lang="en-US" sz="2138" b="1" dirty="0">
                <a:solidFill>
                  <a:srgbClr val="FFFFFF"/>
                </a:solidFill>
                <a:latin typeface="Tinos" pitchFamily="34" charset="0"/>
                <a:ea typeface="Tinos" pitchFamily="34" charset="-122"/>
                <a:cs typeface="Tinos" pitchFamily="34" charset="-120"/>
              </a:rPr>
              <a:t>Not Chatbots. A Workforce That </a:t>
            </a:r>
            <a:pPr algn="l" indent="0" marL="0">
              <a:lnSpc>
                <a:spcPts val="2458"/>
              </a:lnSpc>
              <a:buNone/>
            </a:pPr>
            <a:r>
              <a:rPr lang="en-US" sz="2138" b="1" dirty="0">
                <a:solidFill>
                  <a:srgbClr val="A78BFA"/>
                </a:solidFill>
                <a:latin typeface="Tinos" pitchFamily="34" charset="0"/>
                <a:ea typeface="Tinos" pitchFamily="34" charset="-122"/>
                <a:cs typeface="Tinos" pitchFamily="34" charset="-120"/>
              </a:rPr>
              <a:t>Reasons, Decides, and Acts.</a:t>
            </a:r>
            <a:endParaRPr lang="en-US" sz="2138" dirty="0"/>
          </a:p>
        </p:txBody>
      </p:sp>
      <p:sp>
        <p:nvSpPr>
          <p:cNvPr id="7" name="Text 3"/>
          <p:cNvSpPr/>
          <p:nvPr/>
        </p:nvSpPr>
        <p:spPr>
          <a:xfrm>
            <a:off x="457200" y="1190774"/>
            <a:ext cx="7000875" cy="538139"/>
          </a:xfrm>
          <a:prstGeom prst="rect">
            <a:avLst/>
          </a:prstGeom>
          <a:noFill/>
          <a:ln/>
        </p:spPr>
        <p:txBody>
          <a:bodyPr wrap="square" lIns="0" tIns="0" rIns="0" bIns="0" rtlCol="0" anchor="t"/>
          <a:lstStyle/>
          <a:p>
            <a:pPr algn="l" indent="0" marL="0">
              <a:lnSpc>
                <a:spcPts val="1308"/>
              </a:lnSpc>
              <a:buNone/>
            </a:pPr>
            <a:r>
              <a:rPr lang="en-US" sz="844" dirty="0">
                <a:solidFill>
                  <a:srgbClr val="FFFFFF">
                    <a:alpha val="78000"/>
                  </a:srgbClr>
                </a:solidFill>
                <a:latin typeface="Carlito" pitchFamily="34" charset="0"/>
                <a:ea typeface="Carlito" pitchFamily="34" charset="-122"/>
                <a:cs typeface="Carlito" pitchFamily="34" charset="-120"/>
              </a:rPr>
              <a:t>MassaPro AI agents are autonomous systems — not rule-based bots. Each one reasons about the customer's intent, decides the next best action, executes it (including CRM updates, bookings, lookups, and submissions), and escalates to a human only when truly required. Multiple specialized agents — sales, service, retention, claims, billing — coordinate as a single workforce, handing off context seamlessly.</a:t>
            </a:r>
            <a:endParaRPr lang="en-US" sz="844" dirty="0"/>
          </a:p>
        </p:txBody>
      </p:sp>
      <p:sp>
        <p:nvSpPr>
          <p:cNvPr id="8" name="Text 4"/>
          <p:cNvSpPr/>
          <p:nvPr/>
        </p:nvSpPr>
        <p:spPr>
          <a:xfrm>
            <a:off x="460772" y="2035522"/>
            <a:ext cx="1558677" cy="1052922"/>
          </a:xfrm>
          <a:prstGeom prst="roundRect">
            <a:avLst>
              <a:gd name="adj" fmla="val 10856"/>
            </a:avLst>
          </a:prstGeom>
          <a:solidFill>
            <a:srgbClr val="FFFFFF">
              <a:alpha val="5000"/>
            </a:srgbClr>
          </a:solidFill>
          <a:ln w="7144">
            <a:solidFill>
              <a:srgbClr val="A78BFA"/>
            </a:solidFill>
            <a:prstDash val="solid"/>
          </a:ln>
        </p:spPr>
        <p:txBody>
          <a:bodyPr wrap="square" rtlCol="0" anchor="ctr"/>
          <a:lstStyle/>
          <a:p>
            <a:pPr indent="0" marL="0">
              <a:buNone/>
            </a:pPr>
            <a:endParaRPr lang="en-US" dirty="0"/>
          </a:p>
        </p:txBody>
      </p:sp>
      <p:sp>
        <p:nvSpPr>
          <p:cNvPr id="9" name="Text 5"/>
          <p:cNvSpPr/>
          <p:nvPr/>
        </p:nvSpPr>
        <p:spPr>
          <a:xfrm>
            <a:off x="564356" y="2153394"/>
            <a:ext cx="228600" cy="228600"/>
          </a:xfrm>
          <a:prstGeom prst="roundRect">
            <a:avLst>
              <a:gd name="adj" fmla="val 33333"/>
            </a:avLst>
          </a:prstGeom>
          <a:solidFill>
            <a:srgbClr val="7C3AED"/>
          </a:solidFill>
          <a:ln/>
        </p:spPr>
        <p:txBody>
          <a:bodyPr wrap="square" rtlCol="0" anchor="ctr"/>
          <a:lstStyle/>
          <a:p>
            <a:pPr indent="0" marL="0">
              <a:buNone/>
            </a:pPr>
            <a:endParaRPr lang="en-US" dirty="0"/>
          </a:p>
        </p:txBody>
      </p:sp>
      <p:sp>
        <p:nvSpPr>
          <p:cNvPr id="10" name="Text 6"/>
          <p:cNvSpPr/>
          <p:nvPr/>
        </p:nvSpPr>
        <p:spPr>
          <a:xfrm>
            <a:off x="610076" y="2199114"/>
            <a:ext cx="137160" cy="137160"/>
          </a:xfrm>
          <a:prstGeom prst="rect">
            <a:avLst/>
          </a:prstGeom>
          <a:noFill/>
          <a:ln/>
        </p:spPr>
        <p:txBody>
          <a:bodyPr wrap="none" lIns="0" tIns="0" rIns="0" bIns="0" rtlCol="0" anchor="ctr"/>
          <a:lstStyle/>
          <a:p>
            <a:pPr algn="ctr" indent="0" marL="0">
              <a:buNone/>
            </a:pPr>
            <a:r>
              <a:rPr lang="en-US" sz="900" b="1" dirty="0">
                <a:solidFill>
                  <a:srgbClr val="FFFFFF"/>
                </a:solidFill>
                <a:latin typeface="Segoe UI Symbol" pitchFamily="34" charset="0"/>
                <a:ea typeface="Segoe UI Symbol" pitchFamily="34" charset="-122"/>
                <a:cs typeface="Segoe UI Symbol" pitchFamily="34" charset="-120"/>
              </a:rPr>
              <a:t>👤</a:t>
            </a:r>
            <a:endParaRPr lang="en-US" sz="900" dirty="0"/>
          </a:p>
        </p:txBody>
      </p:sp>
      <p:sp>
        <p:nvSpPr>
          <p:cNvPr id="11" name="Text 7"/>
          <p:cNvSpPr/>
          <p:nvPr/>
        </p:nvSpPr>
        <p:spPr>
          <a:xfrm>
            <a:off x="564356" y="2439144"/>
            <a:ext cx="1432599" cy="142567"/>
          </a:xfrm>
          <a:prstGeom prst="rect">
            <a:avLst/>
          </a:prstGeom>
          <a:noFill/>
          <a:ln/>
        </p:spPr>
        <p:txBody>
          <a:bodyPr wrap="square" lIns="0" tIns="0" rIns="0" bIns="0" rtlCol="0" anchor="t"/>
          <a:lstStyle/>
          <a:p>
            <a:pPr algn="l" indent="0" marL="0">
              <a:lnSpc>
                <a:spcPts val="951"/>
              </a:lnSpc>
              <a:buNone/>
            </a:pPr>
            <a:r>
              <a:rPr lang="en-US" sz="731" b="1" dirty="0">
                <a:solidFill>
                  <a:srgbClr val="FFFFFF"/>
                </a:solidFill>
                <a:latin typeface="Carlito" pitchFamily="34" charset="0"/>
                <a:ea typeface="Carlito" pitchFamily="34" charset="-122"/>
                <a:cs typeface="Carlito" pitchFamily="34" charset="-120"/>
              </a:rPr>
              <a:t>Specialized agents per role</a:t>
            </a:r>
            <a:endParaRPr lang="en-US" sz="731" dirty="0"/>
          </a:p>
        </p:txBody>
      </p:sp>
      <p:sp>
        <p:nvSpPr>
          <p:cNvPr id="12" name="Text 8"/>
          <p:cNvSpPr/>
          <p:nvPr/>
        </p:nvSpPr>
        <p:spPr>
          <a:xfrm>
            <a:off x="564356" y="2616957"/>
            <a:ext cx="1432599" cy="329184"/>
          </a:xfrm>
          <a:prstGeom prst="rect">
            <a:avLst/>
          </a:prstGeom>
          <a:noFill/>
          <a:ln/>
        </p:spPr>
        <p:txBody>
          <a:bodyPr wrap="square" lIns="0" tIns="0" rIns="0" bIns="0" rtlCol="0" anchor="t"/>
          <a:lstStyle/>
          <a:p>
            <a:pPr algn="l" indent="0" marL="0">
              <a:lnSpc>
                <a:spcPts val="928"/>
              </a:lnSpc>
              <a:buNone/>
            </a:pPr>
            <a:r>
              <a:rPr lang="en-US" sz="800" dirty="0">
                <a:solidFill>
                  <a:srgbClr val="FFFFFF">
                    <a:alpha val="70000"/>
                  </a:srgbClr>
                </a:solidFill>
                <a:latin typeface="Carlito" pitchFamily="34" charset="0"/>
                <a:ea typeface="Carlito" pitchFamily="34" charset="-122"/>
                <a:cs typeface="Carlito" pitchFamily="34" charset="-120"/>
              </a:rPr>
              <a:t>Each with its own knowledge, personality, voice, and KPIs.</a:t>
            </a:r>
            <a:endParaRPr lang="en-US" sz="800" dirty="0"/>
          </a:p>
        </p:txBody>
      </p:sp>
      <p:sp>
        <p:nvSpPr>
          <p:cNvPr id="13" name="Text 9"/>
          <p:cNvSpPr/>
          <p:nvPr/>
        </p:nvSpPr>
        <p:spPr>
          <a:xfrm>
            <a:off x="2126605" y="2035522"/>
            <a:ext cx="1558789" cy="1052922"/>
          </a:xfrm>
          <a:prstGeom prst="roundRect">
            <a:avLst>
              <a:gd name="adj" fmla="val 10856"/>
            </a:avLst>
          </a:prstGeom>
          <a:solidFill>
            <a:srgbClr val="FFFFFF">
              <a:alpha val="5000"/>
            </a:srgbClr>
          </a:solidFill>
          <a:ln w="7144">
            <a:solidFill>
              <a:srgbClr val="A78BFA"/>
            </a:solidFill>
            <a:prstDash val="solid"/>
          </a:ln>
        </p:spPr>
        <p:txBody>
          <a:bodyPr wrap="square" rtlCol="0" anchor="ctr"/>
          <a:lstStyle/>
          <a:p>
            <a:pPr indent="0" marL="0">
              <a:buNone/>
            </a:pPr>
            <a:endParaRPr lang="en-US" dirty="0"/>
          </a:p>
        </p:txBody>
      </p:sp>
      <p:sp>
        <p:nvSpPr>
          <p:cNvPr id="14" name="Text 10"/>
          <p:cNvSpPr/>
          <p:nvPr/>
        </p:nvSpPr>
        <p:spPr>
          <a:xfrm>
            <a:off x="2230189" y="2153394"/>
            <a:ext cx="228600" cy="228600"/>
          </a:xfrm>
          <a:prstGeom prst="roundRect">
            <a:avLst>
              <a:gd name="adj" fmla="val 33333"/>
            </a:avLst>
          </a:prstGeom>
          <a:solidFill>
            <a:srgbClr val="7C3AED"/>
          </a:solidFill>
          <a:ln/>
        </p:spPr>
        <p:txBody>
          <a:bodyPr wrap="square" rtlCol="0" anchor="ctr"/>
          <a:lstStyle/>
          <a:p>
            <a:pPr indent="0" marL="0">
              <a:buNone/>
            </a:pPr>
            <a:endParaRPr lang="en-US" dirty="0"/>
          </a:p>
        </p:txBody>
      </p:sp>
      <p:sp>
        <p:nvSpPr>
          <p:cNvPr id="15" name="Text 11"/>
          <p:cNvSpPr/>
          <p:nvPr/>
        </p:nvSpPr>
        <p:spPr>
          <a:xfrm>
            <a:off x="2275909" y="2199114"/>
            <a:ext cx="137160" cy="137160"/>
          </a:xfrm>
          <a:prstGeom prst="rect">
            <a:avLst/>
          </a:prstGeom>
          <a:noFill/>
          <a:ln/>
        </p:spPr>
        <p:txBody>
          <a:bodyPr wrap="none" lIns="0" tIns="0" rIns="0" bIns="0" rtlCol="0" anchor="ctr"/>
          <a:lstStyle/>
          <a:p>
            <a:pPr algn="ctr" indent="0" marL="0">
              <a:buNone/>
            </a:pPr>
            <a:r>
              <a:rPr lang="en-US" sz="900" b="1" dirty="0">
                <a:solidFill>
                  <a:srgbClr val="FFFFFF"/>
                </a:solidFill>
                <a:latin typeface="Segoe UI Symbol" pitchFamily="34" charset="0"/>
                <a:ea typeface="Segoe UI Symbol" pitchFamily="34" charset="-122"/>
                <a:cs typeface="Segoe UI Symbol" pitchFamily="34" charset="-120"/>
              </a:rPr>
              <a:t>🔄</a:t>
            </a:r>
            <a:endParaRPr lang="en-US" sz="900" dirty="0"/>
          </a:p>
        </p:txBody>
      </p:sp>
      <p:sp>
        <p:nvSpPr>
          <p:cNvPr id="16" name="Text 12"/>
          <p:cNvSpPr/>
          <p:nvPr/>
        </p:nvSpPr>
        <p:spPr>
          <a:xfrm>
            <a:off x="2230189" y="2439144"/>
            <a:ext cx="1432717" cy="142567"/>
          </a:xfrm>
          <a:prstGeom prst="rect">
            <a:avLst/>
          </a:prstGeom>
          <a:noFill/>
          <a:ln/>
        </p:spPr>
        <p:txBody>
          <a:bodyPr wrap="square" lIns="0" tIns="0" rIns="0" bIns="0" rtlCol="0" anchor="t"/>
          <a:lstStyle/>
          <a:p>
            <a:pPr algn="l" indent="0" marL="0">
              <a:lnSpc>
                <a:spcPts val="951"/>
              </a:lnSpc>
              <a:buNone/>
            </a:pPr>
            <a:r>
              <a:rPr lang="en-US" sz="731" b="1" dirty="0">
                <a:solidFill>
                  <a:srgbClr val="FFFFFF"/>
                </a:solidFill>
                <a:latin typeface="Carlito" pitchFamily="34" charset="0"/>
                <a:ea typeface="Carlito" pitchFamily="34" charset="-122"/>
                <a:cs typeface="Carlito" pitchFamily="34" charset="-120"/>
              </a:rPr>
              <a:t>Multi-agent orchestration</a:t>
            </a:r>
            <a:endParaRPr lang="en-US" sz="731" dirty="0"/>
          </a:p>
        </p:txBody>
      </p:sp>
      <p:sp>
        <p:nvSpPr>
          <p:cNvPr id="17" name="Text 13"/>
          <p:cNvSpPr/>
          <p:nvPr/>
        </p:nvSpPr>
        <p:spPr>
          <a:xfrm>
            <a:off x="2230189" y="2616957"/>
            <a:ext cx="1432717" cy="329184"/>
          </a:xfrm>
          <a:prstGeom prst="rect">
            <a:avLst/>
          </a:prstGeom>
          <a:noFill/>
          <a:ln/>
        </p:spPr>
        <p:txBody>
          <a:bodyPr wrap="square" lIns="0" tIns="0" rIns="0" bIns="0" rtlCol="0" anchor="t"/>
          <a:lstStyle/>
          <a:p>
            <a:pPr algn="l" indent="0" marL="0">
              <a:lnSpc>
                <a:spcPts val="928"/>
              </a:lnSpc>
              <a:buNone/>
            </a:pPr>
            <a:r>
              <a:rPr lang="en-US" sz="800" dirty="0">
                <a:solidFill>
                  <a:srgbClr val="FFFFFF">
                    <a:alpha val="70000"/>
                  </a:srgbClr>
                </a:solidFill>
                <a:latin typeface="Carlito" pitchFamily="34" charset="0"/>
                <a:ea typeface="Carlito" pitchFamily="34" charset="-122"/>
                <a:cs typeface="Carlito" pitchFamily="34" charset="-120"/>
              </a:rPr>
              <a:t>Sales → onboarding → retention handoffs with full context preserved.</a:t>
            </a:r>
            <a:endParaRPr lang="en-US" sz="800" dirty="0"/>
          </a:p>
        </p:txBody>
      </p:sp>
      <p:sp>
        <p:nvSpPr>
          <p:cNvPr id="18" name="Text 14"/>
          <p:cNvSpPr/>
          <p:nvPr/>
        </p:nvSpPr>
        <p:spPr>
          <a:xfrm>
            <a:off x="3792550" y="2035522"/>
            <a:ext cx="1558789" cy="1052922"/>
          </a:xfrm>
          <a:prstGeom prst="roundRect">
            <a:avLst>
              <a:gd name="adj" fmla="val 10856"/>
            </a:avLst>
          </a:prstGeom>
          <a:solidFill>
            <a:srgbClr val="FFFFFF">
              <a:alpha val="5000"/>
            </a:srgbClr>
          </a:solidFill>
          <a:ln w="7144">
            <a:solidFill>
              <a:srgbClr val="A78BFA"/>
            </a:solidFill>
            <a:prstDash val="solid"/>
          </a:ln>
        </p:spPr>
        <p:txBody>
          <a:bodyPr wrap="square" rtlCol="0" anchor="ctr"/>
          <a:lstStyle/>
          <a:p>
            <a:pPr indent="0" marL="0">
              <a:buNone/>
            </a:pPr>
            <a:endParaRPr lang="en-US" dirty="0"/>
          </a:p>
        </p:txBody>
      </p:sp>
      <p:sp>
        <p:nvSpPr>
          <p:cNvPr id="19" name="Text 15"/>
          <p:cNvSpPr/>
          <p:nvPr/>
        </p:nvSpPr>
        <p:spPr>
          <a:xfrm>
            <a:off x="3896134" y="2153394"/>
            <a:ext cx="228600" cy="228600"/>
          </a:xfrm>
          <a:prstGeom prst="roundRect">
            <a:avLst>
              <a:gd name="adj" fmla="val 33333"/>
            </a:avLst>
          </a:prstGeom>
          <a:solidFill>
            <a:srgbClr val="7C3AED"/>
          </a:solidFill>
          <a:ln/>
        </p:spPr>
        <p:txBody>
          <a:bodyPr wrap="square" rtlCol="0" anchor="ctr"/>
          <a:lstStyle/>
          <a:p>
            <a:pPr indent="0" marL="0">
              <a:buNone/>
            </a:pPr>
            <a:endParaRPr lang="en-US" dirty="0"/>
          </a:p>
        </p:txBody>
      </p:sp>
      <p:sp>
        <p:nvSpPr>
          <p:cNvPr id="20" name="Text 16"/>
          <p:cNvSpPr/>
          <p:nvPr/>
        </p:nvSpPr>
        <p:spPr>
          <a:xfrm>
            <a:off x="3941854" y="2199114"/>
            <a:ext cx="137160" cy="137160"/>
          </a:xfrm>
          <a:prstGeom prst="rect">
            <a:avLst/>
          </a:prstGeom>
          <a:noFill/>
          <a:ln/>
        </p:spPr>
        <p:txBody>
          <a:bodyPr wrap="none" lIns="0" tIns="0" rIns="0" bIns="0" rtlCol="0" anchor="ctr"/>
          <a:lstStyle/>
          <a:p>
            <a:pPr algn="ctr" indent="0" marL="0">
              <a:buNone/>
            </a:pPr>
            <a:r>
              <a:rPr lang="en-US" sz="900" b="1" dirty="0">
                <a:solidFill>
                  <a:srgbClr val="FFFFFF"/>
                </a:solidFill>
                <a:latin typeface="Segoe UI Symbol" pitchFamily="34" charset="0"/>
                <a:ea typeface="Segoe UI Symbol" pitchFamily="34" charset="-122"/>
                <a:cs typeface="Segoe UI Symbol" pitchFamily="34" charset="-120"/>
              </a:rPr>
              <a:t>⚙</a:t>
            </a:r>
            <a:endParaRPr lang="en-US" sz="900" dirty="0"/>
          </a:p>
        </p:txBody>
      </p:sp>
      <p:sp>
        <p:nvSpPr>
          <p:cNvPr id="21" name="Text 17"/>
          <p:cNvSpPr/>
          <p:nvPr/>
        </p:nvSpPr>
        <p:spPr>
          <a:xfrm>
            <a:off x="3896134" y="2439144"/>
            <a:ext cx="1432717" cy="142567"/>
          </a:xfrm>
          <a:prstGeom prst="rect">
            <a:avLst/>
          </a:prstGeom>
          <a:noFill/>
          <a:ln/>
        </p:spPr>
        <p:txBody>
          <a:bodyPr wrap="square" lIns="0" tIns="0" rIns="0" bIns="0" rtlCol="0" anchor="t"/>
          <a:lstStyle/>
          <a:p>
            <a:pPr algn="l" indent="0" marL="0">
              <a:lnSpc>
                <a:spcPts val="951"/>
              </a:lnSpc>
              <a:buNone/>
            </a:pPr>
            <a:r>
              <a:rPr lang="en-US" sz="800" b="1" dirty="0">
                <a:solidFill>
                  <a:srgbClr val="FFFFFF"/>
                </a:solidFill>
                <a:latin typeface="Carlito" pitchFamily="34" charset="0"/>
                <a:ea typeface="Carlito" pitchFamily="34" charset="-122"/>
                <a:cs typeface="Carlito" pitchFamily="34" charset="-120"/>
              </a:rPr>
              <a:t>Multi-step task execution</a:t>
            </a:r>
            <a:endParaRPr lang="en-US" sz="800" dirty="0"/>
          </a:p>
        </p:txBody>
      </p:sp>
      <p:sp>
        <p:nvSpPr>
          <p:cNvPr id="22" name="Text 18"/>
          <p:cNvSpPr/>
          <p:nvPr/>
        </p:nvSpPr>
        <p:spPr>
          <a:xfrm>
            <a:off x="3896134" y="2616957"/>
            <a:ext cx="1432717" cy="329184"/>
          </a:xfrm>
          <a:prstGeom prst="rect">
            <a:avLst/>
          </a:prstGeom>
          <a:noFill/>
          <a:ln/>
        </p:spPr>
        <p:txBody>
          <a:bodyPr wrap="square" lIns="0" tIns="0" rIns="0" bIns="0" rtlCol="0" anchor="t"/>
          <a:lstStyle/>
          <a:p>
            <a:pPr algn="l" indent="0" marL="0">
              <a:lnSpc>
                <a:spcPts val="928"/>
              </a:lnSpc>
              <a:buNone/>
            </a:pPr>
            <a:r>
              <a:rPr lang="en-US" sz="800" dirty="0">
                <a:solidFill>
                  <a:srgbClr val="FFFFFF">
                    <a:alpha val="70000"/>
                  </a:srgbClr>
                </a:solidFill>
                <a:latin typeface="Carlito" pitchFamily="34" charset="0"/>
                <a:ea typeface="Carlito" pitchFamily="34" charset="-122"/>
                <a:cs typeface="Carlito" pitchFamily="34" charset="-120"/>
              </a:rPr>
              <a:t>Bookings, payments, lookups, CRM updates — inside the conversation.</a:t>
            </a:r>
            <a:endParaRPr lang="en-US" sz="800" dirty="0"/>
          </a:p>
        </p:txBody>
      </p:sp>
      <p:sp>
        <p:nvSpPr>
          <p:cNvPr id="23" name="Text 19"/>
          <p:cNvSpPr/>
          <p:nvPr/>
        </p:nvSpPr>
        <p:spPr>
          <a:xfrm>
            <a:off x="5458495" y="2035522"/>
            <a:ext cx="1558789" cy="1052922"/>
          </a:xfrm>
          <a:prstGeom prst="roundRect">
            <a:avLst>
              <a:gd name="adj" fmla="val 10856"/>
            </a:avLst>
          </a:prstGeom>
          <a:solidFill>
            <a:srgbClr val="FFFFFF">
              <a:alpha val="5000"/>
            </a:srgbClr>
          </a:solidFill>
          <a:ln w="7144">
            <a:solidFill>
              <a:srgbClr val="A78BFA"/>
            </a:solidFill>
            <a:prstDash val="solid"/>
          </a:ln>
        </p:spPr>
        <p:txBody>
          <a:bodyPr wrap="square" rtlCol="0" anchor="ctr"/>
          <a:lstStyle/>
          <a:p>
            <a:pPr indent="0" marL="0">
              <a:buNone/>
            </a:pPr>
            <a:endParaRPr lang="en-US" dirty="0"/>
          </a:p>
        </p:txBody>
      </p:sp>
      <p:sp>
        <p:nvSpPr>
          <p:cNvPr id="24" name="Text 20"/>
          <p:cNvSpPr/>
          <p:nvPr/>
        </p:nvSpPr>
        <p:spPr>
          <a:xfrm>
            <a:off x="5562079" y="2153394"/>
            <a:ext cx="228600" cy="228600"/>
          </a:xfrm>
          <a:prstGeom prst="roundRect">
            <a:avLst>
              <a:gd name="adj" fmla="val 33333"/>
            </a:avLst>
          </a:prstGeom>
          <a:solidFill>
            <a:srgbClr val="7C3AED"/>
          </a:solidFill>
          <a:ln/>
        </p:spPr>
        <p:txBody>
          <a:bodyPr wrap="square" rtlCol="0" anchor="ctr"/>
          <a:lstStyle/>
          <a:p>
            <a:pPr indent="0" marL="0">
              <a:buNone/>
            </a:pPr>
            <a:endParaRPr lang="en-US" dirty="0"/>
          </a:p>
        </p:txBody>
      </p:sp>
      <p:sp>
        <p:nvSpPr>
          <p:cNvPr id="25" name="Text 21"/>
          <p:cNvSpPr/>
          <p:nvPr/>
        </p:nvSpPr>
        <p:spPr>
          <a:xfrm>
            <a:off x="5607799" y="2199114"/>
            <a:ext cx="137160" cy="137160"/>
          </a:xfrm>
          <a:prstGeom prst="rect">
            <a:avLst/>
          </a:prstGeom>
          <a:noFill/>
          <a:ln/>
        </p:spPr>
        <p:txBody>
          <a:bodyPr wrap="none" lIns="0" tIns="0" rIns="0" bIns="0" rtlCol="0" anchor="ctr"/>
          <a:lstStyle/>
          <a:p>
            <a:pPr algn="ctr" indent="0" marL="0">
              <a:buNone/>
            </a:pPr>
            <a:r>
              <a:rPr lang="en-US" sz="900" b="1" dirty="0">
                <a:solidFill>
                  <a:srgbClr val="FFFFFF"/>
                </a:solidFill>
                <a:latin typeface="Segoe UI Symbol" pitchFamily="34" charset="0"/>
                <a:ea typeface="Segoe UI Symbol" pitchFamily="34" charset="-122"/>
                <a:cs typeface="Segoe UI Symbol" pitchFamily="34" charset="-120"/>
              </a:rPr>
              <a:t>📈</a:t>
            </a:r>
            <a:endParaRPr lang="en-US" sz="900" dirty="0"/>
          </a:p>
        </p:txBody>
      </p:sp>
      <p:sp>
        <p:nvSpPr>
          <p:cNvPr id="26" name="Text 22"/>
          <p:cNvSpPr/>
          <p:nvPr/>
        </p:nvSpPr>
        <p:spPr>
          <a:xfrm>
            <a:off x="5562079" y="2439144"/>
            <a:ext cx="1351620" cy="142567"/>
          </a:xfrm>
          <a:prstGeom prst="rect">
            <a:avLst/>
          </a:prstGeom>
          <a:noFill/>
          <a:ln/>
        </p:spPr>
        <p:txBody>
          <a:bodyPr wrap="none" lIns="0" tIns="0" rIns="0" bIns="0" rtlCol="0" anchor="t"/>
          <a:lstStyle/>
          <a:p>
            <a:pPr algn="l" indent="0" marL="0">
              <a:lnSpc>
                <a:spcPts val="951"/>
              </a:lnSpc>
              <a:buNone/>
            </a:pPr>
            <a:r>
              <a:rPr lang="en-US" sz="800" b="1" dirty="0">
                <a:solidFill>
                  <a:srgbClr val="FFFFFF"/>
                </a:solidFill>
                <a:latin typeface="Carlito" pitchFamily="34" charset="0"/>
                <a:ea typeface="Carlito" pitchFamily="34" charset="-122"/>
                <a:cs typeface="Carlito" pitchFamily="34" charset="-120"/>
              </a:rPr>
              <a:t>Self-improving journeys</a:t>
            </a:r>
            <a:endParaRPr lang="en-US" sz="800" dirty="0"/>
          </a:p>
        </p:txBody>
      </p:sp>
      <p:sp>
        <p:nvSpPr>
          <p:cNvPr id="27" name="Text 23"/>
          <p:cNvSpPr/>
          <p:nvPr/>
        </p:nvSpPr>
        <p:spPr>
          <a:xfrm>
            <a:off x="5562079" y="2616957"/>
            <a:ext cx="1432717" cy="353616"/>
          </a:xfrm>
          <a:prstGeom prst="rect">
            <a:avLst/>
          </a:prstGeom>
          <a:noFill/>
          <a:ln/>
        </p:spPr>
        <p:txBody>
          <a:bodyPr wrap="square" lIns="0" tIns="0" rIns="0" bIns="0" rtlCol="0" anchor="t"/>
          <a:lstStyle/>
          <a:p>
            <a:pPr algn="l" indent="0" marL="0">
              <a:lnSpc>
                <a:spcPts val="928"/>
              </a:lnSpc>
              <a:buNone/>
            </a:pPr>
            <a:r>
              <a:rPr lang="en-US" sz="800" dirty="0">
                <a:solidFill>
                  <a:srgbClr val="FFFFFF">
                    <a:alpha val="70000"/>
                  </a:srgbClr>
                </a:solidFill>
                <a:latin typeface="Carlito" pitchFamily="34" charset="0"/>
                <a:ea typeface="Carlito" pitchFamily="34" charset="-122"/>
                <a:cs typeface="Carlito" pitchFamily="34" charset="-120"/>
              </a:rPr>
              <a:t>Version control + automated test suites. Every change validated before live.</a:t>
            </a:r>
            <a:endParaRPr lang="en-US" sz="800" dirty="0"/>
          </a:p>
        </p:txBody>
      </p:sp>
      <p:sp>
        <p:nvSpPr>
          <p:cNvPr id="28" name="Text 24"/>
          <p:cNvSpPr/>
          <p:nvPr/>
        </p:nvSpPr>
        <p:spPr>
          <a:xfrm>
            <a:off x="7124440" y="2035522"/>
            <a:ext cx="1558677" cy="1052922"/>
          </a:xfrm>
          <a:prstGeom prst="roundRect">
            <a:avLst>
              <a:gd name="adj" fmla="val 10856"/>
            </a:avLst>
          </a:prstGeom>
          <a:solidFill>
            <a:srgbClr val="FFFFFF">
              <a:alpha val="5000"/>
            </a:srgbClr>
          </a:solidFill>
          <a:ln w="7144">
            <a:solidFill>
              <a:srgbClr val="A78BFA"/>
            </a:solidFill>
            <a:prstDash val="solid"/>
          </a:ln>
        </p:spPr>
        <p:txBody>
          <a:bodyPr wrap="square" rtlCol="0" anchor="ctr"/>
          <a:lstStyle/>
          <a:p>
            <a:pPr indent="0" marL="0">
              <a:buNone/>
            </a:pPr>
            <a:endParaRPr lang="en-US" dirty="0"/>
          </a:p>
        </p:txBody>
      </p:sp>
      <p:sp>
        <p:nvSpPr>
          <p:cNvPr id="29" name="Text 25"/>
          <p:cNvSpPr/>
          <p:nvPr/>
        </p:nvSpPr>
        <p:spPr>
          <a:xfrm>
            <a:off x="7228024" y="2153394"/>
            <a:ext cx="228600" cy="228600"/>
          </a:xfrm>
          <a:prstGeom prst="roundRect">
            <a:avLst>
              <a:gd name="adj" fmla="val 33333"/>
            </a:avLst>
          </a:prstGeom>
          <a:solidFill>
            <a:srgbClr val="7C3AED"/>
          </a:solidFill>
          <a:ln/>
        </p:spPr>
        <p:txBody>
          <a:bodyPr wrap="square" rtlCol="0" anchor="ctr"/>
          <a:lstStyle/>
          <a:p>
            <a:pPr indent="0" marL="0">
              <a:buNone/>
            </a:pPr>
            <a:endParaRPr lang="en-US" dirty="0"/>
          </a:p>
        </p:txBody>
      </p:sp>
      <p:sp>
        <p:nvSpPr>
          <p:cNvPr id="30" name="Text 26"/>
          <p:cNvSpPr/>
          <p:nvPr/>
        </p:nvSpPr>
        <p:spPr>
          <a:xfrm>
            <a:off x="7228024" y="2153394"/>
            <a:ext cx="228600" cy="228600"/>
          </a:xfrm>
          <a:prstGeom prst="rect">
            <a:avLst/>
          </a:prstGeom>
          <a:noFill/>
          <a:ln/>
        </p:spPr>
        <p:txBody>
          <a:bodyPr wrap="none" lIns="0" tIns="0" rIns="0" bIns="0" rtlCol="0" anchor="ctr"/>
          <a:lstStyle/>
          <a:p>
            <a:pPr algn="ctr" indent="0" marL="0">
              <a:buNone/>
            </a:pPr>
            <a:r>
              <a:rPr lang="en-US" sz="900" b="1" dirty="0">
                <a:solidFill>
                  <a:srgbClr val="FFFFFF"/>
                </a:solidFill>
                <a:latin typeface="Carlito" pitchFamily="34" charset="0"/>
                <a:ea typeface="Carlito" pitchFamily="34" charset="-122"/>
                <a:cs typeface="Carlito" pitchFamily="34" charset="-120"/>
              </a:rPr>
              <a:t>∞</a:t>
            </a:r>
            <a:endParaRPr lang="en-US" sz="900" dirty="0"/>
          </a:p>
        </p:txBody>
      </p:sp>
      <p:sp>
        <p:nvSpPr>
          <p:cNvPr id="31" name="Text 27"/>
          <p:cNvSpPr/>
          <p:nvPr/>
        </p:nvSpPr>
        <p:spPr>
          <a:xfrm>
            <a:off x="7228024" y="2439144"/>
            <a:ext cx="1351508" cy="142567"/>
          </a:xfrm>
          <a:prstGeom prst="rect">
            <a:avLst/>
          </a:prstGeom>
          <a:noFill/>
          <a:ln/>
        </p:spPr>
        <p:txBody>
          <a:bodyPr wrap="none" lIns="0" tIns="0" rIns="0" bIns="0" rtlCol="0" anchor="t"/>
          <a:lstStyle/>
          <a:p>
            <a:pPr algn="l" indent="0" marL="0">
              <a:lnSpc>
                <a:spcPts val="95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24/7 capacity</a:t>
            </a:r>
            <a:endParaRPr lang="en-US" sz="800" dirty="0"/>
          </a:p>
        </p:txBody>
      </p:sp>
      <p:sp>
        <p:nvSpPr>
          <p:cNvPr id="32" name="Text 28"/>
          <p:cNvSpPr/>
          <p:nvPr/>
        </p:nvSpPr>
        <p:spPr>
          <a:xfrm>
            <a:off x="7228024" y="2616957"/>
            <a:ext cx="1432599" cy="329184"/>
          </a:xfrm>
          <a:prstGeom prst="rect">
            <a:avLst/>
          </a:prstGeom>
          <a:noFill/>
          <a:ln/>
        </p:spPr>
        <p:txBody>
          <a:bodyPr wrap="square" lIns="0" tIns="0" rIns="0" bIns="0" rtlCol="0" anchor="t"/>
          <a:lstStyle/>
          <a:p>
            <a:pPr algn="l" indent="0" marL="0">
              <a:lnSpc>
                <a:spcPts val="928"/>
              </a:lnSpc>
              <a:buNone/>
            </a:pPr>
            <a:r>
              <a:rPr lang="en-US" sz="800" dirty="0">
                <a:solidFill>
                  <a:srgbClr val="FFFFFF">
                    <a:alpha val="70000"/>
                  </a:srgbClr>
                </a:solidFill>
                <a:latin typeface="Carlito" pitchFamily="34" charset="0"/>
                <a:ea typeface="Carlito" pitchFamily="34" charset="-122"/>
                <a:cs typeface="Carlito" pitchFamily="34" charset="-120"/>
              </a:rPr>
              <a:t>No shift scheduling, no overtime, no attrition, no training ramp-up.</a:t>
            </a:r>
            <a:endParaRPr lang="en-US" sz="800" dirty="0"/>
          </a:p>
        </p:txBody>
      </p:sp>
      <p:sp>
        <p:nvSpPr>
          <p:cNvPr id="33" name="Text 29"/>
          <p:cNvSpPr/>
          <p:nvPr/>
        </p:nvSpPr>
        <p:spPr>
          <a:xfrm>
            <a:off x="460772" y="3252750"/>
            <a:ext cx="8222456" cy="744289"/>
          </a:xfrm>
          <a:prstGeom prst="roundRect">
            <a:avLst>
              <a:gd name="adj" fmla="val 17916"/>
            </a:avLst>
          </a:prstGeom>
          <a:solidFill>
            <a:srgbClr val="7C3AED">
              <a:alpha val="12000"/>
            </a:srgbClr>
          </a:solidFill>
          <a:ln w="7144">
            <a:solidFill>
              <a:srgbClr val="A78BFA"/>
            </a:solidFill>
            <a:prstDash val="solid"/>
          </a:ln>
        </p:spPr>
        <p:txBody>
          <a:bodyPr wrap="square" rtlCol="0" anchor="ctr"/>
          <a:lstStyle/>
          <a:p>
            <a:pPr indent="0" marL="0">
              <a:buNone/>
            </a:pPr>
            <a:endParaRPr lang="en-US" dirty="0"/>
          </a:p>
        </p:txBody>
      </p:sp>
      <p:sp>
        <p:nvSpPr>
          <p:cNvPr id="34" name="Text 30"/>
          <p:cNvSpPr/>
          <p:nvPr/>
        </p:nvSpPr>
        <p:spPr>
          <a:xfrm>
            <a:off x="1094110" y="3384910"/>
            <a:ext cx="342900" cy="342900"/>
          </a:xfrm>
          <a:prstGeom prst="ellipse">
            <a:avLst/>
          </a:prstGeom>
          <a:solidFill>
            <a:srgbClr val="7C3AED"/>
          </a:solidFill>
          <a:ln/>
          <a:effectLst>
            <a:outerShdw sx="100000" sy="100000" kx="0" ky="0" algn="bl" rotWithShape="0" blurRad="114300" dist="38100" dir="5400000">
              <a:srgbClr val="7C3AED">
                <a:alpha val="40000"/>
              </a:srgbClr>
            </a:outerShdw>
          </a:effectLst>
        </p:spPr>
        <p:txBody>
          <a:bodyPr wrap="square" rtlCol="0" anchor="ctr"/>
          <a:lstStyle/>
          <a:p>
            <a:pPr indent="0" marL="0">
              <a:buNone/>
            </a:pPr>
            <a:endParaRPr lang="en-US" dirty="0"/>
          </a:p>
        </p:txBody>
      </p:sp>
      <p:sp>
        <p:nvSpPr>
          <p:cNvPr id="35" name="Text 31"/>
          <p:cNvSpPr/>
          <p:nvPr/>
        </p:nvSpPr>
        <p:spPr>
          <a:xfrm>
            <a:off x="1094110" y="3384910"/>
            <a:ext cx="342900" cy="342900"/>
          </a:xfrm>
          <a:prstGeom prst="rect">
            <a:avLst/>
          </a:prstGeom>
          <a:noFill/>
          <a:ln/>
        </p:spPr>
        <p:txBody>
          <a:bodyPr wrap="none" lIns="0" tIns="0" rIns="0" bIns="0" rtlCol="0" anchor="ctr"/>
          <a:lstStyle/>
          <a:p>
            <a:pPr algn="ctr" indent="0" marL="0">
              <a:lnSpc>
                <a:spcPts val="619"/>
              </a:lnSpc>
              <a:buNone/>
            </a:pPr>
            <a:r>
              <a:rPr lang="en-US" sz="800" b="1" dirty="0">
                <a:solidFill>
                  <a:srgbClr val="FFFFFF"/>
                </a:solidFill>
                <a:latin typeface="Carlito" pitchFamily="34" charset="0"/>
                <a:ea typeface="Carlito" pitchFamily="34" charset="-122"/>
                <a:cs typeface="Carlito" pitchFamily="34" charset="-120"/>
              </a:rPr>
              <a:t>Sales</a:t>
            </a:r>
            <a:endParaRPr lang="en-US" sz="800" dirty="0"/>
          </a:p>
        </p:txBody>
      </p:sp>
      <p:sp>
        <p:nvSpPr>
          <p:cNvPr id="36" name="Text 32"/>
          <p:cNvSpPr/>
          <p:nvPr/>
        </p:nvSpPr>
        <p:spPr>
          <a:xfrm>
            <a:off x="988467" y="3770672"/>
            <a:ext cx="554186" cy="94208"/>
          </a:xfrm>
          <a:prstGeom prst="rect">
            <a:avLst/>
          </a:prstGeom>
          <a:noFill/>
          <a:ln/>
        </p:spPr>
        <p:txBody>
          <a:bodyPr wrap="none" lIns="0" tIns="0" rIns="0" bIns="0" rtlCol="0" anchor="t"/>
          <a:lstStyle/>
          <a:p>
            <a:pPr algn="ctr" indent="0" marL="0">
              <a:lnSpc>
                <a:spcPts val="742"/>
              </a:lnSpc>
              <a:buNone/>
            </a:pPr>
            <a:r>
              <a:rPr lang="en-US" sz="619" dirty="0">
                <a:solidFill>
                  <a:srgbClr val="A78BFA"/>
                </a:solidFill>
                <a:latin typeface="Carlito" pitchFamily="34" charset="0"/>
                <a:ea typeface="Carlito" pitchFamily="34" charset="-122"/>
                <a:cs typeface="Carlito" pitchFamily="34" charset="-120"/>
              </a:rPr>
              <a:t>Sales Agent</a:t>
            </a:r>
            <a:endParaRPr lang="en-US" sz="619" dirty="0"/>
          </a:p>
        </p:txBody>
      </p:sp>
      <p:sp>
        <p:nvSpPr>
          <p:cNvPr id="37" name="Text 33"/>
          <p:cNvSpPr/>
          <p:nvPr/>
        </p:nvSpPr>
        <p:spPr>
          <a:xfrm>
            <a:off x="2038201" y="3549886"/>
            <a:ext cx="107826" cy="150019"/>
          </a:xfrm>
          <a:prstGeom prst="rect">
            <a:avLst/>
          </a:prstGeom>
          <a:noFill/>
          <a:ln/>
        </p:spPr>
        <p:txBody>
          <a:bodyPr wrap="none" lIns="0" tIns="0" rIns="0" bIns="0" rtlCol="0" anchor="ctr"/>
          <a:lstStyle/>
          <a:p>
            <a:pPr algn="ctr" indent="0" marL="0">
              <a:buNone/>
            </a:pPr>
            <a:r>
              <a:rPr lang="en-US" sz="1013" b="1" dirty="0">
                <a:solidFill>
                  <a:srgbClr val="A78BFA"/>
                </a:solidFill>
                <a:latin typeface="Segoe UI Symbol" pitchFamily="34" charset="0"/>
                <a:ea typeface="Segoe UI Symbol" pitchFamily="34" charset="-122"/>
                <a:cs typeface="Segoe UI Symbol" pitchFamily="34" charset="-120"/>
              </a:rPr>
              <a:t>→</a:t>
            </a:r>
            <a:endParaRPr lang="en-US" sz="1013" dirty="0"/>
          </a:p>
        </p:txBody>
      </p:sp>
      <p:sp>
        <p:nvSpPr>
          <p:cNvPr id="38" name="Text 34"/>
          <p:cNvSpPr/>
          <p:nvPr/>
        </p:nvSpPr>
        <p:spPr>
          <a:xfrm>
            <a:off x="2747218" y="3384910"/>
            <a:ext cx="342900" cy="342900"/>
          </a:xfrm>
          <a:prstGeom prst="ellipse">
            <a:avLst/>
          </a:prstGeom>
          <a:solidFill>
            <a:srgbClr val="7C3AED"/>
          </a:solidFill>
          <a:ln/>
          <a:effectLst>
            <a:outerShdw sx="100000" sy="100000" kx="0" ky="0" algn="bl" rotWithShape="0" blurRad="114300" dist="38100" dir="5400000">
              <a:srgbClr val="7C3AED">
                <a:alpha val="40000"/>
              </a:srgbClr>
            </a:outerShdw>
          </a:effectLst>
        </p:spPr>
        <p:txBody>
          <a:bodyPr wrap="square" rtlCol="0" anchor="ctr"/>
          <a:lstStyle/>
          <a:p>
            <a:pPr indent="0" marL="0">
              <a:buNone/>
            </a:pPr>
            <a:endParaRPr lang="en-US" dirty="0"/>
          </a:p>
        </p:txBody>
      </p:sp>
      <p:sp>
        <p:nvSpPr>
          <p:cNvPr id="39" name="Text 35"/>
          <p:cNvSpPr/>
          <p:nvPr/>
        </p:nvSpPr>
        <p:spPr>
          <a:xfrm>
            <a:off x="2747218" y="3384910"/>
            <a:ext cx="342900" cy="342900"/>
          </a:xfrm>
          <a:prstGeom prst="rect">
            <a:avLst/>
          </a:prstGeom>
          <a:noFill/>
          <a:ln/>
        </p:spPr>
        <p:txBody>
          <a:bodyPr wrap="none" lIns="0" tIns="0" rIns="0" bIns="0" rtlCol="0" anchor="ctr"/>
          <a:lstStyle/>
          <a:p>
            <a:pPr algn="ctr" indent="0" marL="0">
              <a:lnSpc>
                <a:spcPts val="619"/>
              </a:lnSpc>
              <a:buNone/>
            </a:pPr>
            <a:r>
              <a:rPr lang="en-US" sz="800" b="1" dirty="0">
                <a:solidFill>
                  <a:srgbClr val="FFFFFF"/>
                </a:solidFill>
                <a:latin typeface="Carlito" pitchFamily="34" charset="0"/>
                <a:ea typeface="Carlito" pitchFamily="34" charset="-122"/>
                <a:cs typeface="Carlito" pitchFamily="34" charset="-120"/>
              </a:rPr>
              <a:t>Onboard</a:t>
            </a:r>
            <a:endParaRPr lang="en-US" sz="800" dirty="0"/>
          </a:p>
        </p:txBody>
      </p:sp>
      <p:sp>
        <p:nvSpPr>
          <p:cNvPr id="40" name="Text 36"/>
          <p:cNvSpPr/>
          <p:nvPr/>
        </p:nvSpPr>
        <p:spPr>
          <a:xfrm>
            <a:off x="2501614" y="3770672"/>
            <a:ext cx="834108" cy="94208"/>
          </a:xfrm>
          <a:prstGeom prst="rect">
            <a:avLst/>
          </a:prstGeom>
          <a:noFill/>
          <a:ln/>
        </p:spPr>
        <p:txBody>
          <a:bodyPr wrap="none" lIns="0" tIns="0" rIns="0" bIns="0" rtlCol="0" anchor="t"/>
          <a:lstStyle/>
          <a:p>
            <a:pPr algn="ctr" indent="0" marL="0">
              <a:lnSpc>
                <a:spcPts val="742"/>
              </a:lnSpc>
              <a:buNone/>
            </a:pPr>
            <a:r>
              <a:rPr lang="en-US" sz="619" dirty="0">
                <a:solidFill>
                  <a:srgbClr val="A78BFA"/>
                </a:solidFill>
                <a:latin typeface="Carlito" pitchFamily="34" charset="0"/>
                <a:ea typeface="Carlito" pitchFamily="34" charset="-122"/>
                <a:cs typeface="Carlito" pitchFamily="34" charset="-120"/>
              </a:rPr>
              <a:t>Onboarding Expert</a:t>
            </a:r>
            <a:endParaRPr lang="en-US" sz="619" dirty="0"/>
          </a:p>
        </p:txBody>
      </p:sp>
      <p:sp>
        <p:nvSpPr>
          <p:cNvPr id="41" name="Text 37"/>
          <p:cNvSpPr/>
          <p:nvPr/>
        </p:nvSpPr>
        <p:spPr>
          <a:xfrm>
            <a:off x="3691421" y="3549886"/>
            <a:ext cx="107826" cy="150019"/>
          </a:xfrm>
          <a:prstGeom prst="rect">
            <a:avLst/>
          </a:prstGeom>
          <a:noFill/>
          <a:ln/>
        </p:spPr>
        <p:txBody>
          <a:bodyPr wrap="none" lIns="0" tIns="0" rIns="0" bIns="0" rtlCol="0" anchor="ctr"/>
          <a:lstStyle/>
          <a:p>
            <a:pPr algn="ctr" indent="0" marL="0">
              <a:buNone/>
            </a:pPr>
            <a:r>
              <a:rPr lang="en-US" sz="1013" b="1" dirty="0">
                <a:solidFill>
                  <a:srgbClr val="A78BFA"/>
                </a:solidFill>
                <a:latin typeface="Segoe UI Symbol" pitchFamily="34" charset="0"/>
                <a:ea typeface="Segoe UI Symbol" pitchFamily="34" charset="-122"/>
                <a:cs typeface="Segoe UI Symbol" pitchFamily="34" charset="-120"/>
              </a:rPr>
              <a:t>→</a:t>
            </a:r>
            <a:endParaRPr lang="en-US" sz="1013" dirty="0"/>
          </a:p>
        </p:txBody>
      </p:sp>
      <p:sp>
        <p:nvSpPr>
          <p:cNvPr id="42" name="Text 38"/>
          <p:cNvSpPr/>
          <p:nvPr/>
        </p:nvSpPr>
        <p:spPr>
          <a:xfrm>
            <a:off x="4400438" y="3384910"/>
            <a:ext cx="342900" cy="342900"/>
          </a:xfrm>
          <a:prstGeom prst="ellipse">
            <a:avLst/>
          </a:prstGeom>
          <a:solidFill>
            <a:srgbClr val="7C3AED"/>
          </a:solidFill>
          <a:ln/>
          <a:effectLst>
            <a:outerShdw sx="100000" sy="100000" kx="0" ky="0" algn="bl" rotWithShape="0" blurRad="114300" dist="38100" dir="5400000">
              <a:srgbClr val="7C3AED">
                <a:alpha val="40000"/>
              </a:srgbClr>
            </a:outerShdw>
          </a:effectLst>
        </p:spPr>
        <p:txBody>
          <a:bodyPr wrap="square" rtlCol="0" anchor="ctr"/>
          <a:lstStyle/>
          <a:p>
            <a:pPr indent="0" marL="0">
              <a:buNone/>
            </a:pPr>
            <a:endParaRPr lang="en-US" dirty="0"/>
          </a:p>
        </p:txBody>
      </p:sp>
      <p:sp>
        <p:nvSpPr>
          <p:cNvPr id="43" name="Text 39"/>
          <p:cNvSpPr/>
          <p:nvPr/>
        </p:nvSpPr>
        <p:spPr>
          <a:xfrm>
            <a:off x="4400438" y="3384910"/>
            <a:ext cx="342900" cy="342900"/>
          </a:xfrm>
          <a:prstGeom prst="rect">
            <a:avLst/>
          </a:prstGeom>
          <a:noFill/>
          <a:ln/>
        </p:spPr>
        <p:txBody>
          <a:bodyPr wrap="none" lIns="0" tIns="0" rIns="0" bIns="0" rtlCol="0" anchor="ctr"/>
          <a:lstStyle/>
          <a:p>
            <a:pPr algn="ctr" indent="0" marL="0">
              <a:lnSpc>
                <a:spcPts val="619"/>
              </a:lnSpc>
              <a:buNone/>
            </a:pPr>
            <a:r>
              <a:rPr lang="en-US" sz="800" b="1" dirty="0">
                <a:solidFill>
                  <a:srgbClr val="FFFFFF"/>
                </a:solidFill>
                <a:latin typeface="Carlito" pitchFamily="34" charset="0"/>
                <a:ea typeface="Carlito" pitchFamily="34" charset="-122"/>
                <a:cs typeface="Carlito" pitchFamily="34" charset="-120"/>
              </a:rPr>
              <a:t>Service</a:t>
            </a:r>
            <a:endParaRPr lang="en-US" sz="800" dirty="0"/>
          </a:p>
        </p:txBody>
      </p:sp>
      <p:sp>
        <p:nvSpPr>
          <p:cNvPr id="44" name="Text 40"/>
          <p:cNvSpPr/>
          <p:nvPr/>
        </p:nvSpPr>
        <p:spPr>
          <a:xfrm>
            <a:off x="4246578" y="3770672"/>
            <a:ext cx="650621" cy="94208"/>
          </a:xfrm>
          <a:prstGeom prst="rect">
            <a:avLst/>
          </a:prstGeom>
          <a:noFill/>
          <a:ln/>
        </p:spPr>
        <p:txBody>
          <a:bodyPr wrap="none" lIns="0" tIns="0" rIns="0" bIns="0" rtlCol="0" anchor="t"/>
          <a:lstStyle/>
          <a:p>
            <a:pPr algn="ctr" indent="0" marL="0">
              <a:lnSpc>
                <a:spcPts val="742"/>
              </a:lnSpc>
              <a:buNone/>
            </a:pPr>
            <a:r>
              <a:rPr lang="en-US" sz="619" dirty="0">
                <a:solidFill>
                  <a:srgbClr val="A78BFA"/>
                </a:solidFill>
                <a:latin typeface="Carlito" pitchFamily="34" charset="0"/>
                <a:ea typeface="Carlito" pitchFamily="34" charset="-122"/>
                <a:cs typeface="Carlito" pitchFamily="34" charset="-120"/>
              </a:rPr>
              <a:t>Support Agent</a:t>
            </a:r>
            <a:endParaRPr lang="en-US" sz="619" dirty="0"/>
          </a:p>
        </p:txBody>
      </p:sp>
      <p:sp>
        <p:nvSpPr>
          <p:cNvPr id="45" name="Text 41"/>
          <p:cNvSpPr/>
          <p:nvPr/>
        </p:nvSpPr>
        <p:spPr>
          <a:xfrm>
            <a:off x="5344641" y="3549886"/>
            <a:ext cx="107826" cy="150019"/>
          </a:xfrm>
          <a:prstGeom prst="rect">
            <a:avLst/>
          </a:prstGeom>
          <a:noFill/>
          <a:ln/>
        </p:spPr>
        <p:txBody>
          <a:bodyPr wrap="none" lIns="0" tIns="0" rIns="0" bIns="0" rtlCol="0" anchor="ctr"/>
          <a:lstStyle/>
          <a:p>
            <a:pPr algn="ctr" indent="0" marL="0">
              <a:buNone/>
            </a:pPr>
            <a:r>
              <a:rPr lang="en-US" sz="1013" b="1" dirty="0">
                <a:solidFill>
                  <a:srgbClr val="A78BFA"/>
                </a:solidFill>
                <a:latin typeface="Segoe UI Symbol" pitchFamily="34" charset="0"/>
                <a:ea typeface="Segoe UI Symbol" pitchFamily="34" charset="-122"/>
                <a:cs typeface="Segoe UI Symbol" pitchFamily="34" charset="-120"/>
              </a:rPr>
              <a:t>→</a:t>
            </a:r>
            <a:endParaRPr lang="en-US" sz="1013" dirty="0"/>
          </a:p>
        </p:txBody>
      </p:sp>
      <p:sp>
        <p:nvSpPr>
          <p:cNvPr id="46" name="Text 42"/>
          <p:cNvSpPr/>
          <p:nvPr/>
        </p:nvSpPr>
        <p:spPr>
          <a:xfrm>
            <a:off x="6053658" y="3384910"/>
            <a:ext cx="342900" cy="342900"/>
          </a:xfrm>
          <a:prstGeom prst="ellipse">
            <a:avLst/>
          </a:prstGeom>
          <a:solidFill>
            <a:srgbClr val="7C3AED"/>
          </a:solidFill>
          <a:ln/>
          <a:effectLst>
            <a:outerShdw sx="100000" sy="100000" kx="0" ky="0" algn="bl" rotWithShape="0" blurRad="114300" dist="38100" dir="5400000">
              <a:srgbClr val="7C3AED">
                <a:alpha val="40000"/>
              </a:srgbClr>
            </a:outerShdw>
          </a:effectLst>
        </p:spPr>
        <p:txBody>
          <a:bodyPr wrap="square" rtlCol="0" anchor="ctr"/>
          <a:lstStyle/>
          <a:p>
            <a:pPr indent="0" marL="0">
              <a:buNone/>
            </a:pPr>
            <a:endParaRPr lang="en-US" dirty="0"/>
          </a:p>
        </p:txBody>
      </p:sp>
      <p:sp>
        <p:nvSpPr>
          <p:cNvPr id="47" name="Text 43"/>
          <p:cNvSpPr/>
          <p:nvPr/>
        </p:nvSpPr>
        <p:spPr>
          <a:xfrm>
            <a:off x="6053658" y="3384910"/>
            <a:ext cx="342900" cy="342900"/>
          </a:xfrm>
          <a:prstGeom prst="rect">
            <a:avLst/>
          </a:prstGeom>
          <a:noFill/>
          <a:ln/>
        </p:spPr>
        <p:txBody>
          <a:bodyPr wrap="none" lIns="0" tIns="0" rIns="0" bIns="0" rtlCol="0" anchor="ctr"/>
          <a:lstStyle/>
          <a:p>
            <a:pPr algn="ctr" indent="0" marL="0">
              <a:lnSpc>
                <a:spcPts val="619"/>
              </a:lnSpc>
              <a:buNone/>
            </a:pPr>
            <a:r>
              <a:rPr lang="en-US" sz="800" b="1" dirty="0">
                <a:solidFill>
                  <a:srgbClr val="FFFFFF"/>
                </a:solidFill>
                <a:latin typeface="Carlito" pitchFamily="34" charset="0"/>
                <a:ea typeface="Carlito" pitchFamily="34" charset="-122"/>
                <a:cs typeface="Carlito" pitchFamily="34" charset="-120"/>
              </a:rPr>
              <a:t>Retain</a:t>
            </a:r>
            <a:endParaRPr lang="en-US" sz="800" dirty="0"/>
          </a:p>
        </p:txBody>
      </p:sp>
      <p:sp>
        <p:nvSpPr>
          <p:cNvPr id="48" name="Text 44"/>
          <p:cNvSpPr/>
          <p:nvPr/>
        </p:nvSpPr>
        <p:spPr>
          <a:xfrm>
            <a:off x="5871241" y="3770672"/>
            <a:ext cx="707736" cy="94208"/>
          </a:xfrm>
          <a:prstGeom prst="rect">
            <a:avLst/>
          </a:prstGeom>
          <a:noFill/>
          <a:ln/>
        </p:spPr>
        <p:txBody>
          <a:bodyPr wrap="none" lIns="0" tIns="0" rIns="0" bIns="0" rtlCol="0" anchor="t"/>
          <a:lstStyle/>
          <a:p>
            <a:pPr algn="ctr" indent="0" marL="0">
              <a:lnSpc>
                <a:spcPts val="742"/>
              </a:lnSpc>
              <a:buNone/>
            </a:pPr>
            <a:r>
              <a:rPr lang="en-US" sz="619" dirty="0">
                <a:solidFill>
                  <a:srgbClr val="A78BFA"/>
                </a:solidFill>
                <a:latin typeface="Carlito" pitchFamily="34" charset="0"/>
                <a:ea typeface="Carlito" pitchFamily="34" charset="-122"/>
                <a:cs typeface="Carlito" pitchFamily="34" charset="-120"/>
              </a:rPr>
              <a:t>Retention Agent</a:t>
            </a:r>
            <a:endParaRPr lang="en-US" sz="619" dirty="0"/>
          </a:p>
        </p:txBody>
      </p:sp>
      <p:sp>
        <p:nvSpPr>
          <p:cNvPr id="49" name="Text 45"/>
          <p:cNvSpPr/>
          <p:nvPr/>
        </p:nvSpPr>
        <p:spPr>
          <a:xfrm>
            <a:off x="6997861" y="3549886"/>
            <a:ext cx="107826" cy="150019"/>
          </a:xfrm>
          <a:prstGeom prst="rect">
            <a:avLst/>
          </a:prstGeom>
          <a:noFill/>
          <a:ln/>
        </p:spPr>
        <p:txBody>
          <a:bodyPr wrap="none" lIns="0" tIns="0" rIns="0" bIns="0" rtlCol="0" anchor="ctr"/>
          <a:lstStyle/>
          <a:p>
            <a:pPr algn="ctr" indent="0" marL="0">
              <a:buNone/>
            </a:pPr>
            <a:r>
              <a:rPr lang="en-US" sz="1013" b="1" dirty="0">
                <a:solidFill>
                  <a:srgbClr val="A78BFA"/>
                </a:solidFill>
                <a:latin typeface="Segoe UI Symbol" pitchFamily="34" charset="0"/>
                <a:ea typeface="Segoe UI Symbol" pitchFamily="34" charset="-122"/>
                <a:cs typeface="Segoe UI Symbol" pitchFamily="34" charset="-120"/>
              </a:rPr>
              <a:t>→</a:t>
            </a:r>
            <a:endParaRPr lang="en-US" sz="1013" dirty="0"/>
          </a:p>
        </p:txBody>
      </p:sp>
      <p:sp>
        <p:nvSpPr>
          <p:cNvPr id="50" name="Text 46"/>
          <p:cNvSpPr/>
          <p:nvPr/>
        </p:nvSpPr>
        <p:spPr>
          <a:xfrm>
            <a:off x="7706878" y="3384910"/>
            <a:ext cx="342900" cy="342900"/>
          </a:xfrm>
          <a:prstGeom prst="ellipse">
            <a:avLst/>
          </a:prstGeom>
          <a:solidFill>
            <a:srgbClr val="7C3AED"/>
          </a:solidFill>
          <a:ln/>
          <a:effectLst>
            <a:outerShdw sx="100000" sy="100000" kx="0" ky="0" algn="bl" rotWithShape="0" blurRad="114300" dist="38100" dir="5400000">
              <a:srgbClr val="7C3AED">
                <a:alpha val="40000"/>
              </a:srgbClr>
            </a:outerShdw>
          </a:effectLst>
        </p:spPr>
        <p:txBody>
          <a:bodyPr wrap="square" rtlCol="0" anchor="ctr"/>
          <a:lstStyle/>
          <a:p>
            <a:pPr indent="0" marL="0">
              <a:buNone/>
            </a:pPr>
            <a:endParaRPr lang="en-US" dirty="0"/>
          </a:p>
        </p:txBody>
      </p:sp>
      <p:sp>
        <p:nvSpPr>
          <p:cNvPr id="51" name="Text 47"/>
          <p:cNvSpPr/>
          <p:nvPr/>
        </p:nvSpPr>
        <p:spPr>
          <a:xfrm>
            <a:off x="7706878" y="3384910"/>
            <a:ext cx="342900" cy="342900"/>
          </a:xfrm>
          <a:prstGeom prst="rect">
            <a:avLst/>
          </a:prstGeom>
          <a:noFill/>
          <a:ln/>
        </p:spPr>
        <p:txBody>
          <a:bodyPr wrap="none" lIns="0" tIns="0" rIns="0" bIns="0" rtlCol="0" anchor="ctr"/>
          <a:lstStyle/>
          <a:p>
            <a:pPr algn="ctr" indent="0" marL="0">
              <a:lnSpc>
                <a:spcPts val="619"/>
              </a:lnSpc>
              <a:buNone/>
            </a:pPr>
            <a:r>
              <a:rPr lang="en-US" sz="800" b="1" dirty="0">
                <a:solidFill>
                  <a:srgbClr val="FFFFFF"/>
                </a:solidFill>
                <a:latin typeface="Carlito" pitchFamily="34" charset="0"/>
                <a:ea typeface="Carlito" pitchFamily="34" charset="-122"/>
                <a:cs typeface="Carlito" pitchFamily="34" charset="-120"/>
              </a:rPr>
              <a:t>Bill</a:t>
            </a:r>
            <a:endParaRPr lang="en-US" sz="800" dirty="0"/>
          </a:p>
        </p:txBody>
      </p:sp>
      <p:sp>
        <p:nvSpPr>
          <p:cNvPr id="52" name="Text 48"/>
          <p:cNvSpPr/>
          <p:nvPr/>
        </p:nvSpPr>
        <p:spPr>
          <a:xfrm>
            <a:off x="7553074" y="3770672"/>
            <a:ext cx="650621" cy="94208"/>
          </a:xfrm>
          <a:prstGeom prst="rect">
            <a:avLst/>
          </a:prstGeom>
          <a:noFill/>
          <a:ln/>
        </p:spPr>
        <p:txBody>
          <a:bodyPr wrap="none" lIns="0" tIns="0" rIns="0" bIns="0" rtlCol="0" anchor="t"/>
          <a:lstStyle/>
          <a:p>
            <a:pPr algn="ctr" indent="0" marL="0">
              <a:lnSpc>
                <a:spcPts val="742"/>
              </a:lnSpc>
              <a:buNone/>
            </a:pPr>
            <a:r>
              <a:rPr lang="en-US" sz="619" dirty="0">
                <a:solidFill>
                  <a:srgbClr val="A78BFA"/>
                </a:solidFill>
                <a:latin typeface="Carlito" pitchFamily="34" charset="0"/>
                <a:ea typeface="Carlito" pitchFamily="34" charset="-122"/>
                <a:cs typeface="Carlito" pitchFamily="34" charset="-120"/>
              </a:rPr>
              <a:t>Billing Agent</a:t>
            </a:r>
            <a:endParaRPr lang="en-US" sz="619" dirty="0"/>
          </a:p>
        </p:txBody>
      </p:sp>
      <p:pic>
        <p:nvPicPr>
          <p:cNvPr id="53" name="Image 2" descr="preencoded.png">    </p:cNvPr>
          <p:cNvPicPr>
            <a:picLocks noChangeAspect="1"/>
          </p:cNvPicPr>
          <p:nvPr/>
        </p:nvPicPr>
        <p:blipFill>
          <a:blip r:embed="rId3"/>
          <a:stretch>
            <a:fillRect/>
          </a:stretch>
        </p:blipFill>
        <p:spPr>
          <a:xfrm>
            <a:off x="457200" y="4129199"/>
            <a:ext cx="8229600" cy="278606"/>
          </a:xfrm>
          <a:prstGeom prst="rect">
            <a:avLst/>
          </a:prstGeom>
        </p:spPr>
      </p:pic>
      <p:sp>
        <p:nvSpPr>
          <p:cNvPr id="54" name="Shape 49"/>
          <p:cNvSpPr/>
          <p:nvPr/>
        </p:nvSpPr>
        <p:spPr>
          <a:xfrm>
            <a:off x="471488" y="4129199"/>
            <a:ext cx="0" cy="278606"/>
          </a:xfrm>
          <a:prstGeom prst="line">
            <a:avLst/>
          </a:prstGeom>
          <a:noFill/>
          <a:ln w="28575">
            <a:solidFill>
              <a:srgbClr val="A78BFA"/>
            </a:solidFill>
            <a:prstDash val="solid"/>
          </a:ln>
        </p:spPr>
      </p:sp>
      <p:sp>
        <p:nvSpPr>
          <p:cNvPr id="55" name="Text 50"/>
          <p:cNvSpPr/>
          <p:nvPr/>
        </p:nvSpPr>
        <p:spPr>
          <a:xfrm>
            <a:off x="457200" y="4129199"/>
            <a:ext cx="8229600" cy="329184"/>
          </a:xfrm>
          <a:prstGeom prst="rect">
            <a:avLst/>
          </a:prstGeom>
          <a:noFill/>
          <a:ln/>
        </p:spPr>
        <p:txBody>
          <a:bodyPr wrap="square" lIns="128588" tIns="85725" rIns="128588" bIns="85725" rtlCol="0" anchor="t"/>
          <a:lstStyle/>
          <a:p>
            <a:pPr algn="l" indent="0" marL="0">
              <a:buNone/>
            </a:pPr>
            <a:r>
              <a:rPr lang="en-US" sz="800" dirty="0">
                <a:solidFill>
                  <a:srgbClr val="FFFFFF">
                    <a:alpha val="92000"/>
                  </a:srgbClr>
                </a:solidFill>
                <a:latin typeface="Carlito" pitchFamily="34" charset="0"/>
                <a:ea typeface="Carlito" pitchFamily="34" charset="-122"/>
                <a:cs typeface="Carlito" pitchFamily="34" charset="-120"/>
              </a:rPr>
              <a:t>Recognized as </a:t>
            </a:r>
            <a:pPr algn="l" indent="0" marL="0">
              <a:buNone/>
            </a:pPr>
            <a:r>
              <a:rPr lang="en-US" sz="800" b="1" dirty="0">
                <a:solidFill>
                  <a:srgbClr val="A78BFA">
                    <a:alpha val="92000"/>
                  </a:srgbClr>
                </a:solidFill>
                <a:latin typeface="Carlito" pitchFamily="34" charset="0"/>
                <a:ea typeface="Carlito" pitchFamily="34" charset="-122"/>
                <a:cs typeface="Carlito" pitchFamily="34" charset="-120"/>
              </a:rPr>
              <a:t>Best AI Agent Platform</a:t>
            </a:r>
            <a:pPr algn="l" indent="0" marL="0">
              <a:buNone/>
            </a:pPr>
            <a:r>
              <a:rPr lang="en-US" sz="800" dirty="0">
                <a:solidFill>
                  <a:srgbClr val="FFFFFF">
                    <a:alpha val="92000"/>
                  </a:srgbClr>
                </a:solidFill>
                <a:latin typeface="Carlito" pitchFamily="34" charset="0"/>
                <a:ea typeface="Carlito" pitchFamily="34" charset="-122"/>
                <a:cs typeface="Carlito" pitchFamily="34" charset="-120"/>
              </a:rPr>
              <a:t> — 2025 AI &amp; Software Development Awards.</a:t>
            </a:r>
            <a:endParaRPr lang="en-US" sz="800" dirty="0"/>
          </a:p>
        </p:txBody>
      </p:sp>
      <p:sp>
        <p:nvSpPr>
          <p:cNvPr id="56" name="Text 51"/>
          <p:cNvSpPr/>
          <p:nvPr/>
        </p:nvSpPr>
        <p:spPr>
          <a:xfrm>
            <a:off x="342900" y="4879181"/>
            <a:ext cx="8145438" cy="129679"/>
          </a:xfrm>
          <a:prstGeom prst="rect">
            <a:avLst/>
          </a:prstGeom>
          <a:noFill/>
          <a:ln/>
        </p:spPr>
        <p:txBody>
          <a:bodyPr wrap="square" lIns="0" tIns="0" rIns="0" bIns="0" rtlCol="0" anchor="t"/>
          <a:lstStyle/>
          <a:p>
            <a:pPr algn="l" indent="0" marL="0">
              <a:buNone/>
            </a:pPr>
            <a:r>
              <a:rPr lang="en-US" sz="800" spc="25" kern="0" dirty="0">
                <a:solidFill>
                  <a:srgbClr val="FFFFFF">
                    <a:alpha val="55000"/>
                  </a:srgbClr>
                </a:solidFill>
                <a:latin typeface="Carlito" pitchFamily="34" charset="0"/>
                <a:ea typeface="Carlito" pitchFamily="34" charset="-122"/>
                <a:cs typeface="Carlito" pitchFamily="34" charset="-120"/>
              </a:rPr>
              <a:t>MASSAPRO — THE GROWTH MACHINE FOR CUSTOMER SERVICE</a:t>
            </a:r>
            <a:endParaRPr lang="en-US" sz="800" dirty="0"/>
          </a:p>
        </p:txBody>
      </p:sp>
      <p:sp>
        <p:nvSpPr>
          <p:cNvPr id="57" name="Text 52"/>
          <p:cNvSpPr/>
          <p:nvPr/>
        </p:nvSpPr>
        <p:spPr>
          <a:xfrm>
            <a:off x="8483221" y="4879181"/>
            <a:ext cx="453969" cy="129679"/>
          </a:xfrm>
          <a:prstGeom prst="rect">
            <a:avLst/>
          </a:prstGeom>
          <a:noFill/>
          <a:ln/>
        </p:spPr>
        <p:txBody>
          <a:bodyPr wrap="square" lIns="0" tIns="0" rIns="0" bIns="0" rtlCol="0" anchor="t"/>
          <a:lstStyle/>
          <a:p>
            <a:pPr algn="l" indent="0" marL="0">
              <a:buNone/>
            </a:pPr>
            <a:r>
              <a:rPr lang="en-US" sz="800" spc="25" kern="0" dirty="0">
                <a:solidFill>
                  <a:srgbClr val="FFFFFF">
                    <a:alpha val="55000"/>
                  </a:srgbClr>
                </a:solidFill>
                <a:latin typeface="Liberation Sans Narrow" pitchFamily="34" charset="0"/>
                <a:ea typeface="Liberation Sans Narrow" pitchFamily="34" charset="-122"/>
                <a:cs typeface="Liberation Sans Narrow" pitchFamily="34" charset="-120"/>
              </a:rPr>
              <a:t>07 / 10</a:t>
            </a:r>
            <a:endParaRPr lang="en-US" sz="800" dirty="0"/>
          </a:p>
        </p:txBody>
      </p:sp>
      <p:sp>
        <p:nvSpPr>
          <p:cNvPr id="58" name="Text 53"/>
          <p:cNvSpPr/>
          <p:nvPr/>
        </p:nvSpPr>
        <p:spPr>
          <a:xfrm>
            <a:off x="342900" y="200025"/>
            <a:ext cx="228600" cy="228600"/>
          </a:xfrm>
          <a:prstGeom prst="roundRect">
            <a:avLst>
              <a:gd name="adj" fmla="val 33333"/>
            </a:avLst>
          </a:prstGeom>
          <a:solidFill>
            <a:srgbClr val="7C3AED"/>
          </a:solidFill>
          <a:ln/>
        </p:spPr>
        <p:txBody>
          <a:bodyPr wrap="square" rtlCol="0" anchor="ctr"/>
          <a:lstStyle/>
          <a:p>
            <a:pPr indent="0" marL="0">
              <a:buNone/>
            </a:pPr>
            <a:endParaRPr lang="en-US" dirty="0"/>
          </a:p>
        </p:txBody>
      </p:sp>
      <p:sp>
        <p:nvSpPr>
          <p:cNvPr id="59" name="Text 54"/>
          <p:cNvSpPr/>
          <p:nvPr/>
        </p:nvSpPr>
        <p:spPr>
          <a:xfrm>
            <a:off x="342900" y="200025"/>
            <a:ext cx="264319" cy="228600"/>
          </a:xfrm>
          <a:prstGeom prst="rect">
            <a:avLst/>
          </a:prstGeom>
          <a:noFill/>
          <a:ln/>
        </p:spPr>
        <p:txBody>
          <a:bodyPr wrap="none" lIns="0" tIns="0" rIns="0" bIns="0" rtlCol="0" anchor="ctr"/>
          <a:lstStyle/>
          <a:p>
            <a:pPr algn="ctr" indent="0" marL="0">
              <a:buNone/>
            </a:pPr>
            <a:r>
              <a:rPr lang="en-US" sz="1013" b="1" dirty="0">
                <a:solidFill>
                  <a:srgbClr val="FFFFFF"/>
                </a:solidFill>
                <a:latin typeface="Carlito" pitchFamily="34" charset="0"/>
                <a:ea typeface="Carlito" pitchFamily="34" charset="-122"/>
                <a:cs typeface="Carlito" pitchFamily="34" charset="-120"/>
              </a:rPr>
              <a:t>M</a:t>
            </a:r>
            <a:endParaRPr lang="en-US" sz="1013" dirty="0"/>
          </a:p>
        </p:txBody>
      </p:sp>
      <p:sp>
        <p:nvSpPr>
          <p:cNvPr id="60" name="Text 55"/>
          <p:cNvSpPr/>
          <p:nvPr/>
        </p:nvSpPr>
        <p:spPr>
          <a:xfrm>
            <a:off x="642938" y="246459"/>
            <a:ext cx="820531" cy="146590"/>
          </a:xfrm>
          <a:prstGeom prst="rect">
            <a:avLst/>
          </a:prstGeom>
          <a:noFill/>
          <a:ln/>
        </p:spPr>
        <p:txBody>
          <a:bodyPr wrap="none" lIns="0" tIns="0" rIns="0" bIns="0" rtlCol="0" anchor="t"/>
          <a:lstStyle/>
          <a:p>
            <a:pPr algn="l" indent="0" marL="0">
              <a:buNone/>
            </a:pPr>
            <a:r>
              <a:rPr lang="en-US" sz="900" b="1" spc="18" kern="0" dirty="0">
                <a:solidFill>
                  <a:srgbClr val="A78BFA"/>
                </a:solidFill>
                <a:latin typeface="Carlito" pitchFamily="34" charset="0"/>
                <a:ea typeface="Carlito" pitchFamily="34" charset="-122"/>
                <a:cs typeface="Carlito" pitchFamily="34" charset="-120"/>
              </a:rPr>
              <a:t>MassaPro</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4340" y="488490"/>
            <a:ext cx="1121189" cy="216027"/>
          </a:xfrm>
          <a:prstGeom prst="roundRect">
            <a:avLst>
              <a:gd name="adj" fmla="val 4404762"/>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3" name="Text 1"/>
          <p:cNvSpPr/>
          <p:nvPr/>
        </p:nvSpPr>
        <p:spPr>
          <a:xfrm>
            <a:off x="457200" y="500063"/>
            <a:ext cx="1075469" cy="192881"/>
          </a:xfrm>
          <a:prstGeom prst="rect">
            <a:avLst/>
          </a:prstGeom>
          <a:noFill/>
          <a:ln/>
        </p:spPr>
        <p:txBody>
          <a:bodyPr wrap="none" lIns="0" tIns="0" rIns="0" bIns="0" rtlCol="0" anchor="ctr"/>
          <a:lstStyle/>
          <a:p>
            <a:pPr algn="ctr" indent="0" marL="0">
              <a:buNone/>
            </a:pPr>
            <a:r>
              <a:rPr lang="en-US" sz="800" b="1" spc="111" kern="0" dirty="0">
                <a:solidFill>
                  <a:srgbClr val="7C3AED"/>
                </a:solidFill>
                <a:latin typeface="Carlito" pitchFamily="34" charset="0"/>
                <a:ea typeface="Carlito" pitchFamily="34" charset="-122"/>
                <a:cs typeface="Carlito" pitchFamily="34" charset="-120"/>
              </a:rPr>
              <a:t>PRICING MODEL</a:t>
            </a:r>
            <a:endParaRPr lang="en-US" sz="800" dirty="0"/>
          </a:p>
        </p:txBody>
      </p:sp>
      <p:sp>
        <p:nvSpPr>
          <p:cNvPr id="4" name="Text 2"/>
          <p:cNvSpPr/>
          <p:nvPr/>
        </p:nvSpPr>
        <p:spPr>
          <a:xfrm>
            <a:off x="457200" y="778669"/>
            <a:ext cx="8101013" cy="319339"/>
          </a:xfrm>
          <a:prstGeom prst="rect">
            <a:avLst/>
          </a:prstGeom>
          <a:noFill/>
          <a:ln/>
        </p:spPr>
        <p:txBody>
          <a:bodyPr wrap="square" lIns="0" tIns="0" rIns="0" bIns="0" rtlCol="0" anchor="t"/>
          <a:lstStyle/>
          <a:p>
            <a:pPr algn="l" indent="0" marL="0">
              <a:lnSpc>
                <a:spcPts val="2329"/>
              </a:lnSpc>
              <a:buNone/>
            </a:pPr>
            <a:r>
              <a:rPr lang="en-US" sz="2025" b="1" dirty="0">
                <a:solidFill>
                  <a:srgbClr val="1F2937"/>
                </a:solidFill>
                <a:latin typeface="Tinos" pitchFamily="34" charset="0"/>
                <a:ea typeface="Tinos" pitchFamily="34" charset="-122"/>
                <a:cs typeface="Tinos" pitchFamily="34" charset="-120"/>
              </a:rPr>
              <a:t>Scale Without Per-Minute AI Token Bills. </a:t>
            </a:r>
            <a:pPr algn="l" indent="0" marL="0">
              <a:lnSpc>
                <a:spcPts val="2329"/>
              </a:lnSpc>
              <a:buNone/>
            </a:pPr>
            <a:r>
              <a:rPr lang="en-US" sz="2025" b="1" dirty="0">
                <a:solidFill>
                  <a:srgbClr val="7C3AED"/>
                </a:solidFill>
                <a:latin typeface="Tinos" pitchFamily="34" charset="0"/>
                <a:ea typeface="Tinos" pitchFamily="34" charset="-122"/>
                <a:cs typeface="Tinos" pitchFamily="34" charset="-120"/>
              </a:rPr>
              <a:t>Pay Per Agent + Volume.</a:t>
            </a:r>
            <a:endParaRPr lang="en-US" sz="2025" dirty="0"/>
          </a:p>
        </p:txBody>
      </p:sp>
      <p:sp>
        <p:nvSpPr>
          <p:cNvPr id="5" name="Text 3"/>
          <p:cNvSpPr/>
          <p:nvPr/>
        </p:nvSpPr>
        <p:spPr>
          <a:xfrm>
            <a:off x="457200" y="1131503"/>
            <a:ext cx="7500938" cy="509941"/>
          </a:xfrm>
          <a:prstGeom prst="rect">
            <a:avLst/>
          </a:prstGeom>
          <a:noFill/>
          <a:ln/>
        </p:spPr>
        <p:txBody>
          <a:bodyPr wrap="square" lIns="0" tIns="0" rIns="0" bIns="0" rtlCol="0" anchor="t"/>
          <a:lstStyle/>
          <a:p>
            <a:pPr algn="l" indent="0" marL="0">
              <a:lnSpc>
                <a:spcPts val="1221"/>
              </a:lnSpc>
              <a:buNone/>
            </a:pPr>
            <a:r>
              <a:rPr lang="en-US" sz="800" dirty="0">
                <a:solidFill>
                  <a:srgbClr val="6B7280"/>
                </a:solidFill>
                <a:latin typeface="Carlito" pitchFamily="34" charset="0"/>
                <a:ea typeface="Carlito" pitchFamily="34" charset="-122"/>
                <a:cs typeface="Carlito" pitchFamily="34" charset="-120"/>
              </a:rPr>
              <a:t>This is the structural shift that turns service from a cost center into a growth engine. Most AI vendors bill per minute of voice or per token of text — which means the more customers you serve, the more it costs. MassaPro flips the model: you pay per AI agent deployed + a volume-based fee, with no per-minute AI token charges for voice or text communication.</a:t>
            </a:r>
            <a:endParaRPr lang="en-US" sz="800" dirty="0"/>
          </a:p>
        </p:txBody>
      </p:sp>
      <p:sp>
        <p:nvSpPr>
          <p:cNvPr id="6" name="Text 4"/>
          <p:cNvSpPr/>
          <p:nvPr/>
        </p:nvSpPr>
        <p:spPr>
          <a:xfrm>
            <a:off x="460772" y="1914190"/>
            <a:ext cx="4036219" cy="1435894"/>
          </a:xfrm>
          <a:prstGeom prst="roundRect">
            <a:avLst>
              <a:gd name="adj" fmla="val 9287"/>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7" name="Text 5"/>
          <p:cNvSpPr/>
          <p:nvPr/>
        </p:nvSpPr>
        <p:spPr>
          <a:xfrm>
            <a:off x="621506" y="2060637"/>
            <a:ext cx="3714750" cy="125403"/>
          </a:xfrm>
          <a:prstGeom prst="rect">
            <a:avLst/>
          </a:prstGeom>
          <a:noFill/>
          <a:ln/>
        </p:spPr>
        <p:txBody>
          <a:bodyPr wrap="none" lIns="0" tIns="0" rIns="0" bIns="0" rtlCol="0" anchor="t"/>
          <a:lstStyle/>
          <a:p>
            <a:pPr algn="l" indent="0" marL="0">
              <a:buNone/>
            </a:pPr>
            <a:r>
              <a:rPr lang="en-US" sz="800" b="1" dirty="0">
                <a:solidFill>
                  <a:srgbClr val="6D28D9"/>
                </a:solidFill>
                <a:latin typeface="Carlito" pitchFamily="34" charset="0"/>
                <a:ea typeface="Carlito" pitchFamily="34" charset="-122"/>
                <a:cs typeface="Carlito" pitchFamily="34" charset="-120"/>
              </a:rPr>
              <a:t>The pricing model</a:t>
            </a:r>
            <a:endParaRPr lang="en-US" sz="800" dirty="0"/>
          </a:p>
        </p:txBody>
      </p:sp>
      <p:sp>
        <p:nvSpPr>
          <p:cNvPr id="8" name="Text 6"/>
          <p:cNvSpPr/>
          <p:nvPr/>
        </p:nvSpPr>
        <p:spPr>
          <a:xfrm>
            <a:off x="621506" y="2260662"/>
            <a:ext cx="3714750" cy="1056704"/>
          </a:xfrm>
          <a:prstGeom prst="rect">
            <a:avLst/>
          </a:prstGeom>
          <a:noFill/>
          <a:ln/>
        </p:spPr>
        <p:txBody>
          <a:bodyPr wrap="square" lIns="0" tIns="0" rIns="0" bIns="0" rtlCol="0" anchor="t"/>
          <a:lstStyle/>
          <a:p>
            <a:pPr algn="l" indent="0" marL="0">
              <a:lnSpc>
                <a:spcPts val="1013"/>
              </a:lnSpc>
              <a:spcAft>
                <a:spcPts val="450"/>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1013"/>
              </a:lnSpc>
              <a:spcAft>
                <a:spcPts val="450"/>
              </a:spcAft>
              <a:buNone/>
            </a:pPr>
            <a:r>
              <a:rPr lang="en-US" sz="800" b="1" dirty="0">
                <a:solidFill>
                  <a:srgbClr val="6D28D9"/>
                </a:solidFill>
                <a:latin typeface="Carlito" pitchFamily="34" charset="0"/>
                <a:ea typeface="Carlito" pitchFamily="34" charset="-122"/>
                <a:cs typeface="Carlito" pitchFamily="34" charset="-120"/>
              </a:rPr>
              <a:t>Per-agent fee</a:t>
            </a:r>
            <a:pPr algn="l" indent="0" marL="0">
              <a:lnSpc>
                <a:spcPts val="1013"/>
              </a:lnSpc>
              <a:spcAft>
                <a:spcPts val="450"/>
              </a:spcAft>
              <a:buNone/>
            </a:pPr>
            <a:r>
              <a:rPr lang="en-US" sz="800" dirty="0">
                <a:solidFill>
                  <a:srgbClr val="1F2937"/>
                </a:solidFill>
                <a:latin typeface="Carlito" pitchFamily="34" charset="0"/>
                <a:ea typeface="Carlito" pitchFamily="34" charset="-122"/>
                <a:cs typeface="Carlito" pitchFamily="34" charset="-120"/>
              </a:rPr>
              <a:t> — flat, predictable, per active AI agent on your workforce</a:t>
            </a:r>
            <a:endParaRPr lang="en-US" sz="800" dirty="0"/>
          </a:p>
          <a:p>
            <a:pPr algn="l" indent="0" marL="0">
              <a:lnSpc>
                <a:spcPts val="1013"/>
              </a:lnSpc>
              <a:spcAft>
                <a:spcPts val="450"/>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1013"/>
              </a:lnSpc>
              <a:spcAft>
                <a:spcPts val="450"/>
              </a:spcAft>
              <a:buNone/>
            </a:pPr>
            <a:r>
              <a:rPr lang="en-US" sz="800" b="1" dirty="0">
                <a:solidFill>
                  <a:srgbClr val="6D28D9"/>
                </a:solidFill>
                <a:latin typeface="Carlito" pitchFamily="34" charset="0"/>
                <a:ea typeface="Carlito" pitchFamily="34" charset="-122"/>
                <a:cs typeface="Carlito" pitchFamily="34" charset="-120"/>
              </a:rPr>
              <a:t>Volume-based fee</a:t>
            </a:r>
            <a:pPr algn="l" indent="0" marL="0">
              <a:lnSpc>
                <a:spcPts val="1013"/>
              </a:lnSpc>
              <a:spcAft>
                <a:spcPts val="450"/>
              </a:spcAft>
              <a:buNone/>
            </a:pPr>
            <a:r>
              <a:rPr lang="en-US" sz="800" dirty="0">
                <a:solidFill>
                  <a:srgbClr val="1F2937"/>
                </a:solidFill>
                <a:latin typeface="Carlito" pitchFamily="34" charset="0"/>
                <a:ea typeface="Carlito" pitchFamily="34" charset="-122"/>
                <a:cs typeface="Carlito" pitchFamily="34" charset="-120"/>
              </a:rPr>
              <a:t> — scales with your interaction volume, transparently</a:t>
            </a:r>
            <a:endParaRPr lang="en-US" sz="800" dirty="0"/>
          </a:p>
          <a:p>
            <a:pPr algn="l" indent="0" marL="0">
              <a:lnSpc>
                <a:spcPts val="1013"/>
              </a:lnSpc>
              <a:spcAft>
                <a:spcPts val="450"/>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1013"/>
              </a:lnSpc>
              <a:spcAft>
                <a:spcPts val="450"/>
              </a:spcAft>
              <a:buNone/>
            </a:pPr>
            <a:r>
              <a:rPr lang="en-US" sz="800" b="1" dirty="0">
                <a:solidFill>
                  <a:srgbClr val="6D28D9"/>
                </a:solidFill>
                <a:latin typeface="Carlito" pitchFamily="34" charset="0"/>
                <a:ea typeface="Carlito" pitchFamily="34" charset="-122"/>
                <a:cs typeface="Carlito" pitchFamily="34" charset="-120"/>
              </a:rPr>
              <a:t>Zero per-minute AI token billing</a:t>
            </a:r>
            <a:pPr algn="l" indent="0" marL="0">
              <a:lnSpc>
                <a:spcPts val="1013"/>
              </a:lnSpc>
              <a:spcAft>
                <a:spcPts val="450"/>
              </a:spcAft>
              <a:buNone/>
            </a:pPr>
            <a:r>
              <a:rPr lang="en-US" sz="800" dirty="0">
                <a:solidFill>
                  <a:srgbClr val="1F2937"/>
                </a:solidFill>
                <a:latin typeface="Carlito" pitchFamily="34" charset="0"/>
                <a:ea typeface="Carlito" pitchFamily="34" charset="-122"/>
                <a:cs typeface="Carlito" pitchFamily="34" charset="-120"/>
              </a:rPr>
              <a:t> — no OpenAI / Anthropic / ElevenLabs usage fees layered on top</a:t>
            </a:r>
            <a:endParaRPr lang="en-US" sz="800" dirty="0"/>
          </a:p>
          <a:p>
            <a:pPr algn="l" indent="0" marL="0">
              <a:lnSpc>
                <a:spcPts val="1013"/>
              </a:lnSpc>
              <a:spcAft>
                <a:spcPts val="450"/>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1013"/>
              </a:lnSpc>
              <a:spcAft>
                <a:spcPts val="450"/>
              </a:spcAft>
              <a:buNone/>
            </a:pPr>
            <a:r>
              <a:rPr lang="en-US" sz="800" b="1" dirty="0">
                <a:solidFill>
                  <a:srgbClr val="6D28D9"/>
                </a:solidFill>
                <a:latin typeface="Carlito" pitchFamily="34" charset="0"/>
                <a:ea typeface="Carlito" pitchFamily="34" charset="-122"/>
                <a:cs typeface="Carlito" pitchFamily="34" charset="-120"/>
              </a:rPr>
              <a:t>Zero per-minute voice charges</a:t>
            </a:r>
            <a:pPr algn="l" indent="0" marL="0">
              <a:lnSpc>
                <a:spcPts val="1013"/>
              </a:lnSpc>
              <a:spcAft>
                <a:spcPts val="450"/>
              </a:spcAft>
              <a:buNone/>
            </a:pPr>
            <a:r>
              <a:rPr lang="en-US" sz="800" dirty="0">
                <a:solidFill>
                  <a:srgbClr val="1F2937"/>
                </a:solidFill>
                <a:latin typeface="Carlito" pitchFamily="34" charset="0"/>
                <a:ea typeface="Carlito" pitchFamily="34" charset="-122"/>
                <a:cs typeface="Carlito" pitchFamily="34" charset="-120"/>
              </a:rPr>
              <a:t> — MassaPro proprietary voice recognition + synthesis included</a:t>
            </a:r>
            <a:endParaRPr lang="en-US" sz="800" dirty="0"/>
          </a:p>
        </p:txBody>
      </p:sp>
      <p:sp>
        <p:nvSpPr>
          <p:cNvPr id="9" name="Text 7"/>
          <p:cNvSpPr/>
          <p:nvPr/>
        </p:nvSpPr>
        <p:spPr>
          <a:xfrm>
            <a:off x="4647009" y="1914190"/>
            <a:ext cx="4036219" cy="1435894"/>
          </a:xfrm>
          <a:prstGeom prst="roundRect">
            <a:avLst>
              <a:gd name="adj" fmla="val 9287"/>
            </a:avLst>
          </a:prstGeom>
          <a:solidFill>
            <a:srgbClr val="1A0B2E"/>
          </a:solidFill>
          <a:ln w="7144">
            <a:solidFill>
              <a:srgbClr val="A78BFA"/>
            </a:solidFill>
            <a:prstDash val="solid"/>
          </a:ln>
        </p:spPr>
        <p:txBody>
          <a:bodyPr wrap="square" rtlCol="0" anchor="ctr"/>
          <a:lstStyle/>
          <a:p>
            <a:pPr indent="0" marL="0">
              <a:buNone/>
            </a:pPr>
            <a:endParaRPr lang="en-US" dirty="0"/>
          </a:p>
        </p:txBody>
      </p:sp>
      <p:sp>
        <p:nvSpPr>
          <p:cNvPr id="10" name="Text 8"/>
          <p:cNvSpPr/>
          <p:nvPr/>
        </p:nvSpPr>
        <p:spPr>
          <a:xfrm>
            <a:off x="4807744" y="2060637"/>
            <a:ext cx="3714750" cy="125403"/>
          </a:xfrm>
          <a:prstGeom prst="rect">
            <a:avLst/>
          </a:prstGeom>
          <a:noFill/>
          <a:ln/>
        </p:spPr>
        <p:txBody>
          <a:bodyPr wrap="none" lIns="0" tIns="0" rIns="0" bIns="0" rtlCol="0" anchor="t"/>
          <a:lstStyle/>
          <a:p>
            <a:pPr algn="l" indent="0" marL="0">
              <a:buNone/>
            </a:pPr>
            <a:r>
              <a:rPr lang="en-US" sz="800" b="1" dirty="0">
                <a:solidFill>
                  <a:srgbClr val="A78BFA"/>
                </a:solidFill>
                <a:latin typeface="Carlito" pitchFamily="34" charset="0"/>
                <a:ea typeface="Carlito" pitchFamily="34" charset="-122"/>
                <a:cs typeface="Carlito" pitchFamily="34" charset="-120"/>
              </a:rPr>
              <a:t>What this means for growth</a:t>
            </a:r>
            <a:endParaRPr lang="en-US" sz="800" dirty="0"/>
          </a:p>
        </p:txBody>
      </p:sp>
      <p:sp>
        <p:nvSpPr>
          <p:cNvPr id="11" name="Text 9"/>
          <p:cNvSpPr/>
          <p:nvPr/>
        </p:nvSpPr>
        <p:spPr>
          <a:xfrm>
            <a:off x="4807744" y="2260662"/>
            <a:ext cx="3714750" cy="920401"/>
          </a:xfrm>
          <a:prstGeom prst="rect">
            <a:avLst/>
          </a:prstGeom>
          <a:noFill/>
          <a:ln/>
        </p:spPr>
        <p:txBody>
          <a:bodyPr wrap="square" lIns="0" tIns="0" rIns="0" bIns="0" rtlCol="0" anchor="t"/>
          <a:lstStyle/>
          <a:p>
            <a:pPr algn="l" indent="0" marL="0">
              <a:lnSpc>
                <a:spcPts val="1013"/>
              </a:lnSpc>
              <a:spcAft>
                <a:spcPts val="450"/>
              </a:spcAft>
              <a:buNone/>
            </a:pPr>
            <a:r>
              <a:rPr lang="en-US" sz="600" dirty="0">
                <a:solidFill>
                  <a:srgbClr val="A78BFA"/>
                </a:solidFill>
                <a:latin typeface="Carlito" pitchFamily="34" charset="0"/>
                <a:ea typeface="Carlito" pitchFamily="34" charset="-122"/>
                <a:cs typeface="Carlito" pitchFamily="34" charset="-120"/>
              </a:rPr>
              <a:t>●  </a:t>
            </a:r>
            <a:pPr algn="l" indent="0" marL="0">
              <a:lnSpc>
                <a:spcPts val="1013"/>
              </a:lnSpc>
              <a:spcAft>
                <a:spcPts val="450"/>
              </a:spcAft>
              <a:buNone/>
            </a:pPr>
            <a:r>
              <a:rPr lang="en-US" sz="800" b="1" dirty="0">
                <a:solidFill>
                  <a:srgbClr val="FFFFFF"/>
                </a:solidFill>
                <a:latin typeface="Carlito" pitchFamily="34" charset="0"/>
                <a:ea typeface="Carlito" pitchFamily="34" charset="-122"/>
                <a:cs typeface="Carlito" pitchFamily="34" charset="-120"/>
              </a:rPr>
              <a:t>Cost predictability</a:t>
            </a:r>
            <a:pPr algn="l" indent="0" marL="0">
              <a:lnSpc>
                <a:spcPts val="1013"/>
              </a:lnSpc>
              <a:spcAft>
                <a:spcPts val="450"/>
              </a:spcAft>
              <a:buNone/>
            </a:pPr>
            <a:r>
              <a:rPr lang="en-US" sz="800" dirty="0">
                <a:solidFill>
                  <a:srgbClr val="FFFFFF"/>
                </a:solidFill>
                <a:latin typeface="Carlito" pitchFamily="34" charset="0"/>
                <a:ea typeface="Carlito" pitchFamily="34" charset="-122"/>
                <a:cs typeface="Carlito" pitchFamily="34" charset="-120"/>
              </a:rPr>
              <a:t> — your AI bill is known in advance, not a surprise at month-end</a:t>
            </a:r>
            <a:endParaRPr lang="en-US" sz="800" dirty="0"/>
          </a:p>
          <a:p>
            <a:pPr algn="l" indent="0" marL="0">
              <a:lnSpc>
                <a:spcPts val="1013"/>
              </a:lnSpc>
              <a:spcAft>
                <a:spcPts val="450"/>
              </a:spcAft>
              <a:buNone/>
            </a:pPr>
            <a:r>
              <a:rPr lang="en-US" sz="600" dirty="0">
                <a:solidFill>
                  <a:srgbClr val="A78BFA"/>
                </a:solidFill>
                <a:latin typeface="Carlito" pitchFamily="34" charset="0"/>
                <a:ea typeface="Carlito" pitchFamily="34" charset="-122"/>
                <a:cs typeface="Carlito" pitchFamily="34" charset="-120"/>
              </a:rPr>
              <a:t>●  </a:t>
            </a:r>
            <a:pPr algn="l" indent="0" marL="0">
              <a:lnSpc>
                <a:spcPts val="1013"/>
              </a:lnSpc>
              <a:spcAft>
                <a:spcPts val="450"/>
              </a:spcAft>
              <a:buNone/>
            </a:pPr>
            <a:r>
              <a:rPr lang="en-US" sz="800" b="1" dirty="0">
                <a:solidFill>
                  <a:srgbClr val="FFFFFF"/>
                </a:solidFill>
                <a:latin typeface="Carlito" pitchFamily="34" charset="0"/>
                <a:ea typeface="Carlito" pitchFamily="34" charset="-122"/>
                <a:cs typeface="Carlito" pitchFamily="34" charset="-120"/>
              </a:rPr>
              <a:t>Margin expansion at scale</a:t>
            </a:r>
            <a:pPr algn="l" indent="0" marL="0">
              <a:lnSpc>
                <a:spcPts val="1013"/>
              </a:lnSpc>
              <a:spcAft>
                <a:spcPts val="450"/>
              </a:spcAft>
              <a:buNone/>
            </a:pPr>
            <a:r>
              <a:rPr lang="en-US" sz="800" dirty="0">
                <a:solidFill>
                  <a:srgbClr val="FFFFFF"/>
                </a:solidFill>
                <a:latin typeface="Carlito" pitchFamily="34" charset="0"/>
                <a:ea typeface="Carlito" pitchFamily="34" charset="-122"/>
                <a:cs typeface="Carlito" pitchFamily="34" charset="-120"/>
              </a:rPr>
              <a:t> — as volume grows, cost per interaction drops</a:t>
            </a:r>
            <a:endParaRPr lang="en-US" sz="800" dirty="0"/>
          </a:p>
          <a:p>
            <a:pPr algn="l" indent="0" marL="0">
              <a:lnSpc>
                <a:spcPts val="1013"/>
              </a:lnSpc>
              <a:spcAft>
                <a:spcPts val="450"/>
              </a:spcAft>
              <a:buNone/>
            </a:pPr>
            <a:r>
              <a:rPr lang="en-US" sz="600" dirty="0">
                <a:solidFill>
                  <a:srgbClr val="A78BFA"/>
                </a:solidFill>
                <a:latin typeface="Carlito" pitchFamily="34" charset="0"/>
                <a:ea typeface="Carlito" pitchFamily="34" charset="-122"/>
                <a:cs typeface="Carlito" pitchFamily="34" charset="-120"/>
              </a:rPr>
              <a:t>●  </a:t>
            </a:r>
            <a:pPr algn="l" indent="0" marL="0">
              <a:lnSpc>
                <a:spcPts val="1013"/>
              </a:lnSpc>
              <a:spcAft>
                <a:spcPts val="450"/>
              </a:spcAft>
              <a:buNone/>
            </a:pPr>
            <a:r>
              <a:rPr lang="en-US" sz="800" b="1" dirty="0">
                <a:solidFill>
                  <a:srgbClr val="FFFFFF"/>
                </a:solidFill>
                <a:latin typeface="Carlito" pitchFamily="34" charset="0"/>
                <a:ea typeface="Carlito" pitchFamily="34" charset="-122"/>
                <a:cs typeface="Carlito" pitchFamily="34" charset="-120"/>
              </a:rPr>
              <a:t>Budget reallocates</a:t>
            </a:r>
            <a:pPr algn="l" indent="0" marL="0">
              <a:lnSpc>
                <a:spcPts val="1013"/>
              </a:lnSpc>
              <a:spcAft>
                <a:spcPts val="450"/>
              </a:spcAft>
              <a:buNone/>
            </a:pPr>
            <a:r>
              <a:rPr lang="en-US" sz="800" dirty="0">
                <a:solidFill>
                  <a:srgbClr val="FFFFFF"/>
                </a:solidFill>
                <a:latin typeface="Carlito" pitchFamily="34" charset="0"/>
                <a:ea typeface="Carlito" pitchFamily="34" charset="-122"/>
                <a:cs typeface="Carlito" pitchFamily="34" charset="-120"/>
              </a:rPr>
              <a:t> — money that went to per-token AI bills funds growth initiatives instead</a:t>
            </a:r>
            <a:endParaRPr lang="en-US" sz="800" dirty="0"/>
          </a:p>
          <a:p>
            <a:pPr algn="l" indent="0" marL="0">
              <a:lnSpc>
                <a:spcPts val="1013"/>
              </a:lnSpc>
              <a:spcAft>
                <a:spcPts val="450"/>
              </a:spcAft>
              <a:buNone/>
            </a:pPr>
            <a:r>
              <a:rPr lang="en-US" sz="600" dirty="0">
                <a:solidFill>
                  <a:srgbClr val="A78BFA"/>
                </a:solidFill>
                <a:latin typeface="Carlito" pitchFamily="34" charset="0"/>
                <a:ea typeface="Carlito" pitchFamily="34" charset="-122"/>
                <a:cs typeface="Carlito" pitchFamily="34" charset="-120"/>
              </a:rPr>
              <a:t>●  </a:t>
            </a:r>
            <a:pPr algn="l" indent="0" marL="0">
              <a:lnSpc>
                <a:spcPts val="1013"/>
              </a:lnSpc>
              <a:spcAft>
                <a:spcPts val="450"/>
              </a:spcAft>
              <a:buNone/>
            </a:pPr>
            <a:r>
              <a:rPr lang="en-US" sz="800" b="1" dirty="0">
                <a:solidFill>
                  <a:srgbClr val="FFFFFF"/>
                </a:solidFill>
                <a:latin typeface="Carlito" pitchFamily="34" charset="0"/>
                <a:ea typeface="Carlito" pitchFamily="34" charset="-122"/>
                <a:cs typeface="Carlito" pitchFamily="34" charset="-120"/>
              </a:rPr>
              <a:t>Capacity becomes a decision</a:t>
            </a:r>
            <a:pPr algn="l" indent="0" marL="0">
              <a:lnSpc>
                <a:spcPts val="1013"/>
              </a:lnSpc>
              <a:spcAft>
                <a:spcPts val="450"/>
              </a:spcAft>
              <a:buNone/>
            </a:pPr>
            <a:r>
              <a:rPr lang="en-US" sz="800" dirty="0">
                <a:solidFill>
                  <a:srgbClr val="FFFFFF"/>
                </a:solidFill>
                <a:latin typeface="Carlito" pitchFamily="34" charset="0"/>
                <a:ea typeface="Carlito" pitchFamily="34" charset="-122"/>
                <a:cs typeface="Carlito" pitchFamily="34" charset="-120"/>
              </a:rPr>
              <a:t>, not a constraint — adding agents takes minutes, not headcount approvals</a:t>
            </a:r>
            <a:endParaRPr lang="en-US" sz="800" dirty="0"/>
          </a:p>
        </p:txBody>
      </p:sp>
      <p:pic>
        <p:nvPicPr>
          <p:cNvPr id="12" name="Image 0" descr="preencoded.png">    </p:cNvPr>
          <p:cNvPicPr>
            <a:picLocks noChangeAspect="1"/>
          </p:cNvPicPr>
          <p:nvPr/>
        </p:nvPicPr>
        <p:blipFill>
          <a:blip r:embed="rId1"/>
          <a:stretch>
            <a:fillRect/>
          </a:stretch>
        </p:blipFill>
        <p:spPr>
          <a:xfrm>
            <a:off x="457200" y="3510818"/>
            <a:ext cx="8229600" cy="1048680"/>
          </a:xfrm>
          <a:prstGeom prst="rect">
            <a:avLst/>
          </a:prstGeom>
        </p:spPr>
      </p:pic>
      <p:sp>
        <p:nvSpPr>
          <p:cNvPr id="13" name="Text 10"/>
          <p:cNvSpPr/>
          <p:nvPr/>
        </p:nvSpPr>
        <p:spPr>
          <a:xfrm>
            <a:off x="642938" y="3667981"/>
            <a:ext cx="7967853" cy="131159"/>
          </a:xfrm>
          <a:prstGeom prst="rect">
            <a:avLst/>
          </a:prstGeom>
          <a:noFill/>
          <a:ln/>
        </p:spPr>
        <p:txBody>
          <a:bodyPr wrap="square" lIns="0" tIns="0" rIns="0" bIns="0" rtlCol="0" anchor="t"/>
          <a:lstStyle/>
          <a:p>
            <a:pPr algn="l" indent="0" marL="0">
              <a:buNone/>
            </a:pPr>
            <a:r>
              <a:rPr lang="en-US" sz="844" b="1" spc="17" kern="0" dirty="0">
                <a:solidFill>
                  <a:srgbClr val="FFFFFF"/>
                </a:solidFill>
                <a:latin typeface="Carlito" pitchFamily="34" charset="0"/>
                <a:ea typeface="Carlito" pitchFamily="34" charset="-122"/>
                <a:cs typeface="Carlito" pitchFamily="34" charset="-120"/>
              </a:rPr>
              <a:t>For a 1,000-seat call center replacement</a:t>
            </a:r>
            <a:endParaRPr lang="en-US" sz="844" dirty="0"/>
          </a:p>
        </p:txBody>
      </p:sp>
      <p:sp>
        <p:nvSpPr>
          <p:cNvPr id="14" name="Text 11"/>
          <p:cNvSpPr/>
          <p:nvPr/>
        </p:nvSpPr>
        <p:spPr>
          <a:xfrm>
            <a:off x="642938" y="3889437"/>
            <a:ext cx="1889522" cy="512899"/>
          </a:xfrm>
          <a:prstGeom prst="roundRect">
            <a:avLst>
              <a:gd name="adj" fmla="val 14857"/>
            </a:avLst>
          </a:prstGeom>
          <a:solidFill>
            <a:srgbClr val="FFFFFF">
              <a:alpha val="10000"/>
            </a:srgbClr>
          </a:solidFill>
          <a:ln/>
        </p:spPr>
        <p:txBody>
          <a:bodyPr wrap="square" rtlCol="0" anchor="ctr"/>
          <a:lstStyle/>
          <a:p>
            <a:pPr indent="0" marL="0">
              <a:buNone/>
            </a:pPr>
            <a:endParaRPr lang="en-US" dirty="0"/>
          </a:p>
        </p:txBody>
      </p:sp>
      <p:sp>
        <p:nvSpPr>
          <p:cNvPr id="15" name="Text 12"/>
          <p:cNvSpPr/>
          <p:nvPr/>
        </p:nvSpPr>
        <p:spPr>
          <a:xfrm>
            <a:off x="728663" y="3960875"/>
            <a:ext cx="1718072" cy="142567"/>
          </a:xfrm>
          <a:prstGeom prst="rect">
            <a:avLst/>
          </a:prstGeom>
          <a:noFill/>
          <a:ln/>
        </p:spPr>
        <p:txBody>
          <a:bodyPr wrap="none" lIns="0" tIns="0" rIns="0" bIns="0" rtlCol="0" anchor="t">
            <a:normAutofit/>
          </a:bodyPr>
          <a:lstStyle/>
          <a:p>
            <a:pPr algn="l" indent="0" marL="0">
              <a:lnSpc>
                <a:spcPts val="1114"/>
              </a:lnSpc>
              <a:buNone/>
            </a:pPr>
            <a:r>
              <a:rPr lang="en-US" sz="1013" b="1" dirty="0">
                <a:solidFill>
                  <a:srgbClr val="FFFFFF"/>
                </a:solidFill>
                <a:latin typeface="Liberation Sans Narrow" pitchFamily="34" charset="0"/>
                <a:ea typeface="Liberation Sans Narrow" pitchFamily="34" charset="-122"/>
                <a:cs typeface="Liberation Sans Narrow" pitchFamily="34" charset="-120"/>
              </a:rPr>
              <a:t>$2.4M</a:t>
            </a:r>
            <a:endParaRPr lang="en-US" sz="1013" dirty="0"/>
          </a:p>
        </p:txBody>
      </p:sp>
      <p:sp>
        <p:nvSpPr>
          <p:cNvPr id="16" name="Text 13"/>
          <p:cNvSpPr/>
          <p:nvPr/>
        </p:nvSpPr>
        <p:spPr>
          <a:xfrm>
            <a:off x="728663" y="4130873"/>
            <a:ext cx="1718072" cy="200025"/>
          </a:xfrm>
          <a:prstGeom prst="rect">
            <a:avLst/>
          </a:prstGeom>
          <a:noFill/>
          <a:ln/>
        </p:spPr>
        <p:txBody>
          <a:bodyPr wrap="square" lIns="0" tIns="0" rIns="0" bIns="0" rtlCol="0" anchor="t"/>
          <a:lstStyle/>
          <a:p>
            <a:pPr algn="l" indent="0" marL="0">
              <a:lnSpc>
                <a:spcPts val="788"/>
              </a:lnSpc>
              <a:buNone/>
            </a:pPr>
            <a:r>
              <a:rPr lang="en-US" sz="800" dirty="0">
                <a:solidFill>
                  <a:srgbClr val="FFFFFF">
                    <a:alpha val="80000"/>
                  </a:srgbClr>
                </a:solidFill>
                <a:latin typeface="Carlito" pitchFamily="34" charset="0"/>
                <a:ea typeface="Carlito" pitchFamily="34" charset="-122"/>
                <a:cs typeface="Carlito" pitchFamily="34" charset="-120"/>
              </a:rPr>
              <a:t>Traditional stack yearly cost (licenses + tokens + per-min voice)</a:t>
            </a:r>
            <a:endParaRPr lang="en-US" sz="800" dirty="0"/>
          </a:p>
        </p:txBody>
      </p:sp>
      <p:sp>
        <p:nvSpPr>
          <p:cNvPr id="17" name="Text 14"/>
          <p:cNvSpPr/>
          <p:nvPr/>
        </p:nvSpPr>
        <p:spPr>
          <a:xfrm>
            <a:off x="2632472" y="3889437"/>
            <a:ext cx="1889522" cy="512899"/>
          </a:xfrm>
          <a:prstGeom prst="roundRect">
            <a:avLst>
              <a:gd name="adj" fmla="val 14857"/>
            </a:avLst>
          </a:prstGeom>
          <a:solidFill>
            <a:srgbClr val="FFFFFF">
              <a:alpha val="10000"/>
            </a:srgbClr>
          </a:solidFill>
          <a:ln/>
        </p:spPr>
        <p:txBody>
          <a:bodyPr wrap="square" rtlCol="0" anchor="ctr"/>
          <a:lstStyle/>
          <a:p>
            <a:pPr indent="0" marL="0">
              <a:buNone/>
            </a:pPr>
            <a:endParaRPr lang="en-US" dirty="0"/>
          </a:p>
        </p:txBody>
      </p:sp>
      <p:sp>
        <p:nvSpPr>
          <p:cNvPr id="18" name="Text 15"/>
          <p:cNvSpPr/>
          <p:nvPr/>
        </p:nvSpPr>
        <p:spPr>
          <a:xfrm>
            <a:off x="2718197" y="3960875"/>
            <a:ext cx="1718072" cy="142567"/>
          </a:xfrm>
          <a:prstGeom prst="rect">
            <a:avLst/>
          </a:prstGeom>
          <a:noFill/>
          <a:ln/>
        </p:spPr>
        <p:txBody>
          <a:bodyPr wrap="none" lIns="0" tIns="0" rIns="0" bIns="0" rtlCol="0" anchor="t">
            <a:normAutofit/>
          </a:bodyPr>
          <a:lstStyle/>
          <a:p>
            <a:pPr algn="l" indent="0" marL="0">
              <a:lnSpc>
                <a:spcPts val="1114"/>
              </a:lnSpc>
              <a:buNone/>
            </a:pPr>
            <a:r>
              <a:rPr lang="en-US" sz="1013" b="1" dirty="0">
                <a:solidFill>
                  <a:srgbClr val="FFFFFF"/>
                </a:solidFill>
                <a:latin typeface="Liberation Sans Narrow" pitchFamily="34" charset="0"/>
                <a:ea typeface="Liberation Sans Narrow" pitchFamily="34" charset="-122"/>
                <a:cs typeface="Liberation Sans Narrow" pitchFamily="34" charset="-120"/>
              </a:rPr>
              <a:t>60–80%</a:t>
            </a:r>
            <a:endParaRPr lang="en-US" sz="1013" dirty="0"/>
          </a:p>
        </p:txBody>
      </p:sp>
      <p:sp>
        <p:nvSpPr>
          <p:cNvPr id="19" name="Text 16"/>
          <p:cNvSpPr/>
          <p:nvPr/>
        </p:nvSpPr>
        <p:spPr>
          <a:xfrm>
            <a:off x="2718197" y="4130873"/>
            <a:ext cx="1718072" cy="153619"/>
          </a:xfrm>
          <a:prstGeom prst="rect">
            <a:avLst/>
          </a:prstGeom>
          <a:noFill/>
          <a:ln/>
        </p:spPr>
        <p:txBody>
          <a:bodyPr wrap="square" lIns="0" tIns="0" rIns="0" bIns="0" rtlCol="0" anchor="t"/>
          <a:lstStyle/>
          <a:p>
            <a:pPr algn="l" indent="0" marL="0">
              <a:lnSpc>
                <a:spcPts val="788"/>
              </a:lnSpc>
              <a:buNone/>
            </a:pPr>
            <a:r>
              <a:rPr lang="en-US" sz="600" dirty="0">
                <a:solidFill>
                  <a:srgbClr val="FFFFFF">
                    <a:alpha val="80000"/>
                  </a:srgbClr>
                </a:solidFill>
                <a:latin typeface="Carlito" pitchFamily="34" charset="0"/>
                <a:ea typeface="Carlito" pitchFamily="34" charset="-122"/>
                <a:cs typeface="Carlito" pitchFamily="34" charset="-120"/>
              </a:rPr>
              <a:t>Cost-per-interaction reduction at scale with MassaPro</a:t>
            </a:r>
            <a:endParaRPr lang="en-US" sz="600" dirty="0"/>
          </a:p>
        </p:txBody>
      </p:sp>
      <p:sp>
        <p:nvSpPr>
          <p:cNvPr id="20" name="Text 17"/>
          <p:cNvSpPr/>
          <p:nvPr/>
        </p:nvSpPr>
        <p:spPr>
          <a:xfrm>
            <a:off x="4622006" y="3889437"/>
            <a:ext cx="1889522" cy="512899"/>
          </a:xfrm>
          <a:prstGeom prst="roundRect">
            <a:avLst>
              <a:gd name="adj" fmla="val 14857"/>
            </a:avLst>
          </a:prstGeom>
          <a:solidFill>
            <a:srgbClr val="FFFFFF">
              <a:alpha val="10000"/>
            </a:srgbClr>
          </a:solidFill>
          <a:ln/>
        </p:spPr>
        <p:txBody>
          <a:bodyPr wrap="square" rtlCol="0" anchor="ctr"/>
          <a:lstStyle/>
          <a:p>
            <a:pPr indent="0" marL="0">
              <a:buNone/>
            </a:pPr>
            <a:endParaRPr lang="en-US" dirty="0"/>
          </a:p>
        </p:txBody>
      </p:sp>
      <p:sp>
        <p:nvSpPr>
          <p:cNvPr id="21" name="Text 18"/>
          <p:cNvSpPr/>
          <p:nvPr/>
        </p:nvSpPr>
        <p:spPr>
          <a:xfrm>
            <a:off x="4707731" y="3960875"/>
            <a:ext cx="1718072" cy="142567"/>
          </a:xfrm>
          <a:prstGeom prst="rect">
            <a:avLst/>
          </a:prstGeom>
          <a:noFill/>
          <a:ln/>
        </p:spPr>
        <p:txBody>
          <a:bodyPr wrap="none" lIns="0" tIns="0" rIns="0" bIns="0" rtlCol="0" anchor="t">
            <a:normAutofit/>
          </a:bodyPr>
          <a:lstStyle/>
          <a:p>
            <a:pPr algn="l" indent="0" marL="0">
              <a:lnSpc>
                <a:spcPts val="1114"/>
              </a:lnSpc>
              <a:buNone/>
            </a:pPr>
            <a:r>
              <a:rPr lang="en-US" sz="1013" b="1" dirty="0">
                <a:solidFill>
                  <a:srgbClr val="FFFFFF"/>
                </a:solidFill>
                <a:latin typeface="Liberation Sans Narrow" pitchFamily="34" charset="0"/>
                <a:ea typeface="Liberation Sans Narrow" pitchFamily="34" charset="-122"/>
                <a:cs typeface="Liberation Sans Narrow" pitchFamily="34" charset="-120"/>
              </a:rPr>
              <a:t>0</a:t>
            </a:r>
            <a:endParaRPr lang="en-US" sz="1013" dirty="0"/>
          </a:p>
        </p:txBody>
      </p:sp>
      <p:sp>
        <p:nvSpPr>
          <p:cNvPr id="22" name="Text 19"/>
          <p:cNvSpPr/>
          <p:nvPr/>
        </p:nvSpPr>
        <p:spPr>
          <a:xfrm>
            <a:off x="4707731" y="4130873"/>
            <a:ext cx="1821156" cy="153619"/>
          </a:xfrm>
          <a:prstGeom prst="rect">
            <a:avLst/>
          </a:prstGeom>
          <a:noFill/>
          <a:ln/>
        </p:spPr>
        <p:txBody>
          <a:bodyPr wrap="square" lIns="0" tIns="0" rIns="0" bIns="0" rtlCol="0" anchor="t"/>
          <a:lstStyle/>
          <a:p>
            <a:pPr algn="l" indent="0" marL="0">
              <a:lnSpc>
                <a:spcPts val="788"/>
              </a:lnSpc>
              <a:buNone/>
            </a:pPr>
            <a:r>
              <a:rPr lang="en-US" sz="600" dirty="0">
                <a:solidFill>
                  <a:srgbClr val="FFFFFF">
                    <a:alpha val="80000"/>
                  </a:srgbClr>
                </a:solidFill>
                <a:latin typeface="Carlito" pitchFamily="34" charset="0"/>
                <a:ea typeface="Carlito" pitchFamily="34" charset="-122"/>
                <a:cs typeface="Carlito" pitchFamily="34" charset="-120"/>
              </a:rPr>
              <a:t>Per-minute AI token fees (voice + text)</a:t>
            </a:r>
            <a:endParaRPr lang="en-US" sz="600" dirty="0"/>
          </a:p>
        </p:txBody>
      </p:sp>
      <p:sp>
        <p:nvSpPr>
          <p:cNvPr id="23" name="Text 20"/>
          <p:cNvSpPr/>
          <p:nvPr/>
        </p:nvSpPr>
        <p:spPr>
          <a:xfrm>
            <a:off x="6611541" y="3889437"/>
            <a:ext cx="1889522" cy="512899"/>
          </a:xfrm>
          <a:prstGeom prst="roundRect">
            <a:avLst>
              <a:gd name="adj" fmla="val 14857"/>
            </a:avLst>
          </a:prstGeom>
          <a:solidFill>
            <a:srgbClr val="FFFFFF">
              <a:alpha val="10000"/>
            </a:srgbClr>
          </a:solidFill>
          <a:ln/>
        </p:spPr>
        <p:txBody>
          <a:bodyPr wrap="square" rtlCol="0" anchor="ctr"/>
          <a:lstStyle/>
          <a:p>
            <a:pPr indent="0" marL="0">
              <a:buNone/>
            </a:pPr>
            <a:endParaRPr lang="en-US" dirty="0"/>
          </a:p>
        </p:txBody>
      </p:sp>
      <p:sp>
        <p:nvSpPr>
          <p:cNvPr id="24" name="Text 21"/>
          <p:cNvSpPr/>
          <p:nvPr/>
        </p:nvSpPr>
        <p:spPr>
          <a:xfrm>
            <a:off x="6697266" y="3960875"/>
            <a:ext cx="1718072" cy="142567"/>
          </a:xfrm>
          <a:prstGeom prst="rect">
            <a:avLst/>
          </a:prstGeom>
          <a:noFill/>
          <a:ln/>
        </p:spPr>
        <p:txBody>
          <a:bodyPr wrap="none" lIns="0" tIns="0" rIns="0" bIns="0" rtlCol="0" anchor="t">
            <a:normAutofit/>
          </a:bodyPr>
          <a:lstStyle/>
          <a:p>
            <a:pPr algn="l" indent="0" marL="0">
              <a:lnSpc>
                <a:spcPts val="1114"/>
              </a:lnSpc>
              <a:buNone/>
            </a:pPr>
            <a:r>
              <a:rPr lang="en-US" sz="1013" b="1" dirty="0">
                <a:solidFill>
                  <a:srgbClr val="FFFFFF"/>
                </a:solidFill>
                <a:latin typeface="Liberation Sans Narrow" pitchFamily="34" charset="0"/>
                <a:ea typeface="Liberation Sans Narrow" pitchFamily="34" charset="-122"/>
                <a:cs typeface="Liberation Sans Narrow" pitchFamily="34" charset="-120"/>
              </a:rPr>
              <a:t>1</a:t>
            </a:r>
            <a:endParaRPr lang="en-US" sz="1013" dirty="0"/>
          </a:p>
        </p:txBody>
      </p:sp>
      <p:sp>
        <p:nvSpPr>
          <p:cNvPr id="25" name="Text 22"/>
          <p:cNvSpPr/>
          <p:nvPr/>
        </p:nvSpPr>
        <p:spPr>
          <a:xfrm>
            <a:off x="6697266" y="4130873"/>
            <a:ext cx="1821156" cy="153619"/>
          </a:xfrm>
          <a:prstGeom prst="rect">
            <a:avLst/>
          </a:prstGeom>
          <a:noFill/>
          <a:ln/>
        </p:spPr>
        <p:txBody>
          <a:bodyPr wrap="square" lIns="0" tIns="0" rIns="0" bIns="0" rtlCol="0" anchor="t"/>
          <a:lstStyle/>
          <a:p>
            <a:pPr algn="l" indent="0" marL="0">
              <a:lnSpc>
                <a:spcPts val="788"/>
              </a:lnSpc>
              <a:buNone/>
            </a:pPr>
            <a:r>
              <a:rPr lang="en-US" sz="800" dirty="0">
                <a:solidFill>
                  <a:srgbClr val="FFFFFF">
                    <a:alpha val="80000"/>
                  </a:srgbClr>
                </a:solidFill>
                <a:latin typeface="Carlito" pitchFamily="34" charset="0"/>
                <a:ea typeface="Carlito" pitchFamily="34" charset="-122"/>
                <a:cs typeface="Carlito" pitchFamily="34" charset="-120"/>
              </a:rPr>
              <a:t>Vendor, one bill, one platform</a:t>
            </a:r>
            <a:endParaRPr lang="en-US" sz="800" dirty="0"/>
          </a:p>
        </p:txBody>
      </p:sp>
      <p:sp>
        <p:nvSpPr>
          <p:cNvPr id="26" name="Text 23"/>
          <p:cNvSpPr/>
          <p:nvPr/>
        </p:nvSpPr>
        <p:spPr>
          <a:xfrm>
            <a:off x="460772" y="4691658"/>
            <a:ext cx="8222456" cy="346472"/>
          </a:xfrm>
          <a:prstGeom prst="roundRect">
            <a:avLst>
              <a:gd name="adj" fmla="val 27491"/>
            </a:avLst>
          </a:prstGeom>
          <a:solidFill>
            <a:srgbClr val="F5F3FF"/>
          </a:solidFill>
          <a:ln w="7144">
            <a:solidFill>
              <a:srgbClr val="EDE9FE"/>
            </a:solidFill>
            <a:prstDash val="solid"/>
          </a:ln>
        </p:spPr>
        <p:txBody>
          <a:bodyPr wrap="square" rtlCol="0" anchor="ctr"/>
          <a:lstStyle/>
          <a:p>
            <a:pPr indent="0" marL="0">
              <a:buNone/>
            </a:pPr>
            <a:endParaRPr lang="en-US" dirty="0"/>
          </a:p>
        </p:txBody>
      </p:sp>
      <p:sp>
        <p:nvSpPr>
          <p:cNvPr id="27" name="Text 24"/>
          <p:cNvSpPr/>
          <p:nvPr/>
        </p:nvSpPr>
        <p:spPr>
          <a:xfrm>
            <a:off x="457200" y="4688086"/>
            <a:ext cx="8229600" cy="417810"/>
          </a:xfrm>
          <a:prstGeom prst="rect">
            <a:avLst/>
          </a:prstGeom>
          <a:noFill/>
          <a:ln/>
        </p:spPr>
        <p:txBody>
          <a:bodyPr wrap="square" lIns="128588" tIns="100013" rIns="128588" bIns="100013" rtlCol="0" anchor="t"/>
          <a:lstStyle/>
          <a:p>
            <a:pPr algn="l" indent="0" marL="0">
              <a:lnSpc>
                <a:spcPts val="1097"/>
              </a:lnSpc>
              <a:buNone/>
            </a:pPr>
            <a:r>
              <a:rPr lang="en-US" sz="800" strike="sngStrike" dirty="0">
                <a:solidFill>
                  <a:srgbClr val="B91C1C"/>
                </a:solidFill>
                <a:latin typeface="Carlito" pitchFamily="34" charset="0"/>
                <a:ea typeface="Carlito" pitchFamily="34" charset="-122"/>
                <a:cs typeface="Carlito" pitchFamily="34" charset="-120"/>
              </a:rPr>
              <a:t>Traditional stack: ~$2.4M/year in licenses + tokens + per-minute voice</a:t>
            </a:r>
            <a:pPr algn="l" indent="0" marL="0">
              <a:lnSpc>
                <a:spcPts val="1097"/>
              </a:lnSpc>
              <a:buNone/>
            </a:pPr>
            <a:r>
              <a:rPr lang="en-US" sz="800" dirty="0">
                <a:solidFill>
                  <a:srgbClr val="1F2937"/>
                </a:solidFill>
                <a:latin typeface="Carlito" pitchFamily="34" charset="0"/>
                <a:ea typeface="Carlito" pitchFamily="34" charset="-122"/>
                <a:cs typeface="Carlito" pitchFamily="34" charset="-120"/>
              </a:rPr>
              <a:t> → </a:t>
            </a:r>
            <a:pPr algn="l" indent="0" marL="0">
              <a:lnSpc>
                <a:spcPts val="1097"/>
              </a:lnSpc>
              <a:buNone/>
            </a:pPr>
            <a:r>
              <a:rPr lang="en-US" sz="800" b="1" dirty="0">
                <a:solidFill>
                  <a:srgbClr val="6D28D9"/>
                </a:solidFill>
                <a:latin typeface="Carlito" pitchFamily="34" charset="0"/>
                <a:ea typeface="Carlito" pitchFamily="34" charset="-122"/>
                <a:cs typeface="Carlito" pitchFamily="34" charset="-120"/>
              </a:rPr>
              <a:t>MassaPro: per-agent pricing that drops cost per interaction by 60–80% at scale</a:t>
            </a:r>
            <a:endParaRPr lang="en-US" sz="800" dirty="0"/>
          </a:p>
        </p:txBody>
      </p:sp>
      <p:sp>
        <p:nvSpPr>
          <p:cNvPr id="28" name="Text 25"/>
          <p:cNvSpPr/>
          <p:nvPr/>
        </p:nvSpPr>
        <p:spPr>
          <a:xfrm>
            <a:off x="342900" y="4879181"/>
            <a:ext cx="8145438" cy="129679"/>
          </a:xfrm>
          <a:prstGeom prst="rect">
            <a:avLst/>
          </a:prstGeom>
          <a:noFill/>
          <a:ln/>
        </p:spPr>
        <p:txBody>
          <a:bodyPr wrap="square" lIns="0" tIns="0" rIns="0" bIns="0" rtlCol="0" anchor="t"/>
          <a:lstStyle/>
          <a:p>
            <a:pPr algn="l" indent="0" marL="0">
              <a:buNone/>
            </a:pPr>
            <a:r>
              <a:rPr lang="en-US" sz="800" spc="25" kern="0" dirty="0">
                <a:solidFill>
                  <a:srgbClr val="6B7280"/>
                </a:solidFill>
                <a:latin typeface="Carlito" pitchFamily="34" charset="0"/>
                <a:ea typeface="Carlito" pitchFamily="34" charset="-122"/>
                <a:cs typeface="Carlito" pitchFamily="34" charset="-120"/>
              </a:rPr>
              <a:t>MASSAPRO — THE GROWTH MACHINE FOR CUSTOMER SERVICE</a:t>
            </a:r>
            <a:endParaRPr lang="en-US" sz="800" dirty="0"/>
          </a:p>
        </p:txBody>
      </p:sp>
      <p:sp>
        <p:nvSpPr>
          <p:cNvPr id="29" name="Text 26"/>
          <p:cNvSpPr/>
          <p:nvPr/>
        </p:nvSpPr>
        <p:spPr>
          <a:xfrm>
            <a:off x="8483221" y="4879181"/>
            <a:ext cx="453969" cy="129679"/>
          </a:xfrm>
          <a:prstGeom prst="rect">
            <a:avLst/>
          </a:prstGeom>
          <a:noFill/>
          <a:ln/>
        </p:spPr>
        <p:txBody>
          <a:bodyPr wrap="square" lIns="0" tIns="0" rIns="0" bIns="0" rtlCol="0" anchor="t"/>
          <a:lstStyle/>
          <a:p>
            <a:pPr algn="l" indent="0" marL="0">
              <a:buNone/>
            </a:pPr>
            <a:r>
              <a:rPr lang="en-US" sz="800" spc="25" kern="0" dirty="0">
                <a:solidFill>
                  <a:srgbClr val="6B7280"/>
                </a:solidFill>
                <a:latin typeface="Liberation Sans Narrow" pitchFamily="34" charset="0"/>
                <a:ea typeface="Liberation Sans Narrow" pitchFamily="34" charset="-122"/>
                <a:cs typeface="Liberation Sans Narrow" pitchFamily="34" charset="-120"/>
              </a:rPr>
              <a:t>08 / 10</a:t>
            </a:r>
            <a:endParaRPr lang="en-US" sz="800" dirty="0"/>
          </a:p>
        </p:txBody>
      </p:sp>
      <p:sp>
        <p:nvSpPr>
          <p:cNvPr id="30" name="Text 27"/>
          <p:cNvSpPr/>
          <p:nvPr/>
        </p:nvSpPr>
        <p:spPr>
          <a:xfrm>
            <a:off x="342900" y="200025"/>
            <a:ext cx="228600" cy="228600"/>
          </a:xfrm>
          <a:prstGeom prst="roundRect">
            <a:avLst>
              <a:gd name="adj" fmla="val 33333"/>
            </a:avLst>
          </a:prstGeom>
          <a:solidFill>
            <a:srgbClr val="7C3AED"/>
          </a:solidFill>
          <a:ln/>
        </p:spPr>
        <p:txBody>
          <a:bodyPr wrap="square" rtlCol="0" anchor="ctr"/>
          <a:lstStyle/>
          <a:p>
            <a:pPr indent="0" marL="0">
              <a:buNone/>
            </a:pPr>
            <a:endParaRPr lang="en-US" dirty="0"/>
          </a:p>
        </p:txBody>
      </p:sp>
      <p:sp>
        <p:nvSpPr>
          <p:cNvPr id="31" name="Text 28"/>
          <p:cNvSpPr/>
          <p:nvPr/>
        </p:nvSpPr>
        <p:spPr>
          <a:xfrm>
            <a:off x="342900" y="200025"/>
            <a:ext cx="264319" cy="228600"/>
          </a:xfrm>
          <a:prstGeom prst="rect">
            <a:avLst/>
          </a:prstGeom>
          <a:noFill/>
          <a:ln/>
        </p:spPr>
        <p:txBody>
          <a:bodyPr wrap="none" lIns="0" tIns="0" rIns="0" bIns="0" rtlCol="0" anchor="ctr"/>
          <a:lstStyle/>
          <a:p>
            <a:pPr algn="ctr" indent="0" marL="0">
              <a:buNone/>
            </a:pPr>
            <a:r>
              <a:rPr lang="en-US" sz="1013" b="1" dirty="0">
                <a:solidFill>
                  <a:srgbClr val="FFFFFF"/>
                </a:solidFill>
                <a:latin typeface="Carlito" pitchFamily="34" charset="0"/>
                <a:ea typeface="Carlito" pitchFamily="34" charset="-122"/>
                <a:cs typeface="Carlito" pitchFamily="34" charset="-120"/>
              </a:rPr>
              <a:t>M</a:t>
            </a:r>
            <a:endParaRPr lang="en-US" sz="1013" dirty="0"/>
          </a:p>
        </p:txBody>
      </p:sp>
      <p:sp>
        <p:nvSpPr>
          <p:cNvPr id="32" name="Text 29"/>
          <p:cNvSpPr/>
          <p:nvPr/>
        </p:nvSpPr>
        <p:spPr>
          <a:xfrm>
            <a:off x="642938" y="246459"/>
            <a:ext cx="820531" cy="146590"/>
          </a:xfrm>
          <a:prstGeom prst="rect">
            <a:avLst/>
          </a:prstGeom>
          <a:noFill/>
          <a:ln/>
        </p:spPr>
        <p:txBody>
          <a:bodyPr wrap="none" lIns="0" tIns="0" rIns="0" bIns="0" rtlCol="0" anchor="t"/>
          <a:lstStyle/>
          <a:p>
            <a:pPr algn="l" indent="0" marL="0">
              <a:buNone/>
            </a:pPr>
            <a:r>
              <a:rPr lang="en-US" sz="900" b="1" spc="18" kern="0" dirty="0">
                <a:solidFill>
                  <a:srgbClr val="6D28D9"/>
                </a:solidFill>
                <a:latin typeface="Carlito" pitchFamily="34" charset="0"/>
                <a:ea typeface="Carlito" pitchFamily="34" charset="-122"/>
                <a:cs typeface="Carlito" pitchFamily="34" charset="-120"/>
              </a:rPr>
              <a:t>MassaPro</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77190" y="417052"/>
            <a:ext cx="1239619" cy="216027"/>
          </a:xfrm>
          <a:prstGeom prst="roundRect">
            <a:avLst>
              <a:gd name="adj" fmla="val 4404762"/>
            </a:avLst>
          </a:prstGeom>
          <a:solidFill>
            <a:srgbClr val="F5F3FF"/>
          </a:solidFill>
          <a:ln w="7144">
            <a:solidFill>
              <a:srgbClr val="7C3AED"/>
            </a:solidFill>
            <a:prstDash val="solid"/>
          </a:ln>
        </p:spPr>
        <p:txBody>
          <a:bodyPr wrap="square" rtlCol="0" anchor="ctr"/>
          <a:lstStyle/>
          <a:p>
            <a:pPr indent="0" marL="0">
              <a:buNone/>
            </a:pPr>
            <a:endParaRPr lang="en-US" dirty="0"/>
          </a:p>
        </p:txBody>
      </p:sp>
      <p:sp>
        <p:nvSpPr>
          <p:cNvPr id="3" name="Text 1"/>
          <p:cNvSpPr/>
          <p:nvPr/>
        </p:nvSpPr>
        <p:spPr>
          <a:xfrm>
            <a:off x="400050" y="428625"/>
            <a:ext cx="1193899" cy="192881"/>
          </a:xfrm>
          <a:prstGeom prst="rect">
            <a:avLst/>
          </a:prstGeom>
          <a:noFill/>
          <a:ln/>
        </p:spPr>
        <p:txBody>
          <a:bodyPr wrap="none" lIns="0" tIns="0" rIns="0" bIns="0" rtlCol="0" anchor="ctr"/>
          <a:lstStyle/>
          <a:p>
            <a:pPr algn="ctr" indent="0" marL="0">
              <a:buNone/>
            </a:pPr>
            <a:r>
              <a:rPr lang="en-US" sz="800" b="1" spc="111" kern="0" dirty="0">
                <a:solidFill>
                  <a:srgbClr val="7C3AED"/>
                </a:solidFill>
                <a:latin typeface="Carlito" pitchFamily="34" charset="0"/>
                <a:ea typeface="Carlito" pitchFamily="34" charset="-122"/>
                <a:cs typeface="Carlito" pitchFamily="34" charset="-120"/>
              </a:rPr>
              <a:t>BUSINESS IMPACT</a:t>
            </a:r>
            <a:endParaRPr lang="en-US" sz="800" dirty="0"/>
          </a:p>
        </p:txBody>
      </p:sp>
      <p:sp>
        <p:nvSpPr>
          <p:cNvPr id="4" name="Text 2"/>
          <p:cNvSpPr/>
          <p:nvPr/>
        </p:nvSpPr>
        <p:spPr>
          <a:xfrm>
            <a:off x="400050" y="707231"/>
            <a:ext cx="8101013" cy="319339"/>
          </a:xfrm>
          <a:prstGeom prst="rect">
            <a:avLst/>
          </a:prstGeom>
          <a:noFill/>
          <a:ln/>
        </p:spPr>
        <p:txBody>
          <a:bodyPr wrap="square" lIns="0" tIns="0" rIns="0" bIns="0" rtlCol="0" anchor="t"/>
          <a:lstStyle/>
          <a:p>
            <a:pPr algn="l" indent="0" marL="0">
              <a:lnSpc>
                <a:spcPts val="2329"/>
              </a:lnSpc>
              <a:buNone/>
            </a:pPr>
            <a:r>
              <a:rPr lang="en-US" sz="2025" b="1" dirty="0">
                <a:solidFill>
                  <a:srgbClr val="1F2937"/>
                </a:solidFill>
                <a:latin typeface="Tinos" pitchFamily="34" charset="0"/>
                <a:ea typeface="Tinos" pitchFamily="34" charset="-122"/>
                <a:cs typeface="Tinos" pitchFamily="34" charset="-120"/>
              </a:rPr>
              <a:t>A Growth Machine, </a:t>
            </a:r>
            <a:pPr algn="l" indent="0" marL="0">
              <a:lnSpc>
                <a:spcPts val="2329"/>
              </a:lnSpc>
              <a:buNone/>
            </a:pPr>
            <a:r>
              <a:rPr lang="en-US" sz="2025" b="1" dirty="0">
                <a:solidFill>
                  <a:srgbClr val="7C3AED"/>
                </a:solidFill>
                <a:latin typeface="Tinos" pitchFamily="34" charset="0"/>
                <a:ea typeface="Tinos" pitchFamily="34" charset="-122"/>
                <a:cs typeface="Tinos" pitchFamily="34" charset="-120"/>
              </a:rPr>
              <a:t>Not a Cost Center.</a:t>
            </a:r>
            <a:endParaRPr lang="en-US" sz="2025" dirty="0"/>
          </a:p>
        </p:txBody>
      </p:sp>
      <p:sp>
        <p:nvSpPr>
          <p:cNvPr id="5" name="Text 3"/>
          <p:cNvSpPr/>
          <p:nvPr/>
        </p:nvSpPr>
        <p:spPr>
          <a:xfrm>
            <a:off x="400050" y="1060066"/>
            <a:ext cx="7500938" cy="169999"/>
          </a:xfrm>
          <a:prstGeom prst="rect">
            <a:avLst/>
          </a:prstGeom>
          <a:noFill/>
          <a:ln/>
        </p:spPr>
        <p:txBody>
          <a:bodyPr wrap="square" lIns="0" tIns="0" rIns="0" bIns="0" rtlCol="0" anchor="t"/>
          <a:lstStyle/>
          <a:p>
            <a:pPr algn="l" indent="0" marL="0">
              <a:lnSpc>
                <a:spcPts val="1133"/>
              </a:lnSpc>
              <a:buNone/>
            </a:pPr>
            <a:r>
              <a:rPr lang="en-US" sz="800" dirty="0">
                <a:solidFill>
                  <a:srgbClr val="6B7280"/>
                </a:solidFill>
                <a:latin typeface="Carlito" pitchFamily="34" charset="0"/>
                <a:ea typeface="Carlito" pitchFamily="34" charset="-122"/>
                <a:cs typeface="Carlito" pitchFamily="34" charset="-120"/>
              </a:rPr>
              <a:t>When MassaPro replaces the entire call center stack, three things happen simultaneously — and they compound.</a:t>
            </a:r>
            <a:endParaRPr lang="en-US" sz="800" dirty="0"/>
          </a:p>
        </p:txBody>
      </p:sp>
      <p:sp>
        <p:nvSpPr>
          <p:cNvPr id="6" name="Text 4"/>
          <p:cNvSpPr/>
          <p:nvPr/>
        </p:nvSpPr>
        <p:spPr>
          <a:xfrm>
            <a:off x="400050" y="1461120"/>
            <a:ext cx="2705026" cy="1893094"/>
          </a:xfrm>
          <a:prstGeom prst="roundRect">
            <a:avLst>
              <a:gd name="adj" fmla="val 6038"/>
            </a:avLst>
          </a:prstGeom>
          <a:solidFill>
            <a:srgbClr val="FFFFFF"/>
          </a:solidFill>
          <a:ln/>
        </p:spPr>
        <p:txBody>
          <a:bodyPr wrap="square" rtlCol="0" anchor="ctr"/>
          <a:lstStyle/>
          <a:p>
            <a:pPr indent="0" marL="0">
              <a:buNone/>
            </a:pPr>
            <a:endParaRPr lang="en-US" dirty="0"/>
          </a:p>
        </p:txBody>
      </p:sp>
      <p:sp>
        <p:nvSpPr>
          <p:cNvPr id="7" name="Shape 5"/>
          <p:cNvSpPr/>
          <p:nvPr/>
        </p:nvSpPr>
        <p:spPr>
          <a:xfrm>
            <a:off x="400050" y="1475408"/>
            <a:ext cx="2705026" cy="0"/>
          </a:xfrm>
          <a:prstGeom prst="line">
            <a:avLst/>
          </a:prstGeom>
          <a:noFill/>
          <a:ln w="28575">
            <a:solidFill>
              <a:srgbClr val="7C3AED"/>
            </a:solidFill>
            <a:prstDash val="solid"/>
          </a:ln>
        </p:spPr>
      </p:sp>
      <p:sp>
        <p:nvSpPr>
          <p:cNvPr id="8" name="Shape 6"/>
          <p:cNvSpPr/>
          <p:nvPr/>
        </p:nvSpPr>
        <p:spPr>
          <a:xfrm>
            <a:off x="3101504" y="1461120"/>
            <a:ext cx="0" cy="1893094"/>
          </a:xfrm>
          <a:prstGeom prst="line">
            <a:avLst/>
          </a:prstGeom>
          <a:noFill/>
          <a:ln w="7144">
            <a:solidFill>
              <a:srgbClr val="E5E7EB"/>
            </a:solidFill>
            <a:prstDash val="solid"/>
          </a:ln>
        </p:spPr>
      </p:sp>
      <p:sp>
        <p:nvSpPr>
          <p:cNvPr id="9" name="Shape 7"/>
          <p:cNvSpPr/>
          <p:nvPr/>
        </p:nvSpPr>
        <p:spPr>
          <a:xfrm>
            <a:off x="400050" y="3350642"/>
            <a:ext cx="2705026" cy="0"/>
          </a:xfrm>
          <a:prstGeom prst="line">
            <a:avLst/>
          </a:prstGeom>
          <a:noFill/>
          <a:ln w="7144">
            <a:solidFill>
              <a:srgbClr val="E5E7EB"/>
            </a:solidFill>
            <a:prstDash val="solid"/>
          </a:ln>
        </p:spPr>
      </p:sp>
      <p:sp>
        <p:nvSpPr>
          <p:cNvPr id="10" name="Shape 8"/>
          <p:cNvSpPr/>
          <p:nvPr/>
        </p:nvSpPr>
        <p:spPr>
          <a:xfrm>
            <a:off x="403622" y="1461120"/>
            <a:ext cx="0" cy="1893094"/>
          </a:xfrm>
          <a:prstGeom prst="line">
            <a:avLst/>
          </a:prstGeom>
          <a:noFill/>
          <a:ln w="7144">
            <a:solidFill>
              <a:srgbClr val="E5E7EB"/>
            </a:solidFill>
            <a:prstDash val="solid"/>
          </a:ln>
        </p:spPr>
      </p:sp>
      <p:sp>
        <p:nvSpPr>
          <p:cNvPr id="11" name="Text 9"/>
          <p:cNvSpPr/>
          <p:nvPr/>
        </p:nvSpPr>
        <p:spPr>
          <a:xfrm>
            <a:off x="535781" y="1603995"/>
            <a:ext cx="2433563" cy="125403"/>
          </a:xfrm>
          <a:prstGeom prst="rect">
            <a:avLst/>
          </a:prstGeom>
          <a:noFill/>
          <a:ln/>
        </p:spPr>
        <p:txBody>
          <a:bodyPr wrap="none" lIns="0" tIns="0" rIns="0" bIns="0" rtlCol="0" anchor="t"/>
          <a:lstStyle/>
          <a:p>
            <a:pPr algn="l" indent="0" marL="0">
              <a:buNone/>
            </a:pPr>
            <a:r>
              <a:rPr lang="en-US" sz="800" b="1" spc="32" kern="0" dirty="0">
                <a:solidFill>
                  <a:srgbClr val="7C3AED"/>
                </a:solidFill>
                <a:latin typeface="Liberation Sans Narrow" pitchFamily="34" charset="0"/>
                <a:ea typeface="Liberation Sans Narrow" pitchFamily="34" charset="-122"/>
                <a:cs typeface="Liberation Sans Narrow" pitchFamily="34" charset="-120"/>
              </a:rPr>
              <a:t>01</a:t>
            </a:r>
            <a:endParaRPr lang="en-US" sz="800" dirty="0"/>
          </a:p>
        </p:txBody>
      </p:sp>
      <p:sp>
        <p:nvSpPr>
          <p:cNvPr id="12" name="Text 10"/>
          <p:cNvSpPr/>
          <p:nvPr/>
        </p:nvSpPr>
        <p:spPr>
          <a:xfrm>
            <a:off x="535781" y="1789733"/>
            <a:ext cx="2433563" cy="150447"/>
          </a:xfrm>
          <a:prstGeom prst="rect">
            <a:avLst/>
          </a:prstGeom>
          <a:noFill/>
          <a:ln/>
        </p:spPr>
        <p:txBody>
          <a:bodyPr wrap="none" lIns="0" tIns="0" rIns="0" bIns="0" rtlCol="0" anchor="t"/>
          <a:lstStyle/>
          <a:p>
            <a:pPr algn="l" indent="0" marL="0">
              <a:lnSpc>
                <a:spcPts val="1097"/>
              </a:lnSpc>
              <a:buNone/>
            </a:pPr>
            <a:r>
              <a:rPr lang="en-US" sz="844" b="1" dirty="0">
                <a:solidFill>
                  <a:srgbClr val="1F2937"/>
                </a:solidFill>
                <a:latin typeface="Carlito" pitchFamily="34" charset="0"/>
                <a:ea typeface="Carlito" pitchFamily="34" charset="-122"/>
                <a:cs typeface="Carlito" pitchFamily="34" charset="-120"/>
              </a:rPr>
              <a:t>Costs Drop Structurally</a:t>
            </a:r>
            <a:endParaRPr lang="en-US" sz="844" dirty="0"/>
          </a:p>
        </p:txBody>
      </p:sp>
      <p:sp>
        <p:nvSpPr>
          <p:cNvPr id="13" name="Text 11"/>
          <p:cNvSpPr/>
          <p:nvPr/>
        </p:nvSpPr>
        <p:spPr>
          <a:xfrm>
            <a:off x="535781" y="2000473"/>
            <a:ext cx="2433563" cy="678942"/>
          </a:xfrm>
          <a:prstGeom prst="rect">
            <a:avLst/>
          </a:prstGeom>
          <a:noFill/>
          <a:ln/>
        </p:spPr>
        <p:txBody>
          <a:bodyPr wrap="square" lIns="0" tIns="0" rIns="0" bIns="0" rtlCol="0" anchor="t"/>
          <a:lstStyle/>
          <a:p>
            <a:pPr algn="l" indent="0" marL="0">
              <a:lnSpc>
                <a:spcPts val="928"/>
              </a:lnSpc>
              <a:spcAft>
                <a:spcPts val="338"/>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928"/>
              </a:lnSpc>
              <a:spcAft>
                <a:spcPts val="338"/>
              </a:spcAft>
              <a:buNone/>
            </a:pPr>
            <a:r>
              <a:rPr lang="en-US" sz="800" dirty="0">
                <a:solidFill>
                  <a:srgbClr val="374151"/>
                </a:solidFill>
                <a:latin typeface="Carlito" pitchFamily="34" charset="0"/>
                <a:ea typeface="Carlito" pitchFamily="34" charset="-122"/>
                <a:cs typeface="Carlito" pitchFamily="34" charset="-120"/>
              </a:rPr>
              <a:t>Per-minute AI token billing </a:t>
            </a:r>
            <a:pPr algn="l" indent="0" marL="0">
              <a:lnSpc>
                <a:spcPts val="928"/>
              </a:lnSpc>
              <a:spcAft>
                <a:spcPts val="338"/>
              </a:spcAft>
              <a:buNone/>
            </a:pPr>
            <a:r>
              <a:rPr lang="en-US" sz="800" dirty="0">
                <a:solidFill>
                  <a:srgbClr val="6D28D9"/>
                </a:solidFill>
                <a:latin typeface="Carlito" pitchFamily="34" charset="0"/>
                <a:ea typeface="Carlito" pitchFamily="34" charset="-122"/>
                <a:cs typeface="Carlito" pitchFamily="34" charset="-120"/>
              </a:rPr>
              <a:t>eliminated</a:t>
            </a:r>
            <a:endParaRPr lang="en-US" sz="800" dirty="0"/>
          </a:p>
          <a:p>
            <a:pPr algn="l" indent="0" marL="0">
              <a:lnSpc>
                <a:spcPts val="928"/>
              </a:lnSpc>
              <a:spcAft>
                <a:spcPts val="338"/>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928"/>
              </a:lnSpc>
              <a:spcAft>
                <a:spcPts val="338"/>
              </a:spcAft>
              <a:buNone/>
            </a:pPr>
            <a:r>
              <a:rPr lang="en-US" sz="800" dirty="0">
                <a:solidFill>
                  <a:srgbClr val="374151"/>
                </a:solidFill>
                <a:latin typeface="Carlito" pitchFamily="34" charset="0"/>
                <a:ea typeface="Carlito" pitchFamily="34" charset="-122"/>
                <a:cs typeface="Carlito" pitchFamily="34" charset="-120"/>
              </a:rPr>
              <a:t>5–8 vendor licenses consolidated into one</a:t>
            </a:r>
            <a:endParaRPr lang="en-US" sz="800" dirty="0"/>
          </a:p>
          <a:p>
            <a:pPr algn="l" indent="0" marL="0">
              <a:lnSpc>
                <a:spcPts val="928"/>
              </a:lnSpc>
              <a:spcAft>
                <a:spcPts val="338"/>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928"/>
              </a:lnSpc>
              <a:spcAft>
                <a:spcPts val="338"/>
              </a:spcAft>
              <a:buNone/>
            </a:pPr>
            <a:r>
              <a:rPr lang="en-US" sz="800" dirty="0">
                <a:solidFill>
                  <a:srgbClr val="374151"/>
                </a:solidFill>
                <a:latin typeface="Carlito" pitchFamily="34" charset="0"/>
                <a:ea typeface="Carlito" pitchFamily="34" charset="-122"/>
                <a:cs typeface="Carlito" pitchFamily="34" charset="-120"/>
              </a:rPr>
              <a:t>Human agent headcount scales with growth, not with volume</a:t>
            </a:r>
            <a:endParaRPr lang="en-US" sz="800" dirty="0"/>
          </a:p>
          <a:p>
            <a:pPr algn="l" indent="0" marL="0">
              <a:lnSpc>
                <a:spcPts val="928"/>
              </a:lnSpc>
              <a:spcAft>
                <a:spcPts val="338"/>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928"/>
              </a:lnSpc>
              <a:spcAft>
                <a:spcPts val="338"/>
              </a:spcAft>
              <a:buNone/>
            </a:pPr>
            <a:r>
              <a:rPr lang="en-US" sz="800" dirty="0">
                <a:solidFill>
                  <a:srgbClr val="6D28D9"/>
                </a:solidFill>
                <a:latin typeface="Liberation Sans Narrow" pitchFamily="34" charset="0"/>
                <a:ea typeface="Liberation Sans Narrow" pitchFamily="34" charset="-122"/>
                <a:cs typeface="Liberation Sans Narrow" pitchFamily="34" charset="-120"/>
              </a:rPr>
              <a:t>60–80% reduction</a:t>
            </a:r>
            <a:pPr algn="l" indent="0" marL="0">
              <a:lnSpc>
                <a:spcPts val="928"/>
              </a:lnSpc>
              <a:spcAft>
                <a:spcPts val="338"/>
              </a:spcAft>
              <a:buNone/>
            </a:pPr>
            <a:r>
              <a:rPr lang="en-US" sz="800" dirty="0">
                <a:solidFill>
                  <a:srgbClr val="374151"/>
                </a:solidFill>
                <a:latin typeface="Carlito" pitchFamily="34" charset="0"/>
                <a:ea typeface="Carlito" pitchFamily="34" charset="-122"/>
                <a:cs typeface="Carlito" pitchFamily="34" charset="-120"/>
              </a:rPr>
              <a:t> in cost per interaction at scale</a:t>
            </a:r>
            <a:endParaRPr lang="en-US" sz="800" dirty="0"/>
          </a:p>
        </p:txBody>
      </p:sp>
      <p:sp>
        <p:nvSpPr>
          <p:cNvPr id="14" name="Text 12"/>
          <p:cNvSpPr/>
          <p:nvPr/>
        </p:nvSpPr>
        <p:spPr>
          <a:xfrm>
            <a:off x="3219376" y="1461120"/>
            <a:ext cx="2705137" cy="1893094"/>
          </a:xfrm>
          <a:prstGeom prst="roundRect">
            <a:avLst>
              <a:gd name="adj" fmla="val 6038"/>
            </a:avLst>
          </a:prstGeom>
          <a:solidFill>
            <a:srgbClr val="FFFFFF"/>
          </a:solidFill>
          <a:ln/>
        </p:spPr>
        <p:txBody>
          <a:bodyPr wrap="square" rtlCol="0" anchor="ctr"/>
          <a:lstStyle/>
          <a:p>
            <a:pPr indent="0" marL="0">
              <a:buNone/>
            </a:pPr>
            <a:endParaRPr lang="en-US" dirty="0"/>
          </a:p>
        </p:txBody>
      </p:sp>
      <p:sp>
        <p:nvSpPr>
          <p:cNvPr id="15" name="Shape 13"/>
          <p:cNvSpPr/>
          <p:nvPr/>
        </p:nvSpPr>
        <p:spPr>
          <a:xfrm>
            <a:off x="3219376" y="1475408"/>
            <a:ext cx="2705137" cy="0"/>
          </a:xfrm>
          <a:prstGeom prst="line">
            <a:avLst/>
          </a:prstGeom>
          <a:noFill/>
          <a:ln w="28575">
            <a:solidFill>
              <a:srgbClr val="A78BFA"/>
            </a:solidFill>
            <a:prstDash val="solid"/>
          </a:ln>
        </p:spPr>
      </p:sp>
      <p:sp>
        <p:nvSpPr>
          <p:cNvPr id="16" name="Shape 14"/>
          <p:cNvSpPr/>
          <p:nvPr/>
        </p:nvSpPr>
        <p:spPr>
          <a:xfrm>
            <a:off x="5920941" y="1461120"/>
            <a:ext cx="0" cy="1893094"/>
          </a:xfrm>
          <a:prstGeom prst="line">
            <a:avLst/>
          </a:prstGeom>
          <a:noFill/>
          <a:ln w="7144">
            <a:solidFill>
              <a:srgbClr val="E5E7EB"/>
            </a:solidFill>
            <a:prstDash val="solid"/>
          </a:ln>
        </p:spPr>
      </p:sp>
      <p:sp>
        <p:nvSpPr>
          <p:cNvPr id="17" name="Shape 15"/>
          <p:cNvSpPr/>
          <p:nvPr/>
        </p:nvSpPr>
        <p:spPr>
          <a:xfrm>
            <a:off x="3219376" y="3350642"/>
            <a:ext cx="2705137" cy="0"/>
          </a:xfrm>
          <a:prstGeom prst="line">
            <a:avLst/>
          </a:prstGeom>
          <a:noFill/>
          <a:ln w="7144">
            <a:solidFill>
              <a:srgbClr val="E5E7EB"/>
            </a:solidFill>
            <a:prstDash val="solid"/>
          </a:ln>
        </p:spPr>
      </p:sp>
      <p:sp>
        <p:nvSpPr>
          <p:cNvPr id="18" name="Shape 16"/>
          <p:cNvSpPr/>
          <p:nvPr/>
        </p:nvSpPr>
        <p:spPr>
          <a:xfrm>
            <a:off x="3222947" y="1461120"/>
            <a:ext cx="0" cy="1893094"/>
          </a:xfrm>
          <a:prstGeom prst="line">
            <a:avLst/>
          </a:prstGeom>
          <a:noFill/>
          <a:ln w="7144">
            <a:solidFill>
              <a:srgbClr val="E5E7EB"/>
            </a:solidFill>
            <a:prstDash val="solid"/>
          </a:ln>
        </p:spPr>
      </p:sp>
      <p:sp>
        <p:nvSpPr>
          <p:cNvPr id="19" name="Text 17"/>
          <p:cNvSpPr/>
          <p:nvPr/>
        </p:nvSpPr>
        <p:spPr>
          <a:xfrm>
            <a:off x="3355107" y="1603995"/>
            <a:ext cx="2433675" cy="125403"/>
          </a:xfrm>
          <a:prstGeom prst="rect">
            <a:avLst/>
          </a:prstGeom>
          <a:noFill/>
          <a:ln/>
        </p:spPr>
        <p:txBody>
          <a:bodyPr wrap="none" lIns="0" tIns="0" rIns="0" bIns="0" rtlCol="0" anchor="t"/>
          <a:lstStyle/>
          <a:p>
            <a:pPr algn="l" indent="0" marL="0">
              <a:buNone/>
            </a:pPr>
            <a:r>
              <a:rPr lang="en-US" sz="800" b="1" spc="32" kern="0" dirty="0">
                <a:solidFill>
                  <a:srgbClr val="7C3AED"/>
                </a:solidFill>
                <a:latin typeface="Liberation Sans Narrow" pitchFamily="34" charset="0"/>
                <a:ea typeface="Liberation Sans Narrow" pitchFamily="34" charset="-122"/>
                <a:cs typeface="Liberation Sans Narrow" pitchFamily="34" charset="-120"/>
              </a:rPr>
              <a:t>02</a:t>
            </a:r>
            <a:endParaRPr lang="en-US" sz="800" dirty="0"/>
          </a:p>
        </p:txBody>
      </p:sp>
      <p:sp>
        <p:nvSpPr>
          <p:cNvPr id="20" name="Text 18"/>
          <p:cNvSpPr/>
          <p:nvPr/>
        </p:nvSpPr>
        <p:spPr>
          <a:xfrm>
            <a:off x="3355107" y="1789733"/>
            <a:ext cx="2543403" cy="150447"/>
          </a:xfrm>
          <a:prstGeom prst="rect">
            <a:avLst/>
          </a:prstGeom>
          <a:noFill/>
          <a:ln/>
        </p:spPr>
        <p:txBody>
          <a:bodyPr wrap="square" lIns="0" tIns="0" rIns="0" bIns="0" rtlCol="0" anchor="t"/>
          <a:lstStyle/>
          <a:p>
            <a:pPr algn="l" indent="0" marL="0">
              <a:lnSpc>
                <a:spcPts val="1097"/>
              </a:lnSpc>
              <a:buNone/>
            </a:pPr>
            <a:r>
              <a:rPr lang="en-US" sz="844" b="1" dirty="0">
                <a:solidFill>
                  <a:srgbClr val="1F2937"/>
                </a:solidFill>
                <a:latin typeface="Carlito" pitchFamily="34" charset="0"/>
                <a:ea typeface="Carlito" pitchFamily="34" charset="-122"/>
                <a:cs typeface="Carlito" pitchFamily="34" charset="-120"/>
              </a:rPr>
              <a:t>Insight Becomes Continuous</a:t>
            </a:r>
            <a:endParaRPr lang="en-US" sz="844" dirty="0"/>
          </a:p>
        </p:txBody>
      </p:sp>
      <p:sp>
        <p:nvSpPr>
          <p:cNvPr id="21" name="Text 19"/>
          <p:cNvSpPr/>
          <p:nvPr/>
        </p:nvSpPr>
        <p:spPr>
          <a:xfrm>
            <a:off x="3355107" y="2000473"/>
            <a:ext cx="2433675" cy="1349097"/>
          </a:xfrm>
          <a:prstGeom prst="rect">
            <a:avLst/>
          </a:prstGeom>
          <a:noFill/>
          <a:ln/>
        </p:spPr>
        <p:txBody>
          <a:bodyPr wrap="square" lIns="0" tIns="0" rIns="0" bIns="0" rtlCol="0" anchor="t"/>
          <a:lstStyle/>
          <a:p>
            <a:pPr algn="l" indent="0" marL="0">
              <a:lnSpc>
                <a:spcPts val="928"/>
              </a:lnSpc>
              <a:spcAft>
                <a:spcPts val="338"/>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928"/>
              </a:lnSpc>
              <a:spcAft>
                <a:spcPts val="338"/>
              </a:spcAft>
              <a:buNone/>
            </a:pPr>
            <a:r>
              <a:rPr lang="en-US" sz="800" dirty="0">
                <a:solidFill>
                  <a:srgbClr val="6D28D9"/>
                </a:solidFill>
                <a:latin typeface="Liberation Sans Narrow" pitchFamily="34" charset="0"/>
                <a:ea typeface="Liberation Sans Narrow" pitchFamily="34" charset="-122"/>
                <a:cs typeface="Liberation Sans Narrow" pitchFamily="34" charset="-120"/>
              </a:rPr>
              <a:t>100% of interactions</a:t>
            </a:r>
            <a:pPr algn="l" indent="0" marL="0">
              <a:lnSpc>
                <a:spcPts val="928"/>
              </a:lnSpc>
              <a:spcAft>
                <a:spcPts val="338"/>
              </a:spcAft>
              <a:buNone/>
            </a:pPr>
            <a:r>
              <a:rPr lang="en-US" sz="800" dirty="0">
                <a:solidFill>
                  <a:srgbClr val="374151"/>
                </a:solidFill>
                <a:latin typeface="Carlito" pitchFamily="34" charset="0"/>
                <a:ea typeface="Carlito" pitchFamily="34" charset="-122"/>
                <a:cs typeface="Carlito" pitchFamily="34" charset="-120"/>
              </a:rPr>
              <a:t> analyzed (not the industry-standard 1–3% sample)</a:t>
            </a:r>
            <a:endParaRPr lang="en-US" sz="800" dirty="0"/>
          </a:p>
          <a:p>
            <a:pPr algn="l" indent="0" marL="0">
              <a:lnSpc>
                <a:spcPts val="928"/>
              </a:lnSpc>
              <a:spcAft>
                <a:spcPts val="338"/>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928"/>
              </a:lnSpc>
              <a:spcAft>
                <a:spcPts val="338"/>
              </a:spcAft>
              <a:buNone/>
            </a:pPr>
            <a:r>
              <a:rPr lang="en-US" sz="800" dirty="0">
                <a:solidFill>
                  <a:srgbClr val="374151"/>
                </a:solidFill>
                <a:latin typeface="Carlito" pitchFamily="34" charset="0"/>
                <a:ea typeface="Carlito" pitchFamily="34" charset="-122"/>
                <a:cs typeface="Carlito" pitchFamily="34" charset="-120"/>
              </a:rPr>
              <a:t>Real-time sentiment, keyphrase, entity, topic detection on every conversation</a:t>
            </a:r>
            <a:endParaRPr lang="en-US" sz="800" dirty="0"/>
          </a:p>
          <a:p>
            <a:pPr algn="l" indent="0" marL="0">
              <a:lnSpc>
                <a:spcPts val="928"/>
              </a:lnSpc>
              <a:spcAft>
                <a:spcPts val="338"/>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928"/>
              </a:lnSpc>
              <a:spcAft>
                <a:spcPts val="338"/>
              </a:spcAft>
              <a:buNone/>
            </a:pPr>
            <a:r>
              <a:rPr lang="en-US" sz="800" dirty="0">
                <a:solidFill>
                  <a:srgbClr val="374151"/>
                </a:solidFill>
                <a:latin typeface="Carlito" pitchFamily="34" charset="0"/>
                <a:ea typeface="Carlito" pitchFamily="34" charset="-122"/>
                <a:cs typeface="Carlito" pitchFamily="34" charset="-120"/>
              </a:rPr>
              <a:t>Automated interaction summaries delivered the moment each call ends</a:t>
            </a:r>
            <a:endParaRPr lang="en-US" sz="800" dirty="0"/>
          </a:p>
          <a:p>
            <a:pPr algn="l" indent="0" marL="0">
              <a:lnSpc>
                <a:spcPts val="928"/>
              </a:lnSpc>
              <a:spcAft>
                <a:spcPts val="338"/>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928"/>
              </a:lnSpc>
              <a:spcAft>
                <a:spcPts val="338"/>
              </a:spcAft>
              <a:buNone/>
            </a:pPr>
            <a:r>
              <a:rPr lang="en-US" sz="800" dirty="0">
                <a:solidFill>
                  <a:srgbClr val="374151"/>
                </a:solidFill>
                <a:latin typeface="Carlito" pitchFamily="34" charset="0"/>
                <a:ea typeface="Carlito" pitchFamily="34" charset="-122"/>
                <a:cs typeface="Carlito" pitchFamily="34" charset="-120"/>
              </a:rPr>
              <a:t>PII redaction built in — stay compliant without workflow changes</a:t>
            </a:r>
            <a:endParaRPr lang="en-US" sz="800" dirty="0"/>
          </a:p>
          <a:p>
            <a:pPr algn="l" indent="0" marL="0">
              <a:lnSpc>
                <a:spcPts val="928"/>
              </a:lnSpc>
              <a:spcAft>
                <a:spcPts val="338"/>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928"/>
              </a:lnSpc>
              <a:spcAft>
                <a:spcPts val="338"/>
              </a:spcAft>
              <a:buNone/>
            </a:pPr>
            <a:r>
              <a:rPr lang="en-US" sz="800" dirty="0">
                <a:solidFill>
                  <a:srgbClr val="6D28D9"/>
                </a:solidFill>
                <a:latin typeface="Carlito" pitchFamily="34" charset="0"/>
                <a:ea typeface="Carlito" pitchFamily="34" charset="-122"/>
                <a:cs typeface="Carlito" pitchFamily="34" charset="-120"/>
              </a:rPr>
              <a:t>Clara</a:t>
            </a:r>
            <a:pPr algn="l" indent="0" marL="0">
              <a:lnSpc>
                <a:spcPts val="928"/>
              </a:lnSpc>
              <a:spcAft>
                <a:spcPts val="338"/>
              </a:spcAft>
              <a:buNone/>
            </a:pPr>
            <a:r>
              <a:rPr lang="en-US" sz="800" dirty="0">
                <a:solidFill>
                  <a:srgbClr val="374151"/>
                </a:solidFill>
                <a:latin typeface="Carlito" pitchFamily="34" charset="0"/>
                <a:ea typeface="Carlito" pitchFamily="34" charset="-122"/>
                <a:cs typeface="Carlito" pitchFamily="34" charset="-120"/>
              </a:rPr>
              <a:t>, your analytics assistant — ask any question, get a chart in seconds</a:t>
            </a:r>
            <a:endParaRPr lang="en-US" sz="800" dirty="0"/>
          </a:p>
        </p:txBody>
      </p:sp>
      <p:sp>
        <p:nvSpPr>
          <p:cNvPr id="22" name="Text 20"/>
          <p:cNvSpPr/>
          <p:nvPr/>
        </p:nvSpPr>
        <p:spPr>
          <a:xfrm>
            <a:off x="6038813" y="1461120"/>
            <a:ext cx="2705026" cy="1893094"/>
          </a:xfrm>
          <a:prstGeom prst="roundRect">
            <a:avLst>
              <a:gd name="adj" fmla="val 6038"/>
            </a:avLst>
          </a:prstGeom>
          <a:solidFill>
            <a:srgbClr val="FFFFFF"/>
          </a:solidFill>
          <a:ln/>
        </p:spPr>
        <p:txBody>
          <a:bodyPr wrap="square" rtlCol="0" anchor="ctr"/>
          <a:lstStyle/>
          <a:p>
            <a:pPr indent="0" marL="0">
              <a:buNone/>
            </a:pPr>
            <a:endParaRPr lang="en-US" dirty="0"/>
          </a:p>
        </p:txBody>
      </p:sp>
      <p:sp>
        <p:nvSpPr>
          <p:cNvPr id="23" name="Shape 21"/>
          <p:cNvSpPr/>
          <p:nvPr/>
        </p:nvSpPr>
        <p:spPr>
          <a:xfrm>
            <a:off x="6038813" y="1475408"/>
            <a:ext cx="2705026" cy="0"/>
          </a:xfrm>
          <a:prstGeom prst="line">
            <a:avLst/>
          </a:prstGeom>
          <a:noFill/>
          <a:ln w="28575">
            <a:solidFill>
              <a:srgbClr val="5B21B6"/>
            </a:solidFill>
            <a:prstDash val="solid"/>
          </a:ln>
        </p:spPr>
      </p:sp>
      <p:sp>
        <p:nvSpPr>
          <p:cNvPr id="24" name="Shape 22"/>
          <p:cNvSpPr/>
          <p:nvPr/>
        </p:nvSpPr>
        <p:spPr>
          <a:xfrm>
            <a:off x="8740267" y="1461120"/>
            <a:ext cx="0" cy="1893094"/>
          </a:xfrm>
          <a:prstGeom prst="line">
            <a:avLst/>
          </a:prstGeom>
          <a:noFill/>
          <a:ln w="7144">
            <a:solidFill>
              <a:srgbClr val="E5E7EB"/>
            </a:solidFill>
            <a:prstDash val="solid"/>
          </a:ln>
        </p:spPr>
      </p:sp>
      <p:sp>
        <p:nvSpPr>
          <p:cNvPr id="25" name="Shape 23"/>
          <p:cNvSpPr/>
          <p:nvPr/>
        </p:nvSpPr>
        <p:spPr>
          <a:xfrm>
            <a:off x="6038813" y="3350642"/>
            <a:ext cx="2705026" cy="0"/>
          </a:xfrm>
          <a:prstGeom prst="line">
            <a:avLst/>
          </a:prstGeom>
          <a:noFill/>
          <a:ln w="7144">
            <a:solidFill>
              <a:srgbClr val="E5E7EB"/>
            </a:solidFill>
            <a:prstDash val="solid"/>
          </a:ln>
        </p:spPr>
      </p:sp>
      <p:sp>
        <p:nvSpPr>
          <p:cNvPr id="26" name="Shape 24"/>
          <p:cNvSpPr/>
          <p:nvPr/>
        </p:nvSpPr>
        <p:spPr>
          <a:xfrm>
            <a:off x="6042385" y="1461120"/>
            <a:ext cx="0" cy="1893094"/>
          </a:xfrm>
          <a:prstGeom prst="line">
            <a:avLst/>
          </a:prstGeom>
          <a:noFill/>
          <a:ln w="7144">
            <a:solidFill>
              <a:srgbClr val="E5E7EB"/>
            </a:solidFill>
            <a:prstDash val="solid"/>
          </a:ln>
        </p:spPr>
      </p:sp>
      <p:sp>
        <p:nvSpPr>
          <p:cNvPr id="27" name="Text 25"/>
          <p:cNvSpPr/>
          <p:nvPr/>
        </p:nvSpPr>
        <p:spPr>
          <a:xfrm>
            <a:off x="6174544" y="1603995"/>
            <a:ext cx="2433563" cy="125403"/>
          </a:xfrm>
          <a:prstGeom prst="rect">
            <a:avLst/>
          </a:prstGeom>
          <a:noFill/>
          <a:ln/>
        </p:spPr>
        <p:txBody>
          <a:bodyPr wrap="none" lIns="0" tIns="0" rIns="0" bIns="0" rtlCol="0" anchor="t"/>
          <a:lstStyle/>
          <a:p>
            <a:pPr algn="l" indent="0" marL="0">
              <a:buNone/>
            </a:pPr>
            <a:r>
              <a:rPr lang="en-US" sz="800" b="1" spc="32" kern="0" dirty="0">
                <a:solidFill>
                  <a:srgbClr val="7C3AED"/>
                </a:solidFill>
                <a:latin typeface="Liberation Sans Narrow" pitchFamily="34" charset="0"/>
                <a:ea typeface="Liberation Sans Narrow" pitchFamily="34" charset="-122"/>
                <a:cs typeface="Liberation Sans Narrow" pitchFamily="34" charset="-120"/>
              </a:rPr>
              <a:t>03</a:t>
            </a:r>
            <a:endParaRPr lang="en-US" sz="800" dirty="0"/>
          </a:p>
        </p:txBody>
      </p:sp>
      <p:sp>
        <p:nvSpPr>
          <p:cNvPr id="28" name="Text 26"/>
          <p:cNvSpPr/>
          <p:nvPr/>
        </p:nvSpPr>
        <p:spPr>
          <a:xfrm>
            <a:off x="6174544" y="1789733"/>
            <a:ext cx="2543291" cy="150447"/>
          </a:xfrm>
          <a:prstGeom prst="rect">
            <a:avLst/>
          </a:prstGeom>
          <a:noFill/>
          <a:ln/>
        </p:spPr>
        <p:txBody>
          <a:bodyPr wrap="square" lIns="0" tIns="0" rIns="0" bIns="0" rtlCol="0" anchor="t"/>
          <a:lstStyle/>
          <a:p>
            <a:pPr algn="l" indent="0" marL="0">
              <a:lnSpc>
                <a:spcPts val="1097"/>
              </a:lnSpc>
              <a:buNone/>
            </a:pPr>
            <a:r>
              <a:rPr lang="en-US" sz="844" b="1" dirty="0">
                <a:solidFill>
                  <a:srgbClr val="1F2937"/>
                </a:solidFill>
                <a:latin typeface="Carlito" pitchFamily="34" charset="0"/>
                <a:ea typeface="Carlito" pitchFamily="34" charset="-122"/>
                <a:cs typeface="Carlito" pitchFamily="34" charset="-120"/>
              </a:rPr>
              <a:t>Quality Becomes a Coaching System</a:t>
            </a:r>
            <a:endParaRPr lang="en-US" sz="844" dirty="0"/>
          </a:p>
        </p:txBody>
      </p:sp>
      <p:sp>
        <p:nvSpPr>
          <p:cNvPr id="29" name="Text 27"/>
          <p:cNvSpPr/>
          <p:nvPr/>
        </p:nvSpPr>
        <p:spPr>
          <a:xfrm>
            <a:off x="6174544" y="2000473"/>
            <a:ext cx="2433563" cy="678942"/>
          </a:xfrm>
          <a:prstGeom prst="rect">
            <a:avLst/>
          </a:prstGeom>
          <a:noFill/>
          <a:ln/>
        </p:spPr>
        <p:txBody>
          <a:bodyPr wrap="square" lIns="0" tIns="0" rIns="0" bIns="0" rtlCol="0" anchor="t"/>
          <a:lstStyle/>
          <a:p>
            <a:pPr algn="l" indent="0" marL="0">
              <a:lnSpc>
                <a:spcPts val="928"/>
              </a:lnSpc>
              <a:spcAft>
                <a:spcPts val="338"/>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928"/>
              </a:lnSpc>
              <a:spcAft>
                <a:spcPts val="338"/>
              </a:spcAft>
              <a:buNone/>
            </a:pPr>
            <a:r>
              <a:rPr lang="en-US" sz="800" dirty="0">
                <a:solidFill>
                  <a:srgbClr val="374151"/>
                </a:solidFill>
                <a:latin typeface="Carlito" pitchFamily="34" charset="0"/>
                <a:ea typeface="Carlito" pitchFamily="34" charset="-122"/>
                <a:cs typeface="Carlito" pitchFamily="34" charset="-120"/>
              </a:rPr>
              <a:t>Every interaction scored against your custom criteria</a:t>
            </a:r>
            <a:endParaRPr lang="en-US" sz="800" dirty="0"/>
          </a:p>
          <a:p>
            <a:pPr algn="l" indent="0" marL="0">
              <a:lnSpc>
                <a:spcPts val="928"/>
              </a:lnSpc>
              <a:spcAft>
                <a:spcPts val="338"/>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928"/>
              </a:lnSpc>
              <a:spcAft>
                <a:spcPts val="338"/>
              </a:spcAft>
              <a:buNone/>
            </a:pPr>
            <a:r>
              <a:rPr lang="en-US" sz="800" dirty="0">
                <a:solidFill>
                  <a:srgbClr val="374151"/>
                </a:solidFill>
                <a:latin typeface="Carlito" pitchFamily="34" charset="0"/>
                <a:ea typeface="Carlito" pitchFamily="34" charset="-122"/>
                <a:cs typeface="Carlito" pitchFamily="34" charset="-120"/>
              </a:rPr>
              <a:t>AI assessors grade to your standards, every channel, every time</a:t>
            </a:r>
            <a:endParaRPr lang="en-US" sz="800" dirty="0"/>
          </a:p>
          <a:p>
            <a:pPr algn="l" indent="0" marL="0">
              <a:lnSpc>
                <a:spcPts val="928"/>
              </a:lnSpc>
              <a:spcAft>
                <a:spcPts val="338"/>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928"/>
              </a:lnSpc>
              <a:spcAft>
                <a:spcPts val="338"/>
              </a:spcAft>
              <a:buNone/>
            </a:pPr>
            <a:r>
              <a:rPr lang="en-US" sz="800" dirty="0">
                <a:solidFill>
                  <a:srgbClr val="374151"/>
                </a:solidFill>
                <a:latin typeface="Carlito" pitchFamily="34" charset="0"/>
                <a:ea typeface="Carlito" pitchFamily="34" charset="-122"/>
                <a:cs typeface="Carlito" pitchFamily="34" charset="-120"/>
              </a:rPr>
              <a:t>Compliance flags raised the instant a violation occurs</a:t>
            </a:r>
            <a:endParaRPr lang="en-US" sz="800" dirty="0"/>
          </a:p>
          <a:p>
            <a:pPr algn="l" indent="0" marL="0">
              <a:lnSpc>
                <a:spcPts val="928"/>
              </a:lnSpc>
              <a:spcAft>
                <a:spcPts val="338"/>
              </a:spcAft>
              <a:buNone/>
            </a:pPr>
            <a:r>
              <a:rPr lang="en-US" sz="600" dirty="0">
                <a:solidFill>
                  <a:srgbClr val="7C3AED"/>
                </a:solidFill>
                <a:latin typeface="Carlito" pitchFamily="34" charset="0"/>
                <a:ea typeface="Carlito" pitchFamily="34" charset="-122"/>
                <a:cs typeface="Carlito" pitchFamily="34" charset="-120"/>
              </a:rPr>
              <a:t>●  </a:t>
            </a:r>
            <a:pPr algn="l" indent="0" marL="0">
              <a:lnSpc>
                <a:spcPts val="928"/>
              </a:lnSpc>
              <a:spcAft>
                <a:spcPts val="338"/>
              </a:spcAft>
              <a:buNone/>
            </a:pPr>
            <a:r>
              <a:rPr lang="en-US" sz="800" dirty="0">
                <a:solidFill>
                  <a:srgbClr val="374151"/>
                </a:solidFill>
                <a:latin typeface="Carlito" pitchFamily="34" charset="0"/>
                <a:ea typeface="Carlito" pitchFamily="34" charset="-122"/>
                <a:cs typeface="Carlito" pitchFamily="34" charset="-120"/>
              </a:rPr>
              <a:t>Top performer patterns surfaced and codified into agent training</a:t>
            </a:r>
            <a:endParaRPr lang="en-US" sz="800" dirty="0"/>
          </a:p>
        </p:txBody>
      </p:sp>
      <p:pic>
        <p:nvPicPr>
          <p:cNvPr id="30" name="Image 0" descr="preencoded.png">    </p:cNvPr>
          <p:cNvPicPr>
            <a:picLocks noChangeAspect="1"/>
          </p:cNvPicPr>
          <p:nvPr/>
        </p:nvPicPr>
        <p:blipFill>
          <a:blip r:embed="rId1"/>
          <a:stretch>
            <a:fillRect/>
          </a:stretch>
        </p:blipFill>
        <p:spPr>
          <a:xfrm>
            <a:off x="400050" y="3482801"/>
            <a:ext cx="8343900" cy="1303511"/>
          </a:xfrm>
          <a:prstGeom prst="rect">
            <a:avLst/>
          </a:prstGeom>
        </p:spPr>
      </p:pic>
      <p:sp>
        <p:nvSpPr>
          <p:cNvPr id="31" name="Text 28"/>
          <p:cNvSpPr/>
          <p:nvPr/>
        </p:nvSpPr>
        <p:spPr>
          <a:xfrm>
            <a:off x="571500" y="3985989"/>
            <a:ext cx="1607344" cy="320906"/>
          </a:xfrm>
          <a:prstGeom prst="rect">
            <a:avLst/>
          </a:prstGeom>
          <a:noFill/>
          <a:ln/>
        </p:spPr>
        <p:txBody>
          <a:bodyPr wrap="none" lIns="0" tIns="0" rIns="0" bIns="0" rtlCol="0" anchor="t"/>
          <a:lstStyle/>
          <a:p>
            <a:pPr algn="l" indent="0" marL="0">
              <a:lnSpc>
                <a:spcPts val="1170"/>
              </a:lnSpc>
              <a:buNone/>
            </a:pPr>
            <a:r>
              <a:rPr lang="en-US" sz="900" b="1" dirty="0">
                <a:solidFill>
                  <a:srgbClr val="A78BFA"/>
                </a:solidFill>
                <a:latin typeface="Carlito" pitchFamily="34" charset="0"/>
                <a:ea typeface="Carlito" pitchFamily="34" charset="-122"/>
                <a:cs typeface="Carlito" pitchFamily="34" charset="-120"/>
              </a:rPr>
              <a:t>The compounding effect</a:t>
            </a:r>
            <a:endParaRPr lang="en-US" sz="900" dirty="0"/>
          </a:p>
        </p:txBody>
      </p:sp>
      <p:sp>
        <p:nvSpPr>
          <p:cNvPr id="32" name="Text 29"/>
          <p:cNvSpPr/>
          <p:nvPr/>
        </p:nvSpPr>
        <p:spPr>
          <a:xfrm>
            <a:off x="2028825" y="3916244"/>
            <a:ext cx="576523" cy="208026"/>
          </a:xfrm>
          <a:prstGeom prst="roundRect">
            <a:avLst>
              <a:gd name="adj" fmla="val 27473"/>
            </a:avLst>
          </a:prstGeom>
          <a:solidFill>
            <a:srgbClr val="FFFFFF">
              <a:alpha val="8000"/>
            </a:srgbClr>
          </a:solidFill>
          <a:ln w="7144">
            <a:solidFill>
              <a:srgbClr val="A78BFA"/>
            </a:solidFill>
            <a:prstDash val="solid"/>
          </a:ln>
        </p:spPr>
        <p:txBody>
          <a:bodyPr wrap="square" rtlCol="0" anchor="ctr"/>
          <a:lstStyle/>
          <a:p>
            <a:pPr indent="0" marL="0">
              <a:buNone/>
            </a:pPr>
            <a:endParaRPr lang="en-US" dirty="0"/>
          </a:p>
        </p:txBody>
      </p:sp>
      <p:sp>
        <p:nvSpPr>
          <p:cNvPr id="33" name="Text 30"/>
          <p:cNvSpPr/>
          <p:nvPr/>
        </p:nvSpPr>
        <p:spPr>
          <a:xfrm>
            <a:off x="1964819" y="3927388"/>
            <a:ext cx="704535" cy="185738"/>
          </a:xfrm>
          <a:prstGeom prst="rect">
            <a:avLst/>
          </a:prstGeom>
          <a:noFill/>
          <a:ln/>
        </p:spPr>
        <p:txBody>
          <a:bodyPr wrap="none" lIns="0" tIns="0" rIns="0" bIns="0" rtlCol="0" anchor="ctr"/>
          <a:lstStyle/>
          <a:p>
            <a:pPr algn="ctr" indent="0" marL="0">
              <a:buNone/>
            </a:pPr>
            <a:r>
              <a:rPr lang="en-US" sz="800" dirty="0">
                <a:solidFill>
                  <a:srgbClr val="FFFFFF"/>
                </a:solidFill>
                <a:latin typeface="Carlito" pitchFamily="34" charset="0"/>
                <a:ea typeface="Carlito" pitchFamily="34" charset="-122"/>
                <a:cs typeface="Carlito" pitchFamily="34" charset="-120"/>
              </a:rPr>
              <a:t>Lower costs</a:t>
            </a:r>
            <a:endParaRPr lang="en-US" sz="800" dirty="0"/>
          </a:p>
        </p:txBody>
      </p:sp>
      <p:sp>
        <p:nvSpPr>
          <p:cNvPr id="34" name="Text 31"/>
          <p:cNvSpPr/>
          <p:nvPr/>
        </p:nvSpPr>
        <p:spPr>
          <a:xfrm>
            <a:off x="2662498" y="3963107"/>
            <a:ext cx="91440" cy="114300"/>
          </a:xfrm>
          <a:prstGeom prst="rect">
            <a:avLst/>
          </a:prstGeom>
          <a:noFill/>
          <a:ln/>
        </p:spPr>
        <p:txBody>
          <a:bodyPr wrap="none" lIns="0" tIns="0" rIns="0" bIns="0" rtlCol="0" anchor="ctr"/>
          <a:lstStyle/>
          <a:p>
            <a:pPr algn="ctr" indent="0" marL="0">
              <a:buNone/>
            </a:pPr>
            <a:r>
              <a:rPr lang="en-US" sz="800" b="1" dirty="0">
                <a:solidFill>
                  <a:srgbClr val="A78BFA"/>
                </a:solidFill>
                <a:latin typeface="Segoe UI Symbol" pitchFamily="34" charset="0"/>
                <a:ea typeface="Segoe UI Symbol" pitchFamily="34" charset="-122"/>
                <a:cs typeface="Segoe UI Symbol" pitchFamily="34" charset="-120"/>
              </a:rPr>
              <a:t>→</a:t>
            </a:r>
            <a:endParaRPr lang="en-US" sz="800" dirty="0"/>
          </a:p>
        </p:txBody>
      </p:sp>
      <p:sp>
        <p:nvSpPr>
          <p:cNvPr id="35" name="Text 32"/>
          <p:cNvSpPr/>
          <p:nvPr/>
        </p:nvSpPr>
        <p:spPr>
          <a:xfrm>
            <a:off x="2803475" y="3916244"/>
            <a:ext cx="947663" cy="208026"/>
          </a:xfrm>
          <a:prstGeom prst="roundRect">
            <a:avLst>
              <a:gd name="adj" fmla="val 27473"/>
            </a:avLst>
          </a:prstGeom>
          <a:solidFill>
            <a:srgbClr val="FFFFFF">
              <a:alpha val="8000"/>
            </a:srgbClr>
          </a:solidFill>
          <a:ln w="7144">
            <a:solidFill>
              <a:srgbClr val="A78BFA"/>
            </a:solidFill>
            <a:prstDash val="solid"/>
          </a:ln>
        </p:spPr>
        <p:txBody>
          <a:bodyPr wrap="square" rtlCol="0" anchor="ctr"/>
          <a:lstStyle/>
          <a:p>
            <a:pPr indent="0" marL="0">
              <a:buNone/>
            </a:pPr>
            <a:endParaRPr lang="en-US" dirty="0"/>
          </a:p>
        </p:txBody>
      </p:sp>
      <p:sp>
        <p:nvSpPr>
          <p:cNvPr id="36" name="Text 33"/>
          <p:cNvSpPr/>
          <p:nvPr/>
        </p:nvSpPr>
        <p:spPr>
          <a:xfrm>
            <a:off x="2803475" y="3927388"/>
            <a:ext cx="947663" cy="185738"/>
          </a:xfrm>
          <a:prstGeom prst="rect">
            <a:avLst/>
          </a:prstGeom>
          <a:noFill/>
          <a:ln/>
        </p:spPr>
        <p:txBody>
          <a:bodyPr wrap="none" lIns="0" tIns="0" rIns="0" bIns="0" rtlCol="0" anchor="ctr"/>
          <a:lstStyle/>
          <a:p>
            <a:pPr algn="ctr" indent="0" marL="0">
              <a:buNone/>
            </a:pPr>
            <a:r>
              <a:rPr lang="en-US" sz="800" dirty="0">
                <a:solidFill>
                  <a:srgbClr val="FFFFFF"/>
                </a:solidFill>
                <a:latin typeface="Carlito" pitchFamily="34" charset="0"/>
                <a:ea typeface="Carlito" pitchFamily="34" charset="-122"/>
                <a:cs typeface="Carlito" pitchFamily="34" charset="-120"/>
              </a:rPr>
              <a:t>More capacity to serve</a:t>
            </a:r>
            <a:endParaRPr lang="en-US" sz="800" dirty="0"/>
          </a:p>
        </p:txBody>
      </p:sp>
      <p:sp>
        <p:nvSpPr>
          <p:cNvPr id="37" name="Text 34"/>
          <p:cNvSpPr/>
          <p:nvPr/>
        </p:nvSpPr>
        <p:spPr>
          <a:xfrm>
            <a:off x="3808288" y="3963107"/>
            <a:ext cx="91440" cy="114300"/>
          </a:xfrm>
          <a:prstGeom prst="rect">
            <a:avLst/>
          </a:prstGeom>
          <a:noFill/>
          <a:ln/>
        </p:spPr>
        <p:txBody>
          <a:bodyPr wrap="none" lIns="0" tIns="0" rIns="0" bIns="0" rtlCol="0" anchor="ctr"/>
          <a:lstStyle/>
          <a:p>
            <a:pPr algn="ctr" indent="0" marL="0">
              <a:buNone/>
            </a:pPr>
            <a:r>
              <a:rPr lang="en-US" sz="800" b="1" dirty="0">
                <a:solidFill>
                  <a:srgbClr val="A78BFA"/>
                </a:solidFill>
                <a:latin typeface="Segoe UI Symbol" pitchFamily="34" charset="0"/>
                <a:ea typeface="Segoe UI Symbol" pitchFamily="34" charset="-122"/>
                <a:cs typeface="Segoe UI Symbol" pitchFamily="34" charset="-120"/>
              </a:rPr>
              <a:t>→</a:t>
            </a:r>
            <a:endParaRPr lang="en-US" sz="800" dirty="0"/>
          </a:p>
        </p:txBody>
      </p:sp>
      <p:sp>
        <p:nvSpPr>
          <p:cNvPr id="38" name="Text 35"/>
          <p:cNvSpPr/>
          <p:nvPr/>
        </p:nvSpPr>
        <p:spPr>
          <a:xfrm>
            <a:off x="3952838" y="3930960"/>
            <a:ext cx="1163427" cy="178594"/>
          </a:xfrm>
          <a:prstGeom prst="roundRect">
            <a:avLst>
              <a:gd name="adj" fmla="val 32000"/>
            </a:avLst>
          </a:prstGeom>
          <a:solidFill>
            <a:srgbClr val="FFFFFF">
              <a:alpha val="8000"/>
            </a:srgbClr>
          </a:solidFill>
          <a:ln w="7144">
            <a:solidFill>
              <a:srgbClr val="A78BFA"/>
            </a:solidFill>
            <a:prstDash val="solid"/>
          </a:ln>
        </p:spPr>
        <p:txBody>
          <a:bodyPr wrap="square" rtlCol="0" anchor="ctr"/>
          <a:lstStyle/>
          <a:p>
            <a:pPr indent="0" marL="0">
              <a:buNone/>
            </a:pPr>
            <a:endParaRPr lang="en-US" dirty="0"/>
          </a:p>
        </p:txBody>
      </p:sp>
      <p:sp>
        <p:nvSpPr>
          <p:cNvPr id="39" name="Text 36"/>
          <p:cNvSpPr/>
          <p:nvPr/>
        </p:nvSpPr>
        <p:spPr>
          <a:xfrm>
            <a:off x="3949266" y="3927388"/>
            <a:ext cx="1199145" cy="259357"/>
          </a:xfrm>
          <a:prstGeom prst="rect">
            <a:avLst/>
          </a:prstGeom>
          <a:noFill/>
          <a:ln/>
        </p:spPr>
        <p:txBody>
          <a:bodyPr wrap="none" lIns="71438" tIns="42863" rIns="71438" bIns="42863" rtlCol="0" anchor="t"/>
          <a:lstStyle/>
          <a:p>
            <a:pPr algn="l" indent="0" marL="0">
              <a:buNone/>
            </a:pPr>
            <a:r>
              <a:rPr lang="en-US" sz="619" dirty="0">
                <a:solidFill>
                  <a:srgbClr val="FFFFFF"/>
                </a:solidFill>
                <a:latin typeface="Carlito" pitchFamily="34" charset="0"/>
                <a:ea typeface="Carlito" pitchFamily="34" charset="-122"/>
                <a:cs typeface="Carlito" pitchFamily="34" charset="-120"/>
              </a:rPr>
              <a:t>More conversations captured</a:t>
            </a:r>
            <a:endParaRPr lang="en-US" sz="619" dirty="0"/>
          </a:p>
        </p:txBody>
      </p:sp>
      <p:sp>
        <p:nvSpPr>
          <p:cNvPr id="40" name="Text 37"/>
          <p:cNvSpPr/>
          <p:nvPr/>
        </p:nvSpPr>
        <p:spPr>
          <a:xfrm>
            <a:off x="5176986" y="3963107"/>
            <a:ext cx="91440" cy="114300"/>
          </a:xfrm>
          <a:prstGeom prst="rect">
            <a:avLst/>
          </a:prstGeom>
          <a:noFill/>
          <a:ln/>
        </p:spPr>
        <p:txBody>
          <a:bodyPr wrap="none" lIns="0" tIns="0" rIns="0" bIns="0" rtlCol="0" anchor="ctr"/>
          <a:lstStyle/>
          <a:p>
            <a:pPr algn="ctr" indent="0" marL="0">
              <a:buNone/>
            </a:pPr>
            <a:r>
              <a:rPr lang="en-US" sz="800" b="1" dirty="0">
                <a:solidFill>
                  <a:srgbClr val="A78BFA"/>
                </a:solidFill>
                <a:latin typeface="Segoe UI Symbol" pitchFamily="34" charset="0"/>
                <a:ea typeface="Segoe UI Symbol" pitchFamily="34" charset="-122"/>
                <a:cs typeface="Segoe UI Symbol" pitchFamily="34" charset="-120"/>
              </a:rPr>
              <a:t>→</a:t>
            </a:r>
            <a:endParaRPr lang="en-US" sz="800" dirty="0"/>
          </a:p>
        </p:txBody>
      </p:sp>
      <p:sp>
        <p:nvSpPr>
          <p:cNvPr id="41" name="Text 38"/>
          <p:cNvSpPr/>
          <p:nvPr/>
        </p:nvSpPr>
        <p:spPr>
          <a:xfrm>
            <a:off x="5317964" y="3916244"/>
            <a:ext cx="960946" cy="208026"/>
          </a:xfrm>
          <a:prstGeom prst="roundRect">
            <a:avLst>
              <a:gd name="adj" fmla="val 27473"/>
            </a:avLst>
          </a:prstGeom>
          <a:solidFill>
            <a:srgbClr val="FFFFFF">
              <a:alpha val="8000"/>
            </a:srgbClr>
          </a:solidFill>
          <a:ln w="7144">
            <a:solidFill>
              <a:srgbClr val="A78BFA"/>
            </a:solidFill>
            <a:prstDash val="solid"/>
          </a:ln>
        </p:spPr>
        <p:txBody>
          <a:bodyPr wrap="square" rtlCol="0" anchor="ctr"/>
          <a:lstStyle/>
          <a:p>
            <a:pPr indent="0" marL="0">
              <a:buNone/>
            </a:pPr>
            <a:endParaRPr lang="en-US" dirty="0"/>
          </a:p>
        </p:txBody>
      </p:sp>
      <p:sp>
        <p:nvSpPr>
          <p:cNvPr id="42" name="Text 39"/>
          <p:cNvSpPr/>
          <p:nvPr/>
        </p:nvSpPr>
        <p:spPr>
          <a:xfrm>
            <a:off x="5317964" y="3927388"/>
            <a:ext cx="960946" cy="185738"/>
          </a:xfrm>
          <a:prstGeom prst="rect">
            <a:avLst/>
          </a:prstGeom>
          <a:noFill/>
          <a:ln/>
        </p:spPr>
        <p:txBody>
          <a:bodyPr wrap="none" lIns="0" tIns="0" rIns="0" bIns="0" rtlCol="0" anchor="ctr"/>
          <a:lstStyle/>
          <a:p>
            <a:pPr algn="ctr" indent="0" marL="0">
              <a:buNone/>
            </a:pPr>
            <a:r>
              <a:rPr lang="en-US" sz="800" dirty="0">
                <a:solidFill>
                  <a:srgbClr val="FFFFFF"/>
                </a:solidFill>
                <a:latin typeface="Carlito" pitchFamily="34" charset="0"/>
                <a:ea typeface="Carlito" pitchFamily="34" charset="-122"/>
                <a:cs typeface="Carlito" pitchFamily="34" charset="-120"/>
              </a:rPr>
              <a:t>More insight generated</a:t>
            </a:r>
            <a:endParaRPr lang="en-US" sz="800" dirty="0"/>
          </a:p>
        </p:txBody>
      </p:sp>
      <p:sp>
        <p:nvSpPr>
          <p:cNvPr id="43" name="Text 40"/>
          <p:cNvSpPr/>
          <p:nvPr/>
        </p:nvSpPr>
        <p:spPr>
          <a:xfrm>
            <a:off x="6336060" y="3963107"/>
            <a:ext cx="91440" cy="114300"/>
          </a:xfrm>
          <a:prstGeom prst="rect">
            <a:avLst/>
          </a:prstGeom>
          <a:noFill/>
          <a:ln/>
        </p:spPr>
        <p:txBody>
          <a:bodyPr wrap="none" lIns="0" tIns="0" rIns="0" bIns="0" rtlCol="0" anchor="ctr"/>
          <a:lstStyle/>
          <a:p>
            <a:pPr algn="ctr" indent="0" marL="0">
              <a:buNone/>
            </a:pPr>
            <a:r>
              <a:rPr lang="en-US" sz="800" b="1" dirty="0">
                <a:solidFill>
                  <a:srgbClr val="A78BFA"/>
                </a:solidFill>
                <a:latin typeface="Segoe UI Symbol" pitchFamily="34" charset="0"/>
                <a:ea typeface="Segoe UI Symbol" pitchFamily="34" charset="-122"/>
                <a:cs typeface="Segoe UI Symbol" pitchFamily="34" charset="-120"/>
              </a:rPr>
              <a:t>→</a:t>
            </a:r>
            <a:endParaRPr lang="en-US" sz="800" dirty="0"/>
          </a:p>
        </p:txBody>
      </p:sp>
      <p:sp>
        <p:nvSpPr>
          <p:cNvPr id="44" name="Text 41"/>
          <p:cNvSpPr/>
          <p:nvPr/>
        </p:nvSpPr>
        <p:spPr>
          <a:xfrm>
            <a:off x="6477037" y="3916244"/>
            <a:ext cx="1048345" cy="208026"/>
          </a:xfrm>
          <a:prstGeom prst="roundRect">
            <a:avLst>
              <a:gd name="adj" fmla="val 27473"/>
            </a:avLst>
          </a:prstGeom>
          <a:solidFill>
            <a:srgbClr val="FFFFFF">
              <a:alpha val="8000"/>
            </a:srgbClr>
          </a:solidFill>
          <a:ln w="7144">
            <a:solidFill>
              <a:srgbClr val="A78BFA"/>
            </a:solidFill>
            <a:prstDash val="solid"/>
          </a:ln>
        </p:spPr>
        <p:txBody>
          <a:bodyPr wrap="square" rtlCol="0" anchor="ctr"/>
          <a:lstStyle/>
          <a:p>
            <a:pPr indent="0" marL="0">
              <a:buNone/>
            </a:pPr>
            <a:endParaRPr lang="en-US" dirty="0"/>
          </a:p>
        </p:txBody>
      </p:sp>
      <p:sp>
        <p:nvSpPr>
          <p:cNvPr id="45" name="Text 42"/>
          <p:cNvSpPr/>
          <p:nvPr/>
        </p:nvSpPr>
        <p:spPr>
          <a:xfrm>
            <a:off x="6477037" y="3927388"/>
            <a:ext cx="1048345" cy="185738"/>
          </a:xfrm>
          <a:prstGeom prst="rect">
            <a:avLst/>
          </a:prstGeom>
          <a:noFill/>
          <a:ln/>
        </p:spPr>
        <p:txBody>
          <a:bodyPr wrap="none" lIns="0" tIns="0" rIns="0" bIns="0" rtlCol="0" anchor="ctr"/>
          <a:lstStyle/>
          <a:p>
            <a:pPr algn="ctr" indent="0" marL="0">
              <a:buNone/>
            </a:pPr>
            <a:r>
              <a:rPr lang="en-US" sz="800" dirty="0">
                <a:solidFill>
                  <a:srgbClr val="FFFFFF"/>
                </a:solidFill>
                <a:latin typeface="Carlito" pitchFamily="34" charset="0"/>
                <a:ea typeface="Carlito" pitchFamily="34" charset="-122"/>
                <a:cs typeface="Carlito" pitchFamily="34" charset="-120"/>
              </a:rPr>
              <a:t>Better agent performance</a:t>
            </a:r>
            <a:endParaRPr lang="en-US" sz="800" dirty="0"/>
          </a:p>
        </p:txBody>
      </p:sp>
      <p:sp>
        <p:nvSpPr>
          <p:cNvPr id="46" name="Text 43"/>
          <p:cNvSpPr/>
          <p:nvPr/>
        </p:nvSpPr>
        <p:spPr>
          <a:xfrm>
            <a:off x="7582533" y="3963107"/>
            <a:ext cx="91440" cy="114300"/>
          </a:xfrm>
          <a:prstGeom prst="rect">
            <a:avLst/>
          </a:prstGeom>
          <a:noFill/>
          <a:ln/>
        </p:spPr>
        <p:txBody>
          <a:bodyPr wrap="none" lIns="0" tIns="0" rIns="0" bIns="0" rtlCol="0" anchor="ctr"/>
          <a:lstStyle/>
          <a:p>
            <a:pPr algn="ctr" indent="0" marL="0">
              <a:buNone/>
            </a:pPr>
            <a:r>
              <a:rPr lang="en-US" sz="800" b="1" dirty="0">
                <a:solidFill>
                  <a:srgbClr val="A78BFA"/>
                </a:solidFill>
                <a:latin typeface="Segoe UI Symbol" pitchFamily="34" charset="0"/>
                <a:ea typeface="Segoe UI Symbol" pitchFamily="34" charset="-122"/>
                <a:cs typeface="Segoe UI Symbol" pitchFamily="34" charset="-120"/>
              </a:rPr>
              <a:t>→</a:t>
            </a:r>
            <a:endParaRPr lang="en-US" sz="800" dirty="0"/>
          </a:p>
        </p:txBody>
      </p:sp>
      <p:sp>
        <p:nvSpPr>
          <p:cNvPr id="47" name="Text 44"/>
          <p:cNvSpPr/>
          <p:nvPr/>
        </p:nvSpPr>
        <p:spPr>
          <a:xfrm>
            <a:off x="7723510" y="3916244"/>
            <a:ext cx="614251" cy="208026"/>
          </a:xfrm>
          <a:prstGeom prst="roundRect">
            <a:avLst>
              <a:gd name="adj" fmla="val 27473"/>
            </a:avLst>
          </a:prstGeom>
          <a:solidFill>
            <a:srgbClr val="FFFFFF">
              <a:alpha val="8000"/>
            </a:srgbClr>
          </a:solidFill>
          <a:ln w="7144">
            <a:solidFill>
              <a:srgbClr val="A78BFA"/>
            </a:solidFill>
            <a:prstDash val="solid"/>
          </a:ln>
        </p:spPr>
        <p:txBody>
          <a:bodyPr wrap="square" rtlCol="0" anchor="ctr"/>
          <a:lstStyle/>
          <a:p>
            <a:pPr indent="0" marL="0">
              <a:buNone/>
            </a:pPr>
            <a:endParaRPr lang="en-US" dirty="0"/>
          </a:p>
        </p:txBody>
      </p:sp>
      <p:sp>
        <p:nvSpPr>
          <p:cNvPr id="48" name="Text 45"/>
          <p:cNvSpPr/>
          <p:nvPr/>
        </p:nvSpPr>
        <p:spPr>
          <a:xfrm>
            <a:off x="7654390" y="3927388"/>
            <a:ext cx="752490" cy="185738"/>
          </a:xfrm>
          <a:prstGeom prst="rect">
            <a:avLst/>
          </a:prstGeom>
          <a:noFill/>
          <a:ln/>
        </p:spPr>
        <p:txBody>
          <a:bodyPr wrap="none" lIns="0" tIns="0" rIns="0" bIns="0" rtlCol="0" anchor="ctr"/>
          <a:lstStyle/>
          <a:p>
            <a:pPr algn="ctr" indent="0" marL="0">
              <a:buNone/>
            </a:pPr>
            <a:r>
              <a:rPr lang="en-US" sz="800" dirty="0">
                <a:solidFill>
                  <a:srgbClr val="FFFFFF"/>
                </a:solidFill>
                <a:latin typeface="Carlito" pitchFamily="34" charset="0"/>
                <a:ea typeface="Carlito" pitchFamily="34" charset="-122"/>
                <a:cs typeface="Carlito" pitchFamily="34" charset="-120"/>
              </a:rPr>
              <a:t>Higher CSAT</a:t>
            </a:r>
            <a:endParaRPr lang="en-US" sz="800" dirty="0"/>
          </a:p>
        </p:txBody>
      </p:sp>
      <p:sp>
        <p:nvSpPr>
          <p:cNvPr id="49" name="Text 46"/>
          <p:cNvSpPr/>
          <p:nvPr/>
        </p:nvSpPr>
        <p:spPr>
          <a:xfrm>
            <a:off x="8394911" y="3963107"/>
            <a:ext cx="91440" cy="114300"/>
          </a:xfrm>
          <a:prstGeom prst="rect">
            <a:avLst/>
          </a:prstGeom>
          <a:noFill/>
          <a:ln/>
        </p:spPr>
        <p:txBody>
          <a:bodyPr wrap="none" lIns="0" tIns="0" rIns="0" bIns="0" rtlCol="0" anchor="ctr"/>
          <a:lstStyle/>
          <a:p>
            <a:pPr algn="ctr" indent="0" marL="0">
              <a:buNone/>
            </a:pPr>
            <a:r>
              <a:rPr lang="en-US" sz="800" b="1" dirty="0">
                <a:solidFill>
                  <a:srgbClr val="A78BFA"/>
                </a:solidFill>
                <a:latin typeface="Segoe UI Symbol" pitchFamily="34" charset="0"/>
                <a:ea typeface="Segoe UI Symbol" pitchFamily="34" charset="-122"/>
                <a:cs typeface="Segoe UI Symbol" pitchFamily="34" charset="-120"/>
              </a:rPr>
              <a:t>→</a:t>
            </a:r>
            <a:endParaRPr lang="en-US" sz="800" dirty="0"/>
          </a:p>
        </p:txBody>
      </p:sp>
      <p:sp>
        <p:nvSpPr>
          <p:cNvPr id="50" name="Text 47"/>
          <p:cNvSpPr/>
          <p:nvPr/>
        </p:nvSpPr>
        <p:spPr>
          <a:xfrm>
            <a:off x="2028825" y="4170276"/>
            <a:ext cx="1494383" cy="171450"/>
          </a:xfrm>
          <a:prstGeom prst="roundRect">
            <a:avLst>
              <a:gd name="adj" fmla="val 33333"/>
            </a:avLst>
          </a:prstGeom>
          <a:solidFill>
            <a:srgbClr val="7C3AED"/>
          </a:solidFill>
          <a:ln/>
        </p:spPr>
        <p:txBody>
          <a:bodyPr wrap="square" rtlCol="0" anchor="ctr"/>
          <a:lstStyle/>
          <a:p>
            <a:pPr indent="0" marL="0">
              <a:buNone/>
            </a:pPr>
            <a:endParaRPr lang="en-US" dirty="0"/>
          </a:p>
        </p:txBody>
      </p:sp>
      <p:sp>
        <p:nvSpPr>
          <p:cNvPr id="51" name="Text 48"/>
          <p:cNvSpPr/>
          <p:nvPr/>
        </p:nvSpPr>
        <p:spPr>
          <a:xfrm>
            <a:off x="2028825" y="4170276"/>
            <a:ext cx="1494383" cy="239407"/>
          </a:xfrm>
          <a:prstGeom prst="rect">
            <a:avLst/>
          </a:prstGeom>
          <a:noFill/>
          <a:ln/>
        </p:spPr>
        <p:txBody>
          <a:bodyPr wrap="none" lIns="85725" tIns="42863" rIns="85725" bIns="42863" rtlCol="0" anchor="t"/>
          <a:lstStyle/>
          <a:p>
            <a:pPr algn="l" indent="0" marL="0">
              <a:buNone/>
            </a:pPr>
            <a:r>
              <a:rPr lang="en-US" sz="619" b="1" dirty="0">
                <a:solidFill>
                  <a:srgbClr val="FFFFFF"/>
                </a:solidFill>
                <a:latin typeface="Carlito" pitchFamily="34" charset="0"/>
                <a:ea typeface="Carlito" pitchFamily="34" charset="-122"/>
                <a:cs typeface="Carlito" pitchFamily="34" charset="-120"/>
              </a:rPr>
              <a:t>More revenue → Fund more growth</a:t>
            </a:r>
            <a:endParaRPr lang="en-US" sz="619" dirty="0"/>
          </a:p>
        </p:txBody>
      </p:sp>
      <p:sp>
        <p:nvSpPr>
          <p:cNvPr id="52" name="Text 49"/>
          <p:cNvSpPr/>
          <p:nvPr/>
        </p:nvSpPr>
        <p:spPr>
          <a:xfrm>
            <a:off x="342900" y="4879181"/>
            <a:ext cx="8145438" cy="129679"/>
          </a:xfrm>
          <a:prstGeom prst="rect">
            <a:avLst/>
          </a:prstGeom>
          <a:noFill/>
          <a:ln/>
        </p:spPr>
        <p:txBody>
          <a:bodyPr wrap="square" lIns="0" tIns="0" rIns="0" bIns="0" rtlCol="0" anchor="t"/>
          <a:lstStyle/>
          <a:p>
            <a:pPr algn="l" indent="0" marL="0">
              <a:buNone/>
            </a:pPr>
            <a:r>
              <a:rPr lang="en-US" sz="800" spc="25" kern="0" dirty="0">
                <a:solidFill>
                  <a:srgbClr val="6B7280"/>
                </a:solidFill>
                <a:latin typeface="Carlito" pitchFamily="34" charset="0"/>
                <a:ea typeface="Carlito" pitchFamily="34" charset="-122"/>
                <a:cs typeface="Carlito" pitchFamily="34" charset="-120"/>
              </a:rPr>
              <a:t>MASSAPRO — THE GROWTH MACHINE FOR CUSTOMER SERVICE</a:t>
            </a:r>
            <a:endParaRPr lang="en-US" sz="800" dirty="0"/>
          </a:p>
        </p:txBody>
      </p:sp>
      <p:sp>
        <p:nvSpPr>
          <p:cNvPr id="53" name="Text 50"/>
          <p:cNvSpPr/>
          <p:nvPr/>
        </p:nvSpPr>
        <p:spPr>
          <a:xfrm>
            <a:off x="8483221" y="4879181"/>
            <a:ext cx="453969" cy="129679"/>
          </a:xfrm>
          <a:prstGeom prst="rect">
            <a:avLst/>
          </a:prstGeom>
          <a:noFill/>
          <a:ln/>
        </p:spPr>
        <p:txBody>
          <a:bodyPr wrap="square" lIns="0" tIns="0" rIns="0" bIns="0" rtlCol="0" anchor="t"/>
          <a:lstStyle/>
          <a:p>
            <a:pPr algn="l" indent="0" marL="0">
              <a:buNone/>
            </a:pPr>
            <a:r>
              <a:rPr lang="en-US" sz="800" spc="25" kern="0" dirty="0">
                <a:solidFill>
                  <a:srgbClr val="6B7280"/>
                </a:solidFill>
                <a:latin typeface="Liberation Sans Narrow" pitchFamily="34" charset="0"/>
                <a:ea typeface="Liberation Sans Narrow" pitchFamily="34" charset="-122"/>
                <a:cs typeface="Liberation Sans Narrow" pitchFamily="34" charset="-120"/>
              </a:rPr>
              <a:t>09 / 10</a:t>
            </a:r>
            <a:endParaRPr lang="en-US" sz="800" dirty="0"/>
          </a:p>
        </p:txBody>
      </p:sp>
      <p:sp>
        <p:nvSpPr>
          <p:cNvPr id="54" name="Text 51"/>
          <p:cNvSpPr/>
          <p:nvPr/>
        </p:nvSpPr>
        <p:spPr>
          <a:xfrm>
            <a:off x="342900" y="200025"/>
            <a:ext cx="228600" cy="228600"/>
          </a:xfrm>
          <a:prstGeom prst="roundRect">
            <a:avLst>
              <a:gd name="adj" fmla="val 33333"/>
            </a:avLst>
          </a:prstGeom>
          <a:solidFill>
            <a:srgbClr val="7C3AED"/>
          </a:solidFill>
          <a:ln/>
        </p:spPr>
        <p:txBody>
          <a:bodyPr wrap="square" rtlCol="0" anchor="ctr"/>
          <a:lstStyle/>
          <a:p>
            <a:pPr indent="0" marL="0">
              <a:buNone/>
            </a:pPr>
            <a:endParaRPr lang="en-US" dirty="0"/>
          </a:p>
        </p:txBody>
      </p:sp>
      <p:sp>
        <p:nvSpPr>
          <p:cNvPr id="55" name="Text 52"/>
          <p:cNvSpPr/>
          <p:nvPr/>
        </p:nvSpPr>
        <p:spPr>
          <a:xfrm>
            <a:off x="342900" y="200025"/>
            <a:ext cx="264319" cy="228600"/>
          </a:xfrm>
          <a:prstGeom prst="rect">
            <a:avLst/>
          </a:prstGeom>
          <a:noFill/>
          <a:ln/>
        </p:spPr>
        <p:txBody>
          <a:bodyPr wrap="none" lIns="0" tIns="0" rIns="0" bIns="0" rtlCol="0" anchor="ctr"/>
          <a:lstStyle/>
          <a:p>
            <a:pPr algn="ctr" indent="0" marL="0">
              <a:buNone/>
            </a:pPr>
            <a:r>
              <a:rPr lang="en-US" sz="1013" b="1" dirty="0">
                <a:solidFill>
                  <a:srgbClr val="FFFFFF"/>
                </a:solidFill>
                <a:latin typeface="Carlito" pitchFamily="34" charset="0"/>
                <a:ea typeface="Carlito" pitchFamily="34" charset="-122"/>
                <a:cs typeface="Carlito" pitchFamily="34" charset="-120"/>
              </a:rPr>
              <a:t>M</a:t>
            </a:r>
            <a:endParaRPr lang="en-US" sz="1013" dirty="0"/>
          </a:p>
        </p:txBody>
      </p:sp>
      <p:sp>
        <p:nvSpPr>
          <p:cNvPr id="56" name="Text 53"/>
          <p:cNvSpPr/>
          <p:nvPr/>
        </p:nvSpPr>
        <p:spPr>
          <a:xfrm>
            <a:off x="642938" y="246459"/>
            <a:ext cx="820531" cy="146590"/>
          </a:xfrm>
          <a:prstGeom prst="rect">
            <a:avLst/>
          </a:prstGeom>
          <a:noFill/>
          <a:ln/>
        </p:spPr>
        <p:txBody>
          <a:bodyPr wrap="none" lIns="0" tIns="0" rIns="0" bIns="0" rtlCol="0" anchor="t"/>
          <a:lstStyle/>
          <a:p>
            <a:pPr algn="l" indent="0" marL="0">
              <a:buNone/>
            </a:pPr>
            <a:r>
              <a:rPr lang="en-US" sz="900" b="1" spc="18" kern="0" dirty="0">
                <a:solidFill>
                  <a:srgbClr val="6D28D9"/>
                </a:solidFill>
                <a:latin typeface="Carlito" pitchFamily="34" charset="0"/>
                <a:ea typeface="Carlito" pitchFamily="34" charset="-122"/>
                <a:cs typeface="Carlito" pitchFamily="34" charset="-120"/>
              </a:rPr>
              <a:t>MassaPro</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pic>
        <p:nvPicPr>
          <p:cNvPr id="4" name="Image 2" descr="preencoded.png">    </p:cNvPr>
          <p:cNvPicPr>
            <a:picLocks noChangeAspect="1"/>
          </p:cNvPicPr>
          <p:nvPr/>
        </p:nvPicPr>
        <p:blipFill>
          <a:blip r:embed="rId3"/>
          <a:stretch>
            <a:fillRect/>
          </a:stretch>
        </p:blipFill>
        <p:spPr>
          <a:xfrm>
            <a:off x="5572125" y="-1428750"/>
            <a:ext cx="5000625" cy="5000625"/>
          </a:xfrm>
          <a:prstGeom prst="rect">
            <a:avLst/>
          </a:prstGeom>
        </p:spPr>
      </p:pic>
      <p:sp>
        <p:nvSpPr>
          <p:cNvPr id="5" name="Text 0"/>
          <p:cNvSpPr/>
          <p:nvPr/>
        </p:nvSpPr>
        <p:spPr>
          <a:xfrm>
            <a:off x="5572125" y="-1428750"/>
            <a:ext cx="5000625" cy="5000625"/>
          </a:xfrm>
          <a:prstGeom prst="ellipse">
            <a:avLst/>
          </a:prstGeom>
          <a:solidFill>
            <a:srgbClr val="7C3AED">
              <a:alpha val="0"/>
            </a:srgbClr>
          </a:solidFill>
          <a:ln/>
        </p:spPr>
        <p:txBody>
          <a:bodyPr wrap="square" rtlCol="0" anchor="ctr"/>
          <a:lstStyle/>
          <a:p>
            <a:pPr indent="0" marL="0">
              <a:buNone/>
            </a:pPr>
            <a:endParaRPr lang="en-US" dirty="0"/>
          </a:p>
        </p:txBody>
      </p:sp>
      <p:pic>
        <p:nvPicPr>
          <p:cNvPr id="6" name="Image 3" descr="preencoded.png">    </p:cNvPr>
          <p:cNvPicPr>
            <a:picLocks noChangeAspect="1"/>
          </p:cNvPicPr>
          <p:nvPr/>
        </p:nvPicPr>
        <p:blipFill>
          <a:blip r:embed="rId4"/>
          <a:stretch>
            <a:fillRect/>
          </a:stretch>
        </p:blipFill>
        <p:spPr>
          <a:xfrm>
            <a:off x="-1071562" y="2643188"/>
            <a:ext cx="3571875" cy="3571875"/>
          </a:xfrm>
          <a:prstGeom prst="rect">
            <a:avLst/>
          </a:prstGeom>
        </p:spPr>
      </p:pic>
      <p:sp>
        <p:nvSpPr>
          <p:cNvPr id="7" name="Text 1"/>
          <p:cNvSpPr/>
          <p:nvPr/>
        </p:nvSpPr>
        <p:spPr>
          <a:xfrm>
            <a:off x="-1071562" y="2643188"/>
            <a:ext cx="3571875" cy="3571875"/>
          </a:xfrm>
          <a:prstGeom prst="ellipse">
            <a:avLst/>
          </a:prstGeom>
          <a:solidFill>
            <a:srgbClr val="A78BFA">
              <a:alpha val="0"/>
            </a:srgbClr>
          </a:solidFill>
          <a:ln/>
        </p:spPr>
        <p:txBody>
          <a:bodyPr wrap="square" rtlCol="0" anchor="ctr"/>
          <a:lstStyle/>
          <a:p>
            <a:pPr indent="0" marL="0">
              <a:buNone/>
            </a:pPr>
            <a:endParaRPr lang="en-US" dirty="0"/>
          </a:p>
        </p:txBody>
      </p:sp>
      <p:pic>
        <p:nvPicPr>
          <p:cNvPr id="8" name="Image 4" descr="preencoded.png">    </p:cNvPr>
          <p:cNvPicPr>
            <a:picLocks noChangeAspect="1"/>
          </p:cNvPicPr>
          <p:nvPr/>
        </p:nvPicPr>
        <p:blipFill>
          <a:blip r:embed="rId5"/>
          <a:stretch>
            <a:fillRect/>
          </a:stretch>
        </p:blipFill>
        <p:spPr>
          <a:xfrm>
            <a:off x="0" y="0"/>
            <a:ext cx="9144000" cy="5143500"/>
          </a:xfrm>
          <a:prstGeom prst="rect">
            <a:avLst/>
          </a:prstGeom>
        </p:spPr>
      </p:pic>
      <p:sp>
        <p:nvSpPr>
          <p:cNvPr id="9" name="Text 2"/>
          <p:cNvSpPr/>
          <p:nvPr/>
        </p:nvSpPr>
        <p:spPr>
          <a:xfrm>
            <a:off x="571500" y="500063"/>
            <a:ext cx="314325" cy="314325"/>
          </a:xfrm>
          <a:prstGeom prst="roundRect">
            <a:avLst>
              <a:gd name="adj" fmla="val 30303"/>
            </a:avLst>
          </a:prstGeom>
          <a:solidFill>
            <a:srgbClr val="7C3AED"/>
          </a:solidFill>
          <a:ln/>
        </p:spPr>
        <p:txBody>
          <a:bodyPr wrap="square" rtlCol="0" anchor="ctr"/>
          <a:lstStyle/>
          <a:p>
            <a:pPr indent="0" marL="0">
              <a:buNone/>
            </a:pPr>
            <a:endParaRPr lang="en-US" dirty="0"/>
          </a:p>
        </p:txBody>
      </p:sp>
      <p:sp>
        <p:nvSpPr>
          <p:cNvPr id="10" name="Text 3"/>
          <p:cNvSpPr/>
          <p:nvPr/>
        </p:nvSpPr>
        <p:spPr>
          <a:xfrm>
            <a:off x="571500" y="500063"/>
            <a:ext cx="364331" cy="314325"/>
          </a:xfrm>
          <a:prstGeom prst="rect">
            <a:avLst/>
          </a:prstGeom>
          <a:noFill/>
          <a:ln/>
        </p:spPr>
        <p:txBody>
          <a:bodyPr wrap="none" lIns="0" tIns="0" rIns="0" bIns="0" rtlCol="0" anchor="ctr"/>
          <a:lstStyle/>
          <a:p>
            <a:pPr algn="ctr" indent="0" marL="0">
              <a:buNone/>
            </a:pPr>
            <a:r>
              <a:rPr lang="en-US" sz="1238" b="1" dirty="0">
                <a:solidFill>
                  <a:srgbClr val="FFFFFF"/>
                </a:solidFill>
                <a:latin typeface="Carlito" pitchFamily="34" charset="0"/>
                <a:ea typeface="Carlito" pitchFamily="34" charset="-122"/>
                <a:cs typeface="Carlito" pitchFamily="34" charset="-120"/>
              </a:rPr>
              <a:t>M</a:t>
            </a:r>
            <a:endParaRPr lang="en-US" sz="1238" dirty="0"/>
          </a:p>
        </p:txBody>
      </p:sp>
      <p:sp>
        <p:nvSpPr>
          <p:cNvPr id="11" name="Text 4"/>
          <p:cNvSpPr/>
          <p:nvPr/>
        </p:nvSpPr>
        <p:spPr>
          <a:xfrm>
            <a:off x="985838" y="582216"/>
            <a:ext cx="7586663" cy="162020"/>
          </a:xfrm>
          <a:prstGeom prst="rect">
            <a:avLst/>
          </a:prstGeom>
          <a:noFill/>
          <a:ln/>
        </p:spPr>
        <p:txBody>
          <a:bodyPr wrap="none" lIns="0" tIns="0" rIns="0" bIns="0" rtlCol="0" anchor="t"/>
          <a:lstStyle/>
          <a:p>
            <a:pPr algn="l" indent="0" marL="0">
              <a:buNone/>
            </a:pPr>
            <a:r>
              <a:rPr lang="en-US" sz="1013" b="1" spc="41" kern="0" dirty="0">
                <a:solidFill>
                  <a:srgbClr val="A78BFA"/>
                </a:solidFill>
                <a:latin typeface="Carlito" pitchFamily="34" charset="0"/>
                <a:ea typeface="Carlito" pitchFamily="34" charset="-122"/>
                <a:cs typeface="Carlito" pitchFamily="34" charset="-120"/>
              </a:rPr>
              <a:t>MassaPro</a:t>
            </a:r>
            <a:endParaRPr lang="en-US" sz="1013" dirty="0"/>
          </a:p>
        </p:txBody>
      </p:sp>
      <p:sp>
        <p:nvSpPr>
          <p:cNvPr id="12" name="Text 5"/>
          <p:cNvSpPr/>
          <p:nvPr/>
        </p:nvSpPr>
        <p:spPr>
          <a:xfrm>
            <a:off x="575072" y="817959"/>
            <a:ext cx="2153171" cy="185738"/>
          </a:xfrm>
          <a:prstGeom prst="roundRect">
            <a:avLst>
              <a:gd name="adj" fmla="val 5123063"/>
            </a:avLst>
          </a:prstGeom>
          <a:solidFill>
            <a:srgbClr val="A78BFA">
              <a:alpha val="10000"/>
            </a:srgbClr>
          </a:solidFill>
          <a:ln w="7144">
            <a:solidFill>
              <a:srgbClr val="A78BFA"/>
            </a:solidFill>
            <a:prstDash val="solid"/>
          </a:ln>
        </p:spPr>
        <p:txBody>
          <a:bodyPr wrap="square" rtlCol="0" anchor="ctr"/>
          <a:lstStyle/>
          <a:p>
            <a:pPr indent="0" marL="0">
              <a:buNone/>
            </a:pPr>
            <a:endParaRPr lang="en-US" dirty="0"/>
          </a:p>
        </p:txBody>
      </p:sp>
      <p:sp>
        <p:nvSpPr>
          <p:cNvPr id="13" name="Text 6"/>
          <p:cNvSpPr/>
          <p:nvPr/>
        </p:nvSpPr>
        <p:spPr>
          <a:xfrm>
            <a:off x="571500" y="814388"/>
            <a:ext cx="2160315" cy="269332"/>
          </a:xfrm>
          <a:prstGeom prst="rect">
            <a:avLst/>
          </a:prstGeom>
          <a:noFill/>
          <a:ln/>
        </p:spPr>
        <p:txBody>
          <a:bodyPr wrap="none" lIns="85725" tIns="42863" rIns="85725" bIns="42863" rtlCol="0" anchor="t"/>
          <a:lstStyle/>
          <a:p>
            <a:pPr algn="l" indent="0" marL="0">
              <a:buNone/>
            </a:pPr>
            <a:r>
              <a:rPr lang="en-US" sz="800" b="1" spc="111" kern="0" dirty="0">
                <a:solidFill>
                  <a:srgbClr val="A78BFA"/>
                </a:solidFill>
                <a:latin typeface="Carlito" pitchFamily="34" charset="0"/>
                <a:ea typeface="Carlito" pitchFamily="34" charset="-122"/>
                <a:cs typeface="Carlito" pitchFamily="34" charset="-120"/>
              </a:rPr>
              <a:t>LET'S REPLACE YOUR CALL CENTER</a:t>
            </a:r>
            <a:endParaRPr lang="en-US" sz="800" dirty="0"/>
          </a:p>
        </p:txBody>
      </p:sp>
      <p:sp>
        <p:nvSpPr>
          <p:cNvPr id="14" name="Text 7"/>
          <p:cNvSpPr/>
          <p:nvPr/>
        </p:nvSpPr>
        <p:spPr>
          <a:xfrm>
            <a:off x="571500" y="1150144"/>
            <a:ext cx="7143750" cy="1392612"/>
          </a:xfrm>
          <a:prstGeom prst="rect">
            <a:avLst/>
          </a:prstGeom>
          <a:noFill/>
          <a:ln/>
        </p:spPr>
        <p:txBody>
          <a:bodyPr wrap="square" lIns="0" tIns="0" rIns="0" bIns="0" rtlCol="0" anchor="t">
            <a:normAutofit/>
          </a:bodyPr>
          <a:lstStyle/>
          <a:p>
            <a:pPr algn="l" indent="0" marL="0">
              <a:lnSpc>
                <a:spcPts val="3465"/>
              </a:lnSpc>
              <a:buNone/>
            </a:pPr>
            <a:r>
              <a:rPr lang="en-US" sz="3150" b="1" spc="-32" kern="0" dirty="0">
                <a:solidFill>
                  <a:srgbClr val="FFFFFF"/>
                </a:solidFill>
                <a:latin typeface="Tinos" pitchFamily="34" charset="0"/>
                <a:ea typeface="Tinos" pitchFamily="34" charset="-122"/>
                <a:cs typeface="Tinos" pitchFamily="34" charset="-120"/>
              </a:rPr>
              <a:t>MassaPro.</a:t>
            </a:r>
            <a:endParaRPr lang="en-US" sz="3150" dirty="0"/>
          </a:p>
          <a:p>
            <a:pPr algn="l" indent="0" marL="0">
              <a:lnSpc>
                <a:spcPts val="3465"/>
              </a:lnSpc>
              <a:buNone/>
            </a:pPr>
            <a:r>
              <a:rPr lang="en-US" sz="3150" b="1" spc="-32" kern="0" dirty="0">
                <a:solidFill>
                  <a:srgbClr val="A78BFA"/>
                </a:solidFill>
                <a:latin typeface="Tinos" pitchFamily="34" charset="0"/>
                <a:ea typeface="Tinos" pitchFamily="34" charset="-122"/>
                <a:cs typeface="Tinos" pitchFamily="34" charset="-120"/>
              </a:rPr>
              <a:t>The Last Customer Service Platform You'll Buy.</a:t>
            </a:r>
            <a:endParaRPr lang="en-US" sz="3150" dirty="0"/>
          </a:p>
        </p:txBody>
      </p:sp>
      <p:sp>
        <p:nvSpPr>
          <p:cNvPr id="15" name="Text 8"/>
          <p:cNvSpPr/>
          <p:nvPr/>
        </p:nvSpPr>
        <p:spPr>
          <a:xfrm>
            <a:off x="571500" y="2570187"/>
            <a:ext cx="6286500" cy="645549"/>
          </a:xfrm>
          <a:prstGeom prst="rect">
            <a:avLst/>
          </a:prstGeom>
          <a:noFill/>
          <a:ln/>
        </p:spPr>
        <p:txBody>
          <a:bodyPr wrap="square" lIns="0" tIns="0" rIns="0" bIns="0" rtlCol="0" anchor="t"/>
          <a:lstStyle/>
          <a:p>
            <a:pPr algn="l" indent="0" marL="0">
              <a:lnSpc>
                <a:spcPts val="1569"/>
              </a:lnSpc>
              <a:buNone/>
            </a:pPr>
            <a:r>
              <a:rPr lang="en-US" sz="1013" dirty="0">
                <a:solidFill>
                  <a:srgbClr val="FFFFFF">
                    <a:alpha val="78000"/>
                  </a:srgbClr>
                </a:solidFill>
                <a:latin typeface="Carlito" pitchFamily="34" charset="0"/>
                <a:ea typeface="Carlito" pitchFamily="34" charset="-122"/>
                <a:cs typeface="Carlito" pitchFamily="34" charset="-120"/>
              </a:rPr>
              <a:t>One proprietary LLM orchestrating every customer journey. One workforce of AI agents across every channel. One platform replacing your dialer, call center, reporting tool, analytics layer, and call intelligence vendor. One bill — pay per agent, not per minute.</a:t>
            </a:r>
            <a:endParaRPr lang="en-US" sz="1013" dirty="0"/>
          </a:p>
        </p:txBody>
      </p:sp>
      <p:sp>
        <p:nvSpPr>
          <p:cNvPr id="16" name="Text 9"/>
          <p:cNvSpPr/>
          <p:nvPr/>
        </p:nvSpPr>
        <p:spPr>
          <a:xfrm>
            <a:off x="575072" y="3371515"/>
            <a:ext cx="3907631" cy="1171575"/>
          </a:xfrm>
          <a:prstGeom prst="roundRect">
            <a:avLst>
              <a:gd name="adj" fmla="val 9756"/>
            </a:avLst>
          </a:prstGeom>
          <a:solidFill>
            <a:srgbClr val="FFFFFF">
              <a:alpha val="4000"/>
            </a:srgbClr>
          </a:solidFill>
          <a:ln w="7144">
            <a:solidFill>
              <a:srgbClr val="A78BFA"/>
            </a:solidFill>
            <a:prstDash val="solid"/>
          </a:ln>
        </p:spPr>
        <p:txBody>
          <a:bodyPr wrap="square" rtlCol="0" anchor="ctr"/>
          <a:lstStyle/>
          <a:p>
            <a:pPr indent="0" marL="0">
              <a:buNone/>
            </a:pPr>
            <a:endParaRPr lang="en-US" dirty="0"/>
          </a:p>
        </p:txBody>
      </p:sp>
      <p:sp>
        <p:nvSpPr>
          <p:cNvPr id="17" name="Text 10"/>
          <p:cNvSpPr/>
          <p:nvPr/>
        </p:nvSpPr>
        <p:spPr>
          <a:xfrm>
            <a:off x="735806" y="3503675"/>
            <a:ext cx="3586163" cy="125403"/>
          </a:xfrm>
          <a:prstGeom prst="rect">
            <a:avLst/>
          </a:prstGeom>
          <a:noFill/>
          <a:ln/>
        </p:spPr>
        <p:txBody>
          <a:bodyPr wrap="none" lIns="0" tIns="0" rIns="0" bIns="0" rtlCol="0" anchor="t"/>
          <a:lstStyle/>
          <a:p>
            <a:pPr algn="l" indent="0" marL="0">
              <a:buNone/>
            </a:pPr>
            <a:r>
              <a:rPr lang="en-US" sz="800" b="1" spc="16" kern="0" dirty="0">
                <a:solidFill>
                  <a:srgbClr val="A78BFA"/>
                </a:solidFill>
                <a:latin typeface="Carlito" pitchFamily="34" charset="0"/>
                <a:ea typeface="Carlito" pitchFamily="34" charset="-122"/>
                <a:cs typeface="Carlito" pitchFamily="34" charset="-120"/>
              </a:rPr>
              <a:t>What you get</a:t>
            </a:r>
            <a:endParaRPr lang="en-US" sz="800" dirty="0"/>
          </a:p>
        </p:txBody>
      </p:sp>
      <p:sp>
        <p:nvSpPr>
          <p:cNvPr id="18" name="Text 11"/>
          <p:cNvSpPr/>
          <p:nvPr/>
        </p:nvSpPr>
        <p:spPr>
          <a:xfrm>
            <a:off x="735806" y="3703700"/>
            <a:ext cx="3586163" cy="799671"/>
          </a:xfrm>
          <a:prstGeom prst="rect">
            <a:avLst/>
          </a:prstGeom>
          <a:noFill/>
          <a:ln/>
        </p:spPr>
        <p:txBody>
          <a:bodyPr wrap="square" lIns="0" tIns="0" rIns="0" bIns="0" rtlCol="0" anchor="t"/>
          <a:lstStyle/>
          <a:p>
            <a:pPr algn="l" indent="0" marL="0">
              <a:lnSpc>
                <a:spcPts val="1097"/>
              </a:lnSpc>
              <a:spcAft>
                <a:spcPts val="394"/>
              </a:spcAft>
              <a:buNone/>
            </a:pPr>
            <a:r>
              <a:rPr lang="en-US" sz="600" dirty="0">
                <a:solidFill>
                  <a:srgbClr val="A78BFA"/>
                </a:solidFill>
                <a:latin typeface="Carlito" pitchFamily="34" charset="0"/>
                <a:ea typeface="Carlito" pitchFamily="34" charset="-122"/>
                <a:cs typeface="Carlito" pitchFamily="34" charset="-120"/>
              </a:rPr>
              <a:t>●  </a:t>
            </a:r>
            <a:pPr algn="l" indent="0" marL="0">
              <a:lnSpc>
                <a:spcPts val="1097"/>
              </a:lnSpc>
              <a:spcAft>
                <a:spcPts val="394"/>
              </a:spcAft>
              <a:buNone/>
            </a:pPr>
            <a:r>
              <a:rPr lang="en-US" sz="800" dirty="0">
                <a:solidFill>
                  <a:srgbClr val="FFFFFF"/>
                </a:solidFill>
                <a:latin typeface="Carlito" pitchFamily="34" charset="0"/>
                <a:ea typeface="Carlito" pitchFamily="34" charset="-122"/>
                <a:cs typeface="Carlito" pitchFamily="34" charset="-120"/>
              </a:rPr>
              <a:t>A </a:t>
            </a:r>
            <a:pPr algn="l" indent="0" marL="0">
              <a:lnSpc>
                <a:spcPts val="1097"/>
              </a:lnSpc>
              <a:spcAft>
                <a:spcPts val="394"/>
              </a:spcAft>
              <a:buNone/>
            </a:pPr>
            <a:r>
              <a:rPr lang="en-US" sz="800" b="1" dirty="0">
                <a:solidFill>
                  <a:srgbClr val="FFFFFF"/>
                </a:solidFill>
                <a:latin typeface="Carlito" pitchFamily="34" charset="0"/>
                <a:ea typeface="Carlito" pitchFamily="34" charset="-122"/>
                <a:cs typeface="Carlito" pitchFamily="34" charset="-120"/>
              </a:rPr>
              <a:t>growth machine</a:t>
            </a:r>
            <a:pPr algn="l" indent="0" marL="0">
              <a:lnSpc>
                <a:spcPts val="1097"/>
              </a:lnSpc>
              <a:spcAft>
                <a:spcPts val="394"/>
              </a:spcAft>
              <a:buNone/>
            </a:pPr>
            <a:r>
              <a:rPr lang="en-US" sz="800" dirty="0">
                <a:solidFill>
                  <a:srgbClr val="FFFFFF"/>
                </a:solidFill>
                <a:latin typeface="Carlito" pitchFamily="34" charset="0"/>
                <a:ea typeface="Carlito" pitchFamily="34" charset="-122"/>
                <a:cs typeface="Carlito" pitchFamily="34" charset="-120"/>
              </a:rPr>
              <a:t>, not a cost center</a:t>
            </a:r>
            <a:endParaRPr lang="en-US" sz="800" dirty="0"/>
          </a:p>
          <a:p>
            <a:pPr algn="l" indent="0" marL="0">
              <a:lnSpc>
                <a:spcPts val="1097"/>
              </a:lnSpc>
              <a:spcAft>
                <a:spcPts val="394"/>
              </a:spcAft>
              <a:buNone/>
            </a:pPr>
            <a:r>
              <a:rPr lang="en-US" sz="600" dirty="0">
                <a:solidFill>
                  <a:srgbClr val="A78BFA"/>
                </a:solidFill>
                <a:latin typeface="Carlito" pitchFamily="34" charset="0"/>
                <a:ea typeface="Carlito" pitchFamily="34" charset="-122"/>
                <a:cs typeface="Carlito" pitchFamily="34" charset="-120"/>
              </a:rPr>
              <a:t>●  </a:t>
            </a:r>
            <a:pPr algn="l" indent="0" marL="0">
              <a:lnSpc>
                <a:spcPts val="1097"/>
              </a:lnSpc>
              <a:spcAft>
                <a:spcPts val="394"/>
              </a:spcAft>
              <a:buNone/>
            </a:pPr>
            <a:r>
              <a:rPr lang="en-US" sz="800" dirty="0">
                <a:solidFill>
                  <a:srgbClr val="FFFFFF"/>
                </a:solidFill>
                <a:latin typeface="Carlito" pitchFamily="34" charset="0"/>
                <a:ea typeface="Carlito" pitchFamily="34" charset="-122"/>
                <a:cs typeface="Carlito" pitchFamily="34" charset="-120"/>
              </a:rPr>
              <a:t>A workforce that scales in minutes, not quarters</a:t>
            </a:r>
            <a:endParaRPr lang="en-US" sz="800" dirty="0"/>
          </a:p>
          <a:p>
            <a:pPr algn="l" indent="0" marL="0">
              <a:lnSpc>
                <a:spcPts val="1097"/>
              </a:lnSpc>
              <a:spcAft>
                <a:spcPts val="394"/>
              </a:spcAft>
              <a:buNone/>
            </a:pPr>
            <a:r>
              <a:rPr lang="en-US" sz="600" dirty="0">
                <a:solidFill>
                  <a:srgbClr val="A78BFA"/>
                </a:solidFill>
                <a:latin typeface="Carlito" pitchFamily="34" charset="0"/>
                <a:ea typeface="Carlito" pitchFamily="34" charset="-122"/>
                <a:cs typeface="Carlito" pitchFamily="34" charset="-120"/>
              </a:rPr>
              <a:t>●  </a:t>
            </a:r>
            <a:pPr algn="l" indent="0" marL="0">
              <a:lnSpc>
                <a:spcPts val="1097"/>
              </a:lnSpc>
              <a:spcAft>
                <a:spcPts val="394"/>
              </a:spcAft>
              <a:buNone/>
            </a:pPr>
            <a:r>
              <a:rPr lang="en-US" sz="800" dirty="0">
                <a:solidFill>
                  <a:srgbClr val="FFFFFF"/>
                </a:solidFill>
                <a:latin typeface="Carlito" pitchFamily="34" charset="0"/>
                <a:ea typeface="Carlito" pitchFamily="34" charset="-122"/>
                <a:cs typeface="Carlito" pitchFamily="34" charset="-120"/>
              </a:rPr>
              <a:t>A </a:t>
            </a:r>
            <a:pPr algn="l" indent="0" marL="0">
              <a:lnSpc>
                <a:spcPts val="1097"/>
              </a:lnSpc>
              <a:spcAft>
                <a:spcPts val="394"/>
              </a:spcAft>
              <a:buNone/>
            </a:pPr>
            <a:r>
              <a:rPr lang="en-US" sz="800" b="1" dirty="0">
                <a:solidFill>
                  <a:srgbClr val="FFFFFF"/>
                </a:solidFill>
                <a:latin typeface="Carlito" pitchFamily="34" charset="0"/>
                <a:ea typeface="Carlito" pitchFamily="34" charset="-122"/>
                <a:cs typeface="Carlito" pitchFamily="34" charset="-120"/>
              </a:rPr>
              <a:t>proprietary LLM</a:t>
            </a:r>
            <a:pPr algn="l" indent="0" marL="0">
              <a:lnSpc>
                <a:spcPts val="1097"/>
              </a:lnSpc>
              <a:spcAft>
                <a:spcPts val="394"/>
              </a:spcAft>
              <a:buNone/>
            </a:pPr>
            <a:r>
              <a:rPr lang="en-US" sz="800" dirty="0">
                <a:solidFill>
                  <a:srgbClr val="FFFFFF"/>
                </a:solidFill>
                <a:latin typeface="Carlito" pitchFamily="34" charset="0"/>
                <a:ea typeface="Carlito" pitchFamily="34" charset="-122"/>
                <a:cs typeface="Carlito" pitchFamily="34" charset="-120"/>
              </a:rPr>
              <a:t> that learns your business, not a rented model</a:t>
            </a:r>
            <a:endParaRPr lang="en-US" sz="800" dirty="0"/>
          </a:p>
          <a:p>
            <a:pPr algn="l" indent="0" marL="0">
              <a:lnSpc>
                <a:spcPts val="1097"/>
              </a:lnSpc>
              <a:spcAft>
                <a:spcPts val="394"/>
              </a:spcAft>
              <a:buNone/>
            </a:pPr>
            <a:r>
              <a:rPr lang="en-US" sz="600" dirty="0">
                <a:solidFill>
                  <a:srgbClr val="A78BFA"/>
                </a:solidFill>
                <a:latin typeface="Carlito" pitchFamily="34" charset="0"/>
                <a:ea typeface="Carlito" pitchFamily="34" charset="-122"/>
                <a:cs typeface="Carlito" pitchFamily="34" charset="-120"/>
              </a:rPr>
              <a:t>●  </a:t>
            </a:r>
            <a:pPr algn="l" indent="0" marL="0">
              <a:lnSpc>
                <a:spcPts val="1097"/>
              </a:lnSpc>
              <a:spcAft>
                <a:spcPts val="394"/>
              </a:spcAft>
              <a:buNone/>
            </a:pPr>
            <a:r>
              <a:rPr lang="en-US" sz="800" dirty="0">
                <a:solidFill>
                  <a:srgbClr val="FFFFFF"/>
                </a:solidFill>
                <a:latin typeface="Carlito" pitchFamily="34" charset="0"/>
                <a:ea typeface="Carlito" pitchFamily="34" charset="-122"/>
                <a:cs typeface="Carlito" pitchFamily="34" charset="-120"/>
              </a:rPr>
              <a:t>A pricing model that rewards scale instead of punishing it</a:t>
            </a:r>
            <a:endParaRPr lang="en-US" sz="800" dirty="0"/>
          </a:p>
        </p:txBody>
      </p:sp>
      <p:sp>
        <p:nvSpPr>
          <p:cNvPr id="19" name="Text 12"/>
          <p:cNvSpPr/>
          <p:nvPr/>
        </p:nvSpPr>
        <p:spPr>
          <a:xfrm>
            <a:off x="4661297" y="3371515"/>
            <a:ext cx="3907631" cy="1171575"/>
          </a:xfrm>
          <a:prstGeom prst="roundRect">
            <a:avLst>
              <a:gd name="adj" fmla="val 9756"/>
            </a:avLst>
          </a:prstGeom>
          <a:solidFill>
            <a:srgbClr val="FFFFFF">
              <a:alpha val="4000"/>
            </a:srgbClr>
          </a:solidFill>
          <a:ln w="7144">
            <a:solidFill>
              <a:srgbClr val="A78BFA"/>
            </a:solidFill>
            <a:prstDash val="solid"/>
          </a:ln>
        </p:spPr>
        <p:txBody>
          <a:bodyPr wrap="square" rtlCol="0" anchor="ctr"/>
          <a:lstStyle/>
          <a:p>
            <a:pPr indent="0" marL="0">
              <a:buNone/>
            </a:pPr>
            <a:endParaRPr lang="en-US" dirty="0"/>
          </a:p>
        </p:txBody>
      </p:sp>
      <p:sp>
        <p:nvSpPr>
          <p:cNvPr id="20" name="Text 13"/>
          <p:cNvSpPr/>
          <p:nvPr/>
        </p:nvSpPr>
        <p:spPr>
          <a:xfrm>
            <a:off x="4822031" y="3503675"/>
            <a:ext cx="3586163" cy="125403"/>
          </a:xfrm>
          <a:prstGeom prst="rect">
            <a:avLst/>
          </a:prstGeom>
          <a:noFill/>
          <a:ln/>
        </p:spPr>
        <p:txBody>
          <a:bodyPr wrap="none" lIns="0" tIns="0" rIns="0" bIns="0" rtlCol="0" anchor="t"/>
          <a:lstStyle/>
          <a:p>
            <a:pPr algn="l" indent="0" marL="0">
              <a:buNone/>
            </a:pPr>
            <a:r>
              <a:rPr lang="en-US" sz="800" b="1" spc="16" kern="0" dirty="0">
                <a:solidFill>
                  <a:srgbClr val="FCA5A5"/>
                </a:solidFill>
                <a:latin typeface="Carlito" pitchFamily="34" charset="0"/>
                <a:ea typeface="Carlito" pitchFamily="34" charset="-122"/>
                <a:cs typeface="Carlito" pitchFamily="34" charset="-120"/>
              </a:rPr>
              <a:t>What you stop buying</a:t>
            </a:r>
            <a:endParaRPr lang="en-US" sz="800" dirty="0"/>
          </a:p>
        </p:txBody>
      </p:sp>
      <p:sp>
        <p:nvSpPr>
          <p:cNvPr id="21" name="Text 14"/>
          <p:cNvSpPr/>
          <p:nvPr/>
        </p:nvSpPr>
        <p:spPr>
          <a:xfrm>
            <a:off x="4822031" y="3703700"/>
            <a:ext cx="3586163" cy="799671"/>
          </a:xfrm>
          <a:prstGeom prst="rect">
            <a:avLst/>
          </a:prstGeom>
          <a:noFill/>
          <a:ln/>
        </p:spPr>
        <p:txBody>
          <a:bodyPr wrap="square" lIns="0" tIns="0" rIns="0" bIns="0" rtlCol="0" anchor="t"/>
          <a:lstStyle/>
          <a:p>
            <a:pPr algn="l" indent="0" marL="0">
              <a:lnSpc>
                <a:spcPts val="1097"/>
              </a:lnSpc>
              <a:spcAft>
                <a:spcPts val="394"/>
              </a:spcAft>
              <a:buNone/>
            </a:pPr>
            <a:r>
              <a:rPr lang="en-US" sz="600" dirty="0">
                <a:solidFill>
                  <a:srgbClr val="FCA5A5"/>
                </a:solidFill>
                <a:latin typeface="Carlito" pitchFamily="34" charset="0"/>
                <a:ea typeface="Carlito" pitchFamily="34" charset="-122"/>
                <a:cs typeface="Carlito" pitchFamily="34" charset="-120"/>
              </a:rPr>
              <a:t>●  </a:t>
            </a:r>
            <a:pPr algn="l" indent="0" marL="0">
              <a:lnSpc>
                <a:spcPts val="1097"/>
              </a:lnSpc>
              <a:spcAft>
                <a:spcPts val="394"/>
              </a:spcAft>
              <a:buNone/>
            </a:pPr>
            <a:r>
              <a:rPr lang="en-US" sz="800" dirty="0">
                <a:solidFill>
                  <a:srgbClr val="FFFFFF"/>
                </a:solidFill>
                <a:latin typeface="Carlito" pitchFamily="34" charset="0"/>
                <a:ea typeface="Carlito" pitchFamily="34" charset="-122"/>
                <a:cs typeface="Carlito" pitchFamily="34" charset="-120"/>
              </a:rPr>
              <a:t>Per-minute AI tokens (voice and text)</a:t>
            </a:r>
            <a:endParaRPr lang="en-US" sz="800" dirty="0"/>
          </a:p>
          <a:p>
            <a:pPr algn="l" indent="0" marL="0">
              <a:lnSpc>
                <a:spcPts val="1097"/>
              </a:lnSpc>
              <a:spcAft>
                <a:spcPts val="394"/>
              </a:spcAft>
              <a:buNone/>
            </a:pPr>
            <a:r>
              <a:rPr lang="en-US" sz="600" dirty="0">
                <a:solidFill>
                  <a:srgbClr val="FCA5A5"/>
                </a:solidFill>
                <a:latin typeface="Carlito" pitchFamily="34" charset="0"/>
                <a:ea typeface="Carlito" pitchFamily="34" charset="-122"/>
                <a:cs typeface="Carlito" pitchFamily="34" charset="-120"/>
              </a:rPr>
              <a:t>●  </a:t>
            </a:r>
            <a:pPr algn="l" indent="0" marL="0">
              <a:lnSpc>
                <a:spcPts val="1097"/>
              </a:lnSpc>
              <a:spcAft>
                <a:spcPts val="394"/>
              </a:spcAft>
              <a:buNone/>
            </a:pPr>
            <a:r>
              <a:rPr lang="en-US" sz="800" dirty="0">
                <a:solidFill>
                  <a:srgbClr val="FFFFFF"/>
                </a:solidFill>
                <a:latin typeface="Carlito" pitchFamily="34" charset="0"/>
                <a:ea typeface="Carlito" pitchFamily="34" charset="-122"/>
                <a:cs typeface="Carlito" pitchFamily="34" charset="-120"/>
              </a:rPr>
              <a:t>Separate dialer, call center, QA, analytics, intelligence licenses</a:t>
            </a:r>
            <a:endParaRPr lang="en-US" sz="800" dirty="0"/>
          </a:p>
          <a:p>
            <a:pPr algn="l" indent="0" marL="0">
              <a:lnSpc>
                <a:spcPts val="1097"/>
              </a:lnSpc>
              <a:spcAft>
                <a:spcPts val="394"/>
              </a:spcAft>
              <a:buNone/>
            </a:pPr>
            <a:r>
              <a:rPr lang="en-US" sz="600" dirty="0">
                <a:solidFill>
                  <a:srgbClr val="FCA5A5"/>
                </a:solidFill>
                <a:latin typeface="Carlito" pitchFamily="34" charset="0"/>
                <a:ea typeface="Carlito" pitchFamily="34" charset="-122"/>
                <a:cs typeface="Carlito" pitchFamily="34" charset="-120"/>
              </a:rPr>
              <a:t>●  </a:t>
            </a:r>
            <a:pPr algn="l" indent="0" marL="0">
              <a:lnSpc>
                <a:spcPts val="1097"/>
              </a:lnSpc>
              <a:spcAft>
                <a:spcPts val="394"/>
              </a:spcAft>
              <a:buNone/>
            </a:pPr>
            <a:r>
              <a:rPr lang="en-US" sz="800" dirty="0">
                <a:solidFill>
                  <a:srgbClr val="FFFFFF"/>
                </a:solidFill>
                <a:latin typeface="Carlito" pitchFamily="34" charset="0"/>
                <a:ea typeface="Carlito" pitchFamily="34" charset="-122"/>
                <a:cs typeface="Carlito" pitchFamily="34" charset="-120"/>
              </a:rPr>
              <a:t>Headcount that grows linearly with volume</a:t>
            </a:r>
            <a:endParaRPr lang="en-US" sz="800" dirty="0"/>
          </a:p>
          <a:p>
            <a:pPr algn="l" indent="0" marL="0">
              <a:lnSpc>
                <a:spcPts val="1097"/>
              </a:lnSpc>
              <a:spcAft>
                <a:spcPts val="394"/>
              </a:spcAft>
              <a:buNone/>
            </a:pPr>
            <a:r>
              <a:rPr lang="en-US" sz="600" dirty="0">
                <a:solidFill>
                  <a:srgbClr val="FCA5A5"/>
                </a:solidFill>
                <a:latin typeface="Carlito" pitchFamily="34" charset="0"/>
                <a:ea typeface="Carlito" pitchFamily="34" charset="-122"/>
                <a:cs typeface="Carlito" pitchFamily="34" charset="-120"/>
              </a:rPr>
              <a:t>●  </a:t>
            </a:r>
            <a:pPr algn="l" indent="0" marL="0">
              <a:lnSpc>
                <a:spcPts val="1097"/>
              </a:lnSpc>
              <a:spcAft>
                <a:spcPts val="394"/>
              </a:spcAft>
              <a:buNone/>
            </a:pPr>
            <a:r>
              <a:rPr lang="en-US" sz="800" dirty="0">
                <a:solidFill>
                  <a:srgbClr val="FFFFFF"/>
                </a:solidFill>
                <a:latin typeface="Carlito" pitchFamily="34" charset="0"/>
                <a:ea typeface="Carlito" pitchFamily="34" charset="-122"/>
                <a:cs typeface="Carlito" pitchFamily="34" charset="-120"/>
              </a:rPr>
              <a:t>Bolted-on AI from vendors who don't own their stack</a:t>
            </a:r>
            <a:endParaRPr lang="en-US" sz="800" dirty="0"/>
          </a:p>
        </p:txBody>
      </p:sp>
      <p:sp>
        <p:nvSpPr>
          <p:cNvPr id="22" name="Text 15"/>
          <p:cNvSpPr/>
          <p:nvPr/>
        </p:nvSpPr>
        <p:spPr>
          <a:xfrm>
            <a:off x="571500" y="4746687"/>
            <a:ext cx="8001000" cy="407194"/>
          </a:xfrm>
          <a:prstGeom prst="roundRect">
            <a:avLst>
              <a:gd name="adj" fmla="val 28070"/>
            </a:avLst>
          </a:prstGeom>
          <a:solidFill>
            <a:srgbClr val="7C3AED"/>
          </a:solidFill>
          <a:ln/>
          <a:effectLst>
            <a:outerShdw sx="100000" sy="100000" kx="0" ky="0" algn="bl" rotWithShape="0" blurRad="228600" dist="76200" dir="5400000">
              <a:srgbClr val="7C3AED">
                <a:alpha val="40000"/>
              </a:srgbClr>
            </a:outerShdw>
          </a:effectLst>
        </p:spPr>
        <p:txBody>
          <a:bodyPr wrap="square" rtlCol="0" anchor="ctr"/>
          <a:lstStyle/>
          <a:p>
            <a:pPr indent="0" marL="0">
              <a:buNone/>
            </a:pPr>
            <a:endParaRPr lang="en-US" dirty="0"/>
          </a:p>
        </p:txBody>
      </p:sp>
      <p:sp>
        <p:nvSpPr>
          <p:cNvPr id="23" name="Text 16"/>
          <p:cNvSpPr/>
          <p:nvPr/>
        </p:nvSpPr>
        <p:spPr>
          <a:xfrm>
            <a:off x="571500" y="4746687"/>
            <a:ext cx="8001000" cy="91440"/>
          </a:xfrm>
          <a:prstGeom prst="rect">
            <a:avLst/>
          </a:prstGeom>
          <a:noFill/>
          <a:ln/>
        </p:spPr>
        <p:txBody>
          <a:bodyPr wrap="square" lIns="185738" tIns="128588" rIns="185738" bIns="128588" rtlCol="0" anchor="t"/>
          <a:lstStyle/>
          <a:p>
            <a:pPr algn="ctr" indent="0" marL="0">
              <a:buNone/>
            </a:pPr>
            <a:r>
              <a:rPr lang="en-US" sz="1013" b="1" dirty="0">
                <a:solidFill>
                  <a:srgbClr val="FFFFFF"/>
                </a:solidFill>
                <a:latin typeface="Carlito" pitchFamily="34" charset="0"/>
                <a:ea typeface="Carlito" pitchFamily="34" charset="-122"/>
                <a:cs typeface="Carlito" pitchFamily="34" charset="-120"/>
              </a:rPr>
              <a:t>Let's replace your call center with a growth engine.</a:t>
            </a:r>
            <a:endParaRPr lang="en-US" sz="1013" dirty="0"/>
          </a:p>
        </p:txBody>
      </p:sp>
      <p:sp>
        <p:nvSpPr>
          <p:cNvPr id="24" name="Text 17"/>
          <p:cNvSpPr/>
          <p:nvPr/>
        </p:nvSpPr>
        <p:spPr>
          <a:xfrm>
            <a:off x="571500" y="5268181"/>
            <a:ext cx="7616465" cy="91440"/>
          </a:xfrm>
          <a:prstGeom prst="rect">
            <a:avLst/>
          </a:prstGeom>
          <a:noFill/>
          <a:ln/>
        </p:spPr>
        <p:txBody>
          <a:bodyPr wrap="square" lIns="0" tIns="0" rIns="0" bIns="0" rtlCol="0" anchor="t"/>
          <a:lstStyle/>
          <a:p>
            <a:pPr algn="l" indent="0" marL="0">
              <a:buNone/>
            </a:pPr>
            <a:r>
              <a:rPr lang="en-US" sz="800" spc="122" kern="0" dirty="0">
                <a:solidFill>
                  <a:srgbClr val="A78BFA">
                    <a:alpha val="55000"/>
                  </a:srgbClr>
                </a:solidFill>
                <a:latin typeface="Carlito" pitchFamily="34" charset="0"/>
                <a:ea typeface="Carlito" pitchFamily="34" charset="-122"/>
                <a:cs typeface="Carlito" pitchFamily="34" charset="-120"/>
              </a:rPr>
              <a:t>WWW.MASSAPRO.COM</a:t>
            </a:r>
            <a:pPr algn="l" indent="0" marL="0">
              <a:buNone/>
            </a:pPr>
            <a:r>
              <a:rPr lang="en-US" sz="800" spc="122" kern="0" dirty="0">
                <a:solidFill>
                  <a:srgbClr val="FFFFFF">
                    <a:alpha val="55000"/>
                  </a:srgbClr>
                </a:solidFill>
                <a:latin typeface="Carlito" pitchFamily="34" charset="0"/>
                <a:ea typeface="Carlito" pitchFamily="34" charset="-122"/>
                <a:cs typeface="Carlito" pitchFamily="34" charset="-120"/>
              </a:rPr>
              <a:t> · HELLO@MASSAPRO.COM</a:t>
            </a:r>
            <a:endParaRPr lang="en-US" sz="800" dirty="0"/>
          </a:p>
        </p:txBody>
      </p:sp>
      <p:sp>
        <p:nvSpPr>
          <p:cNvPr id="25" name="Text 18"/>
          <p:cNvSpPr/>
          <p:nvPr/>
        </p:nvSpPr>
        <p:spPr>
          <a:xfrm>
            <a:off x="8195858" y="5268181"/>
            <a:ext cx="383036" cy="91440"/>
          </a:xfrm>
          <a:prstGeom prst="rect">
            <a:avLst/>
          </a:prstGeom>
          <a:noFill/>
          <a:ln/>
        </p:spPr>
        <p:txBody>
          <a:bodyPr wrap="none" lIns="0" tIns="0" rIns="0" bIns="0" rtlCol="0" anchor="t"/>
          <a:lstStyle/>
          <a:p>
            <a:pPr algn="l" indent="0" marL="0">
              <a:buNone/>
            </a:pPr>
            <a:r>
              <a:rPr lang="en-US" sz="675" spc="122" kern="0" dirty="0">
                <a:solidFill>
                  <a:srgbClr val="FFFFFF">
                    <a:alpha val="55000"/>
                  </a:srgbClr>
                </a:solidFill>
                <a:latin typeface="Liberation Sans Narrow" pitchFamily="34" charset="0"/>
                <a:ea typeface="Liberation Sans Narrow" pitchFamily="34" charset="-122"/>
                <a:cs typeface="Liberation Sans Narrow" pitchFamily="34" charset="-120"/>
              </a:rPr>
              <a:t>10 / 10</a:t>
            </a:r>
            <a:endParaRPr lang="en-US" sz="6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2026-09-02T12:33:05Z</dcterms:created>
  <dcterms:modified xsi:type="dcterms:W3CDTF">2026-09-02T12:33:05Z</dcterms:modified>
</cp:coreProperties>
</file>