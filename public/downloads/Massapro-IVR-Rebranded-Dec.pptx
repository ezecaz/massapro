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jpe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image" Target="../media/image-2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01_d1b598b12c6c70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990" y="232172"/>
            <a:ext cx="2701007" cy="4678375"/>
          </a:xfrm>
          <a:prstGeom prst="rect">
            <a:avLst/>
          </a:prstGeom>
        </p:spPr>
      </p:pic>
      <p:pic>
        <p:nvPicPr>
          <p:cNvPr id="4" name="Image 1" descr="/home/z/my-project/download/rebranded_slides/images/img_002_a7407132fd173d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816" y="3595427"/>
            <a:ext cx="287871" cy="288541"/>
          </a:xfrm>
          <a:prstGeom prst="rect">
            <a:avLst/>
          </a:prstGeom>
        </p:spPr>
      </p:pic>
      <p:pic>
        <p:nvPicPr>
          <p:cNvPr id="5" name="Image 2" descr="/tmp/h2p-fit-1786528950680-8i3ws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91" y="3058195"/>
            <a:ext cx="1362224" cy="1363005"/>
          </a:xfrm>
          <a:prstGeom prst="rect">
            <a:avLst/>
          </a:prstGeom>
        </p:spPr>
      </p:pic>
      <p:pic>
        <p:nvPicPr>
          <p:cNvPr id="6" name="Image 3" descr="/tmp/h2p-fit-1786528950681-gkqtn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859" y="3236788"/>
            <a:ext cx="1005818" cy="1006487"/>
          </a:xfrm>
          <a:prstGeom prst="rect">
            <a:avLst/>
          </a:prstGeom>
        </p:spPr>
      </p:pic>
      <p:pic>
        <p:nvPicPr>
          <p:cNvPr id="7" name="Image 4" descr="/tmp/h2p-fit-1786528950681-ojx8m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08" y="3236788"/>
            <a:ext cx="1005818" cy="100648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93588" y="1599419"/>
            <a:ext cx="3411679" cy="543805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3965"/>
              </a:lnSpc>
              <a:buNone/>
            </a:pPr>
            <a:r>
              <a:rPr lang="en-US" sz="344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3448" dirty="0"/>
          </a:p>
        </p:txBody>
      </p:sp>
      <p:sp>
        <p:nvSpPr>
          <p:cNvPr id="9" name="Text 2"/>
          <p:cNvSpPr/>
          <p:nvPr/>
        </p:nvSpPr>
        <p:spPr>
          <a:xfrm>
            <a:off x="493588" y="2160984"/>
            <a:ext cx="2912393" cy="543805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3965"/>
              </a:lnSpc>
              <a:buNone/>
            </a:pPr>
            <a:r>
              <a:rPr lang="en-US" sz="3448" b="1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Phygital</a:t>
            </a:r>
            <a:endParaRPr lang="en-US" sz="3448" dirty="0"/>
          </a:p>
        </p:txBody>
      </p:sp>
      <p:sp>
        <p:nvSpPr>
          <p:cNvPr id="10" name="Text 3"/>
          <p:cNvSpPr/>
          <p:nvPr/>
        </p:nvSpPr>
        <p:spPr>
          <a:xfrm>
            <a:off x="493588" y="2890986"/>
            <a:ext cx="3946712" cy="17745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Face-to-face service over video, without staff</a:t>
            </a:r>
            <a:endParaRPr lang="en-US" sz="1125" dirty="0"/>
          </a:p>
        </p:txBody>
      </p:sp>
      <p:sp>
        <p:nvSpPr>
          <p:cNvPr id="11" name="Text 4"/>
          <p:cNvSpPr/>
          <p:nvPr/>
        </p:nvSpPr>
        <p:spPr>
          <a:xfrm>
            <a:off x="493588" y="3119586"/>
            <a:ext cx="2038341" cy="17745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the service point.</a:t>
            </a:r>
            <a:endParaRPr lang="en-US" sz="1125" dirty="0"/>
          </a:p>
        </p:txBody>
      </p:sp>
      <p:sp>
        <p:nvSpPr>
          <p:cNvPr id="12" name="Text 5"/>
          <p:cNvSpPr/>
          <p:nvPr/>
        </p:nvSpPr>
        <p:spPr>
          <a:xfrm>
            <a:off x="493588" y="4417628"/>
            <a:ext cx="961859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973" dirty="0"/>
          </a:p>
        </p:txBody>
      </p:sp>
      <p:sp>
        <p:nvSpPr>
          <p:cNvPr id="13" name="Text 6"/>
          <p:cNvSpPr/>
          <p:nvPr/>
        </p:nvSpPr>
        <p:spPr>
          <a:xfrm>
            <a:off x="852701" y="3688966"/>
            <a:ext cx="71652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Kiosk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1957067" y="3688966"/>
            <a:ext cx="65418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Call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3018586" y="3688966"/>
            <a:ext cx="61176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Call</a:t>
            </a:r>
            <a:endParaRPr lang="en-US" sz="748" dirty="0"/>
          </a:p>
        </p:txBody>
      </p:sp>
      <p:sp>
        <p:nvSpPr>
          <p:cNvPr id="16" name="Text 9"/>
          <p:cNvSpPr/>
          <p:nvPr/>
        </p:nvSpPr>
        <p:spPr>
          <a:xfrm>
            <a:off x="4026173" y="3688966"/>
            <a:ext cx="69306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WhatsApp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01 / 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03_bfcc189e33c469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5269" y="1705124"/>
            <a:ext cx="1693738" cy="952240"/>
          </a:xfrm>
          <a:prstGeom prst="rect">
            <a:avLst/>
          </a:prstGeom>
        </p:spPr>
      </p:pic>
      <p:pic>
        <p:nvPicPr>
          <p:cNvPr id="4" name="Image 1" descr="/home/z/my-project/download/rebranded_slides/images/img_004_8d033dc87fc78b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80" y="1705124"/>
            <a:ext cx="1768078" cy="1035062"/>
          </a:xfrm>
          <a:prstGeom prst="rect">
            <a:avLst/>
          </a:prstGeom>
        </p:spPr>
      </p:pic>
      <p:pic>
        <p:nvPicPr>
          <p:cNvPr id="5" name="Image 2" descr="/home/z/my-project/download/rebranded_slides/images/img_005_ead256253bea9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46" y="1705124"/>
            <a:ext cx="1693738" cy="952240"/>
          </a:xfrm>
          <a:prstGeom prst="rect">
            <a:avLst/>
          </a:prstGeom>
        </p:spPr>
      </p:pic>
      <p:pic>
        <p:nvPicPr>
          <p:cNvPr id="6" name="Image 3" descr="/home/z/my-project/download/rebranded_slides/images/img_006_b940e0cc9be39b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548" y="1705124"/>
            <a:ext cx="1692287" cy="9522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14350" y="622176"/>
            <a:ext cx="6191287" cy="30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5"/>
              </a:lnSpc>
              <a:buNone/>
            </a:pPr>
            <a:r>
              <a:rPr lang="en-US" sz="1952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current situation at the point of contact</a:t>
            </a:r>
            <a:endParaRPr lang="en-US" sz="1952" dirty="0"/>
          </a:p>
        </p:txBody>
      </p:sp>
      <p:sp>
        <p:nvSpPr>
          <p:cNvPr id="8" name="Text 2"/>
          <p:cNvSpPr/>
          <p:nvPr/>
        </p:nvSpPr>
        <p:spPr>
          <a:xfrm>
            <a:off x="514350" y="963625"/>
            <a:ext cx="836700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Today, most high-value interactions end up in one of these four scenarios. These aren't execution failures — they're the predictable result of tying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514350" y="1127931"/>
            <a:ext cx="359029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capacity to a place and a schedule while demand isn't.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514350" y="2983855"/>
            <a:ext cx="230469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Waiting and abandonment</a:t>
            </a:r>
            <a:endParaRPr lang="en-US" sz="973" dirty="0"/>
          </a:p>
        </p:txBody>
      </p:sp>
      <p:sp>
        <p:nvSpPr>
          <p:cNvPr id="11" name="Text 5"/>
          <p:cNvSpPr/>
          <p:nvPr/>
        </p:nvSpPr>
        <p:spPr>
          <a:xfrm>
            <a:off x="514350" y="3215357"/>
            <a:ext cx="2065155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customer sizes up the queue on</a:t>
            </a:r>
            <a:endParaRPr lang="en-US" sz="827" dirty="0"/>
          </a:p>
        </p:txBody>
      </p:sp>
      <p:sp>
        <p:nvSpPr>
          <p:cNvPr id="12" name="Text 6"/>
          <p:cNvSpPr/>
          <p:nvPr/>
        </p:nvSpPr>
        <p:spPr>
          <a:xfrm>
            <a:off x="514350" y="3368948"/>
            <a:ext cx="199644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arrival and decides within seconds.</a:t>
            </a:r>
            <a:endParaRPr lang="en-US" sz="827" dirty="0"/>
          </a:p>
        </p:txBody>
      </p:sp>
      <p:sp>
        <p:nvSpPr>
          <p:cNvPr id="13" name="Text 7"/>
          <p:cNvSpPr/>
          <p:nvPr/>
        </p:nvSpPr>
        <p:spPr>
          <a:xfrm>
            <a:off x="514350" y="3522538"/>
            <a:ext cx="163249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loss happens before any</a:t>
            </a:r>
            <a:endParaRPr lang="en-US" sz="827" dirty="0"/>
          </a:p>
        </p:txBody>
      </p:sp>
      <p:sp>
        <p:nvSpPr>
          <p:cNvPr id="14" name="Text 8"/>
          <p:cNvSpPr/>
          <p:nvPr/>
        </p:nvSpPr>
        <p:spPr>
          <a:xfrm>
            <a:off x="514350" y="3675459"/>
            <a:ext cx="212289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interaction takes place and leaves no</a:t>
            </a:r>
            <a:endParaRPr lang="en-US" sz="827" dirty="0"/>
          </a:p>
        </p:txBody>
      </p:sp>
      <p:sp>
        <p:nvSpPr>
          <p:cNvPr id="15" name="Text 9"/>
          <p:cNvSpPr/>
          <p:nvPr/>
        </p:nvSpPr>
        <p:spPr>
          <a:xfrm>
            <a:off x="514350" y="3829050"/>
            <a:ext cx="134015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 in any system.</a:t>
            </a:r>
            <a:endParaRPr lang="en-US" sz="827" dirty="0"/>
          </a:p>
        </p:txBody>
      </p:sp>
      <p:sp>
        <p:nvSpPr>
          <p:cNvPr id="16" name="Text 10"/>
          <p:cNvSpPr/>
          <p:nvPr/>
        </p:nvSpPr>
        <p:spPr>
          <a:xfrm>
            <a:off x="2571750" y="2983855"/>
            <a:ext cx="1389962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Deferred advice</a:t>
            </a:r>
            <a:endParaRPr lang="en-US" sz="973" dirty="0"/>
          </a:p>
        </p:txBody>
      </p:sp>
      <p:sp>
        <p:nvSpPr>
          <p:cNvPr id="17" name="Text 11"/>
          <p:cNvSpPr/>
          <p:nvPr/>
        </p:nvSpPr>
        <p:spPr>
          <a:xfrm>
            <a:off x="2571750" y="3215357"/>
            <a:ext cx="1967750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come in hoping someone will</a:t>
            </a:r>
            <a:endParaRPr lang="en-US" sz="827" dirty="0"/>
          </a:p>
        </p:txBody>
      </p:sp>
      <p:sp>
        <p:nvSpPr>
          <p:cNvPr id="18" name="Text 12"/>
          <p:cNvSpPr/>
          <p:nvPr/>
        </p:nvSpPr>
        <p:spPr>
          <a:xfrm>
            <a:off x="2571750" y="3368948"/>
            <a:ext cx="185684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 them and find a generalist</a:t>
            </a:r>
            <a:endParaRPr lang="en-US" sz="827" dirty="0"/>
          </a:p>
        </p:txBody>
      </p:sp>
      <p:sp>
        <p:nvSpPr>
          <p:cNvPr id="19" name="Text 13"/>
          <p:cNvSpPr/>
          <p:nvPr/>
        </p:nvSpPr>
        <p:spPr>
          <a:xfrm>
            <a:off x="2571750" y="3522538"/>
            <a:ext cx="167808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instead. The answer is an</a:t>
            </a:r>
            <a:endParaRPr lang="en-US" sz="827" dirty="0"/>
          </a:p>
        </p:txBody>
      </p:sp>
      <p:sp>
        <p:nvSpPr>
          <p:cNvPr id="20" name="Text 14"/>
          <p:cNvSpPr/>
          <p:nvPr/>
        </p:nvSpPr>
        <p:spPr>
          <a:xfrm>
            <a:off x="2571750" y="3675459"/>
            <a:ext cx="192230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appointment, a referral to the call</a:t>
            </a:r>
            <a:endParaRPr lang="en-US" sz="827" dirty="0"/>
          </a:p>
        </p:txBody>
      </p:sp>
      <p:sp>
        <p:nvSpPr>
          <p:cNvPr id="21" name="Text 15"/>
          <p:cNvSpPr/>
          <p:nvPr/>
        </p:nvSpPr>
        <p:spPr>
          <a:xfrm>
            <a:off x="2571750" y="3829050"/>
            <a:ext cx="205466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center, or coming back another day.</a:t>
            </a:r>
            <a:endParaRPr lang="en-US" sz="827" dirty="0"/>
          </a:p>
        </p:txBody>
      </p:sp>
      <p:sp>
        <p:nvSpPr>
          <p:cNvPr id="22" name="Text 16"/>
          <p:cNvSpPr/>
          <p:nvPr/>
        </p:nvSpPr>
        <p:spPr>
          <a:xfrm>
            <a:off x="4629150" y="2983855"/>
            <a:ext cx="212675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with no way out</a:t>
            </a:r>
            <a:endParaRPr lang="en-US" sz="973" dirty="0"/>
          </a:p>
        </p:txBody>
      </p:sp>
      <p:sp>
        <p:nvSpPr>
          <p:cNvPr id="23" name="Text 17"/>
          <p:cNvSpPr/>
          <p:nvPr/>
        </p:nvSpPr>
        <p:spPr>
          <a:xfrm>
            <a:off x="4629150" y="3215357"/>
            <a:ext cx="177378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digital process handles the</a:t>
            </a:r>
            <a:endParaRPr lang="en-US" sz="827" dirty="0"/>
          </a:p>
        </p:txBody>
      </p:sp>
      <p:sp>
        <p:nvSpPr>
          <p:cNvPr id="24" name="Text 18"/>
          <p:cNvSpPr/>
          <p:nvPr/>
        </p:nvSpPr>
        <p:spPr>
          <a:xfrm>
            <a:off x="4629150" y="3368948"/>
            <a:ext cx="161429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simple cases, but leaves the</a:t>
            </a:r>
            <a:endParaRPr lang="en-US" sz="827" dirty="0"/>
          </a:p>
        </p:txBody>
      </p:sp>
      <p:sp>
        <p:nvSpPr>
          <p:cNvPr id="25" name="Text 19"/>
          <p:cNvSpPr/>
          <p:nvPr/>
        </p:nvSpPr>
        <p:spPr>
          <a:xfrm>
            <a:off x="4629150" y="3522538"/>
            <a:ext cx="1747745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alone right when the</a:t>
            </a:r>
            <a:endParaRPr lang="en-US" sz="827" dirty="0"/>
          </a:p>
        </p:txBody>
      </p:sp>
      <p:sp>
        <p:nvSpPr>
          <p:cNvPr id="26" name="Text 20"/>
          <p:cNvSpPr/>
          <p:nvPr/>
        </p:nvSpPr>
        <p:spPr>
          <a:xfrm>
            <a:off x="4629150" y="3675459"/>
            <a:ext cx="203152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doubt or exception that decides the</a:t>
            </a:r>
            <a:endParaRPr lang="en-US" sz="827" dirty="0"/>
          </a:p>
        </p:txBody>
      </p:sp>
      <p:sp>
        <p:nvSpPr>
          <p:cNvPr id="27" name="Text 21"/>
          <p:cNvSpPr/>
          <p:nvPr/>
        </p:nvSpPr>
        <p:spPr>
          <a:xfrm>
            <a:off x="4629150" y="3829050"/>
            <a:ext cx="127443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outcome shows up.</a:t>
            </a:r>
            <a:endParaRPr lang="en-US" sz="827" dirty="0"/>
          </a:p>
        </p:txBody>
      </p:sp>
      <p:sp>
        <p:nvSpPr>
          <p:cNvPr id="28" name="Text 22"/>
          <p:cNvSpPr/>
          <p:nvPr/>
        </p:nvSpPr>
        <p:spPr>
          <a:xfrm>
            <a:off x="6686550" y="2983855"/>
            <a:ext cx="2063468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Incomplete remote channel</a:t>
            </a:r>
            <a:endParaRPr lang="en-US" sz="973" dirty="0"/>
          </a:p>
        </p:txBody>
      </p:sp>
      <p:sp>
        <p:nvSpPr>
          <p:cNvPr id="29" name="Text 23"/>
          <p:cNvSpPr/>
          <p:nvPr/>
        </p:nvSpPr>
        <p:spPr>
          <a:xfrm>
            <a:off x="6686550" y="3215357"/>
            <a:ext cx="1844957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Phone and chat connect the</a:t>
            </a:r>
            <a:endParaRPr lang="en-US" sz="827" dirty="0"/>
          </a:p>
        </p:txBody>
      </p:sp>
      <p:sp>
        <p:nvSpPr>
          <p:cNvPr id="30" name="Text 24"/>
          <p:cNvSpPr/>
          <p:nvPr/>
        </p:nvSpPr>
        <p:spPr>
          <a:xfrm>
            <a:off x="6686550" y="3368948"/>
            <a:ext cx="203501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customer, but don't let them view a</a:t>
            </a:r>
            <a:endParaRPr lang="en-US" sz="827" dirty="0"/>
          </a:p>
        </p:txBody>
      </p:sp>
      <p:sp>
        <p:nvSpPr>
          <p:cNvPr id="31" name="Text 25"/>
          <p:cNvSpPr/>
          <p:nvPr/>
        </p:nvSpPr>
        <p:spPr>
          <a:xfrm>
            <a:off x="6686550" y="3522538"/>
            <a:ext cx="201994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document, share a screen, or verify</a:t>
            </a:r>
            <a:endParaRPr lang="en-US" sz="827" dirty="0"/>
          </a:p>
        </p:txBody>
      </p:sp>
      <p:sp>
        <p:nvSpPr>
          <p:cNvPr id="32" name="Text 26"/>
          <p:cNvSpPr/>
          <p:nvPr/>
        </p:nvSpPr>
        <p:spPr>
          <a:xfrm>
            <a:off x="6686550" y="3675459"/>
            <a:ext cx="186865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and complete a complex</a:t>
            </a:r>
            <a:endParaRPr lang="en-US" sz="827" dirty="0"/>
          </a:p>
        </p:txBody>
      </p:sp>
      <p:sp>
        <p:nvSpPr>
          <p:cNvPr id="33" name="Text 27"/>
          <p:cNvSpPr/>
          <p:nvPr/>
        </p:nvSpPr>
        <p:spPr>
          <a:xfrm>
            <a:off x="6677195" y="3829050"/>
            <a:ext cx="80131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transaction.</a:t>
            </a:r>
            <a:endParaRPr lang="en-US" sz="827" dirty="0"/>
          </a:p>
        </p:txBody>
      </p:sp>
      <p:sp>
        <p:nvSpPr>
          <p:cNvPr id="34" name="Text 28"/>
          <p:cNvSpPr/>
          <p:nvPr/>
        </p:nvSpPr>
        <p:spPr>
          <a:xfrm>
            <a:off x="720068" y="4129088"/>
            <a:ext cx="715011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all four cases, the same thing happens: the company pays for the capacity without generating revenue, and the customer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20068" y="4271963"/>
            <a:ext cx="6732650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walks away quietly with an unresolved need. AI doesn't solve these problems, and they don't always show up in KPIs.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93588" y="466465"/>
            <a:ext cx="367354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 U LT I - S E C T O R P A I N P O I N T 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07_38b0a1063e2fecec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202" y="651421"/>
            <a:ext cx="3840435" cy="3840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588" y="466465"/>
            <a:ext cx="275405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H E S T A R T I N G P O I N 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3588" y="645058"/>
            <a:ext cx="3250825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In-person service</a:t>
            </a:r>
            <a:endParaRPr lang="en-US" sz="2098" dirty="0"/>
          </a:p>
        </p:txBody>
      </p:sp>
      <p:sp>
        <p:nvSpPr>
          <p:cNvPr id="6" name="Text 3"/>
          <p:cNvSpPr/>
          <p:nvPr/>
        </p:nvSpPr>
        <p:spPr>
          <a:xfrm>
            <a:off x="493588" y="959383"/>
            <a:ext cx="4721237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doesn't scale with the business</a:t>
            </a:r>
            <a:endParaRPr lang="en-US" sz="2098" dirty="0"/>
          </a:p>
        </p:txBody>
      </p:sp>
      <p:sp>
        <p:nvSpPr>
          <p:cNvPr id="7" name="Text 4"/>
          <p:cNvSpPr/>
          <p:nvPr/>
        </p:nvSpPr>
        <p:spPr>
          <a:xfrm>
            <a:off x="606437" y="1955155"/>
            <a:ext cx="13751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73" dirty="0"/>
          </a:p>
        </p:txBody>
      </p:sp>
      <p:sp>
        <p:nvSpPr>
          <p:cNvPr id="8" name="Text 5"/>
          <p:cNvSpPr/>
          <p:nvPr/>
        </p:nvSpPr>
        <p:spPr>
          <a:xfrm>
            <a:off x="919311" y="1905149"/>
            <a:ext cx="2147171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Fixed cost per location</a:t>
            </a:r>
            <a:endParaRPr lang="en-US" sz="1052" dirty="0"/>
          </a:p>
        </p:txBody>
      </p:sp>
      <p:sp>
        <p:nvSpPr>
          <p:cNvPr id="9" name="Text 6"/>
          <p:cNvSpPr/>
          <p:nvPr/>
        </p:nvSpPr>
        <p:spPr>
          <a:xfrm>
            <a:off x="919311" y="2140223"/>
            <a:ext cx="3755715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service point requires its own staff, space, and hours. Costs grow</a:t>
            </a:r>
            <a:endParaRPr lang="en-US" sz="827" dirty="0"/>
          </a:p>
        </p:txBody>
      </p:sp>
      <p:sp>
        <p:nvSpPr>
          <p:cNvPr id="10" name="Text 7"/>
          <p:cNvSpPr/>
          <p:nvPr/>
        </p:nvSpPr>
        <p:spPr>
          <a:xfrm>
            <a:off x="919311" y="2302408"/>
            <a:ext cx="144974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linearly with the network.</a:t>
            </a:r>
            <a:endParaRPr lang="en-US" sz="827" dirty="0"/>
          </a:p>
        </p:txBody>
      </p:sp>
      <p:sp>
        <p:nvSpPr>
          <p:cNvPr id="11" name="Text 8"/>
          <p:cNvSpPr/>
          <p:nvPr/>
        </p:nvSpPr>
        <p:spPr>
          <a:xfrm>
            <a:off x="594271" y="2860291"/>
            <a:ext cx="13751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73" dirty="0"/>
          </a:p>
        </p:txBody>
      </p:sp>
      <p:sp>
        <p:nvSpPr>
          <p:cNvPr id="12" name="Text 9"/>
          <p:cNvSpPr/>
          <p:nvPr/>
        </p:nvSpPr>
        <p:spPr>
          <a:xfrm>
            <a:off x="919311" y="2811066"/>
            <a:ext cx="1629389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Uneven coverage</a:t>
            </a:r>
            <a:endParaRPr lang="en-US" sz="1052" dirty="0"/>
          </a:p>
        </p:txBody>
      </p:sp>
      <p:sp>
        <p:nvSpPr>
          <p:cNvPr id="13" name="Text 10"/>
          <p:cNvSpPr/>
          <p:nvPr/>
        </p:nvSpPr>
        <p:spPr>
          <a:xfrm>
            <a:off x="919311" y="3046028"/>
            <a:ext cx="395038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Lower-traffic locations can't justify a dedicated specialist, so customers get</a:t>
            </a:r>
            <a:endParaRPr lang="en-US" sz="827" dirty="0"/>
          </a:p>
        </p:txBody>
      </p:sp>
      <p:sp>
        <p:nvSpPr>
          <p:cNvPr id="14" name="Text 11"/>
          <p:cNvSpPr/>
          <p:nvPr/>
        </p:nvSpPr>
        <p:spPr>
          <a:xfrm>
            <a:off x="919311" y="3208213"/>
            <a:ext cx="106374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lesser service.</a:t>
            </a:r>
            <a:endParaRPr lang="en-US" sz="827" dirty="0"/>
          </a:p>
        </p:txBody>
      </p:sp>
      <p:sp>
        <p:nvSpPr>
          <p:cNvPr id="15" name="Text 12"/>
          <p:cNvSpPr/>
          <p:nvPr/>
        </p:nvSpPr>
        <p:spPr>
          <a:xfrm>
            <a:off x="594271" y="3766096"/>
            <a:ext cx="13751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73" dirty="0"/>
          </a:p>
        </p:txBody>
      </p:sp>
      <p:sp>
        <p:nvSpPr>
          <p:cNvPr id="16" name="Text 13"/>
          <p:cNvSpPr/>
          <p:nvPr/>
        </p:nvSpPr>
        <p:spPr>
          <a:xfrm>
            <a:off x="919311" y="3715420"/>
            <a:ext cx="1328151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Rigid capacity</a:t>
            </a:r>
            <a:endParaRPr lang="en-US" sz="1052" dirty="0"/>
          </a:p>
        </p:txBody>
      </p:sp>
      <p:sp>
        <p:nvSpPr>
          <p:cNvPr id="17" name="Text 14"/>
          <p:cNvSpPr/>
          <p:nvPr/>
        </p:nvSpPr>
        <p:spPr>
          <a:xfrm>
            <a:off x="919311" y="3951163"/>
            <a:ext cx="400329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spikes can't be absorbed: on-site staff can't be redistributed in real</a:t>
            </a:r>
            <a:endParaRPr lang="en-US" sz="827" dirty="0"/>
          </a:p>
        </p:txBody>
      </p:sp>
      <p:sp>
        <p:nvSpPr>
          <p:cNvPr id="18" name="Text 15"/>
          <p:cNvSpPr/>
          <p:nvPr/>
        </p:nvSpPr>
        <p:spPr>
          <a:xfrm>
            <a:off x="919311" y="4112568"/>
            <a:ext cx="43273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time.</a:t>
            </a:r>
            <a:endParaRPr lang="en-US" sz="827" dirty="0"/>
          </a:p>
        </p:txBody>
      </p:sp>
      <p:sp>
        <p:nvSpPr>
          <p:cNvPr id="19" name="Text 16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08_4108dfc05f2972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718" y="2760278"/>
            <a:ext cx="3571094" cy="1527981"/>
          </a:xfrm>
          <a:prstGeom prst="rect">
            <a:avLst/>
          </a:prstGeom>
        </p:spPr>
      </p:pic>
      <p:pic>
        <p:nvPicPr>
          <p:cNvPr id="4" name="Image 1" descr="/home/z/my-project/download/rebranded_slides/images/img_009_ebb17de4ce9ff3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878" y="2803141"/>
            <a:ext cx="3533924" cy="14430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3588" y="466465"/>
            <a:ext cx="370633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 E Y P E R F O R M A N C E I N D I C A T O R S - K P I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93588" y="645058"/>
            <a:ext cx="7229363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is the superior digital and human channel</a:t>
            </a:r>
            <a:endParaRPr lang="en-US" sz="2098" dirty="0"/>
          </a:p>
        </p:txBody>
      </p:sp>
      <p:sp>
        <p:nvSpPr>
          <p:cNvPr id="7" name="Text 3"/>
          <p:cNvSpPr/>
          <p:nvPr/>
        </p:nvSpPr>
        <p:spPr>
          <a:xfrm>
            <a:off x="493588" y="959383"/>
            <a:ext cx="4270288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remote customer service</a:t>
            </a:r>
            <a:endParaRPr lang="en-US" sz="2098" dirty="0"/>
          </a:p>
        </p:txBody>
      </p:sp>
      <p:sp>
        <p:nvSpPr>
          <p:cNvPr id="8" name="Text 4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13644" y="1880927"/>
            <a:ext cx="964964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CSAT - NPS</a:t>
            </a:r>
            <a:endParaRPr lang="en-US" sz="973" dirty="0"/>
          </a:p>
        </p:txBody>
      </p:sp>
      <p:sp>
        <p:nvSpPr>
          <p:cNvPr id="10" name="Text 6"/>
          <p:cNvSpPr/>
          <p:nvPr/>
        </p:nvSpPr>
        <p:spPr>
          <a:xfrm>
            <a:off x="797868" y="2205186"/>
            <a:ext cx="358348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CSAT scores typically range between 4.5 and 5, especially when customers</a:t>
            </a:r>
            <a:endParaRPr lang="en-US" sz="748" dirty="0"/>
          </a:p>
        </p:txBody>
      </p:sp>
      <p:sp>
        <p:nvSpPr>
          <p:cNvPr id="11" name="Text 7"/>
          <p:cNvSpPr/>
          <p:nvPr/>
        </p:nvSpPr>
        <p:spPr>
          <a:xfrm>
            <a:off x="797868" y="2357438"/>
            <a:ext cx="163225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it with other channels.</a:t>
            </a:r>
            <a:endParaRPr lang="en-US" sz="748" dirty="0"/>
          </a:p>
        </p:txBody>
      </p:sp>
      <p:sp>
        <p:nvSpPr>
          <p:cNvPr id="12" name="Text 8"/>
          <p:cNvSpPr/>
          <p:nvPr/>
        </p:nvSpPr>
        <p:spPr>
          <a:xfrm>
            <a:off x="5024177" y="1891643"/>
            <a:ext cx="432018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FCR</a:t>
            </a:r>
            <a:endParaRPr lang="en-US" sz="973" dirty="0"/>
          </a:p>
        </p:txBody>
      </p:sp>
      <p:sp>
        <p:nvSpPr>
          <p:cNvPr id="13" name="Text 9"/>
          <p:cNvSpPr/>
          <p:nvPr/>
        </p:nvSpPr>
        <p:spPr>
          <a:xfrm>
            <a:off x="4709071" y="2215232"/>
            <a:ext cx="322361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First-contact resolution rates with video calls outperform any digital</a:t>
            </a:r>
            <a:endParaRPr lang="en-US" sz="748" dirty="0"/>
          </a:p>
        </p:txBody>
      </p:sp>
      <p:sp>
        <p:nvSpPr>
          <p:cNvPr id="14" name="Text 10"/>
          <p:cNvSpPr/>
          <p:nvPr/>
        </p:nvSpPr>
        <p:spPr>
          <a:xfrm>
            <a:off x="4709071" y="2368153"/>
            <a:ext cx="107616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channel or phone.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16508" y="4406243"/>
            <a:ext cx="6285272" cy="12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service channel comparison data (CSAT and FCR) reflects consolidated industry averages and trends for 2025-2026, drawn from several MassaPro client reports and cross-checked against independent studies.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10_595896971e3b3a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218" y="442913"/>
            <a:ext cx="2661047" cy="4432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588" y="466465"/>
            <a:ext cx="175872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H E C O N C E P 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3588" y="642156"/>
            <a:ext cx="3756468" cy="35490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presence.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93588" y="975122"/>
            <a:ext cx="3761352" cy="35490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Remote operation.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93588" y="1762274"/>
            <a:ext cx="4520096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physical service point — kiosk, tablet, or simply a QR sticker —</a:t>
            </a:r>
            <a:endParaRPr lang="en-US" sz="973" dirty="0"/>
          </a:p>
        </p:txBody>
      </p:sp>
      <p:sp>
        <p:nvSpPr>
          <p:cNvPr id="8" name="Text 5"/>
          <p:cNvSpPr/>
          <p:nvPr/>
        </p:nvSpPr>
        <p:spPr>
          <a:xfrm>
            <a:off x="493588" y="1971675"/>
            <a:ext cx="4590083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connects the customer, in seconds, to a human advisor over high-</a:t>
            </a:r>
            <a:endParaRPr lang="en-US" sz="973" dirty="0"/>
          </a:p>
        </p:txBody>
      </p:sp>
      <p:sp>
        <p:nvSpPr>
          <p:cNvPr id="9" name="Text 6"/>
          <p:cNvSpPr/>
          <p:nvPr/>
        </p:nvSpPr>
        <p:spPr>
          <a:xfrm>
            <a:off x="493588" y="2180965"/>
            <a:ext cx="4937113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 video. The advisor can be based at any contact center in the</a:t>
            </a:r>
            <a:endParaRPr lang="en-US" sz="973" dirty="0"/>
          </a:p>
        </p:txBody>
      </p:sp>
      <p:sp>
        <p:nvSpPr>
          <p:cNvPr id="10" name="Text 7"/>
          <p:cNvSpPr/>
          <p:nvPr/>
        </p:nvSpPr>
        <p:spPr>
          <a:xfrm>
            <a:off x="493588" y="2390924"/>
            <a:ext cx="4889785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world. The customer experiences high-value, face-to-face service that</a:t>
            </a:r>
            <a:endParaRPr lang="en-US" sz="973" dirty="0"/>
          </a:p>
        </p:txBody>
      </p:sp>
      <p:sp>
        <p:nvSpPr>
          <p:cNvPr id="11" name="Text 8"/>
          <p:cNvSpPr/>
          <p:nvPr/>
        </p:nvSpPr>
        <p:spPr>
          <a:xfrm>
            <a:off x="493588" y="2600325"/>
            <a:ext cx="1842864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gets things resolved.</a:t>
            </a:r>
            <a:endParaRPr lang="en-US" sz="973" dirty="0"/>
          </a:p>
        </p:txBody>
      </p:sp>
      <p:sp>
        <p:nvSpPr>
          <p:cNvPr id="12" name="Text 9"/>
          <p:cNvSpPr/>
          <p:nvPr/>
        </p:nvSpPr>
        <p:spPr>
          <a:xfrm>
            <a:off x="839391" y="3182541"/>
            <a:ext cx="972917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app to install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03066" y="3182541"/>
            <a:ext cx="1443679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appointment needed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71156" y="3182541"/>
            <a:ext cx="905247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on-site staff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05 / 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11_bc1fc6f86fe7c3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/home/z/my-project/download/rebranded_slides/images/img_012_212fd91723a904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250" y="4083323"/>
            <a:ext cx="2042331" cy="1998018"/>
          </a:xfrm>
          <a:prstGeom prst="rect">
            <a:avLst/>
          </a:prstGeom>
        </p:spPr>
      </p:pic>
      <p:pic>
        <p:nvPicPr>
          <p:cNvPr id="5" name="Image 2" descr="/home/z/my-project/download/rebranded_slides/images/img_013_0c5615d17a44bf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471" y="1573746"/>
            <a:ext cx="1509452" cy="17723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11810" y="3617528"/>
            <a:ext cx="2975796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EBEB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 the QR code to contact an agent and complete</a:t>
            </a:r>
            <a:endParaRPr lang="en-US" sz="827" dirty="0"/>
          </a:p>
        </p:txBody>
      </p:sp>
      <p:sp>
        <p:nvSpPr>
          <p:cNvPr id="7" name="Text 2"/>
          <p:cNvSpPr/>
          <p:nvPr/>
        </p:nvSpPr>
        <p:spPr>
          <a:xfrm>
            <a:off x="3505349" y="3729707"/>
            <a:ext cx="2826795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EBEB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registration form. You can speak through your</a:t>
            </a:r>
            <a:endParaRPr lang="en-US" sz="827" dirty="0"/>
          </a:p>
        </p:txBody>
      </p:sp>
      <p:sp>
        <p:nvSpPr>
          <p:cNvPr id="8" name="Text 3"/>
          <p:cNvSpPr/>
          <p:nvPr/>
        </p:nvSpPr>
        <p:spPr>
          <a:xfrm>
            <a:off x="3826818" y="3841105"/>
            <a:ext cx="1996562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EBEB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smartphone while interacting here.</a:t>
            </a:r>
            <a:endParaRPr lang="en-US" sz="827" dirty="0"/>
          </a:p>
        </p:txBody>
      </p:sp>
      <p:sp>
        <p:nvSpPr>
          <p:cNvPr id="9" name="Text 4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06 / 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14_13446197597e68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" y="9265"/>
            <a:ext cx="9124690" cy="5124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07 / 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15_fc192bba1b14a2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80" y="1426518"/>
            <a:ext cx="1437233" cy="1710928"/>
          </a:xfrm>
          <a:prstGeom prst="rect">
            <a:avLst/>
          </a:prstGeom>
        </p:spPr>
      </p:pic>
      <p:pic>
        <p:nvPicPr>
          <p:cNvPr id="4" name="Image 1" descr="/home/z/my-project/download/rebranded_slides/images/img_016_cb9689f47f20b78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853" y="1426518"/>
            <a:ext cx="1445828" cy="1717291"/>
          </a:xfrm>
          <a:prstGeom prst="rect">
            <a:avLst/>
          </a:prstGeom>
        </p:spPr>
      </p:pic>
      <p:pic>
        <p:nvPicPr>
          <p:cNvPr id="5" name="Image 2" descr="/home/z/my-project/download/rebranded_slides/images/img_017_6c0a79c297a1ec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521" y="1428750"/>
            <a:ext cx="1443707" cy="1711598"/>
          </a:xfrm>
          <a:prstGeom prst="rect">
            <a:avLst/>
          </a:prstGeom>
        </p:spPr>
      </p:pic>
      <p:pic>
        <p:nvPicPr>
          <p:cNvPr id="6" name="Image 3" descr="/home/z/my-project/download/rebranded_slides/images/img_018_ab29457b527c87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565" y="1426518"/>
            <a:ext cx="1438015" cy="171662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4258" y="466465"/>
            <a:ext cx="304005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N T E R A C T I O N A R C H I T E C T U R E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93588" y="645058"/>
            <a:ext cx="4435822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Four steps, under 30 seconds</a:t>
            </a:r>
            <a:endParaRPr lang="en-US" sz="2098" dirty="0"/>
          </a:p>
        </p:txBody>
      </p:sp>
      <p:sp>
        <p:nvSpPr>
          <p:cNvPr id="9" name="Text 3"/>
          <p:cNvSpPr/>
          <p:nvPr/>
        </p:nvSpPr>
        <p:spPr>
          <a:xfrm>
            <a:off x="787933" y="3320393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1002246" y="3311798"/>
            <a:ext cx="576679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</a:t>
            </a:r>
            <a:endParaRPr lang="en-US" sz="1052" dirty="0"/>
          </a:p>
        </p:txBody>
      </p:sp>
      <p:sp>
        <p:nvSpPr>
          <p:cNvPr id="11" name="Text 5"/>
          <p:cNvSpPr/>
          <p:nvPr/>
        </p:nvSpPr>
        <p:spPr>
          <a:xfrm>
            <a:off x="686470" y="3624002"/>
            <a:ext cx="163887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customer scans the QR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686470" y="3776811"/>
            <a:ext cx="161574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on the video kiosk, tablet,</a:t>
            </a:r>
            <a:endParaRPr lang="en-US" sz="748" dirty="0"/>
          </a:p>
        </p:txBody>
      </p:sp>
      <p:sp>
        <p:nvSpPr>
          <p:cNvPr id="13" name="Text 7"/>
          <p:cNvSpPr/>
          <p:nvPr/>
        </p:nvSpPr>
        <p:spPr>
          <a:xfrm>
            <a:off x="686470" y="3929063"/>
            <a:ext cx="162394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sticker with their own mobile</a:t>
            </a:r>
            <a:endParaRPr lang="en-US" sz="748" dirty="0"/>
          </a:p>
        </p:txBody>
      </p:sp>
      <p:sp>
        <p:nvSpPr>
          <p:cNvPr id="14" name="Text 8"/>
          <p:cNvSpPr/>
          <p:nvPr/>
        </p:nvSpPr>
        <p:spPr>
          <a:xfrm>
            <a:off x="686470" y="4081202"/>
            <a:ext cx="46832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phone.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2875359" y="3320393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101057" y="3311798"/>
            <a:ext cx="837357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</a:t>
            </a:r>
            <a:endParaRPr lang="en-US" sz="1052" dirty="0"/>
          </a:p>
        </p:txBody>
      </p:sp>
      <p:sp>
        <p:nvSpPr>
          <p:cNvPr id="17" name="Text 11"/>
          <p:cNvSpPr/>
          <p:nvPr/>
        </p:nvSpPr>
        <p:spPr>
          <a:xfrm>
            <a:off x="2785281" y="3624002"/>
            <a:ext cx="147953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enter the minimum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2785281" y="3776811"/>
            <a:ext cx="156221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details on their phone:</a:t>
            </a:r>
            <a:endParaRPr lang="en-US" sz="748" dirty="0"/>
          </a:p>
        </p:txBody>
      </p:sp>
      <p:sp>
        <p:nvSpPr>
          <p:cNvPr id="19" name="Text 13"/>
          <p:cNvSpPr/>
          <p:nvPr/>
        </p:nvSpPr>
        <p:spPr>
          <a:xfrm>
            <a:off x="2785281" y="3929063"/>
            <a:ext cx="15845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name, contact info, reason, ID,</a:t>
            </a:r>
            <a:endParaRPr lang="en-US" sz="748" dirty="0"/>
          </a:p>
        </p:txBody>
      </p:sp>
      <p:sp>
        <p:nvSpPr>
          <p:cNvPr id="20" name="Text 14"/>
          <p:cNvSpPr/>
          <p:nvPr/>
        </p:nvSpPr>
        <p:spPr>
          <a:xfrm>
            <a:off x="2785281" y="4081202"/>
            <a:ext cx="90357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promo code.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974171" y="3320393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199869" y="3311798"/>
            <a:ext cx="877102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endParaRPr lang="en-US" sz="1052" dirty="0"/>
          </a:p>
        </p:txBody>
      </p:sp>
      <p:sp>
        <p:nvSpPr>
          <p:cNvPr id="23" name="Text 17"/>
          <p:cNvSpPr/>
          <p:nvPr/>
        </p:nvSpPr>
        <p:spPr>
          <a:xfrm>
            <a:off x="4884093" y="3624002"/>
            <a:ext cx="159604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enter a sync PIN. The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884093" y="3776811"/>
            <a:ext cx="147698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routes the session to</a:t>
            </a:r>
            <a:endParaRPr lang="en-US" sz="748" dirty="0"/>
          </a:p>
        </p:txBody>
      </p:sp>
      <p:sp>
        <p:nvSpPr>
          <p:cNvPr id="25" name="Text 19"/>
          <p:cNvSpPr/>
          <p:nvPr/>
        </p:nvSpPr>
        <p:spPr>
          <a:xfrm>
            <a:off x="4884093" y="3929063"/>
            <a:ext cx="132859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first available advisor.</a:t>
            </a:r>
            <a:endParaRPr lang="en-US" sz="748" dirty="0"/>
          </a:p>
        </p:txBody>
      </p:sp>
      <p:sp>
        <p:nvSpPr>
          <p:cNvPr id="26" name="Text 20"/>
          <p:cNvSpPr/>
          <p:nvPr/>
        </p:nvSpPr>
        <p:spPr>
          <a:xfrm>
            <a:off x="7066508" y="3320393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298010" y="3311798"/>
            <a:ext cx="477560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Talk</a:t>
            </a:r>
            <a:endParaRPr lang="en-US" sz="1052" dirty="0"/>
          </a:p>
        </p:txBody>
      </p:sp>
      <p:sp>
        <p:nvSpPr>
          <p:cNvPr id="28" name="Text 22"/>
          <p:cNvSpPr/>
          <p:nvPr/>
        </p:nvSpPr>
        <p:spPr>
          <a:xfrm>
            <a:off x="6983016" y="3624002"/>
            <a:ext cx="137335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Audio runs through the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983016" y="3776811"/>
            <a:ext cx="162936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customer's phone: total privacy</a:t>
            </a:r>
            <a:endParaRPr lang="en-US" sz="748" dirty="0"/>
          </a:p>
        </p:txBody>
      </p:sp>
      <p:sp>
        <p:nvSpPr>
          <p:cNvPr id="30" name="Text 24"/>
          <p:cNvSpPr/>
          <p:nvPr/>
        </p:nvSpPr>
        <p:spPr>
          <a:xfrm>
            <a:off x="6983016" y="3929063"/>
            <a:ext cx="164989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HD video quality in any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983016" y="4081202"/>
            <a:ext cx="79404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environment.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08 / 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19_b4372a734a0c78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18" y="4282678"/>
            <a:ext cx="1427969" cy="1070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588" y="466465"/>
            <a:ext cx="302572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 C H I T E C T U R E · S P L I 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3588" y="639366"/>
            <a:ext cx="5406591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session, split across two devices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93588" y="1205843"/>
            <a:ext cx="7508974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the technical piece that sets this technology apart from any video call: the streams of a single session are split between the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3588" y="1377293"/>
            <a:ext cx="3041014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point's screen and the customer's phone.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6430" y="1943100"/>
            <a:ext cx="194612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12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H Y S I C A L P O I N 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26430" y="2138102"/>
            <a:ext cx="2351577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Kiosk, screen, or tablet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19311" y="2503884"/>
            <a:ext cx="183707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Life-size HD video of the advisor</a:t>
            </a:r>
            <a:endParaRPr lang="en-US" sz="827" dirty="0"/>
          </a:p>
        </p:txBody>
      </p:sp>
      <p:sp>
        <p:nvSpPr>
          <p:cNvPr id="11" name="Text 8"/>
          <p:cNvSpPr/>
          <p:nvPr/>
        </p:nvSpPr>
        <p:spPr>
          <a:xfrm>
            <a:off x="919311" y="2806043"/>
            <a:ext cx="164292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document screen</a:t>
            </a:r>
            <a:endParaRPr lang="en-US" sz="827" dirty="0"/>
          </a:p>
        </p:txBody>
      </p:sp>
      <p:sp>
        <p:nvSpPr>
          <p:cNvPr id="12" name="Text 9"/>
          <p:cNvSpPr/>
          <p:nvPr/>
        </p:nvSpPr>
        <p:spPr>
          <a:xfrm>
            <a:off x="919311" y="3106750"/>
            <a:ext cx="179090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Receives the RTP media stream</a:t>
            </a:r>
            <a:endParaRPr lang="en-US" sz="827" dirty="0"/>
          </a:p>
        </p:txBody>
      </p:sp>
      <p:sp>
        <p:nvSpPr>
          <p:cNvPr id="13" name="Text 10"/>
          <p:cNvSpPr/>
          <p:nvPr/>
        </p:nvSpPr>
        <p:spPr>
          <a:xfrm>
            <a:off x="4321187" y="2508796"/>
            <a:ext cx="862608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212035" y="1943100"/>
            <a:ext cx="247815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12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 U S T O M E R ' S D E V I C 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35" y="2138102"/>
            <a:ext cx="2668994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Their own smartphone, no app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5404247" y="2503884"/>
            <a:ext cx="145805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 two-way audio</a:t>
            </a:r>
            <a:endParaRPr lang="en-US" sz="827" dirty="0"/>
          </a:p>
        </p:txBody>
      </p:sp>
      <p:sp>
        <p:nvSpPr>
          <p:cNvPr id="17" name="Text 14"/>
          <p:cNvSpPr/>
          <p:nvPr/>
        </p:nvSpPr>
        <p:spPr>
          <a:xfrm>
            <a:off x="5404247" y="2806043"/>
            <a:ext cx="199354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Signaling and session control (RTC)</a:t>
            </a:r>
            <a:endParaRPr lang="en-US" sz="827" dirty="0"/>
          </a:p>
        </p:txBody>
      </p:sp>
      <p:sp>
        <p:nvSpPr>
          <p:cNvPr id="18" name="Text 15"/>
          <p:cNvSpPr/>
          <p:nvPr/>
        </p:nvSpPr>
        <p:spPr>
          <a:xfrm>
            <a:off x="5404247" y="3106750"/>
            <a:ext cx="197691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capture and service selection</a:t>
            </a:r>
            <a:endParaRPr lang="en-US" sz="827" dirty="0"/>
          </a:p>
        </p:txBody>
      </p:sp>
      <p:sp>
        <p:nvSpPr>
          <p:cNvPr id="19" name="Text 16"/>
          <p:cNvSpPr/>
          <p:nvPr/>
        </p:nvSpPr>
        <p:spPr>
          <a:xfrm>
            <a:off x="699306" y="3882628"/>
            <a:ext cx="492036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 center · ACD · browser-based advisors — receive both streams as a single interaction</a:t>
            </a:r>
            <a:endParaRPr lang="en-US" sz="827" dirty="0"/>
          </a:p>
        </p:txBody>
      </p:sp>
      <p:sp>
        <p:nvSpPr>
          <p:cNvPr id="20" name="Text 17"/>
          <p:cNvSpPr/>
          <p:nvPr/>
        </p:nvSpPr>
        <p:spPr>
          <a:xfrm>
            <a:off x="493588" y="4321187"/>
            <a:ext cx="699015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logical session · Passes through corporate firewalls and NAT · WiFi, 5G, or LTE · PWA mode to reconnect later · no VPN · no App · no installation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09 / 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20_565364d3928a9d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4296" y="384981"/>
            <a:ext cx="2742419" cy="2228850"/>
          </a:xfrm>
          <a:prstGeom prst="rect">
            <a:avLst/>
          </a:prstGeom>
        </p:spPr>
      </p:pic>
      <p:pic>
        <p:nvPicPr>
          <p:cNvPr id="4" name="Image 1" descr="/home/z/my-project/download/rebranded_slides/images/img_021_2f0ca8acbe3f3e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62" y="2548086"/>
            <a:ext cx="2561034" cy="2210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3588" y="466465"/>
            <a:ext cx="3280769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R I V A C Y A N D I N C L U S I O 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93588" y="645058"/>
            <a:ext cx="4224077" cy="33091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Audio never passes through</a:t>
            </a:r>
            <a:endParaRPr lang="en-US" sz="2098" dirty="0"/>
          </a:p>
        </p:txBody>
      </p:sp>
      <p:sp>
        <p:nvSpPr>
          <p:cNvPr id="7" name="Text 3"/>
          <p:cNvSpPr/>
          <p:nvPr/>
        </p:nvSpPr>
        <p:spPr>
          <a:xfrm>
            <a:off x="493588" y="959383"/>
            <a:ext cx="3191666" cy="33091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hardware</a:t>
            </a:r>
            <a:endParaRPr lang="en-US" sz="2098" dirty="0"/>
          </a:p>
        </p:txBody>
      </p:sp>
      <p:sp>
        <p:nvSpPr>
          <p:cNvPr id="8" name="Text 4"/>
          <p:cNvSpPr/>
          <p:nvPr/>
        </p:nvSpPr>
        <p:spPr>
          <a:xfrm>
            <a:off x="493588" y="1756581"/>
            <a:ext cx="4546885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Thanks to the SPLIT architecture, audio goes in and out through the customer's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3588" y="1946672"/>
            <a:ext cx="4753496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 phone — never through a kiosk speaker or microphone. The same mechanism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3588" y="2137321"/>
            <a:ext cx="3729707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solves both data privacy and intelligibility in noisy environments.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45058" y="2757488"/>
            <a:ext cx="1248342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Acoustic isolation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45058" y="2956731"/>
            <a:ext cx="1900121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ambient noise in the session, and</a:t>
            </a:r>
            <a:endParaRPr lang="en-US" sz="748" dirty="0"/>
          </a:p>
        </p:txBody>
      </p:sp>
      <p:sp>
        <p:nvSpPr>
          <p:cNvPr id="13" name="Text 9"/>
          <p:cNvSpPr/>
          <p:nvPr/>
        </p:nvSpPr>
        <p:spPr>
          <a:xfrm>
            <a:off x="645058" y="3089672"/>
            <a:ext cx="1629847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disturbance to those nearby.</a:t>
            </a:r>
            <a:endParaRPr lang="en-US" sz="748" dirty="0"/>
          </a:p>
        </p:txBody>
      </p:sp>
      <p:sp>
        <p:nvSpPr>
          <p:cNvPr id="14" name="Text 10"/>
          <p:cNvSpPr/>
          <p:nvPr/>
        </p:nvSpPr>
        <p:spPr>
          <a:xfrm>
            <a:off x="2715295" y="2757488"/>
            <a:ext cx="1405449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confidentiality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15295" y="2956731"/>
            <a:ext cx="182815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Banking, medical, or personal data,</a:t>
            </a:r>
            <a:endParaRPr lang="en-US" sz="748" dirty="0"/>
          </a:p>
        </p:txBody>
      </p:sp>
      <p:sp>
        <p:nvSpPr>
          <p:cNvPr id="16" name="Text 12"/>
          <p:cNvSpPr/>
          <p:nvPr/>
        </p:nvSpPr>
        <p:spPr>
          <a:xfrm>
            <a:off x="2715295" y="3089672"/>
            <a:ext cx="143963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inaudible to bystanders.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5058" y="3635387"/>
            <a:ext cx="1384939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Multilingual service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5058" y="3834743"/>
            <a:ext cx="185925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Automatic routing to the customer's</a:t>
            </a:r>
            <a:endParaRPr lang="en-US" sz="748" dirty="0"/>
          </a:p>
        </p:txBody>
      </p:sp>
      <p:sp>
        <p:nvSpPr>
          <p:cNvPr id="19" name="Text 15"/>
          <p:cNvSpPr/>
          <p:nvPr/>
        </p:nvSpPr>
        <p:spPr>
          <a:xfrm>
            <a:off x="645058" y="3968353"/>
            <a:ext cx="67566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715295" y="3635387"/>
            <a:ext cx="1022310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 language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715295" y="3834743"/>
            <a:ext cx="150881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interpreter for deaf</a:t>
            </a:r>
            <a:endParaRPr lang="en-US" sz="748" dirty="0"/>
          </a:p>
        </p:txBody>
      </p:sp>
      <p:sp>
        <p:nvSpPr>
          <p:cNvPr id="22" name="Text 18"/>
          <p:cNvSpPr/>
          <p:nvPr/>
        </p:nvSpPr>
        <p:spPr>
          <a:xfrm>
            <a:off x="2715295" y="3968353"/>
            <a:ext cx="65884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377136" y="2503884"/>
            <a:ext cx="1927366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COMMUNICATION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10 / 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22_07e966f43586cf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7921" y="1570844"/>
            <a:ext cx="1170794" cy="1145121"/>
          </a:xfrm>
          <a:prstGeom prst="rect">
            <a:avLst/>
          </a:prstGeom>
        </p:spPr>
      </p:pic>
      <p:pic>
        <p:nvPicPr>
          <p:cNvPr id="4" name="Image 1" descr="/home/z/my-project/download/rebranded_slides/images/img_023_2ef8609a42e313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273" y="1135075"/>
            <a:ext cx="3005286" cy="2056619"/>
          </a:xfrm>
          <a:prstGeom prst="rect">
            <a:avLst/>
          </a:prstGeom>
        </p:spPr>
      </p:pic>
      <p:pic>
        <p:nvPicPr>
          <p:cNvPr id="5" name="Image 2" descr="/home/z/my-project/download/rebranded_slides/images/img_024_9bc65332a9333d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40" y="1623752"/>
            <a:ext cx="1093663" cy="1093663"/>
          </a:xfrm>
          <a:prstGeom prst="rect">
            <a:avLst/>
          </a:prstGeom>
        </p:spPr>
      </p:pic>
      <p:pic>
        <p:nvPicPr>
          <p:cNvPr id="6" name="Image 3" descr="/home/z/my-project/download/rebranded_slides/images/img_025_b97dcb6db760a9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362" y="1658020"/>
            <a:ext cx="926455" cy="865063"/>
          </a:xfrm>
          <a:prstGeom prst="rect">
            <a:avLst/>
          </a:prstGeom>
        </p:spPr>
      </p:pic>
      <p:pic>
        <p:nvPicPr>
          <p:cNvPr id="7" name="Image 4" descr="/home/z/my-project/download/rebranded_slides/images/img_026_3aabece58d7135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346" y="1629445"/>
            <a:ext cx="960053" cy="960053"/>
          </a:xfrm>
          <a:prstGeom prst="rect">
            <a:avLst/>
          </a:prstGeom>
        </p:spPr>
      </p:pic>
      <p:pic>
        <p:nvPicPr>
          <p:cNvPr id="8" name="Image 5" descr="/home/z/my-project/download/rebranded_slides/images/img_027_73cb3fc4dec8b711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653" y="1574416"/>
            <a:ext cx="971550" cy="1420825"/>
          </a:xfrm>
          <a:prstGeom prst="rect">
            <a:avLst/>
          </a:prstGeom>
        </p:spPr>
      </p:pic>
      <p:pic>
        <p:nvPicPr>
          <p:cNvPr id="9" name="Image 6" descr="/home/z/my-project/download/rebranded_slides/images/img_019_b4372a734a0c78b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971" y="794296"/>
            <a:ext cx="1428750" cy="1071563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93588" y="466465"/>
            <a:ext cx="178817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C A L A B I L I T Y</a:t>
            </a:r>
            <a:endParaRPr lang="en-US" sz="800" dirty="0"/>
          </a:p>
        </p:txBody>
      </p:sp>
      <p:sp>
        <p:nvSpPr>
          <p:cNvPr id="11" name="Text 2"/>
          <p:cNvSpPr/>
          <p:nvPr/>
        </p:nvSpPr>
        <p:spPr>
          <a:xfrm>
            <a:off x="493588" y="645058"/>
            <a:ext cx="4508934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expert team serves</a:t>
            </a:r>
            <a:endParaRPr lang="en-US" sz="2098" dirty="0"/>
          </a:p>
        </p:txBody>
      </p:sp>
      <p:sp>
        <p:nvSpPr>
          <p:cNvPr id="12" name="Text 3"/>
          <p:cNvSpPr/>
          <p:nvPr/>
        </p:nvSpPr>
        <p:spPr>
          <a:xfrm>
            <a:off x="493588" y="959383"/>
            <a:ext cx="4280111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entire physical or digital</a:t>
            </a:r>
            <a:endParaRPr lang="en-US" sz="2098" dirty="0"/>
          </a:p>
        </p:txBody>
      </p:sp>
      <p:sp>
        <p:nvSpPr>
          <p:cNvPr id="13" name="Text 4"/>
          <p:cNvSpPr/>
          <p:nvPr/>
        </p:nvSpPr>
        <p:spPr>
          <a:xfrm>
            <a:off x="493588" y="1273708"/>
            <a:ext cx="1766973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</a:t>
            </a:r>
            <a:endParaRPr lang="en-US" sz="2098" dirty="0"/>
          </a:p>
        </p:txBody>
      </p:sp>
      <p:sp>
        <p:nvSpPr>
          <p:cNvPr id="14" name="Text 5"/>
          <p:cNvSpPr/>
          <p:nvPr/>
        </p:nvSpPr>
        <p:spPr>
          <a:xfrm>
            <a:off x="493588" y="1756581"/>
            <a:ext cx="422028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capacity is no longer tied to a building. A single, centralized team</a:t>
            </a:r>
            <a:endParaRPr lang="en-US" sz="900" dirty="0"/>
          </a:p>
        </p:txBody>
      </p:sp>
      <p:sp>
        <p:nvSpPr>
          <p:cNvPr id="15" name="Text 6"/>
          <p:cNvSpPr/>
          <p:nvPr/>
        </p:nvSpPr>
        <p:spPr>
          <a:xfrm>
            <a:off x="493588" y="1946672"/>
            <a:ext cx="402438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advisors covers dozens or hundreds of contact points, with demand</a:t>
            </a:r>
            <a:endParaRPr lang="en-US" sz="900" dirty="0"/>
          </a:p>
        </p:txBody>
      </p:sp>
      <p:sp>
        <p:nvSpPr>
          <p:cNvPr id="16" name="Text 7"/>
          <p:cNvSpPr/>
          <p:nvPr/>
        </p:nvSpPr>
        <p:spPr>
          <a:xfrm>
            <a:off x="493588" y="2137321"/>
            <a:ext cx="4116139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redistributed through intelligent ACD routing based on the real traffic at</a:t>
            </a:r>
            <a:endParaRPr lang="en-US" sz="900" dirty="0"/>
          </a:p>
        </p:txBody>
      </p:sp>
      <p:sp>
        <p:nvSpPr>
          <p:cNvPr id="17" name="Text 8"/>
          <p:cNvSpPr/>
          <p:nvPr/>
        </p:nvSpPr>
        <p:spPr>
          <a:xfrm>
            <a:off x="493588" y="2328081"/>
            <a:ext cx="100235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location.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713594" y="2956731"/>
            <a:ext cx="252782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new locations without hiring local staff</a:t>
            </a:r>
            <a:endParaRPr lang="en-US" sz="827" dirty="0"/>
          </a:p>
        </p:txBody>
      </p:sp>
      <p:sp>
        <p:nvSpPr>
          <p:cNvPr id="19" name="Text 10"/>
          <p:cNvSpPr/>
          <p:nvPr/>
        </p:nvSpPr>
        <p:spPr>
          <a:xfrm>
            <a:off x="713594" y="3312468"/>
            <a:ext cx="279153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Extended hours without duplicating shifts per branch</a:t>
            </a:r>
            <a:endParaRPr lang="en-US" sz="827" dirty="0"/>
          </a:p>
        </p:txBody>
      </p:sp>
      <p:sp>
        <p:nvSpPr>
          <p:cNvPr id="20" name="Text 11"/>
          <p:cNvSpPr/>
          <p:nvPr/>
        </p:nvSpPr>
        <p:spPr>
          <a:xfrm>
            <a:off x="713594" y="3669655"/>
            <a:ext cx="2689287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Specialists now available across the entire network</a:t>
            </a:r>
            <a:endParaRPr lang="en-US" sz="827" dirty="0"/>
          </a:p>
        </p:txBody>
      </p:sp>
      <p:sp>
        <p:nvSpPr>
          <p:cNvPr id="21" name="Text 12"/>
          <p:cNvSpPr/>
          <p:nvPr/>
        </p:nvSpPr>
        <p:spPr>
          <a:xfrm>
            <a:off x="6071406" y="953691"/>
            <a:ext cx="2256560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Contact center · 24/7</a:t>
            </a:r>
            <a:endParaRPr lang="en-US" sz="1198" dirty="0"/>
          </a:p>
        </p:txBody>
      </p:sp>
      <p:sp>
        <p:nvSpPr>
          <p:cNvPr id="22" name="Text 13"/>
          <p:cNvSpPr/>
          <p:nvPr/>
        </p:nvSpPr>
        <p:spPr>
          <a:xfrm>
            <a:off x="5486400" y="3635387"/>
            <a:ext cx="47917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6369993" y="3635387"/>
            <a:ext cx="40183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7203021" y="3635387"/>
            <a:ext cx="40272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Hotel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8011028" y="3635387"/>
            <a:ext cx="42159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6065713" y="4096941"/>
            <a:ext cx="19362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… and every new location on the network</a:t>
            </a:r>
            <a:endParaRPr lang="en-US" sz="675" dirty="0"/>
          </a:p>
        </p:txBody>
      </p:sp>
      <p:sp>
        <p:nvSpPr>
          <p:cNvPr id="27" name="Text 18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747272" y="2485244"/>
            <a:ext cx="344686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</a:t>
            </a:r>
            <a:endParaRPr lang="en-US" sz="1125" dirty="0"/>
          </a:p>
        </p:txBody>
      </p:sp>
      <p:sp>
        <p:nvSpPr>
          <p:cNvPr id="29" name="Text 20"/>
          <p:cNvSpPr/>
          <p:nvPr/>
        </p:nvSpPr>
        <p:spPr>
          <a:xfrm>
            <a:off x="6795046" y="2665958"/>
            <a:ext cx="189845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endParaRPr lang="en-US" sz="1125" dirty="0"/>
          </a:p>
        </p:txBody>
      </p:sp>
      <p:sp>
        <p:nvSpPr>
          <p:cNvPr id="30" name="Text 2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033817" y="4936331"/>
            <a:ext cx="111018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11 / 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28_3febe454778332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8" y="1602321"/>
            <a:ext cx="1540148" cy="2560253"/>
          </a:xfrm>
          <a:prstGeom prst="rect">
            <a:avLst/>
          </a:prstGeom>
        </p:spPr>
      </p:pic>
      <p:pic>
        <p:nvPicPr>
          <p:cNvPr id="4" name="Image 1" descr="/home/z/my-project/download/rebranded_slides/images/img_029_0a2c5fb58a2ec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366" y="1577987"/>
            <a:ext cx="910828" cy="1412230"/>
          </a:xfrm>
          <a:prstGeom prst="rect">
            <a:avLst/>
          </a:prstGeom>
        </p:spPr>
      </p:pic>
      <p:pic>
        <p:nvPicPr>
          <p:cNvPr id="5" name="Image 2" descr="/home/z/my-project/download/rebranded_slides/images/img_030_5e147c1b638920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06" y="1688046"/>
            <a:ext cx="533549" cy="1095115"/>
          </a:xfrm>
          <a:prstGeom prst="rect">
            <a:avLst/>
          </a:prstGeom>
        </p:spPr>
      </p:pic>
      <p:pic>
        <p:nvPicPr>
          <p:cNvPr id="6" name="Image 3" descr="/home/z/my-project/download/rebranded_slides/images/img_031_bd141eb55577b3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937" y="2597423"/>
            <a:ext cx="159953" cy="106375"/>
          </a:xfrm>
          <a:prstGeom prst="rect">
            <a:avLst/>
          </a:prstGeom>
        </p:spPr>
      </p:pic>
      <p:pic>
        <p:nvPicPr>
          <p:cNvPr id="7" name="Image 4" descr="/home/z/my-project/download/rebranded_slides/images/img_032_aee60eece4af5e1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386" y="1602321"/>
            <a:ext cx="652202" cy="136512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93588" y="466465"/>
            <a:ext cx="318087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 U S T O M E R E X P E R I E N C E</a:t>
            </a:r>
            <a:endParaRPr lang="en-US" sz="800" dirty="0"/>
          </a:p>
        </p:txBody>
      </p:sp>
      <p:sp>
        <p:nvSpPr>
          <p:cNvPr id="9" name="Text 2"/>
          <p:cNvSpPr/>
          <p:nvPr/>
        </p:nvSpPr>
        <p:spPr>
          <a:xfrm>
            <a:off x="493588" y="639366"/>
            <a:ext cx="7231261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customers experience it as in-person service</a:t>
            </a:r>
            <a:endParaRPr lang="en-US" sz="2025" dirty="0"/>
          </a:p>
        </p:txBody>
      </p:sp>
      <p:sp>
        <p:nvSpPr>
          <p:cNvPr id="10" name="Text 3"/>
          <p:cNvSpPr/>
          <p:nvPr/>
        </p:nvSpPr>
        <p:spPr>
          <a:xfrm>
            <a:off x="713594" y="3119586"/>
            <a:ext cx="1287689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 scale</a:t>
            </a:r>
            <a:endParaRPr lang="en-US" sz="1125" dirty="0"/>
          </a:p>
        </p:txBody>
      </p:sp>
      <p:sp>
        <p:nvSpPr>
          <p:cNvPr id="11" name="Text 4"/>
          <p:cNvSpPr/>
          <p:nvPr/>
        </p:nvSpPr>
        <p:spPr>
          <a:xfrm>
            <a:off x="713594" y="3415382"/>
            <a:ext cx="210807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advisor appears life-size, looking</a:t>
            </a:r>
            <a:endParaRPr lang="en-US" sz="827" dirty="0"/>
          </a:p>
        </p:txBody>
      </p:sp>
      <p:sp>
        <p:nvSpPr>
          <p:cNvPr id="12" name="Text 5"/>
          <p:cNvSpPr/>
          <p:nvPr/>
        </p:nvSpPr>
        <p:spPr>
          <a:xfrm>
            <a:off x="713594" y="3577568"/>
            <a:ext cx="215171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straight at the camera. The perceived</a:t>
            </a:r>
            <a:endParaRPr lang="en-US" sz="827" dirty="0"/>
          </a:p>
        </p:txBody>
      </p:sp>
      <p:sp>
        <p:nvSpPr>
          <p:cNvPr id="13" name="Text 6"/>
          <p:cNvSpPr/>
          <p:nvPr/>
        </p:nvSpPr>
        <p:spPr>
          <a:xfrm>
            <a:off x="713594" y="3739753"/>
            <a:ext cx="2297457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and trust match that of a staffed</a:t>
            </a:r>
            <a:endParaRPr lang="en-US" sz="827" dirty="0"/>
          </a:p>
        </p:txBody>
      </p:sp>
      <p:sp>
        <p:nvSpPr>
          <p:cNvPr id="14" name="Text 7"/>
          <p:cNvSpPr/>
          <p:nvPr/>
        </p:nvSpPr>
        <p:spPr>
          <a:xfrm>
            <a:off x="713594" y="3901157"/>
            <a:ext cx="61133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counter.</a:t>
            </a:r>
            <a:endParaRPr lang="en-US" sz="827" dirty="0"/>
          </a:p>
        </p:txBody>
      </p:sp>
      <p:sp>
        <p:nvSpPr>
          <p:cNvPr id="15" name="Text 8"/>
          <p:cNvSpPr/>
          <p:nvPr/>
        </p:nvSpPr>
        <p:spPr>
          <a:xfrm>
            <a:off x="3525441" y="3119586"/>
            <a:ext cx="1555579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viewing</a:t>
            </a:r>
            <a:endParaRPr lang="en-US" sz="1125" dirty="0"/>
          </a:p>
        </p:txBody>
      </p:sp>
      <p:sp>
        <p:nvSpPr>
          <p:cNvPr id="16" name="Text 9"/>
          <p:cNvSpPr/>
          <p:nvPr/>
        </p:nvSpPr>
        <p:spPr>
          <a:xfrm>
            <a:off x="3525441" y="3415382"/>
            <a:ext cx="221982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advisor shares contracts, forms, or</a:t>
            </a:r>
            <a:endParaRPr lang="en-US" sz="827" dirty="0"/>
          </a:p>
        </p:txBody>
      </p:sp>
      <p:sp>
        <p:nvSpPr>
          <p:cNvPr id="17" name="Text 10"/>
          <p:cNvSpPr/>
          <p:nvPr/>
        </p:nvSpPr>
        <p:spPr>
          <a:xfrm>
            <a:off x="3525441" y="3577568"/>
            <a:ext cx="178547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catalogs on screen in real time.</a:t>
            </a:r>
            <a:endParaRPr lang="en-US" sz="827" dirty="0"/>
          </a:p>
        </p:txBody>
      </p:sp>
      <p:sp>
        <p:nvSpPr>
          <p:cNvPr id="18" name="Text 11"/>
          <p:cNvSpPr/>
          <p:nvPr/>
        </p:nvSpPr>
        <p:spPr>
          <a:xfrm>
            <a:off x="3525441" y="3739753"/>
            <a:ext cx="218245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visually review their orders</a:t>
            </a:r>
            <a:endParaRPr lang="en-US" sz="827" dirty="0"/>
          </a:p>
        </p:txBody>
      </p:sp>
      <p:sp>
        <p:nvSpPr>
          <p:cNvPr id="19" name="Text 12"/>
          <p:cNvSpPr/>
          <p:nvPr/>
        </p:nvSpPr>
        <p:spPr>
          <a:xfrm>
            <a:off x="3525441" y="3901157"/>
            <a:ext cx="1205787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confirming.</a:t>
            </a:r>
            <a:endParaRPr lang="en-US" sz="827" dirty="0"/>
          </a:p>
        </p:txBody>
      </p:sp>
      <p:sp>
        <p:nvSpPr>
          <p:cNvPr id="20" name="Text 13"/>
          <p:cNvSpPr/>
          <p:nvPr/>
        </p:nvSpPr>
        <p:spPr>
          <a:xfrm>
            <a:off x="6337176" y="3119586"/>
            <a:ext cx="2508266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from their phone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6337176" y="3415382"/>
            <a:ext cx="204297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customer runs the session from</a:t>
            </a:r>
            <a:endParaRPr lang="en-US" sz="827" dirty="0"/>
          </a:p>
        </p:txBody>
      </p:sp>
      <p:sp>
        <p:nvSpPr>
          <p:cNvPr id="22" name="Text 15"/>
          <p:cNvSpPr/>
          <p:nvPr/>
        </p:nvSpPr>
        <p:spPr>
          <a:xfrm>
            <a:off x="6337176" y="3577568"/>
            <a:ext cx="193648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their own phone — no shared</a:t>
            </a:r>
            <a:endParaRPr lang="en-US" sz="827" dirty="0"/>
          </a:p>
        </p:txBody>
      </p:sp>
      <p:sp>
        <p:nvSpPr>
          <p:cNvPr id="23" name="Text 16"/>
          <p:cNvSpPr/>
          <p:nvPr/>
        </p:nvSpPr>
        <p:spPr>
          <a:xfrm>
            <a:off x="6337176" y="3739753"/>
            <a:ext cx="214664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touchscreens, and they never give up</a:t>
            </a:r>
            <a:endParaRPr lang="en-US" sz="827" dirty="0"/>
          </a:p>
        </p:txBody>
      </p:sp>
      <p:sp>
        <p:nvSpPr>
          <p:cNvPr id="24" name="Text 17"/>
          <p:cNvSpPr/>
          <p:nvPr/>
        </p:nvSpPr>
        <p:spPr>
          <a:xfrm>
            <a:off x="6337176" y="3901157"/>
            <a:ext cx="56792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control.</a:t>
            </a:r>
            <a:endParaRPr lang="en-US" sz="827" dirty="0"/>
          </a:p>
        </p:txBody>
      </p:sp>
      <p:sp>
        <p:nvSpPr>
          <p:cNvPr id="25" name="Text 18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12 / 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33_40f5e4a0eda4a8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13 / 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6528955567-krlb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866" y="1211535"/>
            <a:ext cx="1005818" cy="1005818"/>
          </a:xfrm>
          <a:prstGeom prst="rect">
            <a:avLst/>
          </a:prstGeom>
        </p:spPr>
      </p:pic>
      <p:pic>
        <p:nvPicPr>
          <p:cNvPr id="4" name="Image 1" descr="/tmp/h2p-fit-1786528955568-w0u0f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52" y="1211535"/>
            <a:ext cx="1005818" cy="1005818"/>
          </a:xfrm>
          <a:prstGeom prst="rect">
            <a:avLst/>
          </a:prstGeom>
        </p:spPr>
      </p:pic>
      <p:pic>
        <p:nvPicPr>
          <p:cNvPr id="5" name="Image 2" descr="/tmp/h2p-fit-1786528955568-pr8r4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108" y="1211535"/>
            <a:ext cx="1005818" cy="1005818"/>
          </a:xfrm>
          <a:prstGeom prst="rect">
            <a:avLst/>
          </a:prstGeom>
        </p:spPr>
      </p:pic>
      <p:pic>
        <p:nvPicPr>
          <p:cNvPr id="6" name="Image 3" descr="/tmp/h2p-fit-1786528955568-wyjurj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768" y="1316571"/>
            <a:ext cx="750763" cy="79652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3588" y="466465"/>
            <a:ext cx="370647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 N E P O I N T , F O U R C H A N N E L S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93588" y="645058"/>
            <a:ext cx="7035812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choose how they want to be served</a:t>
            </a:r>
            <a:endParaRPr lang="en-US" sz="2098" dirty="0"/>
          </a:p>
        </p:txBody>
      </p:sp>
      <p:sp>
        <p:nvSpPr>
          <p:cNvPr id="9" name="Text 3"/>
          <p:cNvSpPr/>
          <p:nvPr/>
        </p:nvSpPr>
        <p:spPr>
          <a:xfrm>
            <a:off x="814388" y="1646634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13594" y="1983060"/>
            <a:ext cx="1017566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Kiosk</a:t>
            </a:r>
            <a:endParaRPr lang="en-US" sz="973" dirty="0"/>
          </a:p>
        </p:txBody>
      </p:sp>
      <p:sp>
        <p:nvSpPr>
          <p:cNvPr id="11" name="Text 5"/>
          <p:cNvSpPr/>
          <p:nvPr/>
        </p:nvSpPr>
        <p:spPr>
          <a:xfrm>
            <a:off x="713594" y="2243807"/>
            <a:ext cx="154244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on the large screen at</a:t>
            </a:r>
            <a:endParaRPr lang="en-US" sz="748" dirty="0"/>
          </a:p>
        </p:txBody>
      </p:sp>
      <p:sp>
        <p:nvSpPr>
          <p:cNvPr id="12" name="Text 6"/>
          <p:cNvSpPr/>
          <p:nvPr/>
        </p:nvSpPr>
        <p:spPr>
          <a:xfrm>
            <a:off x="713594" y="2386682"/>
            <a:ext cx="146252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service point, with audio</a:t>
            </a:r>
            <a:endParaRPr lang="en-US" sz="748" dirty="0"/>
          </a:p>
        </p:txBody>
      </p:sp>
      <p:sp>
        <p:nvSpPr>
          <p:cNvPr id="13" name="Text 7"/>
          <p:cNvSpPr/>
          <p:nvPr/>
        </p:nvSpPr>
        <p:spPr>
          <a:xfrm>
            <a:off x="713594" y="2529557"/>
            <a:ext cx="122811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through their phone.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2901032" y="1646634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811735" y="1983060"/>
            <a:ext cx="1464050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video call</a:t>
            </a:r>
            <a:endParaRPr lang="en-US" sz="973" dirty="0"/>
          </a:p>
        </p:txBody>
      </p:sp>
      <p:sp>
        <p:nvSpPr>
          <p:cNvPr id="16" name="Text 10"/>
          <p:cNvSpPr/>
          <p:nvPr/>
        </p:nvSpPr>
        <p:spPr>
          <a:xfrm>
            <a:off x="2811735" y="2243807"/>
            <a:ext cx="150130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entire session on the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2811735" y="2386682"/>
            <a:ext cx="147132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customer's phone, on-site or</a:t>
            </a:r>
            <a:endParaRPr lang="en-US" sz="748" dirty="0"/>
          </a:p>
        </p:txBody>
      </p:sp>
      <p:sp>
        <p:nvSpPr>
          <p:cNvPr id="18" name="Text 12"/>
          <p:cNvSpPr/>
          <p:nvPr/>
        </p:nvSpPr>
        <p:spPr>
          <a:xfrm>
            <a:off x="2796519" y="2529557"/>
            <a:ext cx="27653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999844" y="1646634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908641" y="1983060"/>
            <a:ext cx="932834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call</a:t>
            </a:r>
            <a:endParaRPr lang="en-US" sz="973" dirty="0"/>
          </a:p>
        </p:txBody>
      </p:sp>
      <p:sp>
        <p:nvSpPr>
          <p:cNvPr id="21" name="Text 15"/>
          <p:cNvSpPr/>
          <p:nvPr/>
        </p:nvSpPr>
        <p:spPr>
          <a:xfrm>
            <a:off x="4909877" y="2243807"/>
            <a:ext cx="155474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over data only — no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909877" y="2386682"/>
            <a:ext cx="143670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minutes used, no phone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909877" y="2529557"/>
            <a:ext cx="98407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number needed.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7092962" y="1646634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008688" y="1983060"/>
            <a:ext cx="1018524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WhatsApp</a:t>
            </a:r>
            <a:endParaRPr lang="en-US" sz="973" dirty="0"/>
          </a:p>
        </p:txBody>
      </p:sp>
      <p:sp>
        <p:nvSpPr>
          <p:cNvPr id="26" name="Text 20"/>
          <p:cNvSpPr/>
          <p:nvPr/>
        </p:nvSpPr>
        <p:spPr>
          <a:xfrm>
            <a:off x="7008688" y="2243807"/>
            <a:ext cx="138368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 continuity on</a:t>
            </a:r>
            <a:endParaRPr lang="en-US" sz="748" dirty="0"/>
          </a:p>
        </p:txBody>
      </p:sp>
      <p:sp>
        <p:nvSpPr>
          <p:cNvPr id="27" name="Text 21"/>
          <p:cNvSpPr/>
          <p:nvPr/>
        </p:nvSpPr>
        <p:spPr>
          <a:xfrm>
            <a:off x="7008688" y="2386682"/>
            <a:ext cx="13612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channel customers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008688" y="2529557"/>
            <a:ext cx="134154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already use every day.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726430" y="3443288"/>
            <a:ext cx="2755911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Metadata capture before connecting</a:t>
            </a:r>
            <a:endParaRPr lang="en-US" sz="973" dirty="0"/>
          </a:p>
        </p:txBody>
      </p:sp>
      <p:sp>
        <p:nvSpPr>
          <p:cNvPr id="30" name="Text 24"/>
          <p:cNvSpPr/>
          <p:nvPr/>
        </p:nvSpPr>
        <p:spPr>
          <a:xfrm>
            <a:off x="726430" y="3683943"/>
            <a:ext cx="364554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 · email · phone · ID document · promo code · room or file number. The</a:t>
            </a:r>
            <a:endParaRPr lang="en-US" sz="748" dirty="0"/>
          </a:p>
        </p:txBody>
      </p:sp>
      <p:sp>
        <p:nvSpPr>
          <p:cNvPr id="31" name="Text 25"/>
          <p:cNvSpPr/>
          <p:nvPr/>
        </p:nvSpPr>
        <p:spPr>
          <a:xfrm>
            <a:off x="726430" y="3826818"/>
            <a:ext cx="279164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advisor opens the session with the case already identified.</a:t>
            </a:r>
            <a:endParaRPr lang="en-US" sz="748" dirty="0"/>
          </a:p>
        </p:txBody>
      </p:sp>
      <p:sp>
        <p:nvSpPr>
          <p:cNvPr id="32" name="Text 26"/>
          <p:cNvSpPr/>
          <p:nvPr/>
        </p:nvSpPr>
        <p:spPr>
          <a:xfrm>
            <a:off x="4869135" y="3443288"/>
            <a:ext cx="2261862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 sync between devices</a:t>
            </a:r>
            <a:endParaRPr lang="en-US" sz="973" dirty="0"/>
          </a:p>
        </p:txBody>
      </p:sp>
      <p:sp>
        <p:nvSpPr>
          <p:cNvPr id="33" name="Text 27"/>
          <p:cNvSpPr/>
          <p:nvPr/>
        </p:nvSpPr>
        <p:spPr>
          <a:xfrm>
            <a:off x="4869135" y="3683943"/>
            <a:ext cx="355022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choosing kiosk mode, the customer enters a four-digit PIN that pairs</a:t>
            </a:r>
            <a:endParaRPr lang="en-US" sz="748" dirty="0"/>
          </a:p>
        </p:txBody>
      </p:sp>
      <p:sp>
        <p:nvSpPr>
          <p:cNvPr id="34" name="Text 28"/>
          <p:cNvSpPr/>
          <p:nvPr/>
        </p:nvSpPr>
        <p:spPr>
          <a:xfrm>
            <a:off x="4869135" y="3826818"/>
            <a:ext cx="357712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their phone with that specific screen — preventing session mix-ups at sites</a:t>
            </a:r>
            <a:endParaRPr lang="en-US" sz="748" dirty="0"/>
          </a:p>
        </p:txBody>
      </p:sp>
      <p:sp>
        <p:nvSpPr>
          <p:cNvPr id="35" name="Text 29"/>
          <p:cNvSpPr/>
          <p:nvPr/>
        </p:nvSpPr>
        <p:spPr>
          <a:xfrm>
            <a:off x="4869135" y="3969693"/>
            <a:ext cx="148132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several adjacent points.</a:t>
            </a:r>
            <a:endParaRPr lang="en-US" sz="748" dirty="0"/>
          </a:p>
        </p:txBody>
      </p:sp>
      <p:sp>
        <p:nvSpPr>
          <p:cNvPr id="36" name="Text 30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14 / 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34_9a0e967b988fdaf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585" y="3854053"/>
            <a:ext cx="3606812" cy="428625"/>
          </a:xfrm>
          <a:prstGeom prst="rect">
            <a:avLst/>
          </a:prstGeom>
        </p:spPr>
      </p:pic>
      <p:pic>
        <p:nvPicPr>
          <p:cNvPr id="4" name="Image 1" descr="/home/z/my-project/download/rebranded_slides/images/img_035_e3710a18728f9a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588" y="1290786"/>
            <a:ext cx="3557588" cy="2000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3588" y="466465"/>
            <a:ext cx="328583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E R V I C E A R C H I T E C T U R 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93588" y="639366"/>
            <a:ext cx="373400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service or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493588" y="934380"/>
            <a:ext cx="3940783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multi-service selector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493588" y="1748768"/>
            <a:ext cx="3905287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contact point can be configured as a dedicated service — 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3588" y="1929482"/>
            <a:ext cx="3996035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queue, one brand — or as a multi-service selector, where each option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3588" y="2110978"/>
            <a:ext cx="3743660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to a different queue. This is a configuration decision, not 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93588" y="2291693"/>
            <a:ext cx="2921789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one, and it can be changed remotely.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57895" y="2888196"/>
            <a:ext cx="1286294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service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7895" y="3072482"/>
            <a:ext cx="352666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entire point handles a single process: customer onboarding, technical</a:t>
            </a:r>
            <a:endParaRPr lang="en-US" sz="748" dirty="0"/>
          </a:p>
        </p:txBody>
      </p:sp>
      <p:sp>
        <p:nvSpPr>
          <p:cNvPr id="14" name="Text 10"/>
          <p:cNvSpPr/>
          <p:nvPr/>
        </p:nvSpPr>
        <p:spPr>
          <a:xfrm>
            <a:off x="657895" y="3206093"/>
            <a:ext cx="130806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support, or concierge.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57895" y="3477555"/>
            <a:ext cx="91264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Multi-service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57895" y="3663293"/>
            <a:ext cx="369343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choose between several processes or departments from the same</a:t>
            </a:r>
            <a:endParaRPr lang="en-US" sz="748" dirty="0"/>
          </a:p>
        </p:txBody>
      </p:sp>
      <p:sp>
        <p:nvSpPr>
          <p:cNvPr id="17" name="Text 13"/>
          <p:cNvSpPr/>
          <p:nvPr/>
        </p:nvSpPr>
        <p:spPr>
          <a:xfrm>
            <a:off x="657895" y="3796903"/>
            <a:ext cx="49481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57895" y="4066915"/>
            <a:ext cx="819020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Multi-brand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57895" y="4252652"/>
            <a:ext cx="384132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point represents multiple brands, each with its own queue, identity, and</a:t>
            </a:r>
            <a:endParaRPr lang="en-US" sz="748" dirty="0"/>
          </a:p>
        </p:txBody>
      </p:sp>
      <p:sp>
        <p:nvSpPr>
          <p:cNvPr id="20" name="Text 16"/>
          <p:cNvSpPr/>
          <p:nvPr/>
        </p:nvSpPr>
        <p:spPr>
          <a:xfrm>
            <a:off x="657895" y="4386263"/>
            <a:ext cx="56329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563530" y="3520418"/>
            <a:ext cx="304424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software, with the service and identity tailored to each point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6077099" y="4371194"/>
            <a:ext cx="171700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brand slots per location</a:t>
            </a:r>
            <a:endParaRPr lang="en-US" sz="675" dirty="0"/>
          </a:p>
        </p:txBody>
      </p:sp>
      <p:sp>
        <p:nvSpPr>
          <p:cNvPr id="23" name="Text 19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15 / 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23_2ef8609a42e313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30" y="1670856"/>
            <a:ext cx="1500188" cy="1025798"/>
          </a:xfrm>
          <a:prstGeom prst="rect">
            <a:avLst/>
          </a:prstGeom>
        </p:spPr>
      </p:pic>
      <p:pic>
        <p:nvPicPr>
          <p:cNvPr id="4" name="Image 1" descr="/home/z/my-project/download/rebranded_slides/images/img_025_b97dcb6db760a9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493" y="1938077"/>
            <a:ext cx="448605" cy="419249"/>
          </a:xfrm>
          <a:prstGeom prst="rect">
            <a:avLst/>
          </a:prstGeom>
        </p:spPr>
      </p:pic>
      <p:pic>
        <p:nvPicPr>
          <p:cNvPr id="5" name="Image 2" descr="/home/z/my-project/download/rebranded_slides/images/img_036_374bb5bed27b01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441" y="1943100"/>
            <a:ext cx="477850" cy="416458"/>
          </a:xfrm>
          <a:prstGeom prst="rect">
            <a:avLst/>
          </a:prstGeom>
        </p:spPr>
      </p:pic>
      <p:pic>
        <p:nvPicPr>
          <p:cNvPr id="6" name="Image 3" descr="/tmp/h2p-fit-1786528955489-n604s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876" y="1677330"/>
            <a:ext cx="1005818" cy="1006487"/>
          </a:xfrm>
          <a:prstGeom prst="rect">
            <a:avLst/>
          </a:prstGeom>
        </p:spPr>
      </p:pic>
      <p:pic>
        <p:nvPicPr>
          <p:cNvPr id="7" name="Image 4" descr="/tmp/h2p-fit-1786528955492-3zsk7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624" y="1643732"/>
            <a:ext cx="1005818" cy="1006487"/>
          </a:xfrm>
          <a:prstGeom prst="rect">
            <a:avLst/>
          </a:prstGeom>
        </p:spPr>
      </p:pic>
      <p:pic>
        <p:nvPicPr>
          <p:cNvPr id="8" name="Image 5" descr="/tmp/h2p-fit-1786528955494-0ma5x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882" y="1643732"/>
            <a:ext cx="1005818" cy="1006487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493588" y="466465"/>
            <a:ext cx="350858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 O U T I N G A N D C O N T I N U I T Y</a:t>
            </a:r>
            <a:endParaRPr lang="en-US" sz="800" dirty="0"/>
          </a:p>
        </p:txBody>
      </p:sp>
      <p:sp>
        <p:nvSpPr>
          <p:cNvPr id="10" name="Text 2"/>
          <p:cNvSpPr/>
          <p:nvPr/>
        </p:nvSpPr>
        <p:spPr>
          <a:xfrm>
            <a:off x="493588" y="645058"/>
            <a:ext cx="5446663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never repeat themselves</a:t>
            </a:r>
            <a:endParaRPr lang="en-US" sz="2098" dirty="0"/>
          </a:p>
        </p:txBody>
      </p:sp>
      <p:sp>
        <p:nvSpPr>
          <p:cNvPr id="11" name="Text 3"/>
          <p:cNvSpPr/>
          <p:nvPr/>
        </p:nvSpPr>
        <p:spPr>
          <a:xfrm>
            <a:off x="493588" y="959383"/>
            <a:ext cx="3641220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across any transfer</a:t>
            </a:r>
            <a:endParaRPr lang="en-US" sz="2098" dirty="0"/>
          </a:p>
        </p:txBody>
      </p:sp>
      <p:sp>
        <p:nvSpPr>
          <p:cNvPr id="12" name="Text 4"/>
          <p:cNvSpPr/>
          <p:nvPr/>
        </p:nvSpPr>
        <p:spPr>
          <a:xfrm>
            <a:off x="814388" y="2112318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1028700" y="2105955"/>
            <a:ext cx="956751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</a:t>
            </a:r>
            <a:endParaRPr lang="en-US" sz="973" dirty="0"/>
          </a:p>
        </p:txBody>
      </p:sp>
      <p:sp>
        <p:nvSpPr>
          <p:cNvPr id="14" name="Text 6"/>
          <p:cNvSpPr/>
          <p:nvPr/>
        </p:nvSpPr>
        <p:spPr>
          <a:xfrm>
            <a:off x="713594" y="2429545"/>
            <a:ext cx="218956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captured before connecting: identity,</a:t>
            </a:r>
            <a:endParaRPr lang="en-US" sz="748" dirty="0"/>
          </a:p>
        </p:txBody>
      </p:sp>
      <p:sp>
        <p:nvSpPr>
          <p:cNvPr id="15" name="Text 7"/>
          <p:cNvSpPr/>
          <p:nvPr/>
        </p:nvSpPr>
        <p:spPr>
          <a:xfrm>
            <a:off x="713594" y="2582466"/>
            <a:ext cx="222392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reason, and context from the service point.</a:t>
            </a:r>
            <a:endParaRPr lang="en-US" sz="748" dirty="0"/>
          </a:p>
        </p:txBody>
      </p:sp>
      <p:sp>
        <p:nvSpPr>
          <p:cNvPr id="16" name="Text 8"/>
          <p:cNvSpPr/>
          <p:nvPr/>
        </p:nvSpPr>
        <p:spPr>
          <a:xfrm>
            <a:off x="3669655" y="2112318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3895465" y="2105955"/>
            <a:ext cx="950207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Advisor A</a:t>
            </a:r>
            <a:endParaRPr lang="en-US" sz="973" dirty="0"/>
          </a:p>
        </p:txBody>
      </p:sp>
      <p:sp>
        <p:nvSpPr>
          <p:cNvPr id="18" name="Text 10"/>
          <p:cNvSpPr/>
          <p:nvPr/>
        </p:nvSpPr>
        <p:spPr>
          <a:xfrm>
            <a:off x="3579688" y="2429545"/>
            <a:ext cx="206226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Receives the session already in context.</a:t>
            </a:r>
            <a:endParaRPr lang="en-US" sz="748" dirty="0"/>
          </a:p>
        </p:txBody>
      </p:sp>
      <p:sp>
        <p:nvSpPr>
          <p:cNvPr id="19" name="Text 11"/>
          <p:cNvSpPr/>
          <p:nvPr/>
        </p:nvSpPr>
        <p:spPr>
          <a:xfrm>
            <a:off x="3579688" y="2582466"/>
            <a:ext cx="193990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Handles it, documents it, and decides</a:t>
            </a:r>
            <a:endParaRPr lang="en-US" sz="748" dirty="0"/>
          </a:p>
        </p:txBody>
      </p:sp>
      <p:sp>
        <p:nvSpPr>
          <p:cNvPr id="20" name="Text 12"/>
          <p:cNvSpPr/>
          <p:nvPr/>
        </p:nvSpPr>
        <p:spPr>
          <a:xfrm>
            <a:off x="3579688" y="2734605"/>
            <a:ext cx="121987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whether to escalate.</a:t>
            </a:r>
            <a:endParaRPr lang="en-US" sz="800" dirty="0"/>
          </a:p>
        </p:txBody>
      </p:sp>
      <p:sp>
        <p:nvSpPr>
          <p:cNvPr id="21" name="Text 13"/>
          <p:cNvSpPr/>
          <p:nvPr/>
        </p:nvSpPr>
        <p:spPr>
          <a:xfrm>
            <a:off x="6535750" y="2112318"/>
            <a:ext cx="11644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6761559" y="2105955"/>
            <a:ext cx="1111048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 B</a:t>
            </a:r>
            <a:endParaRPr lang="en-US" sz="973" dirty="0"/>
          </a:p>
        </p:txBody>
      </p:sp>
      <p:sp>
        <p:nvSpPr>
          <p:cNvPr id="23" name="Text 15"/>
          <p:cNvSpPr/>
          <p:nvPr/>
        </p:nvSpPr>
        <p:spPr>
          <a:xfrm>
            <a:off x="6446453" y="2429545"/>
            <a:ext cx="205539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Inherits the full session — conversation,</a:t>
            </a:r>
            <a:endParaRPr lang="en-US" sz="748" dirty="0"/>
          </a:p>
        </p:txBody>
      </p:sp>
      <p:sp>
        <p:nvSpPr>
          <p:cNvPr id="24" name="Text 16"/>
          <p:cNvSpPr/>
          <p:nvPr/>
        </p:nvSpPr>
        <p:spPr>
          <a:xfrm>
            <a:off x="6446453" y="2582466"/>
            <a:ext cx="213579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documents, and data — without dropping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6431901" y="2734605"/>
            <a:ext cx="62181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video.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699306" y="3717541"/>
            <a:ext cx="625290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context carried through the entire chain · zero repetition · native ACD routing (Genesys, Cisco, Five9, GoContact…)</a:t>
            </a:r>
            <a:endParaRPr lang="en-US" sz="827" dirty="0"/>
          </a:p>
        </p:txBody>
      </p:sp>
      <p:sp>
        <p:nvSpPr>
          <p:cNvPr id="27" name="Text 19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16 / 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37_4d30a139ba109d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17278" y="0"/>
            <a:ext cx="6860121" cy="5143500"/>
          </a:xfrm>
          <a:prstGeom prst="rect">
            <a:avLst/>
          </a:prstGeom>
        </p:spPr>
      </p:pic>
      <p:pic>
        <p:nvPicPr>
          <p:cNvPr id="4" name="Image 1" descr="/home/z/my-project/download/rebranded_slides/images/img_038_7b6b8cf91faccd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965" y="0"/>
            <a:ext cx="6860121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17 / 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39_299a2b1c6ab1b0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97" y="506425"/>
            <a:ext cx="2705249" cy="1920218"/>
          </a:xfrm>
          <a:prstGeom prst="rect">
            <a:avLst/>
          </a:prstGeom>
        </p:spPr>
      </p:pic>
      <p:pic>
        <p:nvPicPr>
          <p:cNvPr id="4" name="Image 1" descr="/home/z/my-project/download/rebranded_slides/images/img_040_44c9bc872f1c13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482" y="379958"/>
            <a:ext cx="3585381" cy="2491718"/>
          </a:xfrm>
          <a:prstGeom prst="rect">
            <a:avLst/>
          </a:prstGeom>
        </p:spPr>
      </p:pic>
      <p:pic>
        <p:nvPicPr>
          <p:cNvPr id="5" name="Image 2" descr="/home/z/my-project/download/rebranded_slides/images/img_041_656c58fb84e6e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232" y="506425"/>
            <a:ext cx="3013881" cy="1920218"/>
          </a:xfrm>
          <a:prstGeom prst="rect">
            <a:avLst/>
          </a:prstGeom>
        </p:spPr>
      </p:pic>
      <p:pic>
        <p:nvPicPr>
          <p:cNvPr id="6" name="Image 3" descr="/home/z/my-project/download/rebranded_slides/images/img_042_a6500a250ccd4f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65" y="2581015"/>
            <a:ext cx="1009390" cy="447824"/>
          </a:xfrm>
          <a:prstGeom prst="rect">
            <a:avLst/>
          </a:prstGeom>
        </p:spPr>
      </p:pic>
      <p:pic>
        <p:nvPicPr>
          <p:cNvPr id="7" name="Image 4" descr="/home/z/my-project/download/rebranded_slides/images/img_043_623061b87b1abb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016" y="2609590"/>
            <a:ext cx="890736" cy="390674"/>
          </a:xfrm>
          <a:prstGeom prst="rect">
            <a:avLst/>
          </a:prstGeom>
        </p:spPr>
      </p:pic>
      <p:pic>
        <p:nvPicPr>
          <p:cNvPr id="8" name="Image 5" descr="/home/z/my-project/download/rebranded_slides/images/img_044_86dd9dcbb09284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5996" y="2609590"/>
            <a:ext cx="889397" cy="390674"/>
          </a:xfrm>
          <a:prstGeom prst="rect">
            <a:avLst/>
          </a:prstGeom>
        </p:spPr>
      </p:pic>
      <p:pic>
        <p:nvPicPr>
          <p:cNvPr id="9" name="Image 6" descr="/home/z/my-project/download/rebranded_slides/images/img_045_c18a76958d57a5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8306" y="2609590"/>
            <a:ext cx="890736" cy="390674"/>
          </a:xfrm>
          <a:prstGeom prst="rect">
            <a:avLst/>
          </a:prstGeom>
        </p:spPr>
      </p:pic>
      <p:pic>
        <p:nvPicPr>
          <p:cNvPr id="10" name="Image 7" descr="/home/z/my-project/download/rebranded_slides/images/img_046_cf5319fccfdf1f1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2724" y="2743200"/>
            <a:ext cx="742950" cy="133499"/>
          </a:xfrm>
          <a:prstGeom prst="rect">
            <a:avLst/>
          </a:prstGeom>
        </p:spPr>
      </p:pic>
      <p:pic>
        <p:nvPicPr>
          <p:cNvPr id="11" name="Image 8" descr="/home/z/my-project/download/rebranded_slides/images/img_047_ddbf01381c26ec6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7196" y="2688841"/>
            <a:ext cx="1162980" cy="232172"/>
          </a:xfrm>
          <a:prstGeom prst="rect">
            <a:avLst/>
          </a:prstGeom>
        </p:spPr>
      </p:pic>
      <p:pic>
        <p:nvPicPr>
          <p:cNvPr id="12" name="Image 9" descr="/home/z/my-project/download/rebranded_slides/images/img_048_5dae7b3b170c660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5907" y="2609590"/>
            <a:ext cx="889397" cy="390674"/>
          </a:xfrm>
          <a:prstGeom prst="rect">
            <a:avLst/>
          </a:prstGeom>
        </p:spPr>
      </p:pic>
      <p:pic>
        <p:nvPicPr>
          <p:cNvPr id="13" name="Image 10" descr="/home/z/my-project/download/rebranded_slides/images/img_049_3f7372c16ddca99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974" y="2940993"/>
            <a:ext cx="1162199" cy="510778"/>
          </a:xfrm>
          <a:prstGeom prst="rect">
            <a:avLst/>
          </a:prstGeom>
        </p:spPr>
      </p:pic>
      <p:pic>
        <p:nvPicPr>
          <p:cNvPr id="14" name="Image 11" descr="/home/z/my-project/download/rebranded_slides/images/img_050_12bc90d0bf46827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016" y="3000375"/>
            <a:ext cx="890736" cy="391455"/>
          </a:xfrm>
          <a:prstGeom prst="rect">
            <a:avLst/>
          </a:prstGeom>
        </p:spPr>
      </p:pic>
      <p:pic>
        <p:nvPicPr>
          <p:cNvPr id="15" name="Image 12" descr="/home/z/my-project/download/rebranded_slides/images/img_051_a24d8f0ccd3c0c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5996" y="3000375"/>
            <a:ext cx="889397" cy="391455"/>
          </a:xfrm>
          <a:prstGeom prst="rect">
            <a:avLst/>
          </a:prstGeom>
        </p:spPr>
      </p:pic>
      <p:pic>
        <p:nvPicPr>
          <p:cNvPr id="16" name="Image 13" descr="/home/z/my-project/download/rebranded_slides/images/img_052_ef4aeb42ac5eb10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8306" y="3000375"/>
            <a:ext cx="890736" cy="391455"/>
          </a:xfrm>
          <a:prstGeom prst="rect">
            <a:avLst/>
          </a:prstGeom>
        </p:spPr>
      </p:pic>
      <p:pic>
        <p:nvPicPr>
          <p:cNvPr id="17" name="Image 14" descr="/home/z/my-project/download/rebranded_slides/images/img_053_8ca39de460e0715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91286" y="3000375"/>
            <a:ext cx="889397" cy="391455"/>
          </a:xfrm>
          <a:prstGeom prst="rect">
            <a:avLst/>
          </a:prstGeom>
        </p:spPr>
      </p:pic>
      <p:pic>
        <p:nvPicPr>
          <p:cNvPr id="18" name="Image 15" descr="/home/z/my-project/download/rebranded_slides/images/img_054_08fbf731986cb31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2927" y="3000375"/>
            <a:ext cx="890736" cy="391455"/>
          </a:xfrm>
          <a:prstGeom prst="rect">
            <a:avLst/>
          </a:prstGeom>
        </p:spPr>
      </p:pic>
      <p:pic>
        <p:nvPicPr>
          <p:cNvPr id="19" name="Image 16" descr="/home/z/my-project/download/rebranded_slides/images/img_055_a8526ce335b232b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5907" y="3000375"/>
            <a:ext cx="889397" cy="391455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493588" y="466465"/>
            <a:ext cx="186463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N T E G R A T I O N</a:t>
            </a:r>
            <a:endParaRPr lang="en-US" sz="800" dirty="0"/>
          </a:p>
        </p:txBody>
      </p:sp>
      <p:sp>
        <p:nvSpPr>
          <p:cNvPr id="21" name="Text 2"/>
          <p:cNvSpPr/>
          <p:nvPr/>
        </p:nvSpPr>
        <p:spPr>
          <a:xfrm>
            <a:off x="493588" y="639366"/>
            <a:ext cx="3975943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Integrates with the contact</a:t>
            </a:r>
            <a:endParaRPr lang="en-US" sz="2025" dirty="0"/>
          </a:p>
        </p:txBody>
      </p:sp>
      <p:sp>
        <p:nvSpPr>
          <p:cNvPr id="22" name="Text 3"/>
          <p:cNvSpPr/>
          <p:nvPr/>
        </p:nvSpPr>
        <p:spPr>
          <a:xfrm>
            <a:off x="493588" y="934380"/>
            <a:ext cx="4396336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center you already have</a:t>
            </a:r>
            <a:endParaRPr lang="en-US" sz="2025" dirty="0"/>
          </a:p>
        </p:txBody>
      </p:sp>
      <p:sp>
        <p:nvSpPr>
          <p:cNvPr id="23" name="Text 4"/>
          <p:cNvSpPr/>
          <p:nvPr/>
        </p:nvSpPr>
        <p:spPr>
          <a:xfrm>
            <a:off x="493588" y="1748768"/>
            <a:ext cx="364119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platform integrates with the ACD your organization already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493588" y="1929482"/>
            <a:ext cx="365771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 in production, or runs standalone with its own Web ACD. No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493588" y="2110978"/>
            <a:ext cx="324348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migration required, and no need to replace your existing</a:t>
            </a:r>
            <a:endParaRPr lang="en-US" sz="900" dirty="0"/>
          </a:p>
        </p:txBody>
      </p:sp>
      <p:sp>
        <p:nvSpPr>
          <p:cNvPr id="26" name="Text 7"/>
          <p:cNvSpPr/>
          <p:nvPr/>
        </p:nvSpPr>
        <p:spPr>
          <a:xfrm>
            <a:off x="493588" y="2291693"/>
            <a:ext cx="805904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operations.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726430" y="3772570"/>
            <a:ext cx="1633296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agents</a:t>
            </a:r>
            <a:endParaRPr lang="en-US" sz="973" dirty="0"/>
          </a:p>
        </p:txBody>
      </p:sp>
      <p:sp>
        <p:nvSpPr>
          <p:cNvPr id="28" name="Text 9"/>
          <p:cNvSpPr/>
          <p:nvPr/>
        </p:nvSpPr>
        <p:spPr>
          <a:xfrm>
            <a:off x="726430" y="3999719"/>
            <a:ext cx="36203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Makes use of advisors already available at offices, dealerships, or branches,</a:t>
            </a:r>
            <a:endParaRPr lang="en-US" sz="748" dirty="0"/>
          </a:p>
        </p:txBody>
      </p:sp>
      <p:sp>
        <p:nvSpPr>
          <p:cNvPr id="29" name="Text 10"/>
          <p:cNvSpPr/>
          <p:nvPr/>
        </p:nvSpPr>
        <p:spPr>
          <a:xfrm>
            <a:off x="726430" y="4142594"/>
            <a:ext cx="173508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between in-person appointments.</a:t>
            </a:r>
            <a:endParaRPr lang="en-US" sz="748" dirty="0"/>
          </a:p>
        </p:txBody>
      </p:sp>
      <p:sp>
        <p:nvSpPr>
          <p:cNvPr id="30" name="Text 11"/>
          <p:cNvSpPr/>
          <p:nvPr/>
        </p:nvSpPr>
        <p:spPr>
          <a:xfrm>
            <a:off x="4869135" y="3772570"/>
            <a:ext cx="1640970" cy="15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Centralized agents</a:t>
            </a:r>
            <a:endParaRPr lang="en-US" sz="973" dirty="0"/>
          </a:p>
        </p:txBody>
      </p:sp>
      <p:sp>
        <p:nvSpPr>
          <p:cNvPr id="31" name="Text 12"/>
          <p:cNvSpPr/>
          <p:nvPr/>
        </p:nvSpPr>
        <p:spPr>
          <a:xfrm>
            <a:off x="4869135" y="3999719"/>
            <a:ext cx="342420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Maximizes operations with more shifts, queue-based specialization, and</a:t>
            </a:r>
            <a:endParaRPr lang="en-US" sz="748" dirty="0"/>
          </a:p>
        </p:txBody>
      </p:sp>
      <p:sp>
        <p:nvSpPr>
          <p:cNvPr id="32" name="Text 13"/>
          <p:cNvSpPr/>
          <p:nvPr/>
        </p:nvSpPr>
        <p:spPr>
          <a:xfrm>
            <a:off x="4869135" y="4142594"/>
            <a:ext cx="141611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 center outsourcing.</a:t>
            </a:r>
            <a:endParaRPr lang="en-US" sz="748" dirty="0"/>
          </a:p>
        </p:txBody>
      </p:sp>
      <p:sp>
        <p:nvSpPr>
          <p:cNvPr id="33" name="Text 14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4" name="Text 15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16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17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7" name="Text 18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56_e48dfd4956d40a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0628" y="1287996"/>
            <a:ext cx="2566727" cy="1374391"/>
          </a:xfrm>
          <a:prstGeom prst="rect">
            <a:avLst/>
          </a:prstGeom>
        </p:spPr>
      </p:pic>
      <p:pic>
        <p:nvPicPr>
          <p:cNvPr id="4" name="Image 1" descr="/home/z/my-project/download/rebranded_slides/images/img_057_a44814466530a3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481" y="3088891"/>
            <a:ext cx="2137321" cy="1400845"/>
          </a:xfrm>
          <a:prstGeom prst="rect">
            <a:avLst/>
          </a:prstGeom>
        </p:spPr>
      </p:pic>
      <p:pic>
        <p:nvPicPr>
          <p:cNvPr id="5" name="Image 2" descr="/home/z/my-project/download/rebranded_slides/images/img_058_e6497a6eeaeaeb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51" y="3088891"/>
            <a:ext cx="2137321" cy="140084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3588" y="466465"/>
            <a:ext cx="374447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L A T F O R M A N D O P E R A T I O N 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493588" y="639366"/>
            <a:ext cx="3566992" cy="31933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managed service,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493588" y="934380"/>
            <a:ext cx="4648014" cy="31933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deployment on your network</a:t>
            </a:r>
            <a:endParaRPr lang="en-US" sz="2025" dirty="0"/>
          </a:p>
        </p:txBody>
      </p:sp>
      <p:sp>
        <p:nvSpPr>
          <p:cNvPr id="9" name="Text 4"/>
          <p:cNvSpPr/>
          <p:nvPr/>
        </p:nvSpPr>
        <p:spPr>
          <a:xfrm>
            <a:off x="657895" y="1900238"/>
            <a:ext cx="3271989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VCCaaS · Video Contact Center as a Service</a:t>
            </a:r>
            <a:endParaRPr lang="en-US" sz="973" dirty="0"/>
          </a:p>
        </p:txBody>
      </p:sp>
      <p:sp>
        <p:nvSpPr>
          <p:cNvPr id="10" name="Text 5"/>
          <p:cNvSpPr/>
          <p:nvPr/>
        </p:nvSpPr>
        <p:spPr>
          <a:xfrm>
            <a:off x="657895" y="2132409"/>
            <a:ext cx="4107879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Advisors, supervisors, and sales staff work from a laptop, PC, Mac, or tablet —</a:t>
            </a:r>
            <a:endParaRPr lang="en-US" sz="827" dirty="0"/>
          </a:p>
        </p:txBody>
      </p:sp>
      <p:sp>
        <p:nvSpPr>
          <p:cNvPr id="11" name="Text 6"/>
          <p:cNvSpPr/>
          <p:nvPr/>
        </p:nvSpPr>
        <p:spPr>
          <a:xfrm>
            <a:off x="657895" y="2285219"/>
            <a:ext cx="4014676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just a web browser and internet access. No heavy client, no proprietary</a:t>
            </a:r>
            <a:endParaRPr lang="en-US" sz="827" dirty="0"/>
          </a:p>
        </p:txBody>
      </p:sp>
      <p:sp>
        <p:nvSpPr>
          <p:cNvPr id="12" name="Text 7"/>
          <p:cNvSpPr/>
          <p:nvPr/>
        </p:nvSpPr>
        <p:spPr>
          <a:xfrm>
            <a:off x="657895" y="2437358"/>
            <a:ext cx="206346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headsets, no dedicated workstation.</a:t>
            </a:r>
            <a:endParaRPr lang="en-US" sz="827" dirty="0"/>
          </a:p>
        </p:txBody>
      </p:sp>
      <p:sp>
        <p:nvSpPr>
          <p:cNvPr id="13" name="Text 8"/>
          <p:cNvSpPr/>
          <p:nvPr/>
        </p:nvSpPr>
        <p:spPr>
          <a:xfrm>
            <a:off x="657895" y="3175397"/>
            <a:ext cx="3130583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Kiosk Manager · centralized management</a:t>
            </a:r>
            <a:endParaRPr lang="en-US" sz="973" dirty="0"/>
          </a:p>
        </p:txBody>
      </p:sp>
      <p:sp>
        <p:nvSpPr>
          <p:cNvPr id="14" name="Text 9"/>
          <p:cNvSpPr/>
          <p:nvPr/>
        </p:nvSpPr>
        <p:spPr>
          <a:xfrm>
            <a:off x="657895" y="3408238"/>
            <a:ext cx="3864546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Oversight of the entire network of points, adding and removing locations,</a:t>
            </a:r>
            <a:endParaRPr lang="en-US" sz="827" dirty="0"/>
          </a:p>
        </p:txBody>
      </p:sp>
      <p:sp>
        <p:nvSpPr>
          <p:cNvPr id="15" name="Text 10"/>
          <p:cNvSpPr/>
          <p:nvPr/>
        </p:nvSpPr>
        <p:spPr>
          <a:xfrm>
            <a:off x="657895" y="3560378"/>
            <a:ext cx="4167820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content, logos and advertising per kiosk, supervisor roles and permissions, and</a:t>
            </a:r>
            <a:endParaRPr lang="en-US" sz="827" dirty="0"/>
          </a:p>
        </p:txBody>
      </p:sp>
      <p:sp>
        <p:nvSpPr>
          <p:cNvPr id="16" name="Text 11"/>
          <p:cNvSpPr/>
          <p:nvPr/>
        </p:nvSpPr>
        <p:spPr>
          <a:xfrm>
            <a:off x="657895" y="3712518"/>
            <a:ext cx="1719416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remote configuration settings.</a:t>
            </a:r>
            <a:endParaRPr lang="en-US" sz="827" dirty="0"/>
          </a:p>
        </p:txBody>
      </p:sp>
      <p:sp>
        <p:nvSpPr>
          <p:cNvPr id="17" name="Text 12"/>
          <p:cNvSpPr/>
          <p:nvPr/>
        </p:nvSpPr>
        <p:spPr>
          <a:xfrm>
            <a:off x="6201445" y="2800350"/>
            <a:ext cx="1433831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Browser-based advisor console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6127105" y="4589078"/>
            <a:ext cx="160814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Kiosk Manager · network oversight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19 / 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3588" y="466465"/>
            <a:ext cx="294577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 P E R A T I O N A L I M P A C 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3588" y="645058"/>
            <a:ext cx="5573576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coverage on less infrastructure</a:t>
            </a:r>
            <a:endParaRPr lang="en-US" sz="2098" dirty="0"/>
          </a:p>
        </p:txBody>
      </p:sp>
      <p:sp>
        <p:nvSpPr>
          <p:cNvPr id="5" name="Text 3"/>
          <p:cNvSpPr/>
          <p:nvPr/>
        </p:nvSpPr>
        <p:spPr>
          <a:xfrm>
            <a:off x="683468" y="1733699"/>
            <a:ext cx="1522711" cy="6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3"/>
              </a:lnSpc>
              <a:buNone/>
            </a:pPr>
            <a:r>
              <a:rPr lang="en-US" sz="3898" b="1" dirty="0">
                <a:solidFill>
                  <a:srgbClr val="7C3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24/7</a:t>
            </a:r>
            <a:endParaRPr lang="en-US" sz="3898" dirty="0"/>
          </a:p>
        </p:txBody>
      </p:sp>
      <p:sp>
        <p:nvSpPr>
          <p:cNvPr id="6" name="Text 4"/>
          <p:cNvSpPr/>
          <p:nvPr/>
        </p:nvSpPr>
        <p:spPr>
          <a:xfrm>
            <a:off x="740718" y="2446734"/>
            <a:ext cx="2161961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availability</a:t>
            </a:r>
            <a:endParaRPr lang="en-US" sz="1052" dirty="0"/>
          </a:p>
        </p:txBody>
      </p:sp>
      <p:sp>
        <p:nvSpPr>
          <p:cNvPr id="7" name="Text 5"/>
          <p:cNvSpPr/>
          <p:nvPr/>
        </p:nvSpPr>
        <p:spPr>
          <a:xfrm>
            <a:off x="740718" y="2729582"/>
            <a:ext cx="2211745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Shifts and outsourcing cover time slots</a:t>
            </a:r>
            <a:endParaRPr lang="en-US" sz="827" dirty="0"/>
          </a:p>
        </p:txBody>
      </p:sp>
      <p:sp>
        <p:nvSpPr>
          <p:cNvPr id="8" name="Text 6"/>
          <p:cNvSpPr/>
          <p:nvPr/>
        </p:nvSpPr>
        <p:spPr>
          <a:xfrm>
            <a:off x="740718" y="2891768"/>
            <a:ext cx="220583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physical branch could sustain on its</a:t>
            </a:r>
            <a:endParaRPr lang="en-US" sz="827" dirty="0"/>
          </a:p>
        </p:txBody>
      </p:sp>
      <p:sp>
        <p:nvSpPr>
          <p:cNvPr id="9" name="Text 7"/>
          <p:cNvSpPr/>
          <p:nvPr/>
        </p:nvSpPr>
        <p:spPr>
          <a:xfrm>
            <a:off x="740718" y="3053953"/>
            <a:ext cx="39987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own.</a:t>
            </a:r>
            <a:endParaRPr lang="en-US" sz="827" dirty="0"/>
          </a:p>
        </p:txBody>
      </p:sp>
      <p:sp>
        <p:nvSpPr>
          <p:cNvPr id="10" name="Text 8"/>
          <p:cNvSpPr/>
          <p:nvPr/>
        </p:nvSpPr>
        <p:spPr>
          <a:xfrm>
            <a:off x="3552565" y="1733699"/>
            <a:ext cx="1627882" cy="6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3"/>
              </a:lnSpc>
              <a:buNone/>
            </a:pPr>
            <a:r>
              <a:rPr lang="en-US" sz="3898" b="1" dirty="0">
                <a:solidFill>
                  <a:srgbClr val="7C3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: N</a:t>
            </a:r>
            <a:endParaRPr lang="en-US" sz="3898" dirty="0"/>
          </a:p>
        </p:txBody>
      </p:sp>
      <p:sp>
        <p:nvSpPr>
          <p:cNvPr id="11" name="Text 9"/>
          <p:cNvSpPr/>
          <p:nvPr/>
        </p:nvSpPr>
        <p:spPr>
          <a:xfrm>
            <a:off x="3552565" y="2446734"/>
            <a:ext cx="2418490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team, the entire network</a:t>
            </a:r>
            <a:endParaRPr lang="en-US" sz="1052" dirty="0"/>
          </a:p>
        </p:txBody>
      </p:sp>
      <p:sp>
        <p:nvSpPr>
          <p:cNvPr id="12" name="Text 10"/>
          <p:cNvSpPr/>
          <p:nvPr/>
        </p:nvSpPr>
        <p:spPr>
          <a:xfrm>
            <a:off x="3552565" y="2729582"/>
            <a:ext cx="1982940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group of advisors serves</a:t>
            </a:r>
            <a:endParaRPr lang="en-US" sz="827" dirty="0"/>
          </a:p>
        </p:txBody>
      </p:sp>
      <p:sp>
        <p:nvSpPr>
          <p:cNvPr id="13" name="Text 11"/>
          <p:cNvSpPr/>
          <p:nvPr/>
        </p:nvSpPr>
        <p:spPr>
          <a:xfrm>
            <a:off x="3552565" y="2891768"/>
            <a:ext cx="203465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contact point at once, cutting</a:t>
            </a:r>
            <a:endParaRPr lang="en-US" sz="827" dirty="0"/>
          </a:p>
        </p:txBody>
      </p:sp>
      <p:sp>
        <p:nvSpPr>
          <p:cNvPr id="14" name="Text 12"/>
          <p:cNvSpPr/>
          <p:nvPr/>
        </p:nvSpPr>
        <p:spPr>
          <a:xfrm>
            <a:off x="3552565" y="3053953"/>
            <a:ext cx="105663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operating costs.</a:t>
            </a:r>
            <a:endParaRPr lang="en-US" sz="827" dirty="0"/>
          </a:p>
        </p:txBody>
      </p:sp>
      <p:sp>
        <p:nvSpPr>
          <p:cNvPr id="15" name="Text 13"/>
          <p:cNvSpPr/>
          <p:nvPr/>
        </p:nvSpPr>
        <p:spPr>
          <a:xfrm>
            <a:off x="6364300" y="1733699"/>
            <a:ext cx="847427" cy="6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3"/>
              </a:lnSpc>
              <a:buNone/>
            </a:pPr>
            <a:r>
              <a:rPr lang="en-US" sz="3898" b="1" dirty="0">
                <a:solidFill>
                  <a:srgbClr val="7C3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</a:t>
            </a:r>
            <a:endParaRPr lang="en-US" sz="3898" dirty="0"/>
          </a:p>
        </p:txBody>
      </p:sp>
      <p:sp>
        <p:nvSpPr>
          <p:cNvPr id="16" name="Text 14"/>
          <p:cNvSpPr/>
          <p:nvPr/>
        </p:nvSpPr>
        <p:spPr>
          <a:xfrm>
            <a:off x="6364300" y="2446734"/>
            <a:ext cx="1616134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at the point</a:t>
            </a:r>
            <a:endParaRPr lang="en-US" sz="1052" dirty="0"/>
          </a:p>
        </p:txBody>
      </p:sp>
      <p:sp>
        <p:nvSpPr>
          <p:cNvPr id="17" name="Text 15"/>
          <p:cNvSpPr/>
          <p:nvPr/>
        </p:nvSpPr>
        <p:spPr>
          <a:xfrm>
            <a:off x="6364300" y="2729582"/>
            <a:ext cx="211494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service point works even with no</a:t>
            </a:r>
            <a:endParaRPr lang="en-US" sz="827" dirty="0"/>
          </a:p>
        </p:txBody>
      </p:sp>
      <p:sp>
        <p:nvSpPr>
          <p:cNvPr id="18" name="Text 16"/>
          <p:cNvSpPr/>
          <p:nvPr/>
        </p:nvSpPr>
        <p:spPr>
          <a:xfrm>
            <a:off x="6364300" y="2891768"/>
            <a:ext cx="183984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assigned staff: just a screen and</a:t>
            </a:r>
            <a:endParaRPr lang="en-US" sz="827" dirty="0"/>
          </a:p>
        </p:txBody>
      </p:sp>
      <p:sp>
        <p:nvSpPr>
          <p:cNvPr id="19" name="Text 17"/>
          <p:cNvSpPr/>
          <p:nvPr/>
        </p:nvSpPr>
        <p:spPr>
          <a:xfrm>
            <a:off x="6364300" y="3053953"/>
            <a:ext cx="82543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connectivity.</a:t>
            </a:r>
            <a:endParaRPr lang="en-US" sz="827" dirty="0"/>
          </a:p>
        </p:txBody>
      </p:sp>
      <p:sp>
        <p:nvSpPr>
          <p:cNvPr id="20" name="Text 18"/>
          <p:cNvSpPr/>
          <p:nvPr/>
        </p:nvSpPr>
        <p:spPr>
          <a:xfrm>
            <a:off x="493588" y="3918347"/>
            <a:ext cx="756299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platform scales to hundreds of thousands of interactions per month on the same infrastructure, with no need to physically replicate service</a:t>
            </a:r>
            <a:endParaRPr lang="en-US" sz="827" dirty="0"/>
          </a:p>
        </p:txBody>
      </p:sp>
      <p:sp>
        <p:nvSpPr>
          <p:cNvPr id="21" name="Text 19"/>
          <p:cNvSpPr/>
          <p:nvPr/>
        </p:nvSpPr>
        <p:spPr>
          <a:xfrm>
            <a:off x="493588" y="4051846"/>
            <a:ext cx="50854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points.</a:t>
            </a:r>
            <a:endParaRPr lang="en-US" sz="827" dirty="0"/>
          </a:p>
        </p:txBody>
      </p:sp>
      <p:sp>
        <p:nvSpPr>
          <p:cNvPr id="22" name="Text 20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20 / 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59_8e83f60599a444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45" y="2255193"/>
            <a:ext cx="233511" cy="233511"/>
          </a:xfrm>
          <a:prstGeom prst="rect">
            <a:avLst/>
          </a:prstGeom>
        </p:spPr>
      </p:pic>
      <p:pic>
        <p:nvPicPr>
          <p:cNvPr id="4" name="Image 1" descr="/home/z/my-project/download/rebranded_slides/images/img_060_c0031bedea345e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45" y="2636713"/>
            <a:ext cx="233511" cy="233511"/>
          </a:xfrm>
          <a:prstGeom prst="rect">
            <a:avLst/>
          </a:prstGeom>
        </p:spPr>
      </p:pic>
      <p:pic>
        <p:nvPicPr>
          <p:cNvPr id="5" name="Image 2" descr="/home/z/my-project/download/rebranded_slides/images/img_061_4ba5c0c87c679f9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45" y="3016783"/>
            <a:ext cx="233511" cy="233511"/>
          </a:xfrm>
          <a:prstGeom prst="rect">
            <a:avLst/>
          </a:prstGeom>
        </p:spPr>
      </p:pic>
      <p:pic>
        <p:nvPicPr>
          <p:cNvPr id="6" name="Image 3" descr="/home/z/my-project/download/rebranded_slides/images/img_062_292b90b2fe6d13c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45" y="3397523"/>
            <a:ext cx="233511" cy="233511"/>
          </a:xfrm>
          <a:prstGeom prst="rect">
            <a:avLst/>
          </a:prstGeom>
        </p:spPr>
      </p:pic>
      <p:pic>
        <p:nvPicPr>
          <p:cNvPr id="7" name="Image 4" descr="/home/z/my-project/download/rebranded_slides/images/img_063_dbbab9c17da5b7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45" y="3778262"/>
            <a:ext cx="233511" cy="232172"/>
          </a:xfrm>
          <a:prstGeom prst="rect">
            <a:avLst/>
          </a:prstGeom>
        </p:spPr>
      </p:pic>
      <p:pic>
        <p:nvPicPr>
          <p:cNvPr id="8" name="Image 5" descr="/home/z/my-project/download/rebranded_slides/images/img_064_cea40366cfe5536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533" y="2255193"/>
            <a:ext cx="233511" cy="233511"/>
          </a:xfrm>
          <a:prstGeom prst="rect">
            <a:avLst/>
          </a:prstGeom>
        </p:spPr>
      </p:pic>
      <p:pic>
        <p:nvPicPr>
          <p:cNvPr id="9" name="Image 6" descr="/home/z/my-project/download/rebranded_slides/images/img_065_542c12f8e499945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0533" y="2636713"/>
            <a:ext cx="233511" cy="233511"/>
          </a:xfrm>
          <a:prstGeom prst="rect">
            <a:avLst/>
          </a:prstGeom>
        </p:spPr>
      </p:pic>
      <p:pic>
        <p:nvPicPr>
          <p:cNvPr id="10" name="Image 7" descr="/home/z/my-project/download/rebranded_slides/images/img_066_25c46382a939d9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0533" y="3016783"/>
            <a:ext cx="233511" cy="233511"/>
          </a:xfrm>
          <a:prstGeom prst="rect">
            <a:avLst/>
          </a:prstGeom>
        </p:spPr>
      </p:pic>
      <p:pic>
        <p:nvPicPr>
          <p:cNvPr id="11" name="Image 8" descr="/home/z/my-project/download/rebranded_slides/images/img_067_77713704b277a33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0533" y="3397523"/>
            <a:ext cx="233511" cy="233511"/>
          </a:xfrm>
          <a:prstGeom prst="rect">
            <a:avLst/>
          </a:prstGeom>
        </p:spPr>
      </p:pic>
      <p:pic>
        <p:nvPicPr>
          <p:cNvPr id="12" name="Image 9" descr="/home/z/my-project/download/rebranded_slides/images/img_068_2d3b238d632755a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0533" y="3778262"/>
            <a:ext cx="233511" cy="232172"/>
          </a:xfrm>
          <a:prstGeom prst="rect">
            <a:avLst/>
          </a:prstGeom>
        </p:spPr>
      </p:pic>
      <p:pic>
        <p:nvPicPr>
          <p:cNvPr id="13" name="Image 10" descr="/home/z/my-project/download/rebranded_slides/images/img_069_7450c0d36faa5df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0047" y="622176"/>
            <a:ext cx="457200" cy="457200"/>
          </a:xfrm>
          <a:prstGeom prst="rect">
            <a:avLst/>
          </a:prstGeom>
        </p:spPr>
      </p:pic>
      <p:pic>
        <p:nvPicPr>
          <p:cNvPr id="14" name="Image 11" descr="/home/z/my-project/download/rebranded_slides/images/img_070_3b378c11ae565d0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8634" y="750763"/>
            <a:ext cx="200025" cy="20002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493588" y="466465"/>
            <a:ext cx="358125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 P E R A T I O N A L E F F I C I E N C Y</a:t>
            </a:r>
            <a:endParaRPr lang="en-US" sz="800" dirty="0"/>
          </a:p>
        </p:txBody>
      </p:sp>
      <p:sp>
        <p:nvSpPr>
          <p:cNvPr id="16" name="Text 2"/>
          <p:cNvSpPr/>
          <p:nvPr/>
        </p:nvSpPr>
        <p:spPr>
          <a:xfrm>
            <a:off x="493588" y="642156"/>
            <a:ext cx="3725019" cy="295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4"/>
              </a:lnSpc>
              <a:buNone/>
            </a:pPr>
            <a:r>
              <a:rPr lang="en-US" sz="1873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remote point reduces</a:t>
            </a:r>
            <a:endParaRPr lang="en-US" sz="1873" dirty="0"/>
          </a:p>
        </p:txBody>
      </p:sp>
      <p:sp>
        <p:nvSpPr>
          <p:cNvPr id="17" name="Text 3"/>
          <p:cNvSpPr/>
          <p:nvPr/>
        </p:nvSpPr>
        <p:spPr>
          <a:xfrm>
            <a:off x="493588" y="917972"/>
            <a:ext cx="4634396" cy="295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4"/>
              </a:lnSpc>
              <a:buNone/>
            </a:pPr>
            <a:r>
              <a:rPr lang="en-US" sz="1873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operating and infrastructure costs</a:t>
            </a:r>
            <a:endParaRPr lang="en-US" sz="1873" dirty="0"/>
          </a:p>
        </p:txBody>
      </p:sp>
      <p:sp>
        <p:nvSpPr>
          <p:cNvPr id="18" name="Text 4"/>
          <p:cNvSpPr/>
          <p:nvPr/>
        </p:nvSpPr>
        <p:spPr>
          <a:xfrm>
            <a:off x="494258" y="1436563"/>
            <a:ext cx="845083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fixed specialist at a low-traffic point spends much of the day serving no one, yet their payroll and workstation stay active regardless. Centralizing the resource</a:t>
            </a:r>
            <a:endParaRPr lang="en-US" sz="827" dirty="0"/>
          </a:p>
        </p:txBody>
      </p:sp>
      <p:sp>
        <p:nvSpPr>
          <p:cNvPr id="19" name="Text 5"/>
          <p:cNvSpPr/>
          <p:nvPr/>
        </p:nvSpPr>
        <p:spPr>
          <a:xfrm>
            <a:off x="494258" y="1588703"/>
            <a:ext cx="2201498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frees up that time and that geography.</a:t>
            </a:r>
            <a:endParaRPr lang="en-US" sz="827" dirty="0"/>
          </a:p>
        </p:txBody>
      </p:sp>
      <p:sp>
        <p:nvSpPr>
          <p:cNvPr id="20" name="Text 6"/>
          <p:cNvSpPr/>
          <p:nvPr/>
        </p:nvSpPr>
        <p:spPr>
          <a:xfrm>
            <a:off x="715045" y="2052377"/>
            <a:ext cx="248691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122" kern="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R A D I T I O N A L M O D E L</a:t>
            </a:r>
            <a:endParaRPr lang="en-US" sz="800" dirty="0"/>
          </a:p>
        </p:txBody>
      </p:sp>
      <p:sp>
        <p:nvSpPr>
          <p:cNvPr id="21" name="Text 7"/>
          <p:cNvSpPr/>
          <p:nvPr/>
        </p:nvSpPr>
        <p:spPr>
          <a:xfrm>
            <a:off x="1043657" y="2249500"/>
            <a:ext cx="163346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AB7B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payroll, no interaction</a:t>
            </a:r>
            <a:endParaRPr lang="en-US" sz="827" dirty="0"/>
          </a:p>
        </p:txBody>
      </p:sp>
      <p:sp>
        <p:nvSpPr>
          <p:cNvPr id="22" name="Text 8"/>
          <p:cNvSpPr/>
          <p:nvPr/>
        </p:nvSpPr>
        <p:spPr>
          <a:xfrm>
            <a:off x="1043657" y="2408783"/>
            <a:ext cx="238210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Fixed staff even when the point has no traffic that shift.</a:t>
            </a:r>
            <a:endParaRPr lang="en-US" sz="675" dirty="0"/>
          </a:p>
        </p:txBody>
      </p:sp>
      <p:sp>
        <p:nvSpPr>
          <p:cNvPr id="23" name="Text 9"/>
          <p:cNvSpPr/>
          <p:nvPr/>
        </p:nvSpPr>
        <p:spPr>
          <a:xfrm>
            <a:off x="1043657" y="2629570"/>
            <a:ext cx="1875770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AB7B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 running regardless</a:t>
            </a:r>
            <a:endParaRPr lang="en-US" sz="827" dirty="0"/>
          </a:p>
        </p:txBody>
      </p:sp>
      <p:sp>
        <p:nvSpPr>
          <p:cNvPr id="24" name="Text 10"/>
          <p:cNvSpPr/>
          <p:nvPr/>
        </p:nvSpPr>
        <p:spPr>
          <a:xfrm>
            <a:off x="1043657" y="2789634"/>
            <a:ext cx="247508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climate control and lighting for the entire shift.</a:t>
            </a:r>
            <a:endParaRPr lang="en-US" sz="675" dirty="0"/>
          </a:p>
        </p:txBody>
      </p:sp>
      <p:sp>
        <p:nvSpPr>
          <p:cNvPr id="25" name="Text 11"/>
          <p:cNvSpPr/>
          <p:nvPr/>
        </p:nvSpPr>
        <p:spPr>
          <a:xfrm>
            <a:off x="1043657" y="3011091"/>
            <a:ext cx="164949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AB7B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Transit time that isn't service</a:t>
            </a:r>
            <a:endParaRPr lang="en-US" sz="827" dirty="0"/>
          </a:p>
        </p:txBody>
      </p:sp>
      <p:sp>
        <p:nvSpPr>
          <p:cNvPr id="26" name="Text 12"/>
          <p:cNvSpPr/>
          <p:nvPr/>
        </p:nvSpPr>
        <p:spPr>
          <a:xfrm>
            <a:off x="1043657" y="3169593"/>
            <a:ext cx="193954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Travel between sites produces no service.</a:t>
            </a:r>
            <a:endParaRPr lang="en-US" sz="675" dirty="0"/>
          </a:p>
        </p:txBody>
      </p:sp>
      <p:sp>
        <p:nvSpPr>
          <p:cNvPr id="27" name="Text 13"/>
          <p:cNvSpPr/>
          <p:nvPr/>
        </p:nvSpPr>
        <p:spPr>
          <a:xfrm>
            <a:off x="1043657" y="3391049"/>
            <a:ext cx="185636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AB7B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Absences covered point by point</a:t>
            </a:r>
            <a:endParaRPr lang="en-US" sz="827" dirty="0"/>
          </a:p>
        </p:txBody>
      </p:sp>
      <p:sp>
        <p:nvSpPr>
          <p:cNvPr id="28" name="Text 14"/>
          <p:cNvSpPr/>
          <p:nvPr/>
        </p:nvSpPr>
        <p:spPr>
          <a:xfrm>
            <a:off x="1043657" y="3551113"/>
            <a:ext cx="292045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absence requires a local substitute or leaves the point empty.</a:t>
            </a:r>
            <a:endParaRPr lang="en-US" sz="675" dirty="0"/>
          </a:p>
        </p:txBody>
      </p:sp>
      <p:sp>
        <p:nvSpPr>
          <p:cNvPr id="29" name="Text 15"/>
          <p:cNvSpPr/>
          <p:nvPr/>
        </p:nvSpPr>
        <p:spPr>
          <a:xfrm>
            <a:off x="1043657" y="3771900"/>
            <a:ext cx="1604832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AAB7B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Talent tied to geography</a:t>
            </a:r>
            <a:endParaRPr lang="en-US" sz="827" dirty="0"/>
          </a:p>
        </p:txBody>
      </p:sp>
      <p:sp>
        <p:nvSpPr>
          <p:cNvPr id="30" name="Text 16"/>
          <p:cNvSpPr/>
          <p:nvPr/>
        </p:nvSpPr>
        <p:spPr>
          <a:xfrm>
            <a:off x="1043657" y="3931183"/>
            <a:ext cx="304223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can only hire where the point is, whether or not the talent is there.</a:t>
            </a:r>
            <a:endParaRPr lang="en-US" sz="675" dirty="0"/>
          </a:p>
        </p:txBody>
      </p:sp>
      <p:sp>
        <p:nvSpPr>
          <p:cNvPr id="31" name="Text 17"/>
          <p:cNvSpPr/>
          <p:nvPr/>
        </p:nvSpPr>
        <p:spPr>
          <a:xfrm>
            <a:off x="4980533" y="2052377"/>
            <a:ext cx="183158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spc="12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 YG I TA L M O D E L</a:t>
            </a:r>
            <a:endParaRPr lang="en-US" sz="800" dirty="0"/>
          </a:p>
        </p:txBody>
      </p:sp>
      <p:sp>
        <p:nvSpPr>
          <p:cNvPr id="32" name="Text 18"/>
          <p:cNvSpPr/>
          <p:nvPr/>
        </p:nvSpPr>
        <p:spPr>
          <a:xfrm>
            <a:off x="5309927" y="2249500"/>
            <a:ext cx="1945569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Capacity based on real occupancy</a:t>
            </a:r>
            <a:endParaRPr lang="en-US" sz="827" dirty="0"/>
          </a:p>
        </p:txBody>
      </p:sp>
      <p:sp>
        <p:nvSpPr>
          <p:cNvPr id="33" name="Text 19"/>
          <p:cNvSpPr/>
          <p:nvPr/>
        </p:nvSpPr>
        <p:spPr>
          <a:xfrm>
            <a:off x="5309927" y="2408783"/>
            <a:ext cx="187974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8A6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team is sized to aggregate demand.</a:t>
            </a:r>
            <a:endParaRPr lang="en-US" sz="675" dirty="0"/>
          </a:p>
        </p:txBody>
      </p:sp>
      <p:sp>
        <p:nvSpPr>
          <p:cNvPr id="34" name="Text 20"/>
          <p:cNvSpPr/>
          <p:nvPr/>
        </p:nvSpPr>
        <p:spPr>
          <a:xfrm>
            <a:off x="5309927" y="2629570"/>
            <a:ext cx="164264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point carries no staff</a:t>
            </a:r>
            <a:endParaRPr lang="en-US" sz="827" dirty="0"/>
          </a:p>
        </p:txBody>
      </p:sp>
      <p:sp>
        <p:nvSpPr>
          <p:cNvPr id="35" name="Text 21"/>
          <p:cNvSpPr/>
          <p:nvPr/>
        </p:nvSpPr>
        <p:spPr>
          <a:xfrm>
            <a:off x="5309927" y="2789634"/>
            <a:ext cx="2536589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8A6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Just a screen and connectivity — the fixed cost disappears.</a:t>
            </a:r>
            <a:endParaRPr lang="en-US" sz="675" dirty="0"/>
          </a:p>
        </p:txBody>
      </p:sp>
      <p:sp>
        <p:nvSpPr>
          <p:cNvPr id="36" name="Text 22"/>
          <p:cNvSpPr/>
          <p:nvPr/>
        </p:nvSpPr>
        <p:spPr>
          <a:xfrm>
            <a:off x="5309927" y="3011091"/>
            <a:ext cx="1106584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transit time</a:t>
            </a:r>
            <a:endParaRPr lang="en-US" sz="827" dirty="0"/>
          </a:p>
        </p:txBody>
      </p:sp>
      <p:sp>
        <p:nvSpPr>
          <p:cNvPr id="37" name="Text 23"/>
          <p:cNvSpPr/>
          <p:nvPr/>
        </p:nvSpPr>
        <p:spPr>
          <a:xfrm>
            <a:off x="5309927" y="3169593"/>
            <a:ext cx="206811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8A6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specialist serves without leaving their desk.</a:t>
            </a:r>
            <a:endParaRPr lang="en-US" sz="675" dirty="0"/>
          </a:p>
        </p:txBody>
      </p:sp>
      <p:sp>
        <p:nvSpPr>
          <p:cNvPr id="38" name="Text 24"/>
          <p:cNvSpPr/>
          <p:nvPr/>
        </p:nvSpPr>
        <p:spPr>
          <a:xfrm>
            <a:off x="5309927" y="3391049"/>
            <a:ext cx="1834060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Absences absorbed by the team</a:t>
            </a:r>
            <a:endParaRPr lang="en-US" sz="827" dirty="0"/>
          </a:p>
        </p:txBody>
      </p:sp>
      <p:sp>
        <p:nvSpPr>
          <p:cNvPr id="39" name="Text 25"/>
          <p:cNvSpPr/>
          <p:nvPr/>
        </p:nvSpPr>
        <p:spPr>
          <a:xfrm>
            <a:off x="5309927" y="3551113"/>
            <a:ext cx="245544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8A6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rest of the pool covers it, no local substitute needed.</a:t>
            </a:r>
            <a:endParaRPr lang="en-US" sz="675" dirty="0"/>
          </a:p>
        </p:txBody>
      </p:sp>
      <p:sp>
        <p:nvSpPr>
          <p:cNvPr id="40" name="Text 26"/>
          <p:cNvSpPr/>
          <p:nvPr/>
        </p:nvSpPr>
        <p:spPr>
          <a:xfrm>
            <a:off x="5309927" y="3771900"/>
            <a:ext cx="1704226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Talent with no geographic ties</a:t>
            </a:r>
            <a:endParaRPr lang="en-US" sz="827" dirty="0"/>
          </a:p>
        </p:txBody>
      </p:sp>
      <p:sp>
        <p:nvSpPr>
          <p:cNvPr id="41" name="Text 27"/>
          <p:cNvSpPr/>
          <p:nvPr/>
        </p:nvSpPr>
        <p:spPr>
          <a:xfrm>
            <a:off x="5309927" y="3931183"/>
            <a:ext cx="2811959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8A6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Concentrate your team in one site, or move it to another country.</a:t>
            </a:r>
            <a:endParaRPr lang="en-US" sz="675" dirty="0"/>
          </a:p>
        </p:txBody>
      </p:sp>
      <p:sp>
        <p:nvSpPr>
          <p:cNvPr id="42" name="Text 28"/>
          <p:cNvSpPr/>
          <p:nvPr/>
        </p:nvSpPr>
        <p:spPr>
          <a:xfrm>
            <a:off x="494258" y="4394746"/>
            <a:ext cx="5438180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real savings are the payroll, infrastructure, and geography that no longer limit the service.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44" name="Text 30"/>
          <p:cNvSpPr/>
          <p:nvPr/>
        </p:nvSpPr>
        <p:spPr>
          <a:xfrm>
            <a:off x="6692243" y="711473"/>
            <a:ext cx="1455120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4394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Sustainable, circular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6692243" y="854348"/>
            <a:ext cx="1875288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4394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Positive environmental impact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3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4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49" name="Text 35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21 / 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71_b218204365d3c89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188" y="511448"/>
            <a:ext cx="3840435" cy="3806168"/>
          </a:xfrm>
          <a:prstGeom prst="rect">
            <a:avLst/>
          </a:prstGeom>
        </p:spPr>
      </p:pic>
      <p:pic>
        <p:nvPicPr>
          <p:cNvPr id="4" name="Image 1" descr="/home/z/my-project/download/rebranded_slides/images/img_072_ad77afad9e5c38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770" y="60722"/>
            <a:ext cx="2288121" cy="1716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3588" y="466465"/>
            <a:ext cx="369365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E C U R I T Y A N D C O M P L I A N C 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93588" y="645058"/>
            <a:ext cx="3311379" cy="33091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Enterprise-grade,</a:t>
            </a:r>
            <a:endParaRPr lang="en-US" sz="2098" dirty="0"/>
          </a:p>
        </p:txBody>
      </p:sp>
      <p:sp>
        <p:nvSpPr>
          <p:cNvPr id="7" name="Text 3"/>
          <p:cNvSpPr/>
          <p:nvPr/>
        </p:nvSpPr>
        <p:spPr>
          <a:xfrm>
            <a:off x="493588" y="959383"/>
            <a:ext cx="3966679" cy="33091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the infrastructure up</a:t>
            </a:r>
            <a:endParaRPr lang="en-US" sz="2098" dirty="0"/>
          </a:p>
        </p:txBody>
      </p:sp>
      <p:sp>
        <p:nvSpPr>
          <p:cNvPr id="8" name="Text 4"/>
          <p:cNvSpPr/>
          <p:nvPr/>
        </p:nvSpPr>
        <p:spPr>
          <a:xfrm>
            <a:off x="493588" y="1756581"/>
            <a:ext cx="3842891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 deployed on AWS with full data isolation, encryption,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93588" y="1946672"/>
            <a:ext cx="3324299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per-client segregation. MassaPro never accesses end-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3588" y="2137321"/>
            <a:ext cx="724281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data.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67941" y="2743870"/>
            <a:ext cx="60418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 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468710" y="2743870"/>
            <a:ext cx="103797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406662" y="2743870"/>
            <a:ext cx="54167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GDPR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105299" y="2743870"/>
            <a:ext cx="59007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76824" y="2743870"/>
            <a:ext cx="79819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PCI-DSS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45058" y="3258220"/>
            <a:ext cx="1493383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identity verification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5058" y="3443288"/>
            <a:ext cx="3664521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advisor visually confirms the customer and their ID document — a direct</a:t>
            </a:r>
            <a:endParaRPr lang="en-US" sz="748" dirty="0"/>
          </a:p>
        </p:txBody>
      </p:sp>
      <p:sp>
        <p:nvSpPr>
          <p:cNvPr id="18" name="Text 14"/>
          <p:cNvSpPr/>
          <p:nvPr/>
        </p:nvSpPr>
        <p:spPr>
          <a:xfrm>
            <a:off x="645058" y="3576786"/>
            <a:ext cx="3632374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barrier against impersonation, and deepfakes can't operate through a kiosk.</a:t>
            </a:r>
            <a:endParaRPr lang="en-US" sz="748" dirty="0"/>
          </a:p>
        </p:txBody>
      </p:sp>
      <p:sp>
        <p:nvSpPr>
          <p:cNvPr id="19" name="Text 15"/>
          <p:cNvSpPr/>
          <p:nvPr/>
        </p:nvSpPr>
        <p:spPr>
          <a:xfrm>
            <a:off x="645058" y="3929732"/>
            <a:ext cx="1397217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 traceability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5058" y="4115470"/>
            <a:ext cx="3456570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Interaction recording and auditing in line with each organization's policy.</a:t>
            </a:r>
            <a:endParaRPr lang="en-US" sz="748" dirty="0"/>
          </a:p>
        </p:txBody>
      </p:sp>
      <p:sp>
        <p:nvSpPr>
          <p:cNvPr id="21" name="Text 17"/>
          <p:cNvSpPr/>
          <p:nvPr/>
        </p:nvSpPr>
        <p:spPr>
          <a:xfrm>
            <a:off x="645058" y="4249080"/>
            <a:ext cx="256862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Reports, logs, and metadata generated for all activity.</a:t>
            </a:r>
            <a:endParaRPr lang="en-US" sz="748" dirty="0"/>
          </a:p>
        </p:txBody>
      </p:sp>
      <p:sp>
        <p:nvSpPr>
          <p:cNvPr id="22" name="Text 18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22 / 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73_5fc9cbc3b671d6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571" y="1402966"/>
            <a:ext cx="1412230" cy="2240235"/>
          </a:xfrm>
          <a:prstGeom prst="rect">
            <a:avLst/>
          </a:prstGeom>
        </p:spPr>
      </p:pic>
      <p:pic>
        <p:nvPicPr>
          <p:cNvPr id="4" name="Image 1" descr="/home/z/my-project/download/rebranded_slides/images/img_074_0785febbd3b2e8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881" y="1157957"/>
            <a:ext cx="1860166" cy="2729582"/>
          </a:xfrm>
          <a:prstGeom prst="rect">
            <a:avLst/>
          </a:prstGeom>
        </p:spPr>
      </p:pic>
      <p:pic>
        <p:nvPicPr>
          <p:cNvPr id="5" name="Image 2" descr="/home/z/my-project/download/rebranded_slides/images/img_075_22a454351670de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96" y="1463018"/>
            <a:ext cx="1250826" cy="212024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3588" y="466465"/>
            <a:ext cx="288767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E R V I C E C O N T I N U I T Y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493588" y="645058"/>
            <a:ext cx="4205743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local hardware fails,</a:t>
            </a:r>
            <a:endParaRPr lang="en-US" sz="2098" dirty="0"/>
          </a:p>
        </p:txBody>
      </p:sp>
      <p:sp>
        <p:nvSpPr>
          <p:cNvPr id="8" name="Text 3"/>
          <p:cNvSpPr/>
          <p:nvPr/>
        </p:nvSpPr>
        <p:spPr>
          <a:xfrm>
            <a:off x="493588" y="959383"/>
            <a:ext cx="4321969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service never goes down</a:t>
            </a:r>
            <a:endParaRPr lang="en-US" sz="2098" dirty="0"/>
          </a:p>
        </p:txBody>
      </p:sp>
      <p:sp>
        <p:nvSpPr>
          <p:cNvPr id="9" name="Text 4"/>
          <p:cNvSpPr/>
          <p:nvPr/>
        </p:nvSpPr>
        <p:spPr>
          <a:xfrm>
            <a:off x="493588" y="1756581"/>
            <a:ext cx="3875261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contact point is decoupled from the session. If the screen, local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93588" y="1946672"/>
            <a:ext cx="3888879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network, or power fails, the interaction continues on the customer's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93588" y="2137321"/>
            <a:ext cx="346382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smartphone via the static QR code, with no on-site technical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93588" y="2328081"/>
            <a:ext cx="4074058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intervention needed. It can run over the user's own LTE/5G connection.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45058" y="2798118"/>
            <a:ext cx="1348801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Resilient by design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45058" y="2983855"/>
            <a:ext cx="377926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is 100% multimodal and keeps running even without fixed screens.</a:t>
            </a:r>
            <a:endParaRPr lang="en-US" sz="748" dirty="0"/>
          </a:p>
        </p:txBody>
      </p:sp>
      <p:sp>
        <p:nvSpPr>
          <p:cNvPr id="15" name="Text 10"/>
          <p:cNvSpPr/>
          <p:nvPr/>
        </p:nvSpPr>
        <p:spPr>
          <a:xfrm>
            <a:off x="645058" y="3361134"/>
            <a:ext cx="1617529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QR code backup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5058" y="3546091"/>
            <a:ext cx="299613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printed sticker works even if the kiosk is completely down.</a:t>
            </a:r>
            <a:endParaRPr lang="en-US" sz="748" dirty="0"/>
          </a:p>
        </p:txBody>
      </p:sp>
      <p:sp>
        <p:nvSpPr>
          <p:cNvPr id="17" name="Text 12"/>
          <p:cNvSpPr/>
          <p:nvPr/>
        </p:nvSpPr>
        <p:spPr>
          <a:xfrm>
            <a:off x="645058" y="3923258"/>
            <a:ext cx="134866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mobile session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5058" y="4108996"/>
            <a:ext cx="34234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keep video, audio, and shared screen from their own device.</a:t>
            </a:r>
            <a:endParaRPr lang="en-US" sz="748" dirty="0"/>
          </a:p>
        </p:txBody>
      </p:sp>
      <p:sp>
        <p:nvSpPr>
          <p:cNvPr id="19" name="Text 14"/>
          <p:cNvSpPr/>
          <p:nvPr/>
        </p:nvSpPr>
        <p:spPr>
          <a:xfrm>
            <a:off x="6280026" y="3936876"/>
            <a:ext cx="138163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session from mobile</a:t>
            </a:r>
            <a:endParaRPr lang="en-US" sz="748" dirty="0"/>
          </a:p>
        </p:txBody>
      </p:sp>
      <p:sp>
        <p:nvSpPr>
          <p:cNvPr id="20" name="Text 15"/>
          <p:cNvSpPr/>
          <p:nvPr/>
        </p:nvSpPr>
        <p:spPr>
          <a:xfrm>
            <a:off x="6022851" y="4076849"/>
            <a:ext cx="194315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technician dispatch · No support ticket</a:t>
            </a:r>
            <a:endParaRPr lang="en-US" sz="675" dirty="0"/>
          </a:p>
        </p:txBody>
      </p:sp>
      <p:sp>
        <p:nvSpPr>
          <p:cNvPr id="21" name="Text 16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23 / 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76_84829c411c01400b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588" y="1385106"/>
            <a:ext cx="1859496" cy="1180058"/>
          </a:xfrm>
          <a:prstGeom prst="rect">
            <a:avLst/>
          </a:prstGeom>
        </p:spPr>
      </p:pic>
      <p:pic>
        <p:nvPicPr>
          <p:cNvPr id="4" name="Image 1" descr="/home/z/my-project/download/rebranded_slides/images/img_077_249f91f07b20336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00" y="1385106"/>
            <a:ext cx="1858045" cy="1180058"/>
          </a:xfrm>
          <a:prstGeom prst="rect">
            <a:avLst/>
          </a:prstGeom>
        </p:spPr>
      </p:pic>
      <p:pic>
        <p:nvPicPr>
          <p:cNvPr id="5" name="Image 2" descr="/home/z/my-project/download/rebranded_slides/images/img_078_fd8242e771c8e91c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211" y="1385106"/>
            <a:ext cx="1858045" cy="1180058"/>
          </a:xfrm>
          <a:prstGeom prst="rect">
            <a:avLst/>
          </a:prstGeom>
        </p:spPr>
      </p:pic>
      <p:pic>
        <p:nvPicPr>
          <p:cNvPr id="6" name="Image 3" descr="/home/z/my-project/download/rebranded_slides/images/img_079_c55a1c648107f8f7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353" y="1385106"/>
            <a:ext cx="1858045" cy="118005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3588" y="466465"/>
            <a:ext cx="3496236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 E A T U R E D C A S E · B A N K I N G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93588" y="639366"/>
            <a:ext cx="5945832" cy="31933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Specialized service outside branch hours</a:t>
            </a:r>
            <a:endParaRPr lang="en-US" sz="2025" dirty="0"/>
          </a:p>
        </p:txBody>
      </p:sp>
      <p:sp>
        <p:nvSpPr>
          <p:cNvPr id="9" name="Text 3"/>
          <p:cNvSpPr/>
          <p:nvPr/>
        </p:nvSpPr>
        <p:spPr>
          <a:xfrm>
            <a:off x="589359" y="2757488"/>
            <a:ext cx="10697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27" dirty="0"/>
          </a:p>
        </p:txBody>
      </p:sp>
      <p:sp>
        <p:nvSpPr>
          <p:cNvPr id="10" name="Text 4"/>
          <p:cNvSpPr/>
          <p:nvPr/>
        </p:nvSpPr>
        <p:spPr>
          <a:xfrm>
            <a:off x="809365" y="2743870"/>
            <a:ext cx="666087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Arrival</a:t>
            </a:r>
            <a:endParaRPr lang="en-US" sz="973" dirty="0"/>
          </a:p>
        </p:txBody>
      </p:sp>
      <p:sp>
        <p:nvSpPr>
          <p:cNvPr id="11" name="Text 5"/>
          <p:cNvSpPr/>
          <p:nvPr/>
        </p:nvSpPr>
        <p:spPr>
          <a:xfrm>
            <a:off x="493588" y="3061097"/>
            <a:ext cx="1879869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customer enters the self-service</a:t>
            </a:r>
            <a:endParaRPr lang="en-US" sz="748" dirty="0"/>
          </a:p>
        </p:txBody>
      </p:sp>
      <p:sp>
        <p:nvSpPr>
          <p:cNvPr id="12" name="Text 6"/>
          <p:cNvSpPr/>
          <p:nvPr/>
        </p:nvSpPr>
        <p:spPr>
          <a:xfrm>
            <a:off x="493588" y="3213906"/>
            <a:ext cx="181296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lobby, whether or not the branch is</a:t>
            </a:r>
            <a:endParaRPr lang="en-US" sz="748" dirty="0"/>
          </a:p>
        </p:txBody>
      </p:sp>
      <p:sp>
        <p:nvSpPr>
          <p:cNvPr id="13" name="Text 7"/>
          <p:cNvSpPr/>
          <p:nvPr/>
        </p:nvSpPr>
        <p:spPr>
          <a:xfrm>
            <a:off x="493588" y="3366046"/>
            <a:ext cx="42773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2678125" y="2757488"/>
            <a:ext cx="10697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27" dirty="0"/>
          </a:p>
        </p:txBody>
      </p:sp>
      <p:sp>
        <p:nvSpPr>
          <p:cNvPr id="15" name="Text 9"/>
          <p:cNvSpPr/>
          <p:nvPr/>
        </p:nvSpPr>
        <p:spPr>
          <a:xfrm>
            <a:off x="2908176" y="2743870"/>
            <a:ext cx="977801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Connection</a:t>
            </a:r>
            <a:endParaRPr lang="en-US" sz="973" dirty="0"/>
          </a:p>
        </p:txBody>
      </p:sp>
      <p:sp>
        <p:nvSpPr>
          <p:cNvPr id="16" name="Text 10"/>
          <p:cNvSpPr/>
          <p:nvPr/>
        </p:nvSpPr>
        <p:spPr>
          <a:xfrm>
            <a:off x="2592400" y="3061097"/>
            <a:ext cx="208215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Scans the kiosk QR code and selects the</a:t>
            </a:r>
            <a:endParaRPr lang="en-US" sz="748" dirty="0"/>
          </a:p>
        </p:txBody>
      </p:sp>
      <p:sp>
        <p:nvSpPr>
          <p:cNvPr id="17" name="Text 11"/>
          <p:cNvSpPr/>
          <p:nvPr/>
        </p:nvSpPr>
        <p:spPr>
          <a:xfrm>
            <a:off x="2592400" y="3213906"/>
            <a:ext cx="1676741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service: onboarding, an issue, or</a:t>
            </a:r>
            <a:endParaRPr lang="en-US" sz="748" dirty="0"/>
          </a:p>
        </p:txBody>
      </p:sp>
      <p:sp>
        <p:nvSpPr>
          <p:cNvPr id="18" name="Text 12"/>
          <p:cNvSpPr/>
          <p:nvPr/>
        </p:nvSpPr>
        <p:spPr>
          <a:xfrm>
            <a:off x="2592400" y="3366046"/>
            <a:ext cx="601601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advisory.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776936" y="2757488"/>
            <a:ext cx="10697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27" dirty="0"/>
          </a:p>
        </p:txBody>
      </p:sp>
      <p:sp>
        <p:nvSpPr>
          <p:cNvPr id="20" name="Text 14"/>
          <p:cNvSpPr/>
          <p:nvPr/>
        </p:nvSpPr>
        <p:spPr>
          <a:xfrm>
            <a:off x="5006318" y="2743870"/>
            <a:ext cx="1166719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service</a:t>
            </a:r>
            <a:endParaRPr lang="en-US" sz="973" dirty="0"/>
          </a:p>
        </p:txBody>
      </p:sp>
      <p:sp>
        <p:nvSpPr>
          <p:cNvPr id="21" name="Text 15"/>
          <p:cNvSpPr/>
          <p:nvPr/>
        </p:nvSpPr>
        <p:spPr>
          <a:xfrm>
            <a:off x="4691211" y="3061097"/>
            <a:ext cx="201030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specialized banker assists over video</a:t>
            </a:r>
            <a:endParaRPr lang="en-US" sz="748" dirty="0"/>
          </a:p>
        </p:txBody>
      </p:sp>
      <p:sp>
        <p:nvSpPr>
          <p:cNvPr id="22" name="Text 16"/>
          <p:cNvSpPr/>
          <p:nvPr/>
        </p:nvSpPr>
        <p:spPr>
          <a:xfrm>
            <a:off x="4691211" y="3213906"/>
            <a:ext cx="193978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shares documentation on screen.</a:t>
            </a:r>
            <a:endParaRPr lang="en-US" sz="748" dirty="0"/>
          </a:p>
        </p:txBody>
      </p:sp>
      <p:sp>
        <p:nvSpPr>
          <p:cNvPr id="23" name="Text 17"/>
          <p:cNvSpPr/>
          <p:nvPr/>
        </p:nvSpPr>
        <p:spPr>
          <a:xfrm>
            <a:off x="6870055" y="2757488"/>
            <a:ext cx="10697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27" dirty="0"/>
          </a:p>
        </p:txBody>
      </p:sp>
      <p:sp>
        <p:nvSpPr>
          <p:cNvPr id="24" name="Text 18"/>
          <p:cNvSpPr/>
          <p:nvPr/>
        </p:nvSpPr>
        <p:spPr>
          <a:xfrm>
            <a:off x="7104459" y="2743870"/>
            <a:ext cx="997195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973" dirty="0"/>
          </a:p>
        </p:txBody>
      </p:sp>
      <p:sp>
        <p:nvSpPr>
          <p:cNvPr id="25" name="Text 19"/>
          <p:cNvSpPr/>
          <p:nvPr/>
        </p:nvSpPr>
        <p:spPr>
          <a:xfrm>
            <a:off x="6789353" y="3061097"/>
            <a:ext cx="198185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confirmed and the transaction</a:t>
            </a:r>
            <a:endParaRPr lang="en-US" sz="748" dirty="0"/>
          </a:p>
        </p:txBody>
      </p:sp>
      <p:sp>
        <p:nvSpPr>
          <p:cNvPr id="26" name="Text 20"/>
          <p:cNvSpPr/>
          <p:nvPr/>
        </p:nvSpPr>
        <p:spPr>
          <a:xfrm>
            <a:off x="6789353" y="3213906"/>
            <a:ext cx="1822005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on the customer's phone.</a:t>
            </a:r>
            <a:endParaRPr lang="en-US" sz="748" dirty="0"/>
          </a:p>
        </p:txBody>
      </p:sp>
      <p:sp>
        <p:nvSpPr>
          <p:cNvPr id="27" name="Text 21"/>
          <p:cNvSpPr/>
          <p:nvPr/>
        </p:nvSpPr>
        <p:spPr>
          <a:xfrm>
            <a:off x="699306" y="4108996"/>
            <a:ext cx="6260604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Applicable processes: account opening · identity verification · credit origination · issue resolution · investment advisory</a:t>
            </a:r>
            <a:endParaRPr lang="en-US" sz="827" dirty="0"/>
          </a:p>
        </p:txBody>
      </p:sp>
      <p:sp>
        <p:nvSpPr>
          <p:cNvPr id="28" name="Text 22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24 / 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80_34d022cf286202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3" y="1397943"/>
            <a:ext cx="1845878" cy="1037183"/>
          </a:xfrm>
          <a:prstGeom prst="rect">
            <a:avLst/>
          </a:prstGeom>
        </p:spPr>
      </p:pic>
      <p:pic>
        <p:nvPicPr>
          <p:cNvPr id="4" name="Image 1" descr="/home/z/my-project/download/rebranded_slides/images/img_081_f46b4bf5db97e6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85" y="1402296"/>
            <a:ext cx="1845208" cy="1037965"/>
          </a:xfrm>
          <a:prstGeom prst="rect">
            <a:avLst/>
          </a:prstGeom>
        </p:spPr>
      </p:pic>
      <p:pic>
        <p:nvPicPr>
          <p:cNvPr id="5" name="Image 2" descr="/home/z/my-project/download/rebranded_slides/images/img_082_643532c32b3a09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828" y="1402296"/>
            <a:ext cx="1845208" cy="1037965"/>
          </a:xfrm>
          <a:prstGeom prst="rect">
            <a:avLst/>
          </a:prstGeom>
        </p:spPr>
      </p:pic>
      <p:pic>
        <p:nvPicPr>
          <p:cNvPr id="6" name="Image 3" descr="/home/z/my-project/download/rebranded_slides/images/img_083_ca91a31e71246a5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81" y="1392250"/>
            <a:ext cx="1865858" cy="10486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3588" y="466465"/>
            <a:ext cx="309379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E C T O R A P P L I C A T I O N S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93588" y="645058"/>
            <a:ext cx="6380820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model, four different operations</a:t>
            </a:r>
            <a:endParaRPr lang="en-US" sz="2098" dirty="0"/>
          </a:p>
        </p:txBody>
      </p:sp>
      <p:sp>
        <p:nvSpPr>
          <p:cNvPr id="9" name="Text 3"/>
          <p:cNvSpPr/>
          <p:nvPr/>
        </p:nvSpPr>
        <p:spPr>
          <a:xfrm>
            <a:off x="699306" y="2969568"/>
            <a:ext cx="956432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Finance</a:t>
            </a:r>
            <a:endParaRPr lang="en-US" sz="1198" dirty="0"/>
          </a:p>
        </p:txBody>
      </p:sp>
      <p:sp>
        <p:nvSpPr>
          <p:cNvPr id="10" name="Text 4"/>
          <p:cNvSpPr/>
          <p:nvPr/>
        </p:nvSpPr>
        <p:spPr>
          <a:xfrm>
            <a:off x="699306" y="3280321"/>
            <a:ext cx="146312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Assisted claims assessment,</a:t>
            </a:r>
            <a:endParaRPr lang="en-US" sz="748" dirty="0"/>
          </a:p>
        </p:txBody>
      </p:sp>
      <p:sp>
        <p:nvSpPr>
          <p:cNvPr id="11" name="Text 5"/>
          <p:cNvSpPr/>
          <p:nvPr/>
        </p:nvSpPr>
        <p:spPr>
          <a:xfrm>
            <a:off x="699306" y="3432572"/>
            <a:ext cx="1415774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opening, policy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699306" y="3585381"/>
            <a:ext cx="158222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issuance, and claim filing, with</a:t>
            </a:r>
            <a:endParaRPr lang="en-US" sz="748" dirty="0"/>
          </a:p>
        </p:txBody>
      </p:sp>
      <p:sp>
        <p:nvSpPr>
          <p:cNvPr id="13" name="Text 7"/>
          <p:cNvSpPr/>
          <p:nvPr/>
        </p:nvSpPr>
        <p:spPr>
          <a:xfrm>
            <a:off x="699306" y="3737521"/>
            <a:ext cx="123914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verification of the</a:t>
            </a:r>
            <a:endParaRPr lang="en-US" sz="748" dirty="0"/>
          </a:p>
        </p:txBody>
      </p:sp>
      <p:sp>
        <p:nvSpPr>
          <p:cNvPr id="14" name="Text 8"/>
          <p:cNvSpPr/>
          <p:nvPr/>
        </p:nvSpPr>
        <p:spPr>
          <a:xfrm>
            <a:off x="699306" y="3889772"/>
            <a:ext cx="130331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policyholder and their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99306" y="4042581"/>
            <a:ext cx="72865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document.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2798118" y="2969568"/>
            <a:ext cx="715089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Retail</a:t>
            </a:r>
            <a:endParaRPr lang="en-US" sz="1198" dirty="0"/>
          </a:p>
        </p:txBody>
      </p:sp>
      <p:sp>
        <p:nvSpPr>
          <p:cNvPr id="17" name="Text 11"/>
          <p:cNvSpPr/>
          <p:nvPr/>
        </p:nvSpPr>
        <p:spPr>
          <a:xfrm>
            <a:off x="2798118" y="3280321"/>
            <a:ext cx="153376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 shopper and in-store</a:t>
            </a:r>
            <a:endParaRPr lang="en-US" sz="748" dirty="0"/>
          </a:p>
        </p:txBody>
      </p:sp>
      <p:sp>
        <p:nvSpPr>
          <p:cNvPr id="18" name="Text 12"/>
          <p:cNvSpPr/>
          <p:nvPr/>
        </p:nvSpPr>
        <p:spPr>
          <a:xfrm>
            <a:off x="2798118" y="3432572"/>
            <a:ext cx="1447092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advisory: one brand</a:t>
            </a:r>
            <a:endParaRPr lang="en-US" sz="748" dirty="0"/>
          </a:p>
        </p:txBody>
      </p:sp>
      <p:sp>
        <p:nvSpPr>
          <p:cNvPr id="19" name="Text 13"/>
          <p:cNvSpPr/>
          <p:nvPr/>
        </p:nvSpPr>
        <p:spPr>
          <a:xfrm>
            <a:off x="2798118" y="3585381"/>
            <a:ext cx="138488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specialist covers the entire</a:t>
            </a:r>
            <a:endParaRPr lang="en-US" sz="748" dirty="0"/>
          </a:p>
        </p:txBody>
      </p:sp>
      <p:sp>
        <p:nvSpPr>
          <p:cNvPr id="20" name="Text 14"/>
          <p:cNvSpPr/>
          <p:nvPr/>
        </p:nvSpPr>
        <p:spPr>
          <a:xfrm>
            <a:off x="2798118" y="3737521"/>
            <a:ext cx="86227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retail network.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897041" y="2879601"/>
            <a:ext cx="1008148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Travel &amp;</a:t>
            </a:r>
            <a:endParaRPr lang="en-US" sz="1198" dirty="0"/>
          </a:p>
        </p:txBody>
      </p:sp>
      <p:sp>
        <p:nvSpPr>
          <p:cNvPr id="22" name="Text 16"/>
          <p:cNvSpPr/>
          <p:nvPr/>
        </p:nvSpPr>
        <p:spPr>
          <a:xfrm>
            <a:off x="4897041" y="3060316"/>
            <a:ext cx="1168812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Hospitality</a:t>
            </a:r>
            <a:endParaRPr lang="en-US" sz="1198" dirty="0"/>
          </a:p>
        </p:txBody>
      </p:sp>
      <p:sp>
        <p:nvSpPr>
          <p:cNvPr id="23" name="Text 17"/>
          <p:cNvSpPr/>
          <p:nvPr/>
        </p:nvSpPr>
        <p:spPr>
          <a:xfrm>
            <a:off x="4897041" y="3280321"/>
            <a:ext cx="1516890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Multilingual 24/7 concierge in</a:t>
            </a:r>
            <a:endParaRPr lang="en-US" sz="748" dirty="0"/>
          </a:p>
        </p:txBody>
      </p:sp>
      <p:sp>
        <p:nvSpPr>
          <p:cNvPr id="24" name="Text 18"/>
          <p:cNvSpPr/>
          <p:nvPr/>
        </p:nvSpPr>
        <p:spPr>
          <a:xfrm>
            <a:off x="4897041" y="3432572"/>
            <a:ext cx="158789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hotel, resort, or tour lobby,</a:t>
            </a:r>
            <a:endParaRPr lang="en-US" sz="748" dirty="0"/>
          </a:p>
        </p:txBody>
      </p:sp>
      <p:sp>
        <p:nvSpPr>
          <p:cNvPr id="25" name="Text 19"/>
          <p:cNvSpPr/>
          <p:nvPr/>
        </p:nvSpPr>
        <p:spPr>
          <a:xfrm>
            <a:off x="4897041" y="3585381"/>
            <a:ext cx="159802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no need for a staffed desk</a:t>
            </a:r>
            <a:endParaRPr lang="en-US" sz="748" dirty="0"/>
          </a:p>
        </p:txBody>
      </p:sp>
      <p:sp>
        <p:nvSpPr>
          <p:cNvPr id="26" name="Text 20"/>
          <p:cNvSpPr/>
          <p:nvPr/>
        </p:nvSpPr>
        <p:spPr>
          <a:xfrm>
            <a:off x="4874729" y="3737521"/>
            <a:ext cx="650585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overnight.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995071" y="2969568"/>
            <a:ext cx="1171882" cy="18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198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</a:t>
            </a:r>
            <a:endParaRPr lang="en-US" sz="1198" dirty="0"/>
          </a:p>
        </p:txBody>
      </p:sp>
      <p:sp>
        <p:nvSpPr>
          <p:cNvPr id="28" name="Text 22"/>
          <p:cNvSpPr/>
          <p:nvPr/>
        </p:nvSpPr>
        <p:spPr>
          <a:xfrm>
            <a:off x="6995071" y="3280321"/>
            <a:ext cx="15188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Admissions, initial triage, and</a:t>
            </a:r>
            <a:endParaRPr lang="en-US" sz="748" dirty="0"/>
          </a:p>
        </p:txBody>
      </p:sp>
      <p:sp>
        <p:nvSpPr>
          <p:cNvPr id="29" name="Text 23"/>
          <p:cNvSpPr/>
          <p:nvPr/>
        </p:nvSpPr>
        <p:spPr>
          <a:xfrm>
            <a:off x="6995071" y="3432572"/>
            <a:ext cx="157957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guidance at clinics and</a:t>
            </a:r>
            <a:endParaRPr lang="en-US" sz="748" dirty="0"/>
          </a:p>
        </p:txBody>
      </p:sp>
      <p:sp>
        <p:nvSpPr>
          <p:cNvPr id="30" name="Text 24"/>
          <p:cNvSpPr/>
          <p:nvPr/>
        </p:nvSpPr>
        <p:spPr>
          <a:xfrm>
            <a:off x="6995071" y="3585381"/>
            <a:ext cx="1399233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centers without permanent</a:t>
            </a:r>
            <a:endParaRPr lang="en-US" sz="748" dirty="0"/>
          </a:p>
        </p:txBody>
      </p:sp>
      <p:sp>
        <p:nvSpPr>
          <p:cNvPr id="31" name="Text 25"/>
          <p:cNvSpPr/>
          <p:nvPr/>
        </p:nvSpPr>
        <p:spPr>
          <a:xfrm>
            <a:off x="6995071" y="3737521"/>
            <a:ext cx="942919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front-desk staff.</a:t>
            </a:r>
            <a:endParaRPr lang="en-US" sz="748" dirty="0"/>
          </a:p>
        </p:txBody>
      </p:sp>
      <p:sp>
        <p:nvSpPr>
          <p:cNvPr id="32" name="Text 26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25 / 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84_e446b4be9b6522b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636" y="1879476"/>
            <a:ext cx="2096691" cy="1179388"/>
          </a:xfrm>
          <a:prstGeom prst="rect">
            <a:avLst/>
          </a:prstGeom>
        </p:spPr>
      </p:pic>
      <p:pic>
        <p:nvPicPr>
          <p:cNvPr id="4" name="Image 1" descr="/home/z/my-project/download/rebranded_slides/images/img_085_edd5ad48a6224a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68" y="1982391"/>
            <a:ext cx="1605893" cy="973671"/>
          </a:xfrm>
          <a:prstGeom prst="rect">
            <a:avLst/>
          </a:prstGeom>
        </p:spPr>
      </p:pic>
      <p:pic>
        <p:nvPicPr>
          <p:cNvPr id="5" name="Image 2" descr="/home/z/my-project/download/rebranded_slides/images/img_086_cd9ab3a936dfbf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073" y="1982391"/>
            <a:ext cx="700088" cy="1042206"/>
          </a:xfrm>
          <a:prstGeom prst="rect">
            <a:avLst/>
          </a:prstGeom>
        </p:spPr>
      </p:pic>
      <p:pic>
        <p:nvPicPr>
          <p:cNvPr id="6" name="Image 3" descr="/home/z/my-project/download/rebranded_slides/images/img_087_c4f0b412f9d3c0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332" y="2174491"/>
            <a:ext cx="587908" cy="58857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3588" y="466465"/>
            <a:ext cx="3146517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 H Y S I C A L D E P L O Y M E N T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93588" y="645058"/>
            <a:ext cx="4182219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Any format, any orientation</a:t>
            </a:r>
            <a:endParaRPr lang="en-US" sz="2098" dirty="0"/>
          </a:p>
        </p:txBody>
      </p:sp>
      <p:sp>
        <p:nvSpPr>
          <p:cNvPr id="9" name="Text 3"/>
          <p:cNvSpPr/>
          <p:nvPr/>
        </p:nvSpPr>
        <p:spPr>
          <a:xfrm>
            <a:off x="493588" y="1205843"/>
            <a:ext cx="742894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software adapts to whatever hardware is already on site: a vertical totem, horizontal screen, countertop tablet, or embedded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493588" y="1377293"/>
            <a:ext cx="325866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monitor. It doesn't dictate construction work or furniture.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713594" y="3214688"/>
            <a:ext cx="2343989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Vertical or Horizontal Screen</a:t>
            </a:r>
            <a:endParaRPr lang="en-US" sz="1052" dirty="0"/>
          </a:p>
        </p:txBody>
      </p:sp>
      <p:sp>
        <p:nvSpPr>
          <p:cNvPr id="12" name="Text 6"/>
          <p:cNvSpPr/>
          <p:nvPr/>
        </p:nvSpPr>
        <p:spPr>
          <a:xfrm>
            <a:off x="713594" y="3491843"/>
            <a:ext cx="218389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software automatically detects screen</a:t>
            </a:r>
            <a:endParaRPr lang="en-US" sz="748" dirty="0"/>
          </a:p>
        </p:txBody>
      </p:sp>
      <p:sp>
        <p:nvSpPr>
          <p:cNvPr id="13" name="Text 7"/>
          <p:cNvSpPr/>
          <p:nvPr/>
        </p:nvSpPr>
        <p:spPr>
          <a:xfrm>
            <a:off x="713594" y="3634718"/>
            <a:ext cx="121639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size and orientation.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3525441" y="3214688"/>
            <a:ext cx="2478267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 or Full-Screen Mode</a:t>
            </a:r>
            <a:endParaRPr lang="en-US" sz="1052" dirty="0"/>
          </a:p>
        </p:txBody>
      </p:sp>
      <p:sp>
        <p:nvSpPr>
          <p:cNvPr id="15" name="Text 9"/>
          <p:cNvSpPr/>
          <p:nvPr/>
        </p:nvSpPr>
        <p:spPr>
          <a:xfrm>
            <a:off x="3525441" y="3491843"/>
            <a:ext cx="211880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adjusts the advisor's framing</a:t>
            </a:r>
            <a:endParaRPr lang="en-US" sz="748" dirty="0"/>
          </a:p>
        </p:txBody>
      </p:sp>
      <p:sp>
        <p:nvSpPr>
          <p:cNvPr id="16" name="Text 10"/>
          <p:cNvSpPr/>
          <p:nvPr/>
        </p:nvSpPr>
        <p:spPr>
          <a:xfrm>
            <a:off x="3525441" y="3634718"/>
            <a:ext cx="177896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based on the screen type and use.</a:t>
            </a:r>
            <a:endParaRPr lang="en-US" sz="748" dirty="0"/>
          </a:p>
        </p:txBody>
      </p:sp>
      <p:sp>
        <p:nvSpPr>
          <p:cNvPr id="17" name="Text 11"/>
          <p:cNvSpPr/>
          <p:nvPr/>
        </p:nvSpPr>
        <p:spPr>
          <a:xfrm>
            <a:off x="6337176" y="3214688"/>
            <a:ext cx="1817470" cy="16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Touchscreens, PWA</a:t>
            </a:r>
            <a:endParaRPr lang="en-US" sz="1052" dirty="0"/>
          </a:p>
        </p:txBody>
      </p:sp>
      <p:sp>
        <p:nvSpPr>
          <p:cNvPr id="18" name="Text 12"/>
          <p:cNvSpPr/>
          <p:nvPr/>
        </p:nvSpPr>
        <p:spPr>
          <a:xfrm>
            <a:off x="6337176" y="3491843"/>
            <a:ext cx="2133508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also runs on touch devices —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6337176" y="3634718"/>
            <a:ext cx="171724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iPad or Android — both as a PWA.</a:t>
            </a:r>
            <a:endParaRPr lang="en-US" sz="748" dirty="0"/>
          </a:p>
        </p:txBody>
      </p:sp>
      <p:sp>
        <p:nvSpPr>
          <p:cNvPr id="20" name="Text 14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99306" y="4431246"/>
            <a:ext cx="5071281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Vertical 9:16 · 1080 × 1920 Horizontal 16:9 · 1920 × 1080 From countertop tablets to large-format totems</a:t>
            </a:r>
            <a:endParaRPr lang="en-US" sz="748" dirty="0"/>
          </a:p>
        </p:txBody>
      </p:sp>
      <p:sp>
        <p:nvSpPr>
          <p:cNvPr id="22" name="Text 16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88_5e33b46e84df1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687" y="622176"/>
            <a:ext cx="3522538" cy="3308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588" y="466465"/>
            <a:ext cx="2219106" cy="12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 R A N D I D E N T I T 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3588" y="645058"/>
            <a:ext cx="3725773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brand at every</a:t>
            </a:r>
            <a:endParaRPr lang="en-US" sz="2098" dirty="0"/>
          </a:p>
        </p:txBody>
      </p:sp>
      <p:sp>
        <p:nvSpPr>
          <p:cNvPr id="6" name="Text 3"/>
          <p:cNvSpPr/>
          <p:nvPr/>
        </p:nvSpPr>
        <p:spPr>
          <a:xfrm>
            <a:off x="493588" y="959383"/>
            <a:ext cx="2987260" cy="33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 of contact</a:t>
            </a:r>
            <a:endParaRPr lang="en-US" sz="2098" dirty="0"/>
          </a:p>
        </p:txBody>
      </p:sp>
      <p:sp>
        <p:nvSpPr>
          <p:cNvPr id="7" name="Text 4"/>
          <p:cNvSpPr/>
          <p:nvPr/>
        </p:nvSpPr>
        <p:spPr>
          <a:xfrm>
            <a:off x="493588" y="1756581"/>
            <a:ext cx="3816102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100% configurable interface: logo, color palette, typography, legal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3588" y="1946672"/>
            <a:ext cx="3633601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text, and promotional content. End customers never perceive 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3588" y="2137321"/>
            <a:ext cx="1460283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third-party platform.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594" y="2791755"/>
            <a:ext cx="2605705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Corporate logo, color palette, and typography</a:t>
            </a:r>
            <a:endParaRPr lang="en-US" sz="827" dirty="0"/>
          </a:p>
        </p:txBody>
      </p:sp>
      <p:sp>
        <p:nvSpPr>
          <p:cNvPr id="11" name="Text 8"/>
          <p:cNvSpPr/>
          <p:nvPr/>
        </p:nvSpPr>
        <p:spPr>
          <a:xfrm>
            <a:off x="713594" y="3162449"/>
            <a:ext cx="246960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own text, languages, and legal notices</a:t>
            </a:r>
            <a:endParaRPr lang="en-US" sz="827" dirty="0"/>
          </a:p>
        </p:txBody>
      </p:sp>
      <p:sp>
        <p:nvSpPr>
          <p:cNvPr id="12" name="Text 9"/>
          <p:cNvSpPr/>
          <p:nvPr/>
        </p:nvSpPr>
        <p:spPr>
          <a:xfrm>
            <a:off x="713594" y="3532584"/>
            <a:ext cx="2327233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iconography and service naming</a:t>
            </a:r>
            <a:endParaRPr lang="en-US" sz="827" dirty="0"/>
          </a:p>
        </p:txBody>
      </p:sp>
      <p:sp>
        <p:nvSpPr>
          <p:cNvPr id="13" name="Text 10"/>
          <p:cNvSpPr/>
          <p:nvPr/>
        </p:nvSpPr>
        <p:spPr>
          <a:xfrm>
            <a:off x="713594" y="3903278"/>
            <a:ext cx="2753581" cy="1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2230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Changes applied remotely across the entire network</a:t>
            </a:r>
            <a:endParaRPr lang="en-US" sz="827" dirty="0"/>
          </a:p>
        </p:txBody>
      </p:sp>
      <p:sp>
        <p:nvSpPr>
          <p:cNvPr id="14" name="Text 11"/>
          <p:cNvSpPr/>
          <p:nvPr/>
        </p:nvSpPr>
        <p:spPr>
          <a:xfrm>
            <a:off x="5763555" y="4076849"/>
            <a:ext cx="223380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 of customization on the same software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6B7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7C3AED">
              <a:alpha val="6000"/>
            </a:srgbClr>
          </a:solidFill>
          <a:ln w="7144">
            <a:solidFill>
              <a:srgbClr val="7C3AE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1F2937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27 / 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rebranded_slides/images/img_089_2681326d35594acf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768" y="1062968"/>
            <a:ext cx="1677330" cy="2468835"/>
          </a:xfrm>
          <a:prstGeom prst="rect">
            <a:avLst/>
          </a:prstGeom>
        </p:spPr>
      </p:pic>
      <p:pic>
        <p:nvPicPr>
          <p:cNvPr id="4" name="Image 1" descr="/home/z/my-project/download/rebranded_slides/images/img_090_4b98d1ee40180e7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488" y="1062968"/>
            <a:ext cx="1666615" cy="2468835"/>
          </a:xfrm>
          <a:prstGeom prst="rect">
            <a:avLst/>
          </a:prstGeom>
        </p:spPr>
      </p:pic>
      <p:pic>
        <p:nvPicPr>
          <p:cNvPr id="5" name="Image 2" descr="/home/z/my-project/download/rebranded_slides/images/img_091_6b6e1ce6c15ac3ac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33" y="1062186"/>
            <a:ext cx="1666615" cy="246883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3588" y="466465"/>
            <a:ext cx="3934136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 O N T E N T A N D M O N E T I Z A T I O N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493588" y="639366"/>
            <a:ext cx="4729386" cy="31933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screen keeps working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493588" y="934380"/>
            <a:ext cx="4389723" cy="31933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 when there is no session</a:t>
            </a:r>
            <a:endParaRPr lang="en-US" sz="2025" dirty="0"/>
          </a:p>
        </p:txBody>
      </p:sp>
      <p:sp>
        <p:nvSpPr>
          <p:cNvPr id="9" name="Text 4"/>
          <p:cNvSpPr/>
          <p:nvPr/>
        </p:nvSpPr>
        <p:spPr>
          <a:xfrm>
            <a:off x="493588" y="1748768"/>
            <a:ext cx="3784290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rest, the point doesn't go dark: it plays content and advertising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93588" y="1929482"/>
            <a:ext cx="4014564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carousels scheduled per location from Kiosk Manager. The asset stops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93588" y="2110978"/>
            <a:ext cx="3942569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being just a service channel and becomes a communication medium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93588" y="2291693"/>
            <a:ext cx="350401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30771" y="2922463"/>
            <a:ext cx="1713663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JPG, GIF, and MP4 formats</a:t>
            </a:r>
            <a:endParaRPr lang="en-US" sz="827" dirty="0"/>
          </a:p>
        </p:txBody>
      </p:sp>
      <p:sp>
        <p:nvSpPr>
          <p:cNvPr id="14" name="Text 9"/>
          <p:cNvSpPr/>
          <p:nvPr/>
        </p:nvSpPr>
        <p:spPr>
          <a:xfrm>
            <a:off x="630771" y="3102508"/>
            <a:ext cx="1809708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or motion creative, no additional</a:t>
            </a:r>
            <a:endParaRPr lang="en-US" sz="675" dirty="0"/>
          </a:p>
        </p:txBody>
      </p:sp>
      <p:sp>
        <p:nvSpPr>
          <p:cNvPr id="15" name="Text 10"/>
          <p:cNvSpPr/>
          <p:nvPr/>
        </p:nvSpPr>
        <p:spPr>
          <a:xfrm>
            <a:off x="630771" y="3226073"/>
            <a:ext cx="854041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player required.</a:t>
            </a:r>
            <a:endParaRPr lang="en-US" sz="675" dirty="0"/>
          </a:p>
        </p:txBody>
      </p:sp>
      <p:sp>
        <p:nvSpPr>
          <p:cNvPr id="16" name="Text 11"/>
          <p:cNvSpPr/>
          <p:nvPr/>
        </p:nvSpPr>
        <p:spPr>
          <a:xfrm>
            <a:off x="2722438" y="2922463"/>
            <a:ext cx="1489583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Scheduling by location</a:t>
            </a:r>
            <a:endParaRPr lang="en-US" sz="827" dirty="0"/>
          </a:p>
        </p:txBody>
      </p:sp>
      <p:sp>
        <p:nvSpPr>
          <p:cNvPr id="17" name="Text 12"/>
          <p:cNvSpPr/>
          <p:nvPr/>
        </p:nvSpPr>
        <p:spPr>
          <a:xfrm>
            <a:off x="2722438" y="3102508"/>
            <a:ext cx="1693859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kiosk shows the campaign that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2722438" y="3226073"/>
            <a:ext cx="1931103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matches its site, language, and schedule.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630771" y="3758282"/>
            <a:ext cx="1657814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Owned or third-party content</a:t>
            </a:r>
            <a:endParaRPr lang="en-US" sz="827" dirty="0"/>
          </a:p>
        </p:txBody>
      </p:sp>
      <p:sp>
        <p:nvSpPr>
          <p:cNvPr id="20" name="Text 15"/>
          <p:cNvSpPr/>
          <p:nvPr/>
        </p:nvSpPr>
        <p:spPr>
          <a:xfrm>
            <a:off x="630771" y="3938327"/>
            <a:ext cx="2019105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Campaigns from your brand, your partners,</a:t>
            </a:r>
            <a:endParaRPr lang="en-US" sz="675" dirty="0"/>
          </a:p>
        </p:txBody>
      </p:sp>
      <p:sp>
        <p:nvSpPr>
          <p:cNvPr id="21" name="Text 16"/>
          <p:cNvSpPr/>
          <p:nvPr/>
        </p:nvSpPr>
        <p:spPr>
          <a:xfrm>
            <a:off x="630771" y="4062561"/>
            <a:ext cx="1062075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local advertisers.</a:t>
            </a:r>
            <a:endParaRPr lang="en-US" sz="675" dirty="0"/>
          </a:p>
        </p:txBody>
      </p:sp>
      <p:sp>
        <p:nvSpPr>
          <p:cNvPr id="22" name="Text 17"/>
          <p:cNvSpPr/>
          <p:nvPr/>
        </p:nvSpPr>
        <p:spPr>
          <a:xfrm>
            <a:off x="2722438" y="3758282"/>
            <a:ext cx="112304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 transition</a:t>
            </a:r>
            <a:endParaRPr lang="en-US" sz="827" dirty="0"/>
          </a:p>
        </p:txBody>
      </p:sp>
      <p:sp>
        <p:nvSpPr>
          <p:cNvPr id="23" name="Text 18"/>
          <p:cNvSpPr/>
          <p:nvPr/>
        </p:nvSpPr>
        <p:spPr>
          <a:xfrm>
            <a:off x="2722438" y="3938327"/>
            <a:ext cx="2018502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the QR code is scanned, the carousel</a:t>
            </a:r>
            <a:endParaRPr lang="en-US" sz="675" dirty="0"/>
          </a:p>
        </p:txBody>
      </p:sp>
      <p:sp>
        <p:nvSpPr>
          <p:cNvPr id="24" name="Text 19"/>
          <p:cNvSpPr/>
          <p:nvPr/>
        </p:nvSpPr>
        <p:spPr>
          <a:xfrm>
            <a:off x="2722438" y="4062561"/>
            <a:ext cx="1546425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 aside for the video session.</a:t>
            </a:r>
            <a:endParaRPr lang="en-US" sz="675" dirty="0"/>
          </a:p>
        </p:txBody>
      </p:sp>
      <p:sp>
        <p:nvSpPr>
          <p:cNvPr id="25" name="Text 20"/>
          <p:cNvSpPr/>
          <p:nvPr/>
        </p:nvSpPr>
        <p:spPr>
          <a:xfrm>
            <a:off x="6160703" y="3671888"/>
            <a:ext cx="199764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75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 carousel at rest · vertical and horizontal</a:t>
            </a:r>
            <a:endParaRPr lang="en-US" sz="675" dirty="0"/>
          </a:p>
        </p:txBody>
      </p:sp>
      <p:sp>
        <p:nvSpPr>
          <p:cNvPr id="26" name="Text 21"/>
          <p:cNvSpPr/>
          <p:nvPr/>
        </p:nvSpPr>
        <p:spPr>
          <a:xfrm>
            <a:off x="5314950" y="4163355"/>
            <a:ext cx="2914918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Pays back the point even outside service hours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858545" y="677875"/>
            <a:ext cx="2310958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Programmable ad slideshow per location</a:t>
            </a:r>
            <a:endParaRPr lang="en-US" sz="827" dirty="0"/>
          </a:p>
        </p:txBody>
      </p:sp>
      <p:sp>
        <p:nvSpPr>
          <p:cNvPr id="29" name="Text 24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3588" y="466465"/>
            <a:ext cx="3980206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spc="13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U M M A R Y F O R T H E C O M M I T T E 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3588" y="645058"/>
            <a:ext cx="4781178" cy="33091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413"/>
              </a:lnSpc>
              <a:buNone/>
            </a:pPr>
            <a:r>
              <a:rPr lang="en-US" sz="209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Seven decisions already settled</a:t>
            </a:r>
            <a:endParaRPr lang="en-US" sz="2098" dirty="0"/>
          </a:p>
        </p:txBody>
      </p:sp>
      <p:sp>
        <p:nvSpPr>
          <p:cNvPr id="5" name="Text 3"/>
          <p:cNvSpPr/>
          <p:nvPr/>
        </p:nvSpPr>
        <p:spPr>
          <a:xfrm>
            <a:off x="973671" y="1825228"/>
            <a:ext cx="1513582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category of its own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078050"/>
            <a:ext cx="2223318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isn't video conferencing: it's an in-person</a:t>
            </a:r>
            <a:endParaRPr lang="en-US" sz="748" dirty="0"/>
          </a:p>
        </p:txBody>
      </p:sp>
      <p:sp>
        <p:nvSpPr>
          <p:cNvPr id="7" name="Text 5"/>
          <p:cNvSpPr/>
          <p:nvPr/>
        </p:nvSpPr>
        <p:spPr>
          <a:xfrm>
            <a:off x="685800" y="2211660"/>
            <a:ext cx="2175218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channel designed from the ground</a:t>
            </a:r>
            <a:endParaRPr lang="en-US" sz="748" dirty="0"/>
          </a:p>
        </p:txBody>
      </p:sp>
      <p:sp>
        <p:nvSpPr>
          <p:cNvPr id="8" name="Text 6"/>
          <p:cNvSpPr/>
          <p:nvPr/>
        </p:nvSpPr>
        <p:spPr>
          <a:xfrm>
            <a:off x="685800" y="2345271"/>
            <a:ext cx="241280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43300" y="1847999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85406" y="1825228"/>
            <a:ext cx="1416193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adoption friction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97535" y="2078050"/>
            <a:ext cx="2350620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install nothing; advisors need only</a:t>
            </a:r>
            <a:endParaRPr lang="en-US" sz="748" dirty="0"/>
          </a:p>
        </p:txBody>
      </p:sp>
      <p:sp>
        <p:nvSpPr>
          <p:cNvPr id="12" name="Text 10"/>
          <p:cNvSpPr/>
          <p:nvPr/>
        </p:nvSpPr>
        <p:spPr>
          <a:xfrm>
            <a:off x="3492890" y="2211660"/>
            <a:ext cx="62181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browser.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97253" y="1825228"/>
            <a:ext cx="1797658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Integrates with your ACD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271" y="2078050"/>
            <a:ext cx="239281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 alongside Genesys, Cisco, Avaya, Five9,</a:t>
            </a:r>
            <a:endParaRPr lang="en-US" sz="748" dirty="0"/>
          </a:p>
        </p:txBody>
      </p:sp>
      <p:sp>
        <p:nvSpPr>
          <p:cNvPr id="15" name="Text 13"/>
          <p:cNvSpPr/>
          <p:nvPr/>
        </p:nvSpPr>
        <p:spPr>
          <a:xfrm>
            <a:off x="6309271" y="2211660"/>
            <a:ext cx="1491936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GoContact, among others.</a:t>
            </a:r>
            <a:endParaRPr lang="en-US" sz="748" dirty="0"/>
          </a:p>
        </p:txBody>
      </p:sp>
      <p:sp>
        <p:nvSpPr>
          <p:cNvPr id="16" name="Text 14"/>
          <p:cNvSpPr/>
          <p:nvPr/>
        </p:nvSpPr>
        <p:spPr>
          <a:xfrm>
            <a:off x="973671" y="2908846"/>
            <a:ext cx="1257412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 by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162449"/>
            <a:ext cx="2058766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SPLIT architecture operates in high-</a:t>
            </a:r>
            <a:endParaRPr lang="en-US" sz="748" dirty="0"/>
          </a:p>
        </p:txBody>
      </p:sp>
      <p:sp>
        <p:nvSpPr>
          <p:cNvPr id="18" name="Text 16"/>
          <p:cNvSpPr/>
          <p:nvPr/>
        </p:nvSpPr>
        <p:spPr>
          <a:xfrm>
            <a:off x="685800" y="3295390"/>
            <a:ext cx="1884088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security, high-privacy environments.</a:t>
            </a:r>
            <a:endParaRPr lang="en-US" sz="748" dirty="0"/>
          </a:p>
        </p:txBody>
      </p:sp>
      <p:sp>
        <p:nvSpPr>
          <p:cNvPr id="19" name="Text 17"/>
          <p:cNvSpPr/>
          <p:nvPr/>
        </p:nvSpPr>
        <p:spPr>
          <a:xfrm>
            <a:off x="3785406" y="2908846"/>
            <a:ext cx="1641249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7535" y="3162449"/>
            <a:ext cx="210831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infrastructure with enterprise-grade</a:t>
            </a:r>
            <a:endParaRPr lang="en-US" sz="748" dirty="0"/>
          </a:p>
        </p:txBody>
      </p:sp>
      <p:sp>
        <p:nvSpPr>
          <p:cNvPr id="21" name="Text 19"/>
          <p:cNvSpPr/>
          <p:nvPr/>
        </p:nvSpPr>
        <p:spPr>
          <a:xfrm>
            <a:off x="3497535" y="3295390"/>
            <a:ext cx="806602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certifications.</a:t>
            </a:r>
            <a:endParaRPr lang="en-US" sz="748" dirty="0"/>
          </a:p>
        </p:txBody>
      </p:sp>
      <p:sp>
        <p:nvSpPr>
          <p:cNvPr id="22" name="Text 20"/>
          <p:cNvSpPr/>
          <p:nvPr/>
        </p:nvSpPr>
        <p:spPr>
          <a:xfrm>
            <a:off x="6597253" y="2908846"/>
            <a:ext cx="1709477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asset pays for itself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271" y="3162449"/>
            <a:ext cx="2377503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748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rest, the point plays scheduled content and</a:t>
            </a:r>
            <a:endParaRPr lang="en-US" sz="748" dirty="0"/>
          </a:p>
        </p:txBody>
      </p:sp>
      <p:sp>
        <p:nvSpPr>
          <p:cNvPr id="24" name="Text 22"/>
          <p:cNvSpPr/>
          <p:nvPr/>
        </p:nvSpPr>
        <p:spPr>
          <a:xfrm>
            <a:off x="6273173" y="3295390"/>
            <a:ext cx="775269" cy="126074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advertising.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588" y="3978287"/>
            <a:ext cx="6782991" cy="15346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119"/>
              </a:lnSpc>
              <a:buNone/>
            </a:pPr>
            <a:r>
              <a:rPr lang="en-US" sz="973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seventh: the service point stops being a fixed cost and becomes optimized, flexible capacity.</a:t>
            </a:r>
            <a:endParaRPr lang="en-US" sz="973" dirty="0"/>
          </a:p>
        </p:txBody>
      </p:sp>
      <p:sp>
        <p:nvSpPr>
          <p:cNvPr id="26" name="Text 24"/>
          <p:cNvSpPr/>
          <p:nvPr/>
        </p:nvSpPr>
        <p:spPr>
          <a:xfrm>
            <a:off x="630771" y="4758407"/>
            <a:ext cx="578297" cy="126159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61509" y="1833711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35" y="2922463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36826" y="2923915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5091" y="2922463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927" y="1840185"/>
            <a:ext cx="95771" cy="1313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8590" y="118300"/>
            <a:ext cx="887901" cy="192024"/>
          </a:xfrm>
          <a:prstGeom prst="roundRect">
            <a:avLst>
              <a:gd name="adj" fmla="val 4955357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52483" y="173901"/>
            <a:ext cx="80822" cy="80822"/>
          </a:xfrm>
          <a:prstGeom prst="roundRect">
            <a:avLst>
              <a:gd name="adj" fmla="val 23570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71450" y="128588"/>
            <a:ext cx="842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87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29 / 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3588" y="2122363"/>
            <a:ext cx="5736766" cy="390343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Let's talk about your case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93588" y="2785281"/>
            <a:ext cx="3900711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analyze a specific process from your operation and estimate the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3588" y="2975372"/>
            <a:ext cx="3764645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model, contact center integration, and the impact 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3588" y="3166021"/>
            <a:ext cx="1915431" cy="14188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8B4B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network of service points.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3588" y="3880396"/>
            <a:ext cx="1040232" cy="165878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1052" dirty="0"/>
          </a:p>
        </p:txBody>
      </p:sp>
      <p:sp>
        <p:nvSpPr>
          <p:cNvPr id="8" name="Text 6"/>
          <p:cNvSpPr/>
          <p:nvPr/>
        </p:nvSpPr>
        <p:spPr>
          <a:xfrm>
            <a:off x="493588" y="4156881"/>
            <a:ext cx="2426084" cy="130436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27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ivan.sixto@massapro.com · massapro.com</a:t>
            </a:r>
            <a:endParaRPr lang="en-US" sz="827" dirty="0"/>
          </a:p>
        </p:txBody>
      </p:sp>
      <p:sp>
        <p:nvSpPr>
          <p:cNvPr id="9" name="Text 7"/>
          <p:cNvSpPr/>
          <p:nvPr/>
        </p:nvSpPr>
        <p:spPr>
          <a:xfrm>
            <a:off x="8028459" y="4936331"/>
            <a:ext cx="11155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30 / 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2026-08-12T10:02:42Z</dcterms:created>
  <dcterms:modified xsi:type="dcterms:W3CDTF">2026-08-12T10:02:42Z</dcterms:modified>
</cp:coreProperties>
</file>