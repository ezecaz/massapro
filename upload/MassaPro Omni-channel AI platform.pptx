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66" r:id="rId2"/>
    <p:sldId id="256" r:id="rId3"/>
    <p:sldId id="272" r:id="rId4"/>
    <p:sldId id="264" r:id="rId5"/>
    <p:sldId id="273" r:id="rId6"/>
    <p:sldId id="257" r:id="rId7"/>
    <p:sldId id="274" r:id="rId8"/>
    <p:sldId id="275" r:id="rId9"/>
    <p:sldId id="276" r:id="rId10"/>
    <p:sldId id="27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047"/>
    <a:srgbClr val="AA9FEB"/>
    <a:srgbClr val="FFFFFF"/>
    <a:srgbClr val="E6E6E6"/>
    <a:srgbClr val="9F92E8"/>
    <a:srgbClr val="4E3FC6"/>
    <a:srgbClr val="332E81"/>
    <a:srgbClr val="000066"/>
    <a:srgbClr val="FAA51D"/>
    <a:srgbClr val="5546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40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636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D7549-22D3-AD6F-85FD-00A9611DB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689CA-F3B9-581A-8C46-DC66DB0F2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7D295-D073-B240-795A-4AFF97CD31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F3F2D1-78B9-3297-7E1D-CFDF9BA44E8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340820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1067B-9BDA-1ADE-0A24-91A889EC6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D72A3-14AC-4AEE-6C8A-84A1E124F2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1F5E69-24F2-441B-7682-6F0BD80AE4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1A57E-DAC8-1DF4-DAB1-5AF0DFE1556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30203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0"/>
              </a:schemeClr>
            </a:gs>
            <a:gs pos="52000">
              <a:schemeClr val="accent1">
                <a:lumMod val="75000"/>
              </a:schemeClr>
            </a:gs>
            <a:gs pos="100000">
              <a:schemeClr val="accent1">
                <a:lumMod val="60000"/>
                <a:lumOff val="40000"/>
              </a:schemeClr>
            </a:gs>
          </a:gsLst>
          <a:lin ang="27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6.png"/><Relationship Id="rId3" Type="http://schemas.openxmlformats.org/officeDocument/2006/relationships/hyperlink" Target="https://massapro.com/mckinsey-download-ai-report" TargetMode="External"/><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hyperlink" Target="http://www.massapro.com/" TargetMode="External"/><Relationship Id="rId2" Type="http://schemas.openxmlformats.org/officeDocument/2006/relationships/notesSlide" Target="../notesSlides/notesSlide3.xml"/><Relationship Id="rId16"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0.png"/><Relationship Id="rId9" Type="http://schemas.openxmlformats.org/officeDocument/2006/relationships/image" Target="../media/image21.png"/><Relationship Id="rId14"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10.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 Id="rId1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6.png"/><Relationship Id="rId3" Type="http://schemas.openxmlformats.org/officeDocument/2006/relationships/image" Target="../media/image29.png"/><Relationship Id="rId7" Type="http://schemas.openxmlformats.org/officeDocument/2006/relationships/image" Target="../media/image42.png"/><Relationship Id="rId12"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svg"/><Relationship Id="rId4" Type="http://schemas.openxmlformats.org/officeDocument/2006/relationships/image" Target="../media/image39.png"/><Relationship Id="rId9" Type="http://schemas.openxmlformats.org/officeDocument/2006/relationships/image" Target="../media/image44.png"/></Relationships>
</file>

<file path=ppt/slides/_rels/slide6.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5.png"/><Relationship Id="rId18" Type="http://schemas.openxmlformats.org/officeDocument/2006/relationships/image" Target="../media/image58.svg"/><Relationship Id="rId3" Type="http://schemas.openxmlformats.org/officeDocument/2006/relationships/image" Target="../media/image47.png"/><Relationship Id="rId21" Type="http://schemas.openxmlformats.org/officeDocument/2006/relationships/image" Target="../media/image10.png"/><Relationship Id="rId7" Type="http://schemas.openxmlformats.org/officeDocument/2006/relationships/image" Target="../media/image50.png"/><Relationship Id="rId12" Type="http://schemas.openxmlformats.org/officeDocument/2006/relationships/image" Target="../media/image54.svg"/><Relationship Id="rId17" Type="http://schemas.openxmlformats.org/officeDocument/2006/relationships/image" Target="../media/image57.png"/><Relationship Id="rId2" Type="http://schemas.openxmlformats.org/officeDocument/2006/relationships/notesSlide" Target="../notesSlides/notesSlide6.xml"/><Relationship Id="rId16" Type="http://schemas.openxmlformats.org/officeDocument/2006/relationships/image" Target="../media/image35.svg"/><Relationship Id="rId20" Type="http://schemas.openxmlformats.org/officeDocument/2006/relationships/image" Target="../media/image60.svg"/><Relationship Id="rId1" Type="http://schemas.openxmlformats.org/officeDocument/2006/relationships/slideLayout" Target="../slideLayouts/slideLayout1.xml"/><Relationship Id="rId6" Type="http://schemas.openxmlformats.org/officeDocument/2006/relationships/image" Target="../media/image49.svg"/><Relationship Id="rId11" Type="http://schemas.openxmlformats.org/officeDocument/2006/relationships/image" Target="../media/image53.png"/><Relationship Id="rId5" Type="http://schemas.openxmlformats.org/officeDocument/2006/relationships/image" Target="../media/image48.png"/><Relationship Id="rId15" Type="http://schemas.openxmlformats.org/officeDocument/2006/relationships/image" Target="../media/image34.png"/><Relationship Id="rId10" Type="http://schemas.microsoft.com/office/2007/relationships/hdphoto" Target="../media/hdphoto2.wdp"/><Relationship Id="rId19" Type="http://schemas.openxmlformats.org/officeDocument/2006/relationships/image" Target="../media/image59.png"/><Relationship Id="rId4" Type="http://schemas.microsoft.com/office/2007/relationships/hdphoto" Target="../media/hdphoto1.wdp"/><Relationship Id="rId9" Type="http://schemas.openxmlformats.org/officeDocument/2006/relationships/image" Target="../media/image52.png"/><Relationship Id="rId14" Type="http://schemas.openxmlformats.org/officeDocument/2006/relationships/image" Target="../media/image56.svg"/><Relationship Id="rId22"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10.png"/><Relationship Id="rId7"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68.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70.png"/></Relationships>
</file>

<file path=ppt/slides/_rels/slide10.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hyperlink" Target="https://calendly.com/eze-massapro" TargetMode="External"/><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2.svg"/><Relationship Id="rId11" Type="http://schemas.openxmlformats.org/officeDocument/2006/relationships/image" Target="../media/image77.png"/><Relationship Id="rId5" Type="http://schemas.openxmlformats.org/officeDocument/2006/relationships/image" Target="../media/image71.png"/><Relationship Id="rId10" Type="http://schemas.openxmlformats.org/officeDocument/2006/relationships/image" Target="../media/image76.png"/><Relationship Id="rId4" Type="http://schemas.openxmlformats.org/officeDocument/2006/relationships/image" Target="../media/image6.png"/><Relationship Id="rId9"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51C76-0892-F650-379E-A157D078CA61}"/>
            </a:ext>
          </a:extLst>
        </p:cNvPr>
        <p:cNvGrpSpPr/>
        <p:nvPr/>
      </p:nvGrpSpPr>
      <p:grpSpPr>
        <a:xfrm>
          <a:off x="0" y="0"/>
          <a:ext cx="0" cy="0"/>
          <a:chOff x="0" y="0"/>
          <a:chExt cx="0" cy="0"/>
        </a:xfrm>
      </p:grpSpPr>
      <p:pic>
        <p:nvPicPr>
          <p:cNvPr id="3" name="Image 1" descr="preencoded.png">
            <a:extLst>
              <a:ext uri="{FF2B5EF4-FFF2-40B4-BE49-F238E27FC236}">
                <a16:creationId xmlns:a16="http://schemas.microsoft.com/office/drawing/2014/main" id="{F5949A56-4AA1-AE9C-F9C2-16B64C9C7EBF}"/>
              </a:ext>
            </a:extLst>
          </p:cNvPr>
          <p:cNvPicPr>
            <a:picLocks noChangeAspect="1"/>
          </p:cNvPicPr>
          <p:nvPr/>
        </p:nvPicPr>
        <p:blipFill>
          <a:blip r:embed="rId3"/>
          <a:stretch>
            <a:fillRect/>
          </a:stretch>
        </p:blipFill>
        <p:spPr>
          <a:xfrm>
            <a:off x="30760" y="244039"/>
            <a:ext cx="12192000" cy="6613961"/>
          </a:xfrm>
          <a:prstGeom prst="rect">
            <a:avLst/>
          </a:prstGeom>
        </p:spPr>
      </p:pic>
      <p:pic>
        <p:nvPicPr>
          <p:cNvPr id="4" name="Image 2" descr="preencoded.png">
            <a:extLst>
              <a:ext uri="{FF2B5EF4-FFF2-40B4-BE49-F238E27FC236}">
                <a16:creationId xmlns:a16="http://schemas.microsoft.com/office/drawing/2014/main" id="{6A81CCD2-992F-08F1-D3CF-3A096C4B718E}"/>
              </a:ext>
            </a:extLst>
          </p:cNvPr>
          <p:cNvPicPr>
            <a:picLocks noChangeAspect="1"/>
          </p:cNvPicPr>
          <p:nvPr/>
        </p:nvPicPr>
        <p:blipFill>
          <a:blip r:embed="rId4"/>
          <a:stretch>
            <a:fillRect/>
          </a:stretch>
        </p:blipFill>
        <p:spPr>
          <a:xfrm>
            <a:off x="1219200" y="1028700"/>
            <a:ext cx="571500" cy="571500"/>
          </a:xfrm>
          <a:prstGeom prst="rect">
            <a:avLst/>
          </a:prstGeom>
        </p:spPr>
      </p:pic>
      <p:pic>
        <p:nvPicPr>
          <p:cNvPr id="7" name="Image 5" descr="preencoded.png">
            <a:extLst>
              <a:ext uri="{FF2B5EF4-FFF2-40B4-BE49-F238E27FC236}">
                <a16:creationId xmlns:a16="http://schemas.microsoft.com/office/drawing/2014/main" id="{6BCB64CC-5EBA-8E8C-9105-AB74E938431B}"/>
              </a:ext>
            </a:extLst>
          </p:cNvPr>
          <p:cNvPicPr>
            <a:picLocks noChangeAspect="1"/>
          </p:cNvPicPr>
          <p:nvPr/>
        </p:nvPicPr>
        <p:blipFill>
          <a:blip r:embed="rId5"/>
          <a:stretch>
            <a:fillRect/>
          </a:stretch>
        </p:blipFill>
        <p:spPr>
          <a:xfrm>
            <a:off x="1888650" y="761377"/>
            <a:ext cx="3537901" cy="965057"/>
          </a:xfrm>
          <a:prstGeom prst="rect">
            <a:avLst/>
          </a:prstGeom>
        </p:spPr>
      </p:pic>
      <p:pic>
        <p:nvPicPr>
          <p:cNvPr id="9" name="Image 7" descr="preencoded.png">
            <a:extLst>
              <a:ext uri="{FF2B5EF4-FFF2-40B4-BE49-F238E27FC236}">
                <a16:creationId xmlns:a16="http://schemas.microsoft.com/office/drawing/2014/main" id="{C77437E0-006E-A8FB-40F1-EA0C8BE14954}"/>
              </a:ext>
            </a:extLst>
          </p:cNvPr>
          <p:cNvPicPr>
            <a:picLocks noChangeAspect="1"/>
          </p:cNvPicPr>
          <p:nvPr/>
        </p:nvPicPr>
        <p:blipFill>
          <a:blip r:embed="rId6"/>
          <a:stretch>
            <a:fillRect/>
          </a:stretch>
        </p:blipFill>
        <p:spPr>
          <a:xfrm>
            <a:off x="5715000" y="2363515"/>
            <a:ext cx="762000" cy="38100"/>
          </a:xfrm>
          <a:prstGeom prst="rect">
            <a:avLst/>
          </a:prstGeom>
        </p:spPr>
      </p:pic>
      <p:sp>
        <p:nvSpPr>
          <p:cNvPr id="30" name="Text 3">
            <a:extLst>
              <a:ext uri="{FF2B5EF4-FFF2-40B4-BE49-F238E27FC236}">
                <a16:creationId xmlns:a16="http://schemas.microsoft.com/office/drawing/2014/main" id="{E841A3BB-E056-135F-1F7B-B2B9D7A852EB}"/>
              </a:ext>
            </a:extLst>
          </p:cNvPr>
          <p:cNvSpPr/>
          <p:nvPr/>
        </p:nvSpPr>
        <p:spPr>
          <a:xfrm>
            <a:off x="975360" y="2707989"/>
            <a:ext cx="10241280" cy="304800"/>
          </a:xfrm>
          <a:prstGeom prst="rect">
            <a:avLst/>
          </a:prstGeom>
          <a:noFill/>
          <a:ln/>
        </p:spPr>
        <p:txBody>
          <a:bodyPr vert="horz" wrap="square" lIns="0" tIns="0" rIns="0" bIns="0" rtlCol="0" anchor="t"/>
          <a:lstStyle/>
          <a:p>
            <a:pPr marL="0" indent="0" algn="ctr">
              <a:lnSpc>
                <a:spcPts val="2400"/>
              </a:lnSpc>
              <a:buNone/>
            </a:pPr>
            <a:r>
              <a:rPr lang="en-US" sz="1800" b="1" dirty="0">
                <a:solidFill>
                  <a:srgbClr val="FDE047"/>
                </a:solidFill>
                <a:latin typeface="Montserrat" pitchFamily="34" charset="0"/>
                <a:ea typeface="Montserrat" pitchFamily="34" charset="-122"/>
                <a:cs typeface="Montserrat" pitchFamily="34" charset="-120"/>
              </a:rPr>
              <a:t>AI Native Omni-channel Platform</a:t>
            </a:r>
          </a:p>
        </p:txBody>
      </p:sp>
      <p:grpSp>
        <p:nvGrpSpPr>
          <p:cNvPr id="47" name="Group 46">
            <a:extLst>
              <a:ext uri="{FF2B5EF4-FFF2-40B4-BE49-F238E27FC236}">
                <a16:creationId xmlns:a16="http://schemas.microsoft.com/office/drawing/2014/main" id="{81CD3D58-F5E8-311E-5952-110915D682C3}"/>
              </a:ext>
            </a:extLst>
          </p:cNvPr>
          <p:cNvGrpSpPr/>
          <p:nvPr/>
        </p:nvGrpSpPr>
        <p:grpSpPr>
          <a:xfrm>
            <a:off x="5384119" y="6425292"/>
            <a:ext cx="1577460" cy="266700"/>
            <a:chOff x="5384119" y="6425292"/>
            <a:chExt cx="1577460" cy="266700"/>
          </a:xfrm>
        </p:grpSpPr>
        <p:pic>
          <p:nvPicPr>
            <p:cNvPr id="26" name="Image 24" descr="preencoded.png">
              <a:extLst>
                <a:ext uri="{FF2B5EF4-FFF2-40B4-BE49-F238E27FC236}">
                  <a16:creationId xmlns:a16="http://schemas.microsoft.com/office/drawing/2014/main" id="{28119BFE-B361-2672-142A-F0A5E0F35FF9}"/>
                </a:ext>
              </a:extLst>
            </p:cNvPr>
            <p:cNvPicPr>
              <a:picLocks noChangeAspect="1"/>
            </p:cNvPicPr>
            <p:nvPr/>
          </p:nvPicPr>
          <p:blipFill>
            <a:blip r:embed="rId7"/>
            <a:stretch>
              <a:fillRect/>
            </a:stretch>
          </p:blipFill>
          <p:spPr>
            <a:xfrm>
              <a:off x="5384119" y="6488330"/>
              <a:ext cx="190500" cy="190500"/>
            </a:xfrm>
            <a:prstGeom prst="rect">
              <a:avLst/>
            </a:prstGeom>
          </p:spPr>
        </p:pic>
        <p:sp>
          <p:nvSpPr>
            <p:cNvPr id="34" name="Text 7">
              <a:extLst>
                <a:ext uri="{FF2B5EF4-FFF2-40B4-BE49-F238E27FC236}">
                  <a16:creationId xmlns:a16="http://schemas.microsoft.com/office/drawing/2014/main" id="{B26FCCB9-E10A-9782-756B-682440398334}"/>
                </a:ext>
              </a:extLst>
            </p:cNvPr>
            <p:cNvSpPr/>
            <p:nvPr/>
          </p:nvSpPr>
          <p:spPr>
            <a:xfrm>
              <a:off x="5465988" y="6425292"/>
              <a:ext cx="1495591"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FDE047"/>
                  </a:solidFill>
                  <a:latin typeface="Open Sans" pitchFamily="34" charset="0"/>
                  <a:ea typeface="Open Sans" pitchFamily="34" charset="-122"/>
                  <a:cs typeface="Open Sans" pitchFamily="34" charset="-120"/>
                </a:rPr>
                <a:t>   massapro.com</a:t>
              </a:r>
              <a:endParaRPr lang="en-US" sz="1500" dirty="0"/>
            </a:p>
          </p:txBody>
        </p:sp>
      </p:grpSp>
      <p:pic>
        <p:nvPicPr>
          <p:cNvPr id="38" name="Picture 37">
            <a:extLst>
              <a:ext uri="{FF2B5EF4-FFF2-40B4-BE49-F238E27FC236}">
                <a16:creationId xmlns:a16="http://schemas.microsoft.com/office/drawing/2014/main" id="{7248F4BE-F038-EA83-C25F-70EC57F7D2BF}"/>
              </a:ext>
            </a:extLst>
          </p:cNvPr>
          <p:cNvPicPr>
            <a:picLocks noChangeAspect="1"/>
          </p:cNvPicPr>
          <p:nvPr/>
        </p:nvPicPr>
        <p:blipFill>
          <a:blip r:embed="rId8"/>
          <a:srcRect/>
          <a:stretch/>
        </p:blipFill>
        <p:spPr>
          <a:xfrm>
            <a:off x="10927978" y="5590608"/>
            <a:ext cx="1116920" cy="1116920"/>
          </a:xfrm>
          <a:prstGeom prst="rect">
            <a:avLst/>
          </a:prstGeom>
        </p:spPr>
      </p:pic>
      <p:pic>
        <p:nvPicPr>
          <p:cNvPr id="6" name="Image 4" descr="preencoded.png">
            <a:extLst>
              <a:ext uri="{FF2B5EF4-FFF2-40B4-BE49-F238E27FC236}">
                <a16:creationId xmlns:a16="http://schemas.microsoft.com/office/drawing/2014/main" id="{8A602486-2B2F-4F36-91FE-590D0E74C125}"/>
              </a:ext>
            </a:extLst>
          </p:cNvPr>
          <p:cNvPicPr>
            <a:picLocks noChangeAspect="1"/>
          </p:cNvPicPr>
          <p:nvPr/>
        </p:nvPicPr>
        <p:blipFill>
          <a:blip r:embed="rId9"/>
          <a:stretch>
            <a:fillRect/>
          </a:stretch>
        </p:blipFill>
        <p:spPr>
          <a:xfrm>
            <a:off x="2438400" y="5910943"/>
            <a:ext cx="476250" cy="476250"/>
          </a:xfrm>
          <a:prstGeom prst="rect">
            <a:avLst/>
          </a:prstGeom>
        </p:spPr>
      </p:pic>
      <p:pic>
        <p:nvPicPr>
          <p:cNvPr id="43" name="Picture 42">
            <a:extLst>
              <a:ext uri="{FF2B5EF4-FFF2-40B4-BE49-F238E27FC236}">
                <a16:creationId xmlns:a16="http://schemas.microsoft.com/office/drawing/2014/main" id="{398A7DEC-AE9D-EE3B-57C2-06925672F19A}"/>
              </a:ext>
            </a:extLst>
          </p:cNvPr>
          <p:cNvPicPr>
            <a:picLocks noChangeAspect="1"/>
          </p:cNvPicPr>
          <p:nvPr/>
        </p:nvPicPr>
        <p:blipFill>
          <a:blip r:embed="rId10"/>
          <a:srcRect l="3632" t="1" r="5207" b="-729"/>
          <a:stretch>
            <a:fillRect/>
          </a:stretch>
        </p:blipFill>
        <p:spPr>
          <a:xfrm>
            <a:off x="5317501" y="3319119"/>
            <a:ext cx="1556998" cy="1320072"/>
          </a:xfrm>
          <a:prstGeom prst="roundRect">
            <a:avLst>
              <a:gd name="adj" fmla="val 6512"/>
            </a:avLst>
          </a:prstGeom>
        </p:spPr>
      </p:pic>
      <p:sp>
        <p:nvSpPr>
          <p:cNvPr id="29" name="Text 2">
            <a:extLst>
              <a:ext uri="{FF2B5EF4-FFF2-40B4-BE49-F238E27FC236}">
                <a16:creationId xmlns:a16="http://schemas.microsoft.com/office/drawing/2014/main" id="{07B5D5EE-2F33-FA5C-0FB8-F90FD274E285}"/>
              </a:ext>
            </a:extLst>
          </p:cNvPr>
          <p:cNvSpPr/>
          <p:nvPr/>
        </p:nvSpPr>
        <p:spPr>
          <a:xfrm>
            <a:off x="1762125" y="947278"/>
            <a:ext cx="85344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FFFFFF"/>
                </a:solidFill>
                <a:latin typeface="Montserrat" pitchFamily="34" charset="0"/>
                <a:ea typeface="Montserrat" pitchFamily="34" charset="-122"/>
                <a:cs typeface="Montserrat" pitchFamily="34" charset="-120"/>
              </a:rPr>
              <a:t>MassaPro Conversational Platform</a:t>
            </a:r>
          </a:p>
        </p:txBody>
      </p:sp>
    </p:spTree>
    <p:extLst>
      <p:ext uri="{BB962C8B-B14F-4D97-AF65-F5344CB8AC3E}">
        <p14:creationId xmlns:p14="http://schemas.microsoft.com/office/powerpoint/2010/main" val="1779302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
        <p:cNvGrpSpPr/>
        <p:nvPr/>
      </p:nvGrpSpPr>
      <p:grpSpPr>
        <a:xfrm>
          <a:off x="0" y="0"/>
          <a:ext cx="0" cy="0"/>
          <a:chOff x="0" y="0"/>
          <a:chExt cx="0" cy="0"/>
        </a:xfrm>
      </p:grpSpPr>
      <p:sp>
        <p:nvSpPr>
          <p:cNvPr id="18" name="Google Shape;18;p3"/>
          <p:cNvSpPr/>
          <p:nvPr/>
        </p:nvSpPr>
        <p:spPr>
          <a:xfrm>
            <a:off x="7429500" y="-952805"/>
            <a:ext cx="5715000" cy="5715000"/>
          </a:xfrm>
          <a:prstGeom prst="ellipse">
            <a:avLst/>
          </a:prstGeom>
          <a:solidFill>
            <a:srgbClr val="1E1B4B">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476402" y="3524098"/>
            <a:ext cx="3810305" cy="3810305"/>
          </a:xfrm>
          <a:prstGeom prst="ellipse">
            <a:avLst/>
          </a:prstGeom>
          <a:solidFill>
            <a:srgbClr val="1725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761695" y="3227121"/>
            <a:ext cx="304495" cy="304495"/>
          </a:xfrm>
          <a:prstGeom prst="roundRect">
            <a:avLst>
              <a:gd name="adj" fmla="val 75075"/>
            </a:avLst>
          </a:prstGeom>
          <a:solidFill>
            <a:srgbClr val="3B82F6">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761695" y="3761130"/>
            <a:ext cx="304495" cy="304495"/>
          </a:xfrm>
          <a:prstGeom prst="roundRect">
            <a:avLst>
              <a:gd name="adj" fmla="val 75075"/>
            </a:avLst>
          </a:prstGeom>
          <a:solidFill>
            <a:srgbClr val="3B82F6">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761695" y="4294226"/>
            <a:ext cx="304495" cy="304495"/>
          </a:xfrm>
          <a:prstGeom prst="roundRect">
            <a:avLst>
              <a:gd name="adj" fmla="val 75075"/>
            </a:avLst>
          </a:prstGeom>
          <a:solidFill>
            <a:srgbClr val="3B82F6">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txBox="1"/>
          <p:nvPr/>
        </p:nvSpPr>
        <p:spPr>
          <a:xfrm>
            <a:off x="1218895" y="3280156"/>
            <a:ext cx="3891686" cy="200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300"/>
              <a:buFont typeface="Inter"/>
              <a:buNone/>
            </a:pPr>
            <a:r>
              <a:rPr lang="en-US" sz="1300" b="0" i="0" u="none" strike="noStrike" cap="none" dirty="0">
                <a:solidFill>
                  <a:srgbClr val="CBD5E1"/>
                </a:solidFill>
                <a:latin typeface="Open Sans" panose="020B0606030504020204" pitchFamily="34" charset="0"/>
                <a:ea typeface="Open Sans" panose="020B0606030504020204" pitchFamily="34" charset="0"/>
                <a:cs typeface="Open Sans" panose="020B0606030504020204" pitchFamily="34" charset="0"/>
                <a:sym typeface="Inter"/>
              </a:rPr>
              <a:t>One intelligent agent for 24/7 sales &amp; retention</a:t>
            </a:r>
            <a:endParaRPr sz="13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8" name="Google Shape;28;p3"/>
          <p:cNvSpPr txBox="1"/>
          <p:nvPr/>
        </p:nvSpPr>
        <p:spPr>
          <a:xfrm>
            <a:off x="1218895" y="3813251"/>
            <a:ext cx="3710635" cy="200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300"/>
              <a:buFont typeface="Inter"/>
              <a:buNone/>
            </a:pPr>
            <a:r>
              <a:rPr lang="en-US" sz="1300" b="0" i="0" u="none" strike="noStrike" cap="none">
                <a:solidFill>
                  <a:srgbClr val="CBD5E1"/>
                </a:solidFill>
                <a:latin typeface="Open Sans" panose="020B0606030504020204" pitchFamily="34" charset="0"/>
                <a:ea typeface="Open Sans" panose="020B0606030504020204" pitchFamily="34" charset="0"/>
                <a:cs typeface="Open Sans" panose="020B0606030504020204" pitchFamily="34" charset="0"/>
                <a:sym typeface="Inter"/>
              </a:rPr>
              <a:t>Omni-channel coverage across all platforms</a:t>
            </a:r>
            <a:endParaRPr sz="1300" b="0" i="0" u="none" strike="noStrike" cap="none">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9" name="Google Shape;29;p3"/>
          <p:cNvSpPr txBox="1"/>
          <p:nvPr/>
        </p:nvSpPr>
        <p:spPr>
          <a:xfrm>
            <a:off x="1218895" y="4346346"/>
            <a:ext cx="3367735" cy="200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300"/>
              <a:buFont typeface="Inter"/>
              <a:buNone/>
            </a:pPr>
            <a:r>
              <a:rPr lang="en-US" sz="1300" b="0" i="0" u="none" strike="noStrike" cap="none" dirty="0">
                <a:solidFill>
                  <a:srgbClr val="CBD5E1"/>
                </a:solidFill>
                <a:latin typeface="Open Sans" panose="020B0606030504020204" pitchFamily="34" charset="0"/>
                <a:ea typeface="Open Sans" panose="020B0606030504020204" pitchFamily="34" charset="0"/>
                <a:cs typeface="Open Sans" panose="020B0606030504020204" pitchFamily="34" charset="0"/>
                <a:sym typeface="Inter"/>
              </a:rPr>
              <a:t>Real-time measurable impact on growth</a:t>
            </a:r>
            <a:endParaRPr sz="13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0" name="Google Shape;30;p3"/>
          <p:cNvSpPr/>
          <p:nvPr/>
        </p:nvSpPr>
        <p:spPr>
          <a:xfrm>
            <a:off x="761695" y="6024905"/>
            <a:ext cx="3247949" cy="362102"/>
          </a:xfrm>
          <a:prstGeom prst="roundRect">
            <a:avLst>
              <a:gd name="adj" fmla="val 252526"/>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923544" y="6167552"/>
            <a:ext cx="75895" cy="75895"/>
          </a:xfrm>
          <a:prstGeom prst="roundRect">
            <a:avLst>
              <a:gd name="adj" fmla="val 1204822"/>
            </a:avLst>
          </a:prstGeom>
          <a:solidFill>
            <a:srgbClr val="00B050">
              <a:alpha val="9686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txBox="1"/>
          <p:nvPr/>
        </p:nvSpPr>
        <p:spPr>
          <a:xfrm>
            <a:off x="1076249" y="6120003"/>
            <a:ext cx="2872130"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FDBFE"/>
              </a:buClr>
              <a:buSzPts val="1000"/>
              <a:buFont typeface="Inter"/>
              <a:buNone/>
            </a:pPr>
            <a:r>
              <a:rPr lang="en-US" sz="1000" b="0"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TRUSTED BY BIG BRANDS WORLDWIDE</a:t>
            </a:r>
            <a:endParaRPr sz="1000" b="0"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 name="Google Shape;26;p3">
            <a:extLst>
              <a:ext uri="{FF2B5EF4-FFF2-40B4-BE49-F238E27FC236}">
                <a16:creationId xmlns:a16="http://schemas.microsoft.com/office/drawing/2014/main" id="{54425114-453A-9FC5-DB7E-1019DC0B92B4}"/>
              </a:ext>
            </a:extLst>
          </p:cNvPr>
          <p:cNvSpPr/>
          <p:nvPr/>
        </p:nvSpPr>
        <p:spPr>
          <a:xfrm>
            <a:off x="761390" y="4779315"/>
            <a:ext cx="304495" cy="304495"/>
          </a:xfrm>
          <a:prstGeom prst="roundRect">
            <a:avLst>
              <a:gd name="adj" fmla="val 75075"/>
            </a:avLst>
          </a:prstGeom>
          <a:solidFill>
            <a:srgbClr val="3B82F6">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29;p3">
            <a:extLst>
              <a:ext uri="{FF2B5EF4-FFF2-40B4-BE49-F238E27FC236}">
                <a16:creationId xmlns:a16="http://schemas.microsoft.com/office/drawing/2014/main" id="{93BDE273-D9A0-00CC-7B19-D84CC2517417}"/>
              </a:ext>
            </a:extLst>
          </p:cNvPr>
          <p:cNvSpPr txBox="1"/>
          <p:nvPr/>
        </p:nvSpPr>
        <p:spPr>
          <a:xfrm>
            <a:off x="1218590" y="4831435"/>
            <a:ext cx="3367735" cy="200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300"/>
              <a:buFont typeface="Inter"/>
              <a:buNone/>
            </a:pPr>
            <a:r>
              <a:rPr lang="en-US" sz="1300" b="0" i="0" u="none" strike="noStrike" cap="none" dirty="0">
                <a:solidFill>
                  <a:srgbClr val="CBD5E1"/>
                </a:solidFill>
                <a:latin typeface="Open Sans" panose="020B0606030504020204" pitchFamily="34" charset="0"/>
                <a:ea typeface="Open Sans" panose="020B0606030504020204" pitchFamily="34" charset="0"/>
                <a:cs typeface="Open Sans" panose="020B0606030504020204" pitchFamily="34" charset="0"/>
                <a:sym typeface="Inter"/>
              </a:rPr>
              <a:t>Flexible models, fully managed to SaaS.</a:t>
            </a:r>
            <a:endParaRPr sz="13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5" name="Picture 4">
            <a:extLst>
              <a:ext uri="{FF2B5EF4-FFF2-40B4-BE49-F238E27FC236}">
                <a16:creationId xmlns:a16="http://schemas.microsoft.com/office/drawing/2014/main" id="{5A91AFA9-5BE4-4263-8566-80D7E70600B1}"/>
              </a:ext>
            </a:extLst>
          </p:cNvPr>
          <p:cNvPicPr>
            <a:picLocks noChangeAspect="1"/>
          </p:cNvPicPr>
          <p:nvPr/>
        </p:nvPicPr>
        <p:blipFill>
          <a:blip r:embed="rId3">
            <a:duotone>
              <a:prstClr val="black"/>
              <a:schemeClr val="tx2">
                <a:lumMod val="60000"/>
                <a:lumOff val="40000"/>
                <a:tint val="45000"/>
                <a:satMod val="400000"/>
              </a:schemeClr>
            </a:duotone>
          </a:blip>
          <a:srcRect l="4069" t="2929" b="16025"/>
          <a:stretch>
            <a:fillRect/>
          </a:stretch>
        </p:blipFill>
        <p:spPr>
          <a:xfrm>
            <a:off x="6230913" y="1783309"/>
            <a:ext cx="5961087" cy="4689113"/>
          </a:xfrm>
          <a:prstGeom prst="roundRect">
            <a:avLst/>
          </a:prstGeom>
          <a:scene3d>
            <a:camera prst="isometricOffAxis2Left"/>
            <a:lightRig rig="threePt" dir="t"/>
          </a:scene3d>
        </p:spPr>
      </p:pic>
      <p:sp>
        <p:nvSpPr>
          <p:cNvPr id="23" name="Google Shape;23;p3"/>
          <p:cNvSpPr txBox="1"/>
          <p:nvPr/>
        </p:nvSpPr>
        <p:spPr>
          <a:xfrm>
            <a:off x="609963" y="1783309"/>
            <a:ext cx="6372454" cy="5431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500"/>
              <a:buFont typeface="Inter"/>
              <a:buNone/>
            </a:pPr>
            <a:r>
              <a:rPr lang="en-US" sz="1500" b="0" i="0" u="none" strike="noStrike" cap="none"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Harness the power of Human-AI to work smarter, scale faster, and innovate boldly using custom automation &amp; intelligent sales solutions.</a:t>
            </a:r>
            <a:endParaRPr sz="15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8" name="Image 1" descr="preencoded.png">
            <a:extLst>
              <a:ext uri="{FF2B5EF4-FFF2-40B4-BE49-F238E27FC236}">
                <a16:creationId xmlns:a16="http://schemas.microsoft.com/office/drawing/2014/main" id="{B89B770E-C696-4B6C-BFA9-98FF3C2A9F1C}"/>
              </a:ext>
            </a:extLst>
          </p:cNvPr>
          <p:cNvPicPr>
            <a:picLocks noChangeAspect="1"/>
          </p:cNvPicPr>
          <p:nvPr/>
        </p:nvPicPr>
        <p:blipFill>
          <a:blip r:embed="rId4"/>
          <a:stretch>
            <a:fillRect/>
          </a:stretch>
        </p:blipFill>
        <p:spPr>
          <a:xfrm>
            <a:off x="609600" y="1066800"/>
            <a:ext cx="914400" cy="38100"/>
          </a:xfrm>
          <a:prstGeom prst="rect">
            <a:avLst/>
          </a:prstGeom>
        </p:spPr>
      </p:pic>
      <p:sp>
        <p:nvSpPr>
          <p:cNvPr id="9" name="Text 0">
            <a:extLst>
              <a:ext uri="{FF2B5EF4-FFF2-40B4-BE49-F238E27FC236}">
                <a16:creationId xmlns:a16="http://schemas.microsoft.com/office/drawing/2014/main" id="{02A94558-9262-DA29-3227-A88DA716CB09}"/>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ea typeface="Montserrat" pitchFamily="34" charset="-122"/>
                <a:cs typeface="Montserrat" pitchFamily="34" charset="-120"/>
              </a:rPr>
              <a:t>Human-AI Automation That Scales Revenue</a:t>
            </a:r>
          </a:p>
        </p:txBody>
      </p:sp>
      <p:pic>
        <p:nvPicPr>
          <p:cNvPr id="11" name="Picture 10">
            <a:extLst>
              <a:ext uri="{FF2B5EF4-FFF2-40B4-BE49-F238E27FC236}">
                <a16:creationId xmlns:a16="http://schemas.microsoft.com/office/drawing/2014/main" id="{96C1EEA5-E8AE-A1D2-6DA2-F7F2F5E84807}"/>
              </a:ext>
            </a:extLst>
          </p:cNvPr>
          <p:cNvPicPr>
            <a:picLocks noChangeAspect="1"/>
          </p:cNvPicPr>
          <p:nvPr/>
        </p:nvPicPr>
        <p:blipFill>
          <a:blip r:embed="rId5"/>
          <a:stretch>
            <a:fillRect/>
          </a:stretch>
        </p:blipFill>
        <p:spPr>
          <a:xfrm>
            <a:off x="2183847" y="6433983"/>
            <a:ext cx="1168754" cy="401759"/>
          </a:xfrm>
          <a:prstGeom prst="rect">
            <a:avLst/>
          </a:prstGeom>
        </p:spPr>
      </p:pic>
      <p:pic>
        <p:nvPicPr>
          <p:cNvPr id="13" name="Picture 12">
            <a:extLst>
              <a:ext uri="{FF2B5EF4-FFF2-40B4-BE49-F238E27FC236}">
                <a16:creationId xmlns:a16="http://schemas.microsoft.com/office/drawing/2014/main" id="{422C6702-DE09-CA46-DADA-C95C6EB4880F}"/>
              </a:ext>
            </a:extLst>
          </p:cNvPr>
          <p:cNvPicPr>
            <a:picLocks noChangeAspect="1"/>
          </p:cNvPicPr>
          <p:nvPr/>
        </p:nvPicPr>
        <p:blipFill>
          <a:blip r:embed="rId6"/>
          <a:stretch>
            <a:fillRect/>
          </a:stretch>
        </p:blipFill>
        <p:spPr>
          <a:xfrm>
            <a:off x="3276271" y="6304272"/>
            <a:ext cx="1173185" cy="625545"/>
          </a:xfrm>
          <a:prstGeom prst="rect">
            <a:avLst/>
          </a:prstGeom>
        </p:spPr>
      </p:pic>
      <p:pic>
        <p:nvPicPr>
          <p:cNvPr id="15" name="Picture 14">
            <a:extLst>
              <a:ext uri="{FF2B5EF4-FFF2-40B4-BE49-F238E27FC236}">
                <a16:creationId xmlns:a16="http://schemas.microsoft.com/office/drawing/2014/main" id="{F0BD925E-CC51-1A37-9DD2-55A132ED3169}"/>
              </a:ext>
            </a:extLst>
          </p:cNvPr>
          <p:cNvPicPr>
            <a:picLocks noChangeAspect="1"/>
          </p:cNvPicPr>
          <p:nvPr/>
        </p:nvPicPr>
        <p:blipFill>
          <a:blip r:embed="rId7"/>
          <a:stretch>
            <a:fillRect/>
          </a:stretch>
        </p:blipFill>
        <p:spPr>
          <a:xfrm>
            <a:off x="1065885" y="6326454"/>
            <a:ext cx="1168754" cy="623182"/>
          </a:xfrm>
          <a:prstGeom prst="rect">
            <a:avLst/>
          </a:prstGeom>
        </p:spPr>
      </p:pic>
      <p:pic>
        <p:nvPicPr>
          <p:cNvPr id="55" name="Picture 54">
            <a:extLst>
              <a:ext uri="{FF2B5EF4-FFF2-40B4-BE49-F238E27FC236}">
                <a16:creationId xmlns:a16="http://schemas.microsoft.com/office/drawing/2014/main" id="{F0654397-A050-CADF-BE49-4D434A618012}"/>
              </a:ext>
            </a:extLst>
          </p:cNvPr>
          <p:cNvPicPr>
            <a:picLocks noChangeAspect="1"/>
          </p:cNvPicPr>
          <p:nvPr/>
        </p:nvPicPr>
        <p:blipFill>
          <a:blip r:embed="rId8"/>
          <a:stretch>
            <a:fillRect/>
          </a:stretch>
        </p:blipFill>
        <p:spPr>
          <a:xfrm>
            <a:off x="612059" y="6452208"/>
            <a:ext cx="703322" cy="375013"/>
          </a:xfrm>
          <a:prstGeom prst="rect">
            <a:avLst/>
          </a:prstGeom>
        </p:spPr>
      </p:pic>
      <p:pic>
        <p:nvPicPr>
          <p:cNvPr id="57" name="Picture 56">
            <a:extLst>
              <a:ext uri="{FF2B5EF4-FFF2-40B4-BE49-F238E27FC236}">
                <a16:creationId xmlns:a16="http://schemas.microsoft.com/office/drawing/2014/main" id="{814F539C-AD58-1C7A-2062-8669D288E4E9}"/>
              </a:ext>
            </a:extLst>
          </p:cNvPr>
          <p:cNvPicPr>
            <a:picLocks noChangeAspect="1"/>
          </p:cNvPicPr>
          <p:nvPr/>
        </p:nvPicPr>
        <p:blipFill>
          <a:blip r:embed="rId9"/>
          <a:stretch>
            <a:fillRect/>
          </a:stretch>
        </p:blipFill>
        <p:spPr>
          <a:xfrm>
            <a:off x="4388420" y="6465184"/>
            <a:ext cx="1104940" cy="310764"/>
          </a:xfrm>
          <a:prstGeom prst="rect">
            <a:avLst/>
          </a:prstGeom>
        </p:spPr>
      </p:pic>
      <p:pic>
        <p:nvPicPr>
          <p:cNvPr id="59" name="Picture 58">
            <a:extLst>
              <a:ext uri="{FF2B5EF4-FFF2-40B4-BE49-F238E27FC236}">
                <a16:creationId xmlns:a16="http://schemas.microsoft.com/office/drawing/2014/main" id="{BBAD4D62-FC1B-BDB5-6DBB-A3C92C1AED15}"/>
              </a:ext>
            </a:extLst>
          </p:cNvPr>
          <p:cNvPicPr>
            <a:picLocks noChangeAspect="1"/>
          </p:cNvPicPr>
          <p:nvPr/>
        </p:nvPicPr>
        <p:blipFill>
          <a:blip r:embed="rId10"/>
          <a:stretch>
            <a:fillRect/>
          </a:stretch>
        </p:blipFill>
        <p:spPr>
          <a:xfrm>
            <a:off x="125632" y="6431204"/>
            <a:ext cx="703322" cy="375013"/>
          </a:xfrm>
          <a:prstGeom prst="rect">
            <a:avLst/>
          </a:prstGeom>
        </p:spPr>
      </p:pic>
      <p:sp>
        <p:nvSpPr>
          <p:cNvPr id="60" name="Google Shape;20;p3">
            <a:extLst>
              <a:ext uri="{FF2B5EF4-FFF2-40B4-BE49-F238E27FC236}">
                <a16:creationId xmlns:a16="http://schemas.microsoft.com/office/drawing/2014/main" id="{686C93CE-8784-FCA8-B267-54F25E6CDB49}"/>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 name="Picture 60">
            <a:extLst>
              <a:ext uri="{FF2B5EF4-FFF2-40B4-BE49-F238E27FC236}">
                <a16:creationId xmlns:a16="http://schemas.microsoft.com/office/drawing/2014/main" id="{32209E6A-701E-79B9-83D3-FCE5CDDE571E}"/>
              </a:ext>
            </a:extLst>
          </p:cNvPr>
          <p:cNvPicPr>
            <a:picLocks noChangeAspect="1"/>
          </p:cNvPicPr>
          <p:nvPr/>
        </p:nvPicPr>
        <p:blipFill>
          <a:blip r:embed="rId11"/>
          <a:srcRect/>
          <a:stretch/>
        </p:blipFill>
        <p:spPr>
          <a:xfrm>
            <a:off x="11734800" y="6432614"/>
            <a:ext cx="317806" cy="3178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9"/>
          <p:cNvSpPr/>
          <p:nvPr/>
        </p:nvSpPr>
        <p:spPr>
          <a:xfrm>
            <a:off x="2451100" y="6210300"/>
            <a:ext cx="11277600" cy="190500"/>
          </a:xfrm>
          <a:prstGeom prst="rect">
            <a:avLst/>
          </a:prstGeom>
          <a:noFill/>
          <a:ln/>
        </p:spPr>
        <p:txBody>
          <a:bodyPr vert="horz" wrap="square" lIns="0" tIns="0" rIns="0" bIns="0" rtlCol="0" anchor="t"/>
          <a:lstStyle/>
          <a:p>
            <a:pPr marL="0" indent="0">
              <a:lnSpc>
                <a:spcPts val="1500"/>
              </a:lnSpc>
              <a:buNone/>
            </a:pPr>
            <a:r>
              <a:rPr lang="en-US" sz="1050" dirty="0">
                <a:solidFill>
                  <a:srgbClr val="E4E1F6"/>
                </a:solidFill>
                <a:latin typeface="Inter" pitchFamily="34" charset="0"/>
                <a:ea typeface="Inter" pitchFamily="34" charset="-122"/>
                <a:cs typeface="Inter" pitchFamily="34" charset="-120"/>
              </a:rPr>
              <a:t>Data Source: McKinsey report on Agentic AI, </a:t>
            </a:r>
            <a:r>
              <a:rPr lang="en-US" sz="1050" dirty="0">
                <a:solidFill>
                  <a:srgbClr val="E4E1F6"/>
                </a:solidFill>
                <a:latin typeface="Inter" pitchFamily="34" charset="0"/>
                <a:ea typeface="Inter" pitchFamily="34" charset="-122"/>
                <a:cs typeface="Inter" pitchFamily="34" charset="-120"/>
                <a:hlinkClick r:id="rId3"/>
              </a:rPr>
              <a:t>download it here</a:t>
            </a:r>
            <a:endParaRPr lang="en-US" sz="1050" dirty="0"/>
          </a:p>
        </p:txBody>
      </p:sp>
      <p:sp>
        <p:nvSpPr>
          <p:cNvPr id="37" name="Google Shape;405;p11">
            <a:extLst>
              <a:ext uri="{FF2B5EF4-FFF2-40B4-BE49-F238E27FC236}">
                <a16:creationId xmlns:a16="http://schemas.microsoft.com/office/drawing/2014/main" id="{8CB162E5-ACF4-29E3-7030-86871D0FD718}"/>
              </a:ext>
            </a:extLst>
          </p:cNvPr>
          <p:cNvSpPr/>
          <p:nvPr/>
        </p:nvSpPr>
        <p:spPr>
          <a:xfrm>
            <a:off x="-952805" y="-952805"/>
            <a:ext cx="5715000" cy="5715000"/>
          </a:xfrm>
          <a:prstGeom prst="ellipse">
            <a:avLst/>
          </a:prstGeom>
          <a:solidFill>
            <a:srgbClr val="0F2636">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06;p11">
            <a:extLst>
              <a:ext uri="{FF2B5EF4-FFF2-40B4-BE49-F238E27FC236}">
                <a16:creationId xmlns:a16="http://schemas.microsoft.com/office/drawing/2014/main" id="{ED234532-5A90-65B1-2345-52FD40C99443}"/>
              </a:ext>
            </a:extLst>
          </p:cNvPr>
          <p:cNvSpPr/>
          <p:nvPr/>
        </p:nvSpPr>
        <p:spPr>
          <a:xfrm>
            <a:off x="6476695" y="1143000"/>
            <a:ext cx="6667805" cy="6667805"/>
          </a:xfrm>
          <a:prstGeom prst="ellipse">
            <a:avLst/>
          </a:prstGeom>
          <a:solidFill>
            <a:srgbClr val="1E1B4B">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 1" descr="preencoded.png"/>
          <p:cNvPicPr>
            <a:picLocks noChangeAspect="1"/>
          </p:cNvPicPr>
          <p:nvPr/>
        </p:nvPicPr>
        <p:blipFill>
          <a:blip r:embed="rId4"/>
          <a:stretch>
            <a:fillRect/>
          </a:stretch>
        </p:blipFill>
        <p:spPr>
          <a:xfrm>
            <a:off x="457200" y="914400"/>
            <a:ext cx="914400" cy="38100"/>
          </a:xfrm>
          <a:prstGeom prst="rect">
            <a:avLst/>
          </a:prstGeom>
        </p:spPr>
      </p:pic>
      <p:pic>
        <p:nvPicPr>
          <p:cNvPr id="4" name="Image 2" descr="preencoded.png"/>
          <p:cNvPicPr>
            <a:picLocks noChangeAspect="1"/>
          </p:cNvPicPr>
          <p:nvPr/>
        </p:nvPicPr>
        <p:blipFill>
          <a:blip r:embed="rId5"/>
          <a:stretch>
            <a:fillRect/>
          </a:stretch>
        </p:blipFill>
        <p:spPr>
          <a:xfrm>
            <a:off x="457200" y="3262313"/>
            <a:ext cx="457200" cy="457200"/>
          </a:xfrm>
          <a:prstGeom prst="rect">
            <a:avLst/>
          </a:prstGeom>
        </p:spPr>
      </p:pic>
      <p:pic>
        <p:nvPicPr>
          <p:cNvPr id="5" name="Image 3" descr="preencoded.png"/>
          <p:cNvPicPr>
            <a:picLocks noChangeAspect="1"/>
          </p:cNvPicPr>
          <p:nvPr/>
        </p:nvPicPr>
        <p:blipFill>
          <a:blip r:embed="rId6"/>
          <a:stretch>
            <a:fillRect/>
          </a:stretch>
        </p:blipFill>
        <p:spPr>
          <a:xfrm>
            <a:off x="571500" y="3338513"/>
            <a:ext cx="228600" cy="304800"/>
          </a:xfrm>
          <a:prstGeom prst="rect">
            <a:avLst/>
          </a:prstGeom>
        </p:spPr>
      </p:pic>
      <p:pic>
        <p:nvPicPr>
          <p:cNvPr id="6" name="Image 4" descr="preencoded.png"/>
          <p:cNvPicPr>
            <a:picLocks noChangeAspect="1"/>
          </p:cNvPicPr>
          <p:nvPr/>
        </p:nvPicPr>
        <p:blipFill>
          <a:blip r:embed="rId7"/>
          <a:stretch>
            <a:fillRect/>
          </a:stretch>
        </p:blipFill>
        <p:spPr>
          <a:xfrm>
            <a:off x="457200" y="3986213"/>
            <a:ext cx="350788" cy="457200"/>
          </a:xfrm>
          <a:prstGeom prst="rect">
            <a:avLst/>
          </a:prstGeom>
        </p:spPr>
      </p:pic>
      <p:pic>
        <p:nvPicPr>
          <p:cNvPr id="7" name="Image 5" descr="preencoded.png"/>
          <p:cNvPicPr>
            <a:picLocks noChangeAspect="1"/>
          </p:cNvPicPr>
          <p:nvPr/>
        </p:nvPicPr>
        <p:blipFill>
          <a:blip r:embed="rId8"/>
          <a:stretch>
            <a:fillRect/>
          </a:stretch>
        </p:blipFill>
        <p:spPr>
          <a:xfrm>
            <a:off x="546795" y="4062412"/>
            <a:ext cx="171450" cy="304800"/>
          </a:xfrm>
          <a:prstGeom prst="rect">
            <a:avLst/>
          </a:prstGeom>
        </p:spPr>
      </p:pic>
      <p:pic>
        <p:nvPicPr>
          <p:cNvPr id="8" name="Image 6" descr="preencoded.png"/>
          <p:cNvPicPr>
            <a:picLocks noChangeAspect="1"/>
          </p:cNvPicPr>
          <p:nvPr/>
        </p:nvPicPr>
        <p:blipFill>
          <a:blip r:embed="rId9"/>
          <a:stretch>
            <a:fillRect/>
          </a:stretch>
        </p:blipFill>
        <p:spPr>
          <a:xfrm>
            <a:off x="457200" y="4748213"/>
            <a:ext cx="270272" cy="457200"/>
          </a:xfrm>
          <a:prstGeom prst="rect">
            <a:avLst/>
          </a:prstGeom>
        </p:spPr>
      </p:pic>
      <p:pic>
        <p:nvPicPr>
          <p:cNvPr id="9" name="Image 7" descr="preencoded.png"/>
          <p:cNvPicPr>
            <a:picLocks noChangeAspect="1"/>
          </p:cNvPicPr>
          <p:nvPr/>
        </p:nvPicPr>
        <p:blipFill>
          <a:blip r:embed="rId10"/>
          <a:stretch>
            <a:fillRect/>
          </a:stretch>
        </p:blipFill>
        <p:spPr>
          <a:xfrm>
            <a:off x="506611" y="4824413"/>
            <a:ext cx="171450" cy="304800"/>
          </a:xfrm>
          <a:prstGeom prst="rect">
            <a:avLst/>
          </a:prstGeom>
        </p:spPr>
      </p:pic>
      <p:pic>
        <p:nvPicPr>
          <p:cNvPr id="10" name="Image 8" descr="preencoded.png"/>
          <p:cNvPicPr>
            <a:picLocks noChangeAspect="1"/>
          </p:cNvPicPr>
          <p:nvPr/>
        </p:nvPicPr>
        <p:blipFill>
          <a:blip r:embed="rId11"/>
          <a:stretch>
            <a:fillRect/>
          </a:stretch>
        </p:blipFill>
        <p:spPr>
          <a:xfrm>
            <a:off x="6534150" y="1238250"/>
            <a:ext cx="4762500" cy="2857500"/>
          </a:xfrm>
          <a:prstGeom prst="rect">
            <a:avLst/>
          </a:prstGeom>
        </p:spPr>
      </p:pic>
      <p:pic>
        <p:nvPicPr>
          <p:cNvPr id="11" name="Image 9" descr="preencoded.png"/>
          <p:cNvPicPr>
            <a:picLocks noChangeAspect="1"/>
          </p:cNvPicPr>
          <p:nvPr/>
        </p:nvPicPr>
        <p:blipFill>
          <a:blip r:embed="rId12"/>
          <a:stretch>
            <a:fillRect/>
          </a:stretch>
        </p:blipFill>
        <p:spPr>
          <a:xfrm>
            <a:off x="6096000" y="4400550"/>
            <a:ext cx="2706588" cy="1524000"/>
          </a:xfrm>
          <a:prstGeom prst="rect">
            <a:avLst/>
          </a:prstGeom>
        </p:spPr>
      </p:pic>
      <p:pic>
        <p:nvPicPr>
          <p:cNvPr id="12" name="Image 10" descr="preencoded.png"/>
          <p:cNvPicPr>
            <a:picLocks noChangeAspect="1"/>
          </p:cNvPicPr>
          <p:nvPr/>
        </p:nvPicPr>
        <p:blipFill>
          <a:blip r:embed="rId13"/>
          <a:stretch>
            <a:fillRect/>
          </a:stretch>
        </p:blipFill>
        <p:spPr>
          <a:xfrm>
            <a:off x="7268319" y="4629150"/>
            <a:ext cx="361950" cy="342900"/>
          </a:xfrm>
          <a:prstGeom prst="rect">
            <a:avLst/>
          </a:prstGeom>
        </p:spPr>
      </p:pic>
      <p:pic>
        <p:nvPicPr>
          <p:cNvPr id="13" name="Image 11" descr="preencoded.png"/>
          <p:cNvPicPr>
            <a:picLocks noChangeAspect="1"/>
          </p:cNvPicPr>
          <p:nvPr/>
        </p:nvPicPr>
        <p:blipFill>
          <a:blip r:embed="rId14"/>
          <a:stretch>
            <a:fillRect/>
          </a:stretch>
        </p:blipFill>
        <p:spPr>
          <a:xfrm>
            <a:off x="9028212" y="4400550"/>
            <a:ext cx="2706588" cy="1524000"/>
          </a:xfrm>
          <a:prstGeom prst="rect">
            <a:avLst/>
          </a:prstGeom>
        </p:spPr>
      </p:pic>
      <p:pic>
        <p:nvPicPr>
          <p:cNvPr id="14" name="Image 12" descr="preencoded.png"/>
          <p:cNvPicPr>
            <a:picLocks noChangeAspect="1"/>
          </p:cNvPicPr>
          <p:nvPr/>
        </p:nvPicPr>
        <p:blipFill>
          <a:blip r:embed="rId15"/>
          <a:stretch>
            <a:fillRect/>
          </a:stretch>
        </p:blipFill>
        <p:spPr>
          <a:xfrm>
            <a:off x="10238631" y="4629150"/>
            <a:ext cx="285750" cy="342900"/>
          </a:xfrm>
          <a:prstGeom prst="rect">
            <a:avLst/>
          </a:prstGeom>
        </p:spPr>
      </p:pic>
      <p:pic>
        <p:nvPicPr>
          <p:cNvPr id="15" name="Image 13" descr="preencoded.png"/>
          <p:cNvPicPr>
            <a:picLocks noChangeAspect="1"/>
          </p:cNvPicPr>
          <p:nvPr/>
        </p:nvPicPr>
        <p:blipFill>
          <a:blip r:embed="rId16"/>
          <a:stretch>
            <a:fillRect/>
          </a:stretch>
        </p:blipFill>
        <p:spPr>
          <a:xfrm>
            <a:off x="457200" y="6210300"/>
            <a:ext cx="11277600" cy="190500"/>
          </a:xfrm>
          <a:prstGeom prst="rect">
            <a:avLst/>
          </a:prstGeom>
        </p:spPr>
      </p:pic>
      <p:sp>
        <p:nvSpPr>
          <p:cNvPr id="16" name="Text 0"/>
          <p:cNvSpPr/>
          <p:nvPr/>
        </p:nvSpPr>
        <p:spPr>
          <a:xfrm>
            <a:off x="457200" y="457200"/>
            <a:ext cx="11277600" cy="381000"/>
          </a:xfrm>
          <a:prstGeom prst="rect">
            <a:avLst/>
          </a:prstGeom>
          <a:noFill/>
          <a:ln/>
        </p:spPr>
        <p:txBody>
          <a:bodyPr vert="horz" wrap="square" lIns="0" tIns="0" rIns="0" bIns="0" rtlCol="0" anchor="t"/>
          <a:lstStyle/>
          <a:p>
            <a:pPr marL="0" indent="0">
              <a:lnSpc>
                <a:spcPts val="3000"/>
              </a:lnSpc>
              <a:buNone/>
            </a:pPr>
            <a:r>
              <a:rPr lang="en-US" sz="27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The Gen AI Paradox</a:t>
            </a:r>
            <a:r>
              <a:rPr lang="he-IL" sz="27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r>
              <a:rPr lang="ca-ES" sz="27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 </a:t>
            </a:r>
            <a:r>
              <a:rPr lang="en-US" sz="27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Why 80% Adopt AI, Yet Only 20% See Impact</a:t>
            </a:r>
            <a:r>
              <a:rPr lang="he-IL" sz="27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27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
          <p:cNvSpPr/>
          <p:nvPr/>
        </p:nvSpPr>
        <p:spPr>
          <a:xfrm>
            <a:off x="457200" y="1919288"/>
            <a:ext cx="5334000" cy="1114425"/>
          </a:xfrm>
          <a:prstGeom prst="rect">
            <a:avLst/>
          </a:prstGeom>
          <a:noFill/>
          <a:ln/>
        </p:spPr>
        <p:txBody>
          <a:bodyPr vert="horz" wrap="square" lIns="0" tIns="0" rIns="0" bIns="0" rtlCol="0" anchor="t"/>
          <a:lstStyle/>
          <a:p>
            <a:pPr marL="0" indent="0">
              <a:lnSpc>
                <a:spcPts val="2925"/>
              </a:lnSpc>
              <a:buNone/>
            </a:pPr>
            <a:r>
              <a:rPr lang="en-US" sz="1800" dirty="0">
                <a:solidFill>
                  <a:srgbClr val="FFFFFF"/>
                </a:solidFill>
                <a:latin typeface="Open Sans" panose="020B0606030504020204" pitchFamily="34" charset="0"/>
                <a:ea typeface="Open Sans" panose="020B0606030504020204" pitchFamily="34" charset="0"/>
                <a:cs typeface="Open Sans" panose="020B0606030504020204" pitchFamily="34" charset="0"/>
              </a:rPr>
              <a:t>Despite widespread adoption, generative AI has delivered minimal bottom-line impact for most organizations.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2"/>
          <p:cNvSpPr/>
          <p:nvPr/>
        </p:nvSpPr>
        <p:spPr>
          <a:xfrm>
            <a:off x="1066800" y="3357563"/>
            <a:ext cx="4937760" cy="2667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Open Sans" panose="020B0606030504020204" pitchFamily="34" charset="0"/>
                <a:ea typeface="Open Sans" panose="020B0606030504020204" pitchFamily="34" charset="0"/>
                <a:cs typeface="Open Sans" panose="020B0606030504020204" pitchFamily="34" charset="0"/>
              </a:rPr>
              <a:t>Nearly </a:t>
            </a:r>
            <a:r>
              <a:rPr lang="en-US" sz="1500" b="1" dirty="0">
                <a:solidFill>
                  <a:srgbClr val="CCD9FF"/>
                </a:solidFill>
                <a:latin typeface="Open Sans" panose="020B0606030504020204" pitchFamily="34" charset="0"/>
                <a:ea typeface="Open Sans" panose="020B0606030504020204" pitchFamily="34" charset="0"/>
                <a:cs typeface="Open Sans" panose="020B0606030504020204" pitchFamily="34" charset="0"/>
              </a:rPr>
              <a:t>8 in 10</a:t>
            </a:r>
            <a:r>
              <a:rPr lang="en-US" sz="1500" dirty="0">
                <a:solidFill>
                  <a:srgbClr val="FFFFFF"/>
                </a:solidFill>
                <a:latin typeface="Open Sans" panose="020B0606030504020204" pitchFamily="34" charset="0"/>
                <a:ea typeface="Open Sans" panose="020B0606030504020204" pitchFamily="34" charset="0"/>
                <a:cs typeface="Open Sans" panose="020B0606030504020204" pitchFamily="34" charset="0"/>
              </a:rPr>
              <a:t> companies report using Gen AI</a:t>
            </a:r>
            <a:endParaRPr lang="en-US" sz="15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3"/>
          <p:cNvSpPr/>
          <p:nvPr/>
        </p:nvSpPr>
        <p:spPr>
          <a:xfrm>
            <a:off x="960388" y="3948112"/>
            <a:ext cx="4830812" cy="5334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Open Sans" panose="020B0606030504020204" pitchFamily="34" charset="0"/>
                <a:ea typeface="Open Sans" panose="020B0606030504020204" pitchFamily="34" charset="0"/>
                <a:cs typeface="Open Sans" panose="020B0606030504020204" pitchFamily="34" charset="0"/>
              </a:rPr>
              <a:t>Yet a similar percentage indicate no material contribution to earnings</a:t>
            </a:r>
            <a:endParaRPr lang="en-US" sz="15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4"/>
          <p:cNvSpPr/>
          <p:nvPr/>
        </p:nvSpPr>
        <p:spPr>
          <a:xfrm>
            <a:off x="879872" y="4710113"/>
            <a:ext cx="4911328" cy="533400"/>
          </a:xfrm>
          <a:prstGeom prst="rect">
            <a:avLst/>
          </a:prstGeom>
          <a:noFill/>
          <a:ln/>
        </p:spPr>
        <p:txBody>
          <a:bodyPr vert="horz" wrap="square" lIns="0" tIns="0" rIns="0" bIns="0" rtlCol="0" anchor="t"/>
          <a:lstStyle/>
          <a:p>
            <a:pPr marL="0" indent="0">
              <a:lnSpc>
                <a:spcPts val="2100"/>
              </a:lnSpc>
              <a:buNone/>
            </a:pPr>
            <a:r>
              <a:rPr lang="en-US" sz="1500" dirty="0">
                <a:solidFill>
                  <a:srgbClr val="FFFFFF"/>
                </a:solidFill>
                <a:latin typeface="Open Sans" panose="020B0606030504020204" pitchFamily="34" charset="0"/>
                <a:ea typeface="Open Sans" panose="020B0606030504020204" pitchFamily="34" charset="0"/>
                <a:cs typeface="Open Sans" panose="020B0606030504020204" pitchFamily="34" charset="0"/>
              </a:rPr>
              <a:t>Democratized access to AI capabilities, but transformative power remains largely untapped</a:t>
            </a:r>
            <a:endParaRPr lang="en-US" sz="15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5"/>
          <p:cNvSpPr/>
          <p:nvPr/>
        </p:nvSpPr>
        <p:spPr>
          <a:xfrm>
            <a:off x="6324600" y="5048250"/>
            <a:ext cx="2249388"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Satoshi" pitchFamily="34" charset="0"/>
                <a:ea typeface="Satoshi" pitchFamily="34" charset="-122"/>
                <a:cs typeface="Satoshi" pitchFamily="34" charset="-120"/>
              </a:rPr>
              <a:t>Adoption</a:t>
            </a:r>
            <a:endParaRPr lang="en-US" sz="1500" dirty="0"/>
          </a:p>
        </p:txBody>
      </p:sp>
      <p:sp>
        <p:nvSpPr>
          <p:cNvPr id="22" name="Text 6"/>
          <p:cNvSpPr/>
          <p:nvPr/>
        </p:nvSpPr>
        <p:spPr>
          <a:xfrm>
            <a:off x="6324600" y="5353050"/>
            <a:ext cx="2249388"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CCD9FF"/>
                </a:solidFill>
                <a:latin typeface="Inter" pitchFamily="34" charset="0"/>
                <a:ea typeface="Inter" pitchFamily="34" charset="-122"/>
                <a:cs typeface="Inter" pitchFamily="34" charset="-120"/>
              </a:rPr>
              <a:t>~80%</a:t>
            </a:r>
            <a:endParaRPr lang="en-US" sz="2250" dirty="0"/>
          </a:p>
        </p:txBody>
      </p:sp>
      <p:sp>
        <p:nvSpPr>
          <p:cNvPr id="23" name="Text 7"/>
          <p:cNvSpPr/>
          <p:nvPr/>
        </p:nvSpPr>
        <p:spPr>
          <a:xfrm>
            <a:off x="9256812" y="5048250"/>
            <a:ext cx="2249388"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Satoshi" pitchFamily="34" charset="0"/>
                <a:ea typeface="Satoshi" pitchFamily="34" charset="-122"/>
                <a:cs typeface="Satoshi" pitchFamily="34" charset="-120"/>
              </a:rPr>
              <a:t>Impact</a:t>
            </a:r>
            <a:endParaRPr lang="en-US" sz="1500" dirty="0"/>
          </a:p>
        </p:txBody>
      </p:sp>
      <p:sp>
        <p:nvSpPr>
          <p:cNvPr id="24" name="Text 8"/>
          <p:cNvSpPr/>
          <p:nvPr/>
        </p:nvSpPr>
        <p:spPr>
          <a:xfrm>
            <a:off x="9256812" y="5353050"/>
            <a:ext cx="2249388" cy="342900"/>
          </a:xfrm>
          <a:prstGeom prst="rect">
            <a:avLst/>
          </a:prstGeom>
          <a:noFill/>
          <a:ln/>
        </p:spPr>
        <p:txBody>
          <a:bodyPr vert="horz" wrap="square" lIns="0" tIns="0" rIns="0" bIns="0" rtlCol="0" anchor="t"/>
          <a:lstStyle/>
          <a:p>
            <a:pPr marL="0" indent="0" algn="ctr">
              <a:lnSpc>
                <a:spcPts val="2700"/>
              </a:lnSpc>
              <a:buNone/>
            </a:pPr>
            <a:r>
              <a:rPr lang="en-US" sz="2250" b="1" dirty="0">
                <a:solidFill>
                  <a:srgbClr val="B6B3C4"/>
                </a:solidFill>
                <a:latin typeface="Inter" pitchFamily="34" charset="0"/>
                <a:ea typeface="Inter" pitchFamily="34" charset="-122"/>
                <a:cs typeface="Inter" pitchFamily="34" charset="-120"/>
              </a:rPr>
              <a:t>~20%</a:t>
            </a:r>
            <a:endParaRPr lang="en-US" sz="2250" dirty="0"/>
          </a:p>
        </p:txBody>
      </p:sp>
      <p:sp>
        <p:nvSpPr>
          <p:cNvPr id="27" name="Text 14">
            <a:extLst>
              <a:ext uri="{FF2B5EF4-FFF2-40B4-BE49-F238E27FC236}">
                <a16:creationId xmlns:a16="http://schemas.microsoft.com/office/drawing/2014/main" id="{6B3EBAF5-C60A-E978-28E5-ED9B52229AFC}"/>
              </a:ext>
            </a:extLst>
          </p:cNvPr>
          <p:cNvSpPr/>
          <p:nvPr/>
        </p:nvSpPr>
        <p:spPr>
          <a:xfrm>
            <a:off x="590550" y="6286500"/>
            <a:ext cx="1405890" cy="190500"/>
          </a:xfrm>
          <a:prstGeom prst="rect">
            <a:avLst/>
          </a:prstGeom>
          <a:noFill/>
          <a:ln/>
        </p:spPr>
        <p:txBody>
          <a:bodyPr vert="horz" wrap="square" lIns="0" tIns="0" rIns="0" bIns="0" rtlCol="0" anchor="t"/>
          <a:lstStyle/>
          <a:p>
            <a:pPr marL="0" indent="0">
              <a:lnSpc>
                <a:spcPts val="1500"/>
              </a:lnSpc>
              <a:buNone/>
            </a:pPr>
            <a:r>
              <a:rPr lang="en-US" sz="1050" dirty="0">
                <a:solidFill>
                  <a:srgbClr val="E4E1F6"/>
                </a:solidFill>
                <a:latin typeface="Inter" pitchFamily="34" charset="0"/>
                <a:ea typeface="Inter" pitchFamily="34" charset="-122"/>
                <a:cs typeface="Inter" pitchFamily="34" charset="-120"/>
                <a:hlinkClick r:id="rId17"/>
              </a:rPr>
              <a:t> MassaPro.com</a:t>
            </a:r>
            <a:endParaRPr lang="en-US" sz="1050" dirty="0"/>
          </a:p>
        </p:txBody>
      </p:sp>
      <p:sp>
        <p:nvSpPr>
          <p:cNvPr id="52" name="Google Shape;325;p9">
            <a:extLst>
              <a:ext uri="{FF2B5EF4-FFF2-40B4-BE49-F238E27FC236}">
                <a16:creationId xmlns:a16="http://schemas.microsoft.com/office/drawing/2014/main" id="{E419BC14-AC57-BEE5-D344-851331576887}"/>
              </a:ext>
            </a:extLst>
          </p:cNvPr>
          <p:cNvSpPr txBox="1"/>
          <p:nvPr/>
        </p:nvSpPr>
        <p:spPr>
          <a:xfrm>
            <a:off x="650342" y="5605005"/>
            <a:ext cx="3813556" cy="2103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Fine-T</a:t>
            </a:r>
            <a:r>
              <a:rPr lang="ca-E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u</a:t>
            </a:r>
            <a:r>
              <a:rPr lang="en-US" b="1" dirty="0" err="1">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ned</a:t>
            </a: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 Precision</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9" name="Google Shape;20;p3">
            <a:extLst>
              <a:ext uri="{FF2B5EF4-FFF2-40B4-BE49-F238E27FC236}">
                <a16:creationId xmlns:a16="http://schemas.microsoft.com/office/drawing/2014/main" id="{62DE0003-C31E-8681-E9DF-A238468535F3}"/>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 name="Picture 39">
            <a:extLst>
              <a:ext uri="{FF2B5EF4-FFF2-40B4-BE49-F238E27FC236}">
                <a16:creationId xmlns:a16="http://schemas.microsoft.com/office/drawing/2014/main" id="{BF4C61B6-34FA-3485-7068-4B2AFE0C97EC}"/>
              </a:ext>
            </a:extLst>
          </p:cNvPr>
          <p:cNvPicPr>
            <a:picLocks noChangeAspect="1"/>
          </p:cNvPicPr>
          <p:nvPr/>
        </p:nvPicPr>
        <p:blipFill>
          <a:blip r:embed="rId18"/>
          <a:srcRect/>
          <a:stretch/>
        </p:blipFill>
        <p:spPr>
          <a:xfrm>
            <a:off x="11734800" y="6432614"/>
            <a:ext cx="317806" cy="3178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50" name="Google Shape;18;p3">
            <a:extLst>
              <a:ext uri="{FF2B5EF4-FFF2-40B4-BE49-F238E27FC236}">
                <a16:creationId xmlns:a16="http://schemas.microsoft.com/office/drawing/2014/main" id="{2577E934-062D-A3F0-B7D0-E6BE3EDD88A4}"/>
              </a:ext>
            </a:extLst>
          </p:cNvPr>
          <p:cNvSpPr/>
          <p:nvPr/>
        </p:nvSpPr>
        <p:spPr>
          <a:xfrm>
            <a:off x="7429500" y="-952805"/>
            <a:ext cx="5715000" cy="5715000"/>
          </a:xfrm>
          <a:prstGeom prst="ellipse">
            <a:avLst/>
          </a:prstGeom>
          <a:solidFill>
            <a:srgbClr val="1E1B4B">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p3">
            <a:extLst>
              <a:ext uri="{FF2B5EF4-FFF2-40B4-BE49-F238E27FC236}">
                <a16:creationId xmlns:a16="http://schemas.microsoft.com/office/drawing/2014/main" id="{CACE75D5-5242-32BD-F53B-494D7F94922C}"/>
              </a:ext>
            </a:extLst>
          </p:cNvPr>
          <p:cNvSpPr/>
          <p:nvPr/>
        </p:nvSpPr>
        <p:spPr>
          <a:xfrm>
            <a:off x="-476402" y="3524098"/>
            <a:ext cx="3810305" cy="3810305"/>
          </a:xfrm>
          <a:prstGeom prst="ellipse">
            <a:avLst/>
          </a:prstGeom>
          <a:solidFill>
            <a:srgbClr val="1725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Image 2" descr="preencoded.png"/>
          <p:cNvPicPr>
            <a:picLocks noChangeAspect="1"/>
          </p:cNvPicPr>
          <p:nvPr/>
        </p:nvPicPr>
        <p:blipFill>
          <a:blip r:embed="rId3"/>
          <a:stretch>
            <a:fillRect/>
          </a:stretch>
        </p:blipFill>
        <p:spPr>
          <a:xfrm>
            <a:off x="457200" y="1257300"/>
            <a:ext cx="5524500" cy="4343400"/>
          </a:xfrm>
          <a:prstGeom prst="roundRect">
            <a:avLst/>
          </a:prstGeom>
        </p:spPr>
      </p:pic>
      <p:pic>
        <p:nvPicPr>
          <p:cNvPr id="6" name="Image 4" descr="preencoded.png"/>
          <p:cNvPicPr>
            <a:picLocks noChangeAspect="1"/>
          </p:cNvPicPr>
          <p:nvPr/>
        </p:nvPicPr>
        <p:blipFill>
          <a:blip r:embed="rId4"/>
          <a:stretch>
            <a:fillRect/>
          </a:stretch>
        </p:blipFill>
        <p:spPr>
          <a:xfrm>
            <a:off x="685800" y="2019300"/>
            <a:ext cx="5067300" cy="990600"/>
          </a:xfrm>
          <a:prstGeom prst="rect">
            <a:avLst/>
          </a:prstGeom>
        </p:spPr>
      </p:pic>
      <p:pic>
        <p:nvPicPr>
          <p:cNvPr id="7" name="Image 5" descr="preencoded.png"/>
          <p:cNvPicPr>
            <a:picLocks noChangeAspect="1"/>
          </p:cNvPicPr>
          <p:nvPr/>
        </p:nvPicPr>
        <p:blipFill>
          <a:blip r:embed="rId5">
            <a:biLevel thresh="25000"/>
          </a:blip>
          <a:stretch>
            <a:fillRect/>
          </a:stretch>
        </p:blipFill>
        <p:spPr>
          <a:xfrm>
            <a:off x="838200" y="2200275"/>
            <a:ext cx="228600" cy="228600"/>
          </a:xfrm>
          <a:prstGeom prst="rect">
            <a:avLst/>
          </a:prstGeom>
        </p:spPr>
      </p:pic>
      <p:pic>
        <p:nvPicPr>
          <p:cNvPr id="8" name="Image 6" descr="preencoded.png"/>
          <p:cNvPicPr>
            <a:picLocks noChangeAspect="1"/>
          </p:cNvPicPr>
          <p:nvPr/>
        </p:nvPicPr>
        <p:blipFill>
          <a:blip r:embed="rId4"/>
          <a:stretch>
            <a:fillRect/>
          </a:stretch>
        </p:blipFill>
        <p:spPr>
          <a:xfrm>
            <a:off x="685800" y="3200400"/>
            <a:ext cx="5067300" cy="990600"/>
          </a:xfrm>
          <a:prstGeom prst="rect">
            <a:avLst/>
          </a:prstGeom>
        </p:spPr>
      </p:pic>
      <p:pic>
        <p:nvPicPr>
          <p:cNvPr id="9" name="Image 7" descr="preencoded.png"/>
          <p:cNvPicPr>
            <a:picLocks noChangeAspect="1"/>
          </p:cNvPicPr>
          <p:nvPr/>
        </p:nvPicPr>
        <p:blipFill>
          <a:blip r:embed="rId6">
            <a:biLevel thresh="25000"/>
          </a:blip>
          <a:stretch>
            <a:fillRect/>
          </a:stretch>
        </p:blipFill>
        <p:spPr>
          <a:xfrm>
            <a:off x="838200" y="3381375"/>
            <a:ext cx="200025" cy="228600"/>
          </a:xfrm>
          <a:prstGeom prst="rect">
            <a:avLst/>
          </a:prstGeom>
        </p:spPr>
      </p:pic>
      <p:pic>
        <p:nvPicPr>
          <p:cNvPr id="10" name="Image 8" descr="preencoded.png"/>
          <p:cNvPicPr>
            <a:picLocks noChangeAspect="1"/>
          </p:cNvPicPr>
          <p:nvPr/>
        </p:nvPicPr>
        <p:blipFill>
          <a:blip r:embed="rId7"/>
          <a:stretch>
            <a:fillRect/>
          </a:stretch>
        </p:blipFill>
        <p:spPr>
          <a:xfrm>
            <a:off x="685800" y="4381500"/>
            <a:ext cx="5067300" cy="762000"/>
          </a:xfrm>
          <a:prstGeom prst="rect">
            <a:avLst/>
          </a:prstGeom>
        </p:spPr>
      </p:pic>
      <p:sp>
        <p:nvSpPr>
          <p:cNvPr id="22" name="Text 1"/>
          <p:cNvSpPr/>
          <p:nvPr/>
        </p:nvSpPr>
        <p:spPr>
          <a:xfrm>
            <a:off x="1028700" y="1485900"/>
            <a:ext cx="6080760" cy="304800"/>
          </a:xfrm>
          <a:prstGeom prst="rect">
            <a:avLst/>
          </a:prstGeom>
          <a:noFill/>
          <a:ln/>
        </p:spPr>
        <p:txBody>
          <a:bodyPr vert="horz" wrap="square" lIns="0" tIns="0" rIns="0" bIns="0" rtlCol="0" anchor="t"/>
          <a:lstStyle/>
          <a:p>
            <a:pPr marL="0" indent="0">
              <a:lnSpc>
                <a:spcPts val="2400"/>
              </a:lnSpc>
              <a:buNone/>
            </a:pPr>
            <a:r>
              <a:rPr lang="en-US" sz="1800" b="1" dirty="0">
                <a:solidFill>
                  <a:schemeClr val="tx2">
                    <a:lumMod val="20000"/>
                    <a:lumOff val="80000"/>
                  </a:schemeClr>
                </a:solidFill>
                <a:latin typeface="Montserrat" pitchFamily="34" charset="0"/>
                <a:ea typeface="Montserrat" pitchFamily="34" charset="-122"/>
                <a:cs typeface="Montserrat" pitchFamily="34" charset="-120"/>
              </a:rPr>
              <a:t>Omni-channel platform</a:t>
            </a:r>
            <a:endParaRPr lang="en-US" sz="1800" dirty="0">
              <a:solidFill>
                <a:schemeClr val="tx2">
                  <a:lumMod val="20000"/>
                  <a:lumOff val="80000"/>
                </a:schemeClr>
              </a:solidFill>
            </a:endParaRPr>
          </a:p>
        </p:txBody>
      </p:sp>
      <p:sp>
        <p:nvSpPr>
          <p:cNvPr id="23" name="Text 2"/>
          <p:cNvSpPr/>
          <p:nvPr/>
        </p:nvSpPr>
        <p:spPr>
          <a:xfrm>
            <a:off x="1181100" y="2133600"/>
            <a:ext cx="5486400" cy="266700"/>
          </a:xfrm>
          <a:prstGeom prst="rect">
            <a:avLst/>
          </a:prstGeom>
          <a:noFill/>
          <a:ln/>
        </p:spPr>
        <p:txBody>
          <a:bodyPr vert="horz" wrap="square" lIns="0" tIns="0" rIns="0" bIns="0" rtlCol="0" anchor="t"/>
          <a:lstStyle/>
          <a:p>
            <a:pPr>
              <a:lnSpc>
                <a:spcPts val="2100"/>
              </a:lnSpc>
              <a:buClr>
                <a:srgbClr val="FFFFFF"/>
              </a:buClr>
              <a:buSzPts val="13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Customer Support &amp; Sales</a:t>
            </a:r>
          </a:p>
        </p:txBody>
      </p:sp>
      <p:sp>
        <p:nvSpPr>
          <p:cNvPr id="24" name="Text 3"/>
          <p:cNvSpPr/>
          <p:nvPr/>
        </p:nvSpPr>
        <p:spPr>
          <a:xfrm>
            <a:off x="1181100" y="2438400"/>
            <a:ext cx="4800600" cy="800100"/>
          </a:xfrm>
          <a:prstGeom prst="rect">
            <a:avLst/>
          </a:prstGeom>
          <a:noFill/>
          <a:ln/>
        </p:spPr>
        <p:txBody>
          <a:bodyPr vert="horz" wrap="square" lIns="0" tIns="0" rIns="0" bIns="0" rtlCol="0" anchor="t"/>
          <a:lstStyle/>
          <a:p>
            <a:pPr>
              <a:lnSpc>
                <a:spcPts val="1800"/>
              </a:lnSpc>
            </a:pPr>
            <a:r>
              <a:rPr lang="en-US" sz="1200" dirty="0">
                <a:solidFill>
                  <a:srgbClr val="D1D5DB"/>
                </a:solidFill>
                <a:latin typeface="Open Sans" pitchFamily="34" charset="0"/>
                <a:ea typeface="Open Sans" pitchFamily="34" charset="-122"/>
                <a:cs typeface="Open Sans" pitchFamily="34" charset="-120"/>
              </a:rPr>
              <a:t>We provide a fully managed omni-channel conversational solution, that plans, integrates, deploy, analyzes, optimizes, scale, set-up flows &amp; journeys, with localized multi-language capabilities</a:t>
            </a:r>
          </a:p>
        </p:txBody>
      </p:sp>
      <p:sp>
        <p:nvSpPr>
          <p:cNvPr id="25" name="Text 4"/>
          <p:cNvSpPr/>
          <p:nvPr/>
        </p:nvSpPr>
        <p:spPr>
          <a:xfrm>
            <a:off x="1152525" y="3314700"/>
            <a:ext cx="4600575" cy="266700"/>
          </a:xfrm>
          <a:prstGeom prst="rect">
            <a:avLst/>
          </a:prstGeom>
          <a:noFill/>
          <a:ln/>
        </p:spPr>
        <p:txBody>
          <a:bodyPr vert="horz" wrap="square" lIns="0" tIns="0" rIns="0" bIns="0" rtlCol="0" anchor="t"/>
          <a:lstStyle/>
          <a:p>
            <a:pPr indent="0">
              <a:lnSpc>
                <a:spcPts val="2100"/>
              </a:lnSpc>
              <a:buClr>
                <a:srgbClr val="FFFFFF"/>
              </a:buClr>
              <a:buSzPts val="1300"/>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Security Above All</a:t>
            </a:r>
          </a:p>
        </p:txBody>
      </p:sp>
      <p:sp>
        <p:nvSpPr>
          <p:cNvPr id="26" name="Text 5"/>
          <p:cNvSpPr/>
          <p:nvPr/>
        </p:nvSpPr>
        <p:spPr>
          <a:xfrm>
            <a:off x="1152525" y="3619500"/>
            <a:ext cx="4600575"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Your data is protected with enterprise-grade security measures, including encryption and regular audits, ensuring maximum safety.</a:t>
            </a:r>
            <a:endParaRPr lang="en-US" sz="1200" dirty="0"/>
          </a:p>
        </p:txBody>
      </p:sp>
      <p:pic>
        <p:nvPicPr>
          <p:cNvPr id="38" name="Graphic 37">
            <a:extLst>
              <a:ext uri="{FF2B5EF4-FFF2-40B4-BE49-F238E27FC236}">
                <a16:creationId xmlns:a16="http://schemas.microsoft.com/office/drawing/2014/main" id="{0AA03936-75C5-5392-8B1D-74AA8A12E9A1}"/>
              </a:ext>
            </a:extLst>
          </p:cNvPr>
          <p:cNvPicPr>
            <a:picLocks noChangeAspect="1"/>
          </p:cNvPicPr>
          <p:nvPr/>
        </p:nvPicPr>
        <p:blipFill rotWithShape="1">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34974"/>
          <a:stretch/>
        </p:blipFill>
        <p:spPr>
          <a:xfrm>
            <a:off x="618643" y="4417337"/>
            <a:ext cx="664736" cy="432250"/>
          </a:xfrm>
          <a:prstGeom prst="rect">
            <a:avLst/>
          </a:prstGeom>
        </p:spPr>
      </p:pic>
      <p:pic>
        <p:nvPicPr>
          <p:cNvPr id="41" name="Graphic 40">
            <a:extLst>
              <a:ext uri="{FF2B5EF4-FFF2-40B4-BE49-F238E27FC236}">
                <a16:creationId xmlns:a16="http://schemas.microsoft.com/office/drawing/2014/main" id="{478DC304-B73E-F151-DBF8-9CC1CE68A0E6}"/>
              </a:ext>
            </a:extLst>
          </p:cNvPr>
          <p:cNvPicPr>
            <a:picLocks noChangeAspect="1"/>
          </p:cNvPicPr>
          <p:nvPr/>
        </p:nvPicPr>
        <p:blipFill rotWithShape="1">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rcRect b="35628"/>
          <a:stretch/>
        </p:blipFill>
        <p:spPr>
          <a:xfrm>
            <a:off x="530203" y="1438275"/>
            <a:ext cx="547936" cy="352719"/>
          </a:xfrm>
          <a:prstGeom prst="rect">
            <a:avLst/>
          </a:prstGeom>
        </p:spPr>
      </p:pic>
      <p:pic>
        <p:nvPicPr>
          <p:cNvPr id="44" name="Picture 43">
            <a:extLst>
              <a:ext uri="{FF2B5EF4-FFF2-40B4-BE49-F238E27FC236}">
                <a16:creationId xmlns:a16="http://schemas.microsoft.com/office/drawing/2014/main" id="{8F7E86B4-A389-75C5-BD52-0C8F956CFA23}"/>
              </a:ext>
            </a:extLst>
          </p:cNvPr>
          <p:cNvPicPr>
            <a:picLocks noChangeAspect="1"/>
          </p:cNvPicPr>
          <p:nvPr/>
        </p:nvPicPr>
        <p:blipFill>
          <a:blip r:embed="rId12">
            <a:duotone>
              <a:prstClr val="black"/>
              <a:schemeClr val="tx2">
                <a:lumMod val="60000"/>
                <a:lumOff val="40000"/>
                <a:tint val="45000"/>
                <a:satMod val="400000"/>
              </a:schemeClr>
            </a:duotone>
          </a:blip>
          <a:srcRect l="31441" t="-2859" r="9330" b="2859"/>
          <a:stretch>
            <a:fillRect/>
          </a:stretch>
        </p:blipFill>
        <p:spPr>
          <a:xfrm>
            <a:off x="6667500" y="1438275"/>
            <a:ext cx="5357242" cy="4695825"/>
          </a:xfrm>
          <a:prstGeom prst="roundRect">
            <a:avLst/>
          </a:prstGeom>
          <a:scene3d>
            <a:camera prst="isometricOffAxis2Left"/>
            <a:lightRig rig="threePt" dir="t"/>
          </a:scene3d>
        </p:spPr>
      </p:pic>
      <p:sp>
        <p:nvSpPr>
          <p:cNvPr id="27" name="Text 6"/>
          <p:cNvSpPr/>
          <p:nvPr/>
        </p:nvSpPr>
        <p:spPr>
          <a:xfrm>
            <a:off x="1152525" y="4495800"/>
            <a:ext cx="3728889" cy="266700"/>
          </a:xfrm>
          <a:prstGeom prst="rect">
            <a:avLst/>
          </a:prstGeom>
          <a:noFill/>
          <a:ln/>
        </p:spPr>
        <p:txBody>
          <a:bodyPr vert="horz" wrap="square" lIns="0" tIns="0" rIns="0" bIns="0" rtlCol="0" anchor="t"/>
          <a:lstStyle/>
          <a:p>
            <a:pPr>
              <a:lnSpc>
                <a:spcPts val="2100"/>
              </a:lnSpc>
              <a:buClr>
                <a:srgbClr val="FFFFFF"/>
              </a:buClr>
              <a:buSzPts val="13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Centralized hub</a:t>
            </a:r>
          </a:p>
        </p:txBody>
      </p:sp>
      <p:sp>
        <p:nvSpPr>
          <p:cNvPr id="28" name="Text 7"/>
          <p:cNvSpPr/>
          <p:nvPr/>
        </p:nvSpPr>
        <p:spPr>
          <a:xfrm>
            <a:off x="1152525" y="4800600"/>
            <a:ext cx="4474666" cy="838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Provide customers a coherent experiences across all channels you communicate on. With’ MassaPro AIs Omni centralized hub, users experience a continuous conversations.</a:t>
            </a:r>
          </a:p>
        </p:txBody>
      </p:sp>
      <p:pic>
        <p:nvPicPr>
          <p:cNvPr id="48" name="Image 1" descr="preencoded.png">
            <a:extLst>
              <a:ext uri="{FF2B5EF4-FFF2-40B4-BE49-F238E27FC236}">
                <a16:creationId xmlns:a16="http://schemas.microsoft.com/office/drawing/2014/main" id="{26ECE919-575D-0FF8-E0DF-74A3697556B9}"/>
              </a:ext>
            </a:extLst>
          </p:cNvPr>
          <p:cNvPicPr>
            <a:picLocks noChangeAspect="1"/>
          </p:cNvPicPr>
          <p:nvPr/>
        </p:nvPicPr>
        <p:blipFill>
          <a:blip r:embed="rId13"/>
          <a:stretch>
            <a:fillRect/>
          </a:stretch>
        </p:blipFill>
        <p:spPr>
          <a:xfrm>
            <a:off x="609600" y="1066800"/>
            <a:ext cx="914400" cy="38100"/>
          </a:xfrm>
          <a:prstGeom prst="rect">
            <a:avLst/>
          </a:prstGeom>
        </p:spPr>
      </p:pic>
      <p:sp>
        <p:nvSpPr>
          <p:cNvPr id="49" name="Text 0">
            <a:extLst>
              <a:ext uri="{FF2B5EF4-FFF2-40B4-BE49-F238E27FC236}">
                <a16:creationId xmlns:a16="http://schemas.microsoft.com/office/drawing/2014/main" id="{90B75DD0-7A25-A0F5-0517-ECEF3994346C}"/>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rPr>
              <a:t>MassaPro Services</a:t>
            </a:r>
          </a:p>
        </p:txBody>
      </p:sp>
      <p:sp>
        <p:nvSpPr>
          <p:cNvPr id="54" name="Google Shape;20;p3">
            <a:extLst>
              <a:ext uri="{FF2B5EF4-FFF2-40B4-BE49-F238E27FC236}">
                <a16:creationId xmlns:a16="http://schemas.microsoft.com/office/drawing/2014/main" id="{CF4B36D4-4BB9-5CED-6C4B-942F76E9C502}"/>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 name="Picture 54">
            <a:extLst>
              <a:ext uri="{FF2B5EF4-FFF2-40B4-BE49-F238E27FC236}">
                <a16:creationId xmlns:a16="http://schemas.microsoft.com/office/drawing/2014/main" id="{2F0E45B5-6FF4-6BCD-2F66-28AB6B87A730}"/>
              </a:ext>
            </a:extLst>
          </p:cNvPr>
          <p:cNvPicPr>
            <a:picLocks noChangeAspect="1"/>
          </p:cNvPicPr>
          <p:nvPr/>
        </p:nvPicPr>
        <p:blipFill>
          <a:blip r:embed="rId14"/>
          <a:srcRect/>
          <a:stretch/>
        </p:blipFill>
        <p:spPr>
          <a:xfrm>
            <a:off x="11734800" y="6432614"/>
            <a:ext cx="317806" cy="3178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4B41-A8DA-C747-2F75-9E2EA098BA87}"/>
            </a:ext>
          </a:extLst>
        </p:cNvPr>
        <p:cNvGrpSpPr/>
        <p:nvPr/>
      </p:nvGrpSpPr>
      <p:grpSpPr>
        <a:xfrm>
          <a:off x="0" y="0"/>
          <a:ext cx="0" cy="0"/>
          <a:chOff x="0" y="0"/>
          <a:chExt cx="0" cy="0"/>
        </a:xfrm>
      </p:grpSpPr>
      <p:sp>
        <p:nvSpPr>
          <p:cNvPr id="44" name="Google Shape;405;p11">
            <a:extLst>
              <a:ext uri="{FF2B5EF4-FFF2-40B4-BE49-F238E27FC236}">
                <a16:creationId xmlns:a16="http://schemas.microsoft.com/office/drawing/2014/main" id="{C7E53E8E-08F8-4B4C-2178-C104798E35F8}"/>
              </a:ext>
            </a:extLst>
          </p:cNvPr>
          <p:cNvSpPr/>
          <p:nvPr/>
        </p:nvSpPr>
        <p:spPr>
          <a:xfrm>
            <a:off x="-952805" y="-952805"/>
            <a:ext cx="5715000" cy="5715000"/>
          </a:xfrm>
          <a:prstGeom prst="ellipse">
            <a:avLst/>
          </a:prstGeom>
          <a:solidFill>
            <a:srgbClr val="0F2636">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06;p11">
            <a:extLst>
              <a:ext uri="{FF2B5EF4-FFF2-40B4-BE49-F238E27FC236}">
                <a16:creationId xmlns:a16="http://schemas.microsoft.com/office/drawing/2014/main" id="{70788CFC-CB05-DEFF-4BCA-209D634FE014}"/>
              </a:ext>
            </a:extLst>
          </p:cNvPr>
          <p:cNvSpPr/>
          <p:nvPr/>
        </p:nvSpPr>
        <p:spPr>
          <a:xfrm>
            <a:off x="5981547" y="800100"/>
            <a:ext cx="6667805" cy="6667805"/>
          </a:xfrm>
          <a:prstGeom prst="ellipse">
            <a:avLst/>
          </a:prstGeom>
          <a:solidFill>
            <a:srgbClr val="1E1B4B">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Image 10" descr="preencoded.png">
            <a:extLst>
              <a:ext uri="{FF2B5EF4-FFF2-40B4-BE49-F238E27FC236}">
                <a16:creationId xmlns:a16="http://schemas.microsoft.com/office/drawing/2014/main" id="{18609B9E-4A33-290C-E851-70255D7969C9}"/>
              </a:ext>
            </a:extLst>
          </p:cNvPr>
          <p:cNvPicPr>
            <a:picLocks noChangeAspect="1"/>
          </p:cNvPicPr>
          <p:nvPr/>
        </p:nvPicPr>
        <p:blipFill>
          <a:blip r:embed="rId3"/>
          <a:stretch>
            <a:fillRect/>
          </a:stretch>
        </p:blipFill>
        <p:spPr>
          <a:xfrm>
            <a:off x="6210300" y="1257300"/>
            <a:ext cx="5524500" cy="4343400"/>
          </a:xfrm>
          <a:prstGeom prst="roundRect">
            <a:avLst/>
          </a:prstGeom>
        </p:spPr>
      </p:pic>
      <p:pic>
        <p:nvPicPr>
          <p:cNvPr id="14" name="Image 12" descr="preencoded.png">
            <a:extLst>
              <a:ext uri="{FF2B5EF4-FFF2-40B4-BE49-F238E27FC236}">
                <a16:creationId xmlns:a16="http://schemas.microsoft.com/office/drawing/2014/main" id="{D07F26BD-A63B-E753-891C-F834E8379A69}"/>
              </a:ext>
            </a:extLst>
          </p:cNvPr>
          <p:cNvPicPr>
            <a:picLocks noChangeAspect="1"/>
          </p:cNvPicPr>
          <p:nvPr/>
        </p:nvPicPr>
        <p:blipFill>
          <a:blip r:embed="rId4"/>
          <a:stretch>
            <a:fillRect/>
          </a:stretch>
        </p:blipFill>
        <p:spPr>
          <a:xfrm>
            <a:off x="6438900" y="2019300"/>
            <a:ext cx="5067300" cy="990600"/>
          </a:xfrm>
          <a:prstGeom prst="rect">
            <a:avLst/>
          </a:prstGeom>
        </p:spPr>
      </p:pic>
      <p:pic>
        <p:nvPicPr>
          <p:cNvPr id="15" name="Image 13" descr="preencoded.png">
            <a:extLst>
              <a:ext uri="{FF2B5EF4-FFF2-40B4-BE49-F238E27FC236}">
                <a16:creationId xmlns:a16="http://schemas.microsoft.com/office/drawing/2014/main" id="{750E214E-CFE3-31AF-9011-B6B2AE43E8E9}"/>
              </a:ext>
            </a:extLst>
          </p:cNvPr>
          <p:cNvPicPr>
            <a:picLocks noChangeAspect="1"/>
          </p:cNvPicPr>
          <p:nvPr/>
        </p:nvPicPr>
        <p:blipFill>
          <a:blip r:embed="rId5">
            <a:biLevel thresh="25000"/>
          </a:blip>
          <a:stretch>
            <a:fillRect/>
          </a:stretch>
        </p:blipFill>
        <p:spPr>
          <a:xfrm>
            <a:off x="6627132" y="4514850"/>
            <a:ext cx="228600" cy="228600"/>
          </a:xfrm>
          <a:prstGeom prst="rect">
            <a:avLst/>
          </a:prstGeom>
        </p:spPr>
      </p:pic>
      <p:pic>
        <p:nvPicPr>
          <p:cNvPr id="16" name="Image 14" descr="preencoded.png">
            <a:extLst>
              <a:ext uri="{FF2B5EF4-FFF2-40B4-BE49-F238E27FC236}">
                <a16:creationId xmlns:a16="http://schemas.microsoft.com/office/drawing/2014/main" id="{88126E4A-A95F-0968-DEF9-2AC918A248C0}"/>
              </a:ext>
            </a:extLst>
          </p:cNvPr>
          <p:cNvPicPr>
            <a:picLocks noChangeAspect="1"/>
          </p:cNvPicPr>
          <p:nvPr/>
        </p:nvPicPr>
        <p:blipFill>
          <a:blip r:embed="rId4"/>
          <a:stretch>
            <a:fillRect/>
          </a:stretch>
        </p:blipFill>
        <p:spPr>
          <a:xfrm>
            <a:off x="6438900" y="3200400"/>
            <a:ext cx="5067300" cy="990600"/>
          </a:xfrm>
          <a:prstGeom prst="rect">
            <a:avLst/>
          </a:prstGeom>
        </p:spPr>
      </p:pic>
      <p:pic>
        <p:nvPicPr>
          <p:cNvPr id="18" name="Image 16" descr="preencoded.png">
            <a:extLst>
              <a:ext uri="{FF2B5EF4-FFF2-40B4-BE49-F238E27FC236}">
                <a16:creationId xmlns:a16="http://schemas.microsoft.com/office/drawing/2014/main" id="{4670C096-5036-350B-3DB8-192275F9DBAF}"/>
              </a:ext>
            </a:extLst>
          </p:cNvPr>
          <p:cNvPicPr>
            <a:picLocks noChangeAspect="1"/>
          </p:cNvPicPr>
          <p:nvPr/>
        </p:nvPicPr>
        <p:blipFill>
          <a:blip r:embed="rId4"/>
          <a:stretch>
            <a:fillRect/>
          </a:stretch>
        </p:blipFill>
        <p:spPr>
          <a:xfrm>
            <a:off x="6438900" y="4381500"/>
            <a:ext cx="5067300" cy="990600"/>
          </a:xfrm>
          <a:prstGeom prst="rect">
            <a:avLst/>
          </a:prstGeom>
        </p:spPr>
      </p:pic>
      <p:sp>
        <p:nvSpPr>
          <p:cNvPr id="29" name="Text 8">
            <a:extLst>
              <a:ext uri="{FF2B5EF4-FFF2-40B4-BE49-F238E27FC236}">
                <a16:creationId xmlns:a16="http://schemas.microsoft.com/office/drawing/2014/main" id="{548F3A35-9BBD-D526-1EEB-F0A645D5EF26}"/>
              </a:ext>
            </a:extLst>
          </p:cNvPr>
          <p:cNvSpPr/>
          <p:nvPr/>
        </p:nvSpPr>
        <p:spPr>
          <a:xfrm>
            <a:off x="6781800" y="1485900"/>
            <a:ext cx="5067300" cy="304800"/>
          </a:xfrm>
          <a:prstGeom prst="rect">
            <a:avLst/>
          </a:prstGeom>
          <a:noFill/>
          <a:ln/>
        </p:spPr>
        <p:txBody>
          <a:bodyPr vert="horz" wrap="square" lIns="0" tIns="0" rIns="0" bIns="0" rtlCol="0" anchor="t"/>
          <a:lstStyle/>
          <a:p>
            <a:pPr>
              <a:lnSpc>
                <a:spcPts val="2400"/>
              </a:lnSpc>
              <a:buClr>
                <a:srgbClr val="FFFFFF"/>
              </a:buClr>
              <a:buSzPts val="13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Journey &amp; optimization</a:t>
            </a:r>
          </a:p>
        </p:txBody>
      </p:sp>
      <p:sp>
        <p:nvSpPr>
          <p:cNvPr id="34" name="Text 13">
            <a:extLst>
              <a:ext uri="{FF2B5EF4-FFF2-40B4-BE49-F238E27FC236}">
                <a16:creationId xmlns:a16="http://schemas.microsoft.com/office/drawing/2014/main" id="{054D3CDA-4E1E-6532-CF02-1AE9113773DB}"/>
              </a:ext>
            </a:extLst>
          </p:cNvPr>
          <p:cNvSpPr/>
          <p:nvPr/>
        </p:nvSpPr>
        <p:spPr>
          <a:xfrm>
            <a:off x="6911546" y="4477656"/>
            <a:ext cx="4743450" cy="322943"/>
          </a:xfrm>
          <a:prstGeom prst="rect">
            <a:avLst/>
          </a:prstGeom>
          <a:noFill/>
          <a:ln/>
        </p:spPr>
        <p:txBody>
          <a:bodyPr vert="horz" wrap="square" lIns="0" tIns="0" rIns="0" bIns="0" rtlCol="0" anchor="t"/>
          <a:lstStyle/>
          <a:p>
            <a:pPr>
              <a:lnSpc>
                <a:spcPts val="2400"/>
              </a:lnSpc>
              <a:buClr>
                <a:srgbClr val="FFFFFF"/>
              </a:buClr>
              <a:buSzPts val="13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Continuous Optimization</a:t>
            </a:r>
          </a:p>
        </p:txBody>
      </p:sp>
      <p:sp>
        <p:nvSpPr>
          <p:cNvPr id="35" name="Text 14">
            <a:extLst>
              <a:ext uri="{FF2B5EF4-FFF2-40B4-BE49-F238E27FC236}">
                <a16:creationId xmlns:a16="http://schemas.microsoft.com/office/drawing/2014/main" id="{A9B262EF-B3BE-DE82-58D5-8452676019EF}"/>
              </a:ext>
            </a:extLst>
          </p:cNvPr>
          <p:cNvSpPr/>
          <p:nvPr/>
        </p:nvSpPr>
        <p:spPr>
          <a:xfrm>
            <a:off x="6911546" y="4782457"/>
            <a:ext cx="4743450" cy="762000"/>
          </a:xfrm>
          <a:prstGeom prst="rect">
            <a:avLst/>
          </a:prstGeom>
          <a:noFill/>
          <a:ln/>
        </p:spPr>
        <p:txBody>
          <a:bodyPr vert="horz" wrap="square" lIns="0" tIns="0" rIns="0" bIns="0" rtlCol="0" anchor="t"/>
          <a:lstStyle/>
          <a:p>
            <a:pPr>
              <a:lnSpc>
                <a:spcPts val="1800"/>
              </a:lnSpc>
            </a:pPr>
            <a:r>
              <a:rPr lang="en-US" sz="1200" dirty="0">
                <a:solidFill>
                  <a:srgbClr val="D1D5DB"/>
                </a:solidFill>
                <a:latin typeface="Open Sans" pitchFamily="34" charset="0"/>
                <a:ea typeface="Open Sans" pitchFamily="34" charset="-122"/>
                <a:cs typeface="Open Sans" pitchFamily="34" charset="-120"/>
              </a:rPr>
              <a:t>Always-on improvement, while optimizing directly against your sales conversion rates and customer support KPIs  and matching real customer phrases to journeys, boosting accuracy.</a:t>
            </a:r>
            <a:endParaRPr lang="en-US" sz="1200" dirty="0"/>
          </a:p>
        </p:txBody>
      </p:sp>
      <p:pic>
        <p:nvPicPr>
          <p:cNvPr id="2" name="Image 9" descr="preencoded.png">
            <a:extLst>
              <a:ext uri="{FF2B5EF4-FFF2-40B4-BE49-F238E27FC236}">
                <a16:creationId xmlns:a16="http://schemas.microsoft.com/office/drawing/2014/main" id="{A8636FF4-EACE-EDEF-F7DD-15DD207B4BB6}"/>
              </a:ext>
            </a:extLst>
          </p:cNvPr>
          <p:cNvPicPr>
            <a:picLocks noChangeAspect="1"/>
          </p:cNvPicPr>
          <p:nvPr/>
        </p:nvPicPr>
        <p:blipFill>
          <a:blip r:embed="rId6">
            <a:biLevel thresh="25000"/>
          </a:blip>
          <a:stretch>
            <a:fillRect/>
          </a:stretch>
        </p:blipFill>
        <p:spPr>
          <a:xfrm>
            <a:off x="6564539" y="3334657"/>
            <a:ext cx="285750" cy="228600"/>
          </a:xfrm>
          <a:prstGeom prst="rect">
            <a:avLst/>
          </a:prstGeom>
        </p:spPr>
      </p:pic>
      <p:pic>
        <p:nvPicPr>
          <p:cNvPr id="39" name="Graphic 38">
            <a:extLst>
              <a:ext uri="{FF2B5EF4-FFF2-40B4-BE49-F238E27FC236}">
                <a16:creationId xmlns:a16="http://schemas.microsoft.com/office/drawing/2014/main" id="{9A5E0280-AA28-2B81-484C-CBF83C2C07C2}"/>
              </a:ext>
            </a:extLst>
          </p:cNvPr>
          <p:cNvPicPr>
            <a:picLocks noChangeAspect="1"/>
          </p:cNvPicPr>
          <p:nvPr/>
        </p:nvPicPr>
        <p:blipFill rotWithShape="1">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b="32897"/>
          <a:stretch/>
        </p:blipFill>
        <p:spPr>
          <a:xfrm>
            <a:off x="6527803" y="2114033"/>
            <a:ext cx="434720" cy="291709"/>
          </a:xfrm>
          <a:prstGeom prst="rect">
            <a:avLst/>
          </a:prstGeom>
        </p:spPr>
      </p:pic>
      <p:pic>
        <p:nvPicPr>
          <p:cNvPr id="40" name="Graphic 39">
            <a:extLst>
              <a:ext uri="{FF2B5EF4-FFF2-40B4-BE49-F238E27FC236}">
                <a16:creationId xmlns:a16="http://schemas.microsoft.com/office/drawing/2014/main" id="{F4DE0321-2FD2-7300-7862-7CAF010D8149}"/>
              </a:ext>
            </a:extLst>
          </p:cNvPr>
          <p:cNvPicPr>
            <a:picLocks noChangeAspect="1"/>
          </p:cNvPicPr>
          <p:nvPr/>
        </p:nvPicPr>
        <p:blipFill rotWithShape="1">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b="32167"/>
          <a:stretch/>
        </p:blipFill>
        <p:spPr>
          <a:xfrm>
            <a:off x="6201852" y="1382486"/>
            <a:ext cx="643172" cy="436280"/>
          </a:xfrm>
          <a:prstGeom prst="rect">
            <a:avLst/>
          </a:prstGeom>
        </p:spPr>
      </p:pic>
      <p:pic>
        <p:nvPicPr>
          <p:cNvPr id="5" name="Picture 4">
            <a:extLst>
              <a:ext uri="{FF2B5EF4-FFF2-40B4-BE49-F238E27FC236}">
                <a16:creationId xmlns:a16="http://schemas.microsoft.com/office/drawing/2014/main" id="{A774628B-4A2B-0C13-080F-F132D8667D6B}"/>
              </a:ext>
            </a:extLst>
          </p:cNvPr>
          <p:cNvPicPr>
            <a:picLocks noChangeAspect="1"/>
          </p:cNvPicPr>
          <p:nvPr/>
        </p:nvPicPr>
        <p:blipFill>
          <a:blip r:embed="rId11">
            <a:duotone>
              <a:prstClr val="black"/>
              <a:schemeClr val="tx2">
                <a:lumMod val="60000"/>
                <a:lumOff val="40000"/>
                <a:tint val="45000"/>
                <a:satMod val="400000"/>
              </a:schemeClr>
            </a:duotone>
          </a:blip>
          <a:srcRect t="2551" r="46340" b="-2551"/>
          <a:stretch>
            <a:fillRect/>
          </a:stretch>
        </p:blipFill>
        <p:spPr>
          <a:xfrm>
            <a:off x="884723" y="1365371"/>
            <a:ext cx="5414479" cy="4745995"/>
          </a:xfrm>
          <a:prstGeom prst="roundRect">
            <a:avLst/>
          </a:prstGeom>
          <a:scene3d>
            <a:camera prst="isometricOffAxis1Right"/>
            <a:lightRig rig="threePt" dir="t"/>
          </a:scene3d>
        </p:spPr>
      </p:pic>
      <p:pic>
        <p:nvPicPr>
          <p:cNvPr id="42" name="Image 1" descr="preencoded.png">
            <a:extLst>
              <a:ext uri="{FF2B5EF4-FFF2-40B4-BE49-F238E27FC236}">
                <a16:creationId xmlns:a16="http://schemas.microsoft.com/office/drawing/2014/main" id="{B26FDD3C-DF42-C3A1-9A6B-A20610CE9F23}"/>
              </a:ext>
            </a:extLst>
          </p:cNvPr>
          <p:cNvPicPr>
            <a:picLocks noChangeAspect="1"/>
          </p:cNvPicPr>
          <p:nvPr/>
        </p:nvPicPr>
        <p:blipFill>
          <a:blip r:embed="rId12"/>
          <a:stretch>
            <a:fillRect/>
          </a:stretch>
        </p:blipFill>
        <p:spPr>
          <a:xfrm>
            <a:off x="609600" y="1066800"/>
            <a:ext cx="914400" cy="38100"/>
          </a:xfrm>
          <a:prstGeom prst="rect">
            <a:avLst/>
          </a:prstGeom>
        </p:spPr>
      </p:pic>
      <p:sp>
        <p:nvSpPr>
          <p:cNvPr id="43" name="Text 0">
            <a:extLst>
              <a:ext uri="{FF2B5EF4-FFF2-40B4-BE49-F238E27FC236}">
                <a16:creationId xmlns:a16="http://schemas.microsoft.com/office/drawing/2014/main" id="{681E3174-FE33-18F9-1844-84768ABABEEB}"/>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rPr>
              <a:t>MassaPro Services</a:t>
            </a:r>
          </a:p>
        </p:txBody>
      </p:sp>
      <p:sp>
        <p:nvSpPr>
          <p:cNvPr id="30" name="Text 9">
            <a:extLst>
              <a:ext uri="{FF2B5EF4-FFF2-40B4-BE49-F238E27FC236}">
                <a16:creationId xmlns:a16="http://schemas.microsoft.com/office/drawing/2014/main" id="{472CAFC5-836F-C9B7-0E27-B84885A9E651}"/>
              </a:ext>
            </a:extLst>
          </p:cNvPr>
          <p:cNvSpPr/>
          <p:nvPr/>
        </p:nvSpPr>
        <p:spPr>
          <a:xfrm>
            <a:off x="6934200" y="2133600"/>
            <a:ext cx="5486400" cy="266700"/>
          </a:xfrm>
          <a:prstGeom prst="rect">
            <a:avLst/>
          </a:prstGeom>
          <a:noFill/>
          <a:ln/>
        </p:spPr>
        <p:txBody>
          <a:bodyPr vert="horz" wrap="square" lIns="0" tIns="0" rIns="0" bIns="0" rtlCol="0" anchor="t"/>
          <a:lstStyle/>
          <a:p>
            <a:pPr>
              <a:lnSpc>
                <a:spcPts val="2100"/>
              </a:lnSpc>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AI Marketing Automation</a:t>
            </a:r>
          </a:p>
        </p:txBody>
      </p:sp>
      <p:sp>
        <p:nvSpPr>
          <p:cNvPr id="32" name="Text 11">
            <a:extLst>
              <a:ext uri="{FF2B5EF4-FFF2-40B4-BE49-F238E27FC236}">
                <a16:creationId xmlns:a16="http://schemas.microsoft.com/office/drawing/2014/main" id="{20E3B885-38DF-1CF6-4D2E-E5692D4F13A5}"/>
              </a:ext>
            </a:extLst>
          </p:cNvPr>
          <p:cNvSpPr/>
          <p:nvPr/>
        </p:nvSpPr>
        <p:spPr>
          <a:xfrm>
            <a:off x="6934200" y="3314700"/>
            <a:ext cx="5486400" cy="266700"/>
          </a:xfrm>
          <a:prstGeom prst="rect">
            <a:avLst/>
          </a:prstGeom>
          <a:noFill/>
          <a:ln/>
        </p:spPr>
        <p:txBody>
          <a:bodyPr vert="horz" wrap="square" lIns="0" tIns="0" rIns="0" bIns="0" rtlCol="0" anchor="t"/>
          <a:lstStyle/>
          <a:p>
            <a:pPr indent="0">
              <a:lnSpc>
                <a:spcPts val="2400"/>
              </a:lnSpc>
              <a:buClr>
                <a:srgbClr val="FFFFFF"/>
              </a:buClr>
              <a:buSzPts val="1300"/>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Humanized AI Agents</a:t>
            </a:r>
          </a:p>
        </p:txBody>
      </p:sp>
      <p:sp>
        <p:nvSpPr>
          <p:cNvPr id="31" name="Text 10">
            <a:extLst>
              <a:ext uri="{FF2B5EF4-FFF2-40B4-BE49-F238E27FC236}">
                <a16:creationId xmlns:a16="http://schemas.microsoft.com/office/drawing/2014/main" id="{2F185A0F-ED03-90B4-D5E7-70B7105BA3B1}"/>
              </a:ext>
            </a:extLst>
          </p:cNvPr>
          <p:cNvSpPr/>
          <p:nvPr/>
        </p:nvSpPr>
        <p:spPr>
          <a:xfrm>
            <a:off x="6934200" y="2438400"/>
            <a:ext cx="4572000" cy="7620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We provide a fully managed solution, that plans, integrates, deploy, set-up flows &amp; journeys, analyzes, optimizes and scale omni-channel conversational  teams.</a:t>
            </a:r>
          </a:p>
        </p:txBody>
      </p:sp>
      <p:sp>
        <p:nvSpPr>
          <p:cNvPr id="33" name="Text 12">
            <a:extLst>
              <a:ext uri="{FF2B5EF4-FFF2-40B4-BE49-F238E27FC236}">
                <a16:creationId xmlns:a16="http://schemas.microsoft.com/office/drawing/2014/main" id="{6B2AD846-811C-3460-A97D-83BE868F8BF9}"/>
              </a:ext>
            </a:extLst>
          </p:cNvPr>
          <p:cNvSpPr/>
          <p:nvPr/>
        </p:nvSpPr>
        <p:spPr>
          <a:xfrm>
            <a:off x="6934200" y="3619500"/>
            <a:ext cx="4572000" cy="457200"/>
          </a:xfrm>
          <a:prstGeom prst="rect">
            <a:avLst/>
          </a:prstGeom>
          <a:noFill/>
          <a:ln/>
        </p:spPr>
        <p:txBody>
          <a:bodyPr vert="horz" wrap="square" lIns="0" tIns="0" rIns="0" bIns="0" rtlCol="0" anchor="t"/>
          <a:lstStyle/>
          <a:p>
            <a:pPr marL="0" indent="0">
              <a:lnSpc>
                <a:spcPts val="1800"/>
              </a:lnSpc>
              <a:buNone/>
            </a:pPr>
            <a:r>
              <a:rPr lang="en-US" sz="1200" dirty="0">
                <a:solidFill>
                  <a:srgbClr val="D1D5DB"/>
                </a:solidFill>
                <a:latin typeface="Open Sans" pitchFamily="34" charset="0"/>
                <a:ea typeface="Open Sans" pitchFamily="34" charset="-122"/>
                <a:cs typeface="Open Sans" pitchFamily="34" charset="-120"/>
              </a:rPr>
              <a:t>AI customer interactions with refined, human-like voice and text-based communication, setting a new standard beyond traditional chatbots and driving unparalleled business success.</a:t>
            </a:r>
          </a:p>
        </p:txBody>
      </p:sp>
      <p:sp>
        <p:nvSpPr>
          <p:cNvPr id="48" name="Google Shape;20;p3">
            <a:extLst>
              <a:ext uri="{FF2B5EF4-FFF2-40B4-BE49-F238E27FC236}">
                <a16:creationId xmlns:a16="http://schemas.microsoft.com/office/drawing/2014/main" id="{B6E10C63-3B3F-67C1-7E2E-69DEEC1B300E}"/>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Picture 48">
            <a:extLst>
              <a:ext uri="{FF2B5EF4-FFF2-40B4-BE49-F238E27FC236}">
                <a16:creationId xmlns:a16="http://schemas.microsoft.com/office/drawing/2014/main" id="{1792B07B-7F61-02EB-F4D7-6DCE914A8C09}"/>
              </a:ext>
            </a:extLst>
          </p:cNvPr>
          <p:cNvPicPr>
            <a:picLocks noChangeAspect="1"/>
          </p:cNvPicPr>
          <p:nvPr/>
        </p:nvPicPr>
        <p:blipFill>
          <a:blip r:embed="rId13"/>
          <a:srcRect/>
          <a:stretch/>
        </p:blipFill>
        <p:spPr>
          <a:xfrm>
            <a:off x="11734800" y="6432614"/>
            <a:ext cx="317806" cy="317806"/>
          </a:xfrm>
          <a:prstGeom prst="rect">
            <a:avLst/>
          </a:prstGeom>
        </p:spPr>
      </p:pic>
    </p:spTree>
    <p:extLst>
      <p:ext uri="{BB962C8B-B14F-4D97-AF65-F5344CB8AC3E}">
        <p14:creationId xmlns:p14="http://schemas.microsoft.com/office/powerpoint/2010/main" val="96206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79A2AD4F-4869-2285-EE3D-543B62F24AC4}"/>
              </a:ext>
            </a:extLst>
          </p:cNvPr>
          <p:cNvPicPr>
            <a:picLocks noChangeAspect="1"/>
          </p:cNvPicPr>
          <p:nvPr/>
        </p:nvPicPr>
        <p:blipFill>
          <a:blip r:embed="rId3">
            <a:duotone>
              <a:prstClr val="black"/>
              <a:schemeClr val="tx2">
                <a:lumMod val="60000"/>
                <a:lumOff val="40000"/>
                <a:tint val="45000"/>
                <a:satMod val="400000"/>
              </a:schemeClr>
            </a:duotone>
            <a:extLst>
              <a:ext uri="{BEBA8EAE-BF5A-486C-A8C5-ECC9F3942E4B}">
                <a14:imgProps xmlns:a14="http://schemas.microsoft.com/office/drawing/2010/main">
                  <a14:imgLayer r:embed="rId4">
                    <a14:imgEffect>
                      <a14:colorTemperature colorTemp="3852"/>
                    </a14:imgEffect>
                    <a14:imgEffect>
                      <a14:saturation sat="0"/>
                    </a14:imgEffect>
                  </a14:imgLayer>
                </a14:imgProps>
              </a:ext>
            </a:extLst>
          </a:blip>
          <a:srcRect l="-940" r="-1101"/>
          <a:stretch>
            <a:fillRect/>
          </a:stretch>
        </p:blipFill>
        <p:spPr>
          <a:xfrm>
            <a:off x="824221" y="1943100"/>
            <a:ext cx="10194614" cy="4868977"/>
          </a:xfrm>
          <a:prstGeom prst="roundRect">
            <a:avLst/>
          </a:prstGeom>
          <a:effectLst/>
        </p:spPr>
      </p:pic>
      <p:sp>
        <p:nvSpPr>
          <p:cNvPr id="64" name="Google Shape;18;p3">
            <a:extLst>
              <a:ext uri="{FF2B5EF4-FFF2-40B4-BE49-F238E27FC236}">
                <a16:creationId xmlns:a16="http://schemas.microsoft.com/office/drawing/2014/main" id="{195E5961-42B7-2833-AE63-988D5B3107A7}"/>
              </a:ext>
            </a:extLst>
          </p:cNvPr>
          <p:cNvSpPr/>
          <p:nvPr/>
        </p:nvSpPr>
        <p:spPr>
          <a:xfrm>
            <a:off x="7429500" y="-952805"/>
            <a:ext cx="5715000" cy="5715000"/>
          </a:xfrm>
          <a:prstGeom prst="ellipse">
            <a:avLst/>
          </a:prstGeom>
          <a:solidFill>
            <a:srgbClr val="1E1B4B">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9;p3">
            <a:extLst>
              <a:ext uri="{FF2B5EF4-FFF2-40B4-BE49-F238E27FC236}">
                <a16:creationId xmlns:a16="http://schemas.microsoft.com/office/drawing/2014/main" id="{6CABCBDD-41E3-EC8B-89BD-B6DF1D30B88A}"/>
              </a:ext>
            </a:extLst>
          </p:cNvPr>
          <p:cNvSpPr/>
          <p:nvPr/>
        </p:nvSpPr>
        <p:spPr>
          <a:xfrm>
            <a:off x="-476402" y="3524098"/>
            <a:ext cx="3810305" cy="3810305"/>
          </a:xfrm>
          <a:prstGeom prst="ellipse">
            <a:avLst/>
          </a:prstGeom>
          <a:solidFill>
            <a:srgbClr val="1725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9" name="Graphic 48">
            <a:extLst>
              <a:ext uri="{FF2B5EF4-FFF2-40B4-BE49-F238E27FC236}">
                <a16:creationId xmlns:a16="http://schemas.microsoft.com/office/drawing/2014/main" id="{9FD5FBA8-A5FB-2250-EA27-1F47FED6E859}"/>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38800" y="3126678"/>
            <a:ext cx="894707" cy="894707"/>
          </a:xfrm>
          <a:prstGeom prst="rect">
            <a:avLst/>
          </a:prstGeom>
        </p:spPr>
      </p:pic>
      <p:pic>
        <p:nvPicPr>
          <p:cNvPr id="5" name="Image 3" descr="preencoded.png"/>
          <p:cNvPicPr>
            <a:picLocks noChangeAspect="1"/>
          </p:cNvPicPr>
          <p:nvPr/>
        </p:nvPicPr>
        <p:blipFill>
          <a:blip r:embed="rId7"/>
          <a:stretch>
            <a:fillRect/>
          </a:stretch>
        </p:blipFill>
        <p:spPr>
          <a:xfrm>
            <a:off x="457200" y="1790700"/>
            <a:ext cx="5334000" cy="1481950"/>
          </a:xfrm>
          <a:prstGeom prst="roundRect">
            <a:avLst/>
          </a:prstGeom>
          <a:solidFill>
            <a:schemeClr val="accent1">
              <a:lumMod val="50000"/>
              <a:alpha val="73000"/>
            </a:schemeClr>
          </a:solidFill>
        </p:spPr>
      </p:pic>
      <p:pic>
        <p:nvPicPr>
          <p:cNvPr id="13" name="Image 11" descr="preencoded.png"/>
          <p:cNvPicPr>
            <a:picLocks noChangeAspect="1"/>
          </p:cNvPicPr>
          <p:nvPr/>
        </p:nvPicPr>
        <p:blipFill>
          <a:blip r:embed="rId8"/>
          <a:stretch>
            <a:fillRect/>
          </a:stretch>
        </p:blipFill>
        <p:spPr>
          <a:xfrm>
            <a:off x="6096000" y="1695450"/>
            <a:ext cx="5638800" cy="4705350"/>
          </a:xfrm>
          <a:prstGeom prst="rect">
            <a:avLst/>
          </a:prstGeom>
        </p:spPr>
      </p:pic>
      <p:sp>
        <p:nvSpPr>
          <p:cNvPr id="25" name="Text 2"/>
          <p:cNvSpPr/>
          <p:nvPr/>
        </p:nvSpPr>
        <p:spPr>
          <a:xfrm>
            <a:off x="1123950" y="1943100"/>
            <a:ext cx="4514850" cy="266700"/>
          </a:xfrm>
          <a:prstGeom prst="rect">
            <a:avLst/>
          </a:prstGeom>
          <a:noFill/>
          <a:ln/>
        </p:spPr>
        <p:txBody>
          <a:bodyPr vert="horz" wrap="square" lIns="0" tIns="0" rIns="0" bIns="0" rtlCol="0" anchor="t"/>
          <a:lstStyle/>
          <a:p>
            <a:pPr>
              <a:lnSpc>
                <a:spcPts val="2100"/>
              </a:lnSpc>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MassaPro Large Language Model</a:t>
            </a:r>
          </a:p>
        </p:txBody>
      </p:sp>
      <p:sp>
        <p:nvSpPr>
          <p:cNvPr id="26" name="Text 3"/>
          <p:cNvSpPr/>
          <p:nvPr/>
        </p:nvSpPr>
        <p:spPr>
          <a:xfrm>
            <a:off x="1123950" y="2247900"/>
            <a:ext cx="4514850" cy="457200"/>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Owned &amp; unique MassaPro LLM focused on delivering humanized customer support and sales services.</a:t>
            </a:r>
          </a:p>
        </p:txBody>
      </p:sp>
      <p:pic>
        <p:nvPicPr>
          <p:cNvPr id="43" name="Image 3" descr="preencoded.png">
            <a:extLst>
              <a:ext uri="{FF2B5EF4-FFF2-40B4-BE49-F238E27FC236}">
                <a16:creationId xmlns:a16="http://schemas.microsoft.com/office/drawing/2014/main" id="{43F0667C-3584-D0BA-2D55-CB56DEE94659}"/>
              </a:ext>
            </a:extLst>
          </p:cNvPr>
          <p:cNvPicPr>
            <a:picLocks noChangeAspect="1"/>
          </p:cNvPicPr>
          <p:nvPr/>
        </p:nvPicPr>
        <p:blipFill>
          <a:blip r:embed="rId7"/>
          <a:stretch>
            <a:fillRect/>
          </a:stretch>
        </p:blipFill>
        <p:spPr>
          <a:xfrm>
            <a:off x="457200" y="3449118"/>
            <a:ext cx="5334000" cy="1481950"/>
          </a:xfrm>
          <a:prstGeom prst="roundRect">
            <a:avLst/>
          </a:prstGeom>
          <a:solidFill>
            <a:schemeClr val="accent1">
              <a:lumMod val="50000"/>
              <a:alpha val="73000"/>
            </a:schemeClr>
          </a:solidFill>
        </p:spPr>
      </p:pic>
      <p:sp>
        <p:nvSpPr>
          <p:cNvPr id="27" name="Text 4"/>
          <p:cNvSpPr/>
          <p:nvPr/>
        </p:nvSpPr>
        <p:spPr>
          <a:xfrm>
            <a:off x="1123950" y="3588325"/>
            <a:ext cx="4514850" cy="266700"/>
          </a:xfrm>
          <a:prstGeom prst="rect">
            <a:avLst/>
          </a:prstGeom>
          <a:noFill/>
          <a:ln/>
        </p:spPr>
        <p:txBody>
          <a:bodyPr vert="horz" wrap="square" lIns="0" tIns="0" rIns="0" bIns="0" rtlCol="0" anchor="t"/>
          <a:lstStyle/>
          <a:p>
            <a:pPr indent="0">
              <a:lnSpc>
                <a:spcPts val="2100"/>
              </a:lnSpc>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AI Guru</a:t>
            </a:r>
          </a:p>
        </p:txBody>
      </p:sp>
      <p:sp>
        <p:nvSpPr>
          <p:cNvPr id="28" name="Text 5"/>
          <p:cNvSpPr/>
          <p:nvPr/>
        </p:nvSpPr>
        <p:spPr>
          <a:xfrm>
            <a:off x="1123950" y="3893124"/>
            <a:ext cx="4590752" cy="1037943"/>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AI Guru is your revolutionary internal assistant, designed to boost productivity. Transform how teams interact with customers, offering instant access to practical knowledge and unparallelled support.</a:t>
            </a:r>
          </a:p>
        </p:txBody>
      </p:sp>
      <p:pic>
        <p:nvPicPr>
          <p:cNvPr id="44" name="Image 3" descr="preencoded.png">
            <a:extLst>
              <a:ext uri="{FF2B5EF4-FFF2-40B4-BE49-F238E27FC236}">
                <a16:creationId xmlns:a16="http://schemas.microsoft.com/office/drawing/2014/main" id="{C4D31A44-AB67-A8C2-C6CD-E604FF8E2F6B}"/>
              </a:ext>
            </a:extLst>
          </p:cNvPr>
          <p:cNvPicPr>
            <a:picLocks noChangeAspect="1"/>
          </p:cNvPicPr>
          <p:nvPr/>
        </p:nvPicPr>
        <p:blipFill>
          <a:blip r:embed="rId7"/>
          <a:stretch>
            <a:fillRect/>
          </a:stretch>
        </p:blipFill>
        <p:spPr>
          <a:xfrm>
            <a:off x="457200" y="5107536"/>
            <a:ext cx="5334000" cy="1481950"/>
          </a:xfrm>
          <a:prstGeom prst="roundRect">
            <a:avLst/>
          </a:prstGeom>
          <a:solidFill>
            <a:schemeClr val="accent1">
              <a:lumMod val="50000"/>
              <a:alpha val="73000"/>
            </a:schemeClr>
          </a:solidFill>
        </p:spPr>
      </p:pic>
      <p:sp>
        <p:nvSpPr>
          <p:cNvPr id="29" name="Text 6"/>
          <p:cNvSpPr/>
          <p:nvPr/>
        </p:nvSpPr>
        <p:spPr>
          <a:xfrm>
            <a:off x="1009650" y="5224314"/>
            <a:ext cx="4629150" cy="266700"/>
          </a:xfrm>
          <a:prstGeom prst="rect">
            <a:avLst/>
          </a:prstGeom>
          <a:noFill/>
          <a:ln/>
        </p:spPr>
        <p:txBody>
          <a:bodyPr vert="horz" wrap="square" lIns="0" tIns="0" rIns="0" bIns="0" rtlCol="0" anchor="t"/>
          <a:lstStyle/>
          <a:p>
            <a:pPr>
              <a:lnSpc>
                <a:spcPts val="2100"/>
              </a:lnSpc>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AI Analytics</a:t>
            </a:r>
          </a:p>
        </p:txBody>
      </p:sp>
      <p:sp>
        <p:nvSpPr>
          <p:cNvPr id="30" name="Text 7"/>
          <p:cNvSpPr/>
          <p:nvPr/>
        </p:nvSpPr>
        <p:spPr>
          <a:xfrm>
            <a:off x="1009650" y="5529114"/>
            <a:ext cx="4686300" cy="871686"/>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Gain a holistic view of customer support across all channels. AI Analytics empowers leaders with data-driven insights to refine strategies, enhance decision-making and streamline business processes.</a:t>
            </a:r>
          </a:p>
        </p:txBody>
      </p:sp>
      <p:pic>
        <p:nvPicPr>
          <p:cNvPr id="45" name="Image 3" descr="preencoded.png">
            <a:extLst>
              <a:ext uri="{FF2B5EF4-FFF2-40B4-BE49-F238E27FC236}">
                <a16:creationId xmlns:a16="http://schemas.microsoft.com/office/drawing/2014/main" id="{A89BF144-B28B-4DD4-2886-D64657DFBED8}"/>
              </a:ext>
            </a:extLst>
          </p:cNvPr>
          <p:cNvPicPr>
            <a:picLocks noChangeAspect="1"/>
          </p:cNvPicPr>
          <p:nvPr/>
        </p:nvPicPr>
        <p:blipFill>
          <a:blip r:embed="rId7"/>
          <a:stretch>
            <a:fillRect/>
          </a:stretch>
        </p:blipFill>
        <p:spPr>
          <a:xfrm>
            <a:off x="6457950" y="1790700"/>
            <a:ext cx="5334000" cy="1481950"/>
          </a:xfrm>
          <a:prstGeom prst="roundRect">
            <a:avLst/>
          </a:prstGeom>
          <a:solidFill>
            <a:schemeClr val="accent1">
              <a:lumMod val="50000"/>
              <a:alpha val="73000"/>
            </a:schemeClr>
          </a:solidFill>
        </p:spPr>
      </p:pic>
      <p:pic>
        <p:nvPicPr>
          <p:cNvPr id="46" name="Image 3" descr="preencoded.png">
            <a:extLst>
              <a:ext uri="{FF2B5EF4-FFF2-40B4-BE49-F238E27FC236}">
                <a16:creationId xmlns:a16="http://schemas.microsoft.com/office/drawing/2014/main" id="{779969FA-51D4-7434-9882-F4FF26C534BB}"/>
              </a:ext>
            </a:extLst>
          </p:cNvPr>
          <p:cNvPicPr>
            <a:picLocks noChangeAspect="1"/>
          </p:cNvPicPr>
          <p:nvPr/>
        </p:nvPicPr>
        <p:blipFill>
          <a:blip r:embed="rId7"/>
          <a:stretch>
            <a:fillRect/>
          </a:stretch>
        </p:blipFill>
        <p:spPr>
          <a:xfrm>
            <a:off x="6457950" y="3449118"/>
            <a:ext cx="5334000" cy="1481950"/>
          </a:xfrm>
          <a:prstGeom prst="roundRect">
            <a:avLst/>
          </a:prstGeom>
          <a:solidFill>
            <a:schemeClr val="accent1">
              <a:lumMod val="50000"/>
              <a:alpha val="73000"/>
            </a:schemeClr>
          </a:solidFill>
        </p:spPr>
      </p:pic>
      <p:pic>
        <p:nvPicPr>
          <p:cNvPr id="47" name="Image 3" descr="preencoded.png">
            <a:extLst>
              <a:ext uri="{FF2B5EF4-FFF2-40B4-BE49-F238E27FC236}">
                <a16:creationId xmlns:a16="http://schemas.microsoft.com/office/drawing/2014/main" id="{C83795FF-20D5-EB98-D3DD-6AD18787C696}"/>
              </a:ext>
            </a:extLst>
          </p:cNvPr>
          <p:cNvPicPr>
            <a:picLocks noChangeAspect="1"/>
          </p:cNvPicPr>
          <p:nvPr/>
        </p:nvPicPr>
        <p:blipFill>
          <a:blip r:embed="rId7"/>
          <a:stretch>
            <a:fillRect/>
          </a:stretch>
        </p:blipFill>
        <p:spPr>
          <a:xfrm>
            <a:off x="6457950" y="5107536"/>
            <a:ext cx="5334000" cy="1481950"/>
          </a:xfrm>
          <a:prstGeom prst="roundRect">
            <a:avLst/>
          </a:prstGeom>
          <a:solidFill>
            <a:schemeClr val="accent1">
              <a:lumMod val="50000"/>
              <a:alpha val="73000"/>
            </a:schemeClr>
          </a:solidFill>
        </p:spPr>
      </p:pic>
      <p:pic>
        <p:nvPicPr>
          <p:cNvPr id="20" name="Image 18" descr="preencoded.png"/>
          <p:cNvPicPr>
            <a:picLocks noChangeAspect="1"/>
          </p:cNvPicPr>
          <p:nvPr/>
        </p:nvPicPr>
        <p:blipFill>
          <a:blip r:embed="rId9">
            <a:extLst>
              <a:ext uri="{BEBA8EAE-BF5A-486C-A8C5-ECC9F3942E4B}">
                <a14:imgProps xmlns:a14="http://schemas.microsoft.com/office/drawing/2010/main">
                  <a14:imgLayer r:embed="rId10">
                    <a14:imgEffect>
                      <a14:saturation sat="33000"/>
                    </a14:imgEffect>
                    <a14:imgEffect>
                      <a14:brightnessContrast bright="40000" contrast="40000"/>
                    </a14:imgEffect>
                  </a14:imgLayer>
                </a14:imgProps>
              </a:ext>
            </a:extLst>
          </a:blip>
          <a:stretch>
            <a:fillRect/>
          </a:stretch>
        </p:blipFill>
        <p:spPr>
          <a:xfrm>
            <a:off x="6553200" y="1974398"/>
            <a:ext cx="361950" cy="285750"/>
          </a:xfrm>
          <a:prstGeom prst="rect">
            <a:avLst/>
          </a:prstGeom>
        </p:spPr>
      </p:pic>
      <p:sp>
        <p:nvSpPr>
          <p:cNvPr id="34" name="Text 11"/>
          <p:cNvSpPr/>
          <p:nvPr/>
        </p:nvSpPr>
        <p:spPr>
          <a:xfrm>
            <a:off x="7067550" y="1955349"/>
            <a:ext cx="3435787" cy="266700"/>
          </a:xfrm>
          <a:prstGeom prst="rect">
            <a:avLst/>
          </a:prstGeom>
          <a:noFill/>
          <a:ln/>
        </p:spPr>
        <p:txBody>
          <a:bodyPr vert="horz" wrap="square" lIns="0" tIns="0" rIns="0" bIns="0" rtlCol="0" anchor="t"/>
          <a:lstStyle/>
          <a:p>
            <a:pPr marL="0" indent="0">
              <a:lnSpc>
                <a:spcPts val="2100"/>
              </a:lnSpc>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AI Agent</a:t>
            </a:r>
          </a:p>
        </p:txBody>
      </p:sp>
      <p:sp>
        <p:nvSpPr>
          <p:cNvPr id="35" name="Text 12"/>
          <p:cNvSpPr/>
          <p:nvPr/>
        </p:nvSpPr>
        <p:spPr>
          <a:xfrm>
            <a:off x="7067550" y="2260148"/>
            <a:ext cx="4705350" cy="890241"/>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Automate customer interactions, streamline communication and improving overall customer satisfaction by ensuring swift and accurate responses to customers through any channel.</a:t>
            </a:r>
          </a:p>
        </p:txBody>
      </p:sp>
      <p:sp>
        <p:nvSpPr>
          <p:cNvPr id="38" name="Text 15"/>
          <p:cNvSpPr/>
          <p:nvPr/>
        </p:nvSpPr>
        <p:spPr>
          <a:xfrm>
            <a:off x="7067550" y="3648530"/>
            <a:ext cx="3828752" cy="266700"/>
          </a:xfrm>
          <a:prstGeom prst="rect">
            <a:avLst/>
          </a:prstGeom>
          <a:noFill/>
          <a:ln/>
        </p:spPr>
        <p:txBody>
          <a:bodyPr vert="horz" wrap="square" lIns="0" tIns="0" rIns="0" bIns="0" rtlCol="0" anchor="t"/>
          <a:lstStyle/>
          <a:p>
            <a:pPr>
              <a:lnSpc>
                <a:spcPts val="2100"/>
              </a:lnSpc>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MassaPro Voice</a:t>
            </a:r>
          </a:p>
        </p:txBody>
      </p:sp>
      <p:sp>
        <p:nvSpPr>
          <p:cNvPr id="39" name="Text 16"/>
          <p:cNvSpPr/>
          <p:nvPr/>
        </p:nvSpPr>
        <p:spPr>
          <a:xfrm>
            <a:off x="7067550" y="3953329"/>
            <a:ext cx="4667250" cy="948617"/>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Foster humanistic interactions with AI Voice, improving  customer satisfaction with intelligent text-to-speech assistance that is tailored to your brand’s tone of voice, formality, and language requirements.</a:t>
            </a:r>
          </a:p>
        </p:txBody>
      </p:sp>
      <p:sp>
        <p:nvSpPr>
          <p:cNvPr id="40" name="Text 17"/>
          <p:cNvSpPr/>
          <p:nvPr/>
        </p:nvSpPr>
        <p:spPr>
          <a:xfrm>
            <a:off x="7029450" y="5224314"/>
            <a:ext cx="4552950" cy="266700"/>
          </a:xfrm>
          <a:prstGeom prst="rect">
            <a:avLst/>
          </a:prstGeom>
          <a:noFill/>
          <a:ln/>
        </p:spPr>
        <p:txBody>
          <a:bodyPr vert="horz" wrap="square" lIns="0" tIns="0" rIns="0" bIns="0" rtlCol="0" anchor="t"/>
          <a:lstStyle/>
          <a:p>
            <a:pPr indent="0">
              <a:lnSpc>
                <a:spcPts val="2100"/>
              </a:lnSpc>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rPr>
              <a:t>Automatic Speech Recognition</a:t>
            </a:r>
          </a:p>
        </p:txBody>
      </p:sp>
      <p:sp>
        <p:nvSpPr>
          <p:cNvPr id="41" name="Text 18"/>
          <p:cNvSpPr/>
          <p:nvPr/>
        </p:nvSpPr>
        <p:spPr>
          <a:xfrm>
            <a:off x="7029450" y="5529114"/>
            <a:ext cx="4705350" cy="1024086"/>
          </a:xfrm>
          <a:prstGeom prst="rect">
            <a:avLst/>
          </a:prstGeom>
          <a:noFill/>
          <a:ln/>
        </p:spPr>
        <p:txBody>
          <a:bodyPr vert="horz" wrap="square" lIns="0" tIns="0" rIns="0" bIns="0" rtlCol="0" anchor="t"/>
          <a:lstStyle/>
          <a:p>
            <a:pPr marL="0" indent="0">
              <a:lnSpc>
                <a:spcPts val="1800"/>
              </a:lnSpc>
              <a:buNone/>
            </a:pPr>
            <a:r>
              <a:rPr lang="en-US" sz="1200" dirty="0">
                <a:solidFill>
                  <a:srgbClr val="FFFFFF"/>
                </a:solidFill>
                <a:latin typeface="Open Sans" pitchFamily="34" charset="0"/>
                <a:ea typeface="Open Sans" pitchFamily="34" charset="-122"/>
                <a:cs typeface="Open Sans" pitchFamily="34" charset="-120"/>
              </a:rPr>
              <a:t>With 99% accuracy, ASR can scale to handle varying call volumes without the need for additional staff. Easily manage staff during peak times or in response to specific events that lead to increased call traffic.</a:t>
            </a:r>
          </a:p>
        </p:txBody>
      </p:sp>
      <p:pic>
        <p:nvPicPr>
          <p:cNvPr id="50" name="Graphic 49">
            <a:extLst>
              <a:ext uri="{FF2B5EF4-FFF2-40B4-BE49-F238E27FC236}">
                <a16:creationId xmlns:a16="http://schemas.microsoft.com/office/drawing/2014/main" id="{FDC3CBC4-29BA-EE8F-25E8-811A0C6BC5DF}"/>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437022" y="3425371"/>
            <a:ext cx="729063" cy="729063"/>
          </a:xfrm>
          <a:prstGeom prst="rect">
            <a:avLst/>
          </a:prstGeom>
        </p:spPr>
      </p:pic>
      <p:pic>
        <p:nvPicPr>
          <p:cNvPr id="51" name="Graphic 50">
            <a:extLst>
              <a:ext uri="{FF2B5EF4-FFF2-40B4-BE49-F238E27FC236}">
                <a16:creationId xmlns:a16="http://schemas.microsoft.com/office/drawing/2014/main" id="{4DA49A4F-11B4-EF4F-10EF-92DFE6D98A09}"/>
              </a:ext>
            </a:extLst>
          </p:cNvPr>
          <p:cNvPicPr>
            <a:picLocks noChangeAspect="1"/>
          </p:cNvPicPr>
          <p:nvPr/>
        </p:nvPicPr>
        <p:blipFill rotWithShape="1">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rcRect b="34974"/>
          <a:stretch/>
        </p:blipFill>
        <p:spPr>
          <a:xfrm>
            <a:off x="6392636" y="5149608"/>
            <a:ext cx="756800" cy="492116"/>
          </a:xfrm>
          <a:prstGeom prst="rect">
            <a:avLst/>
          </a:prstGeom>
        </p:spPr>
      </p:pic>
      <p:pic>
        <p:nvPicPr>
          <p:cNvPr id="52" name="Graphic 51">
            <a:extLst>
              <a:ext uri="{FF2B5EF4-FFF2-40B4-BE49-F238E27FC236}">
                <a16:creationId xmlns:a16="http://schemas.microsoft.com/office/drawing/2014/main" id="{B51DADFE-31C3-39CB-AB99-2342FF23F725}"/>
              </a:ext>
            </a:extLst>
          </p:cNvPr>
          <p:cNvPicPr>
            <a:picLocks noChangeAspect="1"/>
          </p:cNvPicPr>
          <p:nvPr/>
        </p:nvPicPr>
        <p:blipFill rotWithShape="1">
          <a:blip r:embed="rId15" cstate="print">
            <a:extLst>
              <a:ext uri="{28A0092B-C50C-407E-A947-70E740481C1C}">
                <a14:useLocalDpi xmlns:a14="http://schemas.microsoft.com/office/drawing/2010/main" val="0"/>
              </a:ext>
              <a:ext uri="{96DAC541-7B7A-43D3-8B79-37D633B846F1}">
                <asvg:svgBlip xmlns:asvg="http://schemas.microsoft.com/office/drawing/2016/SVG/main" r:embed="rId16"/>
              </a:ext>
            </a:extLst>
          </a:blip>
          <a:srcRect b="34974"/>
          <a:stretch/>
        </p:blipFill>
        <p:spPr>
          <a:xfrm>
            <a:off x="352022" y="1804764"/>
            <a:ext cx="873297" cy="567869"/>
          </a:xfrm>
          <a:prstGeom prst="rect">
            <a:avLst/>
          </a:prstGeom>
        </p:spPr>
      </p:pic>
      <p:pic>
        <p:nvPicPr>
          <p:cNvPr id="53" name="Graphic 52">
            <a:extLst>
              <a:ext uri="{FF2B5EF4-FFF2-40B4-BE49-F238E27FC236}">
                <a16:creationId xmlns:a16="http://schemas.microsoft.com/office/drawing/2014/main" id="{8ED07D27-500F-EAE1-3B86-0DE37687B581}"/>
              </a:ext>
            </a:extLst>
          </p:cNvPr>
          <p:cNvPicPr>
            <a:picLocks noChangeAspect="1"/>
          </p:cNvPicPr>
          <p:nvPr/>
        </p:nvPicPr>
        <p:blipFill rotWithShape="1">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rcRect b="35628"/>
          <a:stretch/>
        </p:blipFill>
        <p:spPr>
          <a:xfrm>
            <a:off x="400050" y="3427938"/>
            <a:ext cx="809988" cy="521408"/>
          </a:xfrm>
          <a:prstGeom prst="rect">
            <a:avLst/>
          </a:prstGeom>
        </p:spPr>
      </p:pic>
      <p:pic>
        <p:nvPicPr>
          <p:cNvPr id="54" name="Graphic 53">
            <a:extLst>
              <a:ext uri="{FF2B5EF4-FFF2-40B4-BE49-F238E27FC236}">
                <a16:creationId xmlns:a16="http://schemas.microsoft.com/office/drawing/2014/main" id="{FE052D2F-3925-ACEB-0BDC-4818BB85D7D4}"/>
              </a:ext>
            </a:extLst>
          </p:cNvPr>
          <p:cNvPicPr>
            <a:picLocks noChangeAspect="1"/>
          </p:cNvPicPr>
          <p:nvPr/>
        </p:nvPicPr>
        <p:blipFill rotWithShape="1">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rcRect b="35628"/>
          <a:stretch/>
        </p:blipFill>
        <p:spPr>
          <a:xfrm>
            <a:off x="456077" y="5134265"/>
            <a:ext cx="665185" cy="428195"/>
          </a:xfrm>
          <a:prstGeom prst="rect">
            <a:avLst/>
          </a:prstGeom>
        </p:spPr>
      </p:pic>
      <p:pic>
        <p:nvPicPr>
          <p:cNvPr id="62" name="Image 1" descr="preencoded.png">
            <a:extLst>
              <a:ext uri="{FF2B5EF4-FFF2-40B4-BE49-F238E27FC236}">
                <a16:creationId xmlns:a16="http://schemas.microsoft.com/office/drawing/2014/main" id="{FCFBE277-59E1-4A8B-51EE-A896D7296279}"/>
              </a:ext>
            </a:extLst>
          </p:cNvPr>
          <p:cNvPicPr>
            <a:picLocks noChangeAspect="1"/>
          </p:cNvPicPr>
          <p:nvPr/>
        </p:nvPicPr>
        <p:blipFill>
          <a:blip r:embed="rId21"/>
          <a:stretch>
            <a:fillRect/>
          </a:stretch>
        </p:blipFill>
        <p:spPr>
          <a:xfrm>
            <a:off x="609600" y="1066800"/>
            <a:ext cx="914400" cy="38100"/>
          </a:xfrm>
          <a:prstGeom prst="rect">
            <a:avLst/>
          </a:prstGeom>
        </p:spPr>
      </p:pic>
      <p:sp>
        <p:nvSpPr>
          <p:cNvPr id="63" name="Text 0">
            <a:extLst>
              <a:ext uri="{FF2B5EF4-FFF2-40B4-BE49-F238E27FC236}">
                <a16:creationId xmlns:a16="http://schemas.microsoft.com/office/drawing/2014/main" id="{0A1C9DB5-50A8-462B-7F3E-95610F20D64F}"/>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ea typeface="Montserrat" pitchFamily="34" charset="-122"/>
                <a:cs typeface="Montserrat" pitchFamily="34" charset="-120"/>
              </a:rPr>
              <a:t>Fully Managed Conversational AI</a:t>
            </a:r>
            <a:endParaRPr lang="en-US" sz="2700" dirty="0">
              <a:solidFill>
                <a:srgbClr val="FFFFFF"/>
              </a:solidFill>
            </a:endParaRPr>
          </a:p>
        </p:txBody>
      </p:sp>
      <p:sp>
        <p:nvSpPr>
          <p:cNvPr id="66" name="Google Shape;364;p10">
            <a:extLst>
              <a:ext uri="{FF2B5EF4-FFF2-40B4-BE49-F238E27FC236}">
                <a16:creationId xmlns:a16="http://schemas.microsoft.com/office/drawing/2014/main" id="{DE60FCFA-E2A4-BACB-E585-051794763FE2}"/>
              </a:ext>
            </a:extLst>
          </p:cNvPr>
          <p:cNvSpPr/>
          <p:nvPr/>
        </p:nvSpPr>
        <p:spPr>
          <a:xfrm>
            <a:off x="8820151" y="229514"/>
            <a:ext cx="2733294" cy="227365"/>
          </a:xfrm>
          <a:prstGeom prst="roundRect">
            <a:avLst>
              <a:gd name="adj" fmla="val 79083"/>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65;p10">
            <a:extLst>
              <a:ext uri="{FF2B5EF4-FFF2-40B4-BE49-F238E27FC236}">
                <a16:creationId xmlns:a16="http://schemas.microsoft.com/office/drawing/2014/main" id="{1A7F203E-EFD1-67EE-4A01-A98D46FC1F20}"/>
              </a:ext>
            </a:extLst>
          </p:cNvPr>
          <p:cNvSpPr txBox="1"/>
          <p:nvPr/>
        </p:nvSpPr>
        <p:spPr>
          <a:xfrm>
            <a:off x="8870951" y="277063"/>
            <a:ext cx="2710433" cy="13350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78BFA"/>
              </a:buClr>
              <a:buSzPts val="1000"/>
              <a:buFont typeface="Inter"/>
              <a:buNone/>
            </a:pPr>
            <a:r>
              <a:rPr lang="en-US" sz="1000" b="1" i="0" u="none" strike="noStrike" cap="none" dirty="0">
                <a:solidFill>
                  <a:srgbClr val="FFFFFF"/>
                </a:solidFill>
                <a:latin typeface="Inter"/>
                <a:ea typeface="Inter"/>
                <a:cs typeface="Inter"/>
                <a:sym typeface="Inter"/>
              </a:rPr>
              <a:t>Centralized Cross-channel Communication</a:t>
            </a:r>
          </a:p>
        </p:txBody>
      </p:sp>
      <p:sp>
        <p:nvSpPr>
          <p:cNvPr id="70" name="Google Shape;20;p3">
            <a:extLst>
              <a:ext uri="{FF2B5EF4-FFF2-40B4-BE49-F238E27FC236}">
                <a16:creationId xmlns:a16="http://schemas.microsoft.com/office/drawing/2014/main" id="{749FD828-B2B4-E9BB-222A-C8B340FB3364}"/>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1" name="Picture 70">
            <a:extLst>
              <a:ext uri="{FF2B5EF4-FFF2-40B4-BE49-F238E27FC236}">
                <a16:creationId xmlns:a16="http://schemas.microsoft.com/office/drawing/2014/main" id="{AF33DCE9-804E-D788-68A9-35CC7005B9D0}"/>
              </a:ext>
            </a:extLst>
          </p:cNvPr>
          <p:cNvPicPr>
            <a:picLocks noChangeAspect="1"/>
          </p:cNvPicPr>
          <p:nvPr/>
        </p:nvPicPr>
        <p:blipFill>
          <a:blip r:embed="rId22"/>
          <a:srcRect/>
          <a:stretch/>
        </p:blipFill>
        <p:spPr>
          <a:xfrm>
            <a:off x="11734800" y="6432614"/>
            <a:ext cx="317806" cy="31780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5" name="Google Shape;405;p11"/>
          <p:cNvSpPr/>
          <p:nvPr/>
        </p:nvSpPr>
        <p:spPr>
          <a:xfrm>
            <a:off x="-952805" y="-952805"/>
            <a:ext cx="5715000" cy="5715000"/>
          </a:xfrm>
          <a:prstGeom prst="ellipse">
            <a:avLst/>
          </a:prstGeom>
          <a:solidFill>
            <a:srgbClr val="0F2636">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1"/>
          <p:cNvSpPr/>
          <p:nvPr/>
        </p:nvSpPr>
        <p:spPr>
          <a:xfrm>
            <a:off x="6476695" y="1143000"/>
            <a:ext cx="6667805" cy="6667805"/>
          </a:xfrm>
          <a:prstGeom prst="ellipse">
            <a:avLst/>
          </a:prstGeom>
          <a:solidFill>
            <a:srgbClr val="1E1B4B">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1"/>
          <p:cNvSpPr/>
          <p:nvPr/>
        </p:nvSpPr>
        <p:spPr>
          <a:xfrm>
            <a:off x="4876495" y="2743200"/>
            <a:ext cx="3810305" cy="3810305"/>
          </a:xfrm>
          <a:prstGeom prst="ellipse">
            <a:avLst/>
          </a:prstGeom>
          <a:solidFill>
            <a:srgbClr val="3B82F6">
              <a:alpha val="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1"/>
          <p:cNvSpPr/>
          <p:nvPr/>
        </p:nvSpPr>
        <p:spPr>
          <a:xfrm>
            <a:off x="954829" y="6443776"/>
            <a:ext cx="2286000" cy="256946"/>
          </a:xfrm>
          <a:prstGeom prst="roundRect">
            <a:avLst>
              <a:gd name="adj" fmla="val 79083"/>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11"/>
          <p:cNvSpPr txBox="1"/>
          <p:nvPr/>
        </p:nvSpPr>
        <p:spPr>
          <a:xfrm>
            <a:off x="1079188" y="6491325"/>
            <a:ext cx="2138782"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A5FA"/>
              </a:buClr>
              <a:buSzPts val="1000"/>
              <a:buFont typeface="Inter"/>
              <a:buNone/>
            </a:pPr>
            <a:r>
              <a:rPr lang="en-US" sz="1000" b="1" i="0" u="none" strike="noStrike" cap="none" dirty="0">
                <a:solidFill>
                  <a:srgbClr val="FFFFFF"/>
                </a:solidFill>
                <a:latin typeface="Inter"/>
                <a:ea typeface="Inter"/>
                <a:cs typeface="Inter"/>
                <a:sym typeface="Inter"/>
              </a:rPr>
              <a:t>SEAMLESS INTEGRATIONS</a:t>
            </a:r>
            <a:endParaRPr sz="1000" b="0" i="0" u="none" strike="noStrike" cap="none" dirty="0">
              <a:solidFill>
                <a:srgbClr val="FFFFFF"/>
              </a:solidFill>
              <a:latin typeface="Calibri"/>
              <a:ea typeface="Calibri"/>
              <a:cs typeface="Calibri"/>
              <a:sym typeface="Calibri"/>
            </a:endParaRPr>
          </a:p>
        </p:txBody>
      </p:sp>
      <p:sp>
        <p:nvSpPr>
          <p:cNvPr id="411" name="Google Shape;411;p11"/>
          <p:cNvSpPr txBox="1"/>
          <p:nvPr/>
        </p:nvSpPr>
        <p:spPr>
          <a:xfrm>
            <a:off x="790041" y="1305625"/>
            <a:ext cx="4243730" cy="7626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300"/>
              <a:buFont typeface="Inter"/>
              <a:buNone/>
            </a:pPr>
            <a:r>
              <a:rPr lang="en-US" sz="1400" dirty="0">
                <a:solidFill>
                  <a:srgbClr val="D1D5DB"/>
                </a:solidFill>
                <a:latin typeface="Open Sans" pitchFamily="34" charset="0"/>
                <a:ea typeface="Open Sans" pitchFamily="34" charset="-122"/>
                <a:cs typeface="Open Sans" pitchFamily="34" charset="-120"/>
                <a:sym typeface="Inter"/>
              </a:rPr>
              <a:t>We integrate powerful AI tools directly into your existing ecosystem. Automate tasks and unify data without leaving your favorite apps.</a:t>
            </a:r>
            <a:endParaRPr sz="1400" dirty="0">
              <a:solidFill>
                <a:srgbClr val="D1D5DB"/>
              </a:solidFill>
              <a:latin typeface="Open Sans" pitchFamily="34" charset="0"/>
              <a:ea typeface="Open Sans" pitchFamily="34" charset="-122"/>
              <a:cs typeface="Open Sans" pitchFamily="34" charset="-120"/>
              <a:sym typeface="Calibri"/>
            </a:endParaRPr>
          </a:p>
        </p:txBody>
      </p:sp>
      <p:sp>
        <p:nvSpPr>
          <p:cNvPr id="412" name="Google Shape;412;p11"/>
          <p:cNvSpPr/>
          <p:nvPr/>
        </p:nvSpPr>
        <p:spPr>
          <a:xfrm>
            <a:off x="761695" y="3656686"/>
            <a:ext cx="4726878" cy="685800"/>
          </a:xfrm>
          <a:prstGeom prst="roundRect">
            <a:avLst>
              <a:gd name="adj" fmla="val 22222"/>
            </a:avLst>
          </a:prstGeom>
          <a:solidFill>
            <a:srgbClr val="1E293B">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1"/>
          <p:cNvSpPr/>
          <p:nvPr/>
        </p:nvSpPr>
        <p:spPr>
          <a:xfrm>
            <a:off x="761695" y="3656686"/>
            <a:ext cx="28346" cy="6858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1"/>
          <p:cNvSpPr/>
          <p:nvPr/>
        </p:nvSpPr>
        <p:spPr>
          <a:xfrm>
            <a:off x="761695" y="4467769"/>
            <a:ext cx="4741335" cy="685800"/>
          </a:xfrm>
          <a:prstGeom prst="roundRect">
            <a:avLst>
              <a:gd name="adj" fmla="val 22222"/>
            </a:avLst>
          </a:prstGeom>
          <a:solidFill>
            <a:srgbClr val="1E293B">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1"/>
          <p:cNvSpPr/>
          <p:nvPr/>
        </p:nvSpPr>
        <p:spPr>
          <a:xfrm>
            <a:off x="761695" y="4467769"/>
            <a:ext cx="28346" cy="6858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1"/>
          <p:cNvSpPr/>
          <p:nvPr/>
        </p:nvSpPr>
        <p:spPr>
          <a:xfrm>
            <a:off x="761695" y="5256886"/>
            <a:ext cx="4741335" cy="685800"/>
          </a:xfrm>
          <a:prstGeom prst="roundRect">
            <a:avLst>
              <a:gd name="adj" fmla="val 22222"/>
            </a:avLst>
          </a:prstGeom>
          <a:solidFill>
            <a:srgbClr val="1E293B">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1"/>
          <p:cNvSpPr/>
          <p:nvPr/>
        </p:nvSpPr>
        <p:spPr>
          <a:xfrm>
            <a:off x="761695" y="5256886"/>
            <a:ext cx="28346" cy="6858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1"/>
          <p:cNvSpPr/>
          <p:nvPr/>
        </p:nvSpPr>
        <p:spPr>
          <a:xfrm>
            <a:off x="942746" y="3808476"/>
            <a:ext cx="381305" cy="381305"/>
          </a:xfrm>
          <a:prstGeom prst="roundRect">
            <a:avLst>
              <a:gd name="adj" fmla="val 59952"/>
            </a:avLst>
          </a:prstGeom>
          <a:solidFill>
            <a:srgbClr val="3B82F6">
              <a:alpha val="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1"/>
          <p:cNvSpPr/>
          <p:nvPr/>
        </p:nvSpPr>
        <p:spPr>
          <a:xfrm>
            <a:off x="942746" y="4620474"/>
            <a:ext cx="381305" cy="381305"/>
          </a:xfrm>
          <a:prstGeom prst="roundRect">
            <a:avLst>
              <a:gd name="adj" fmla="val 59952"/>
            </a:avLst>
          </a:prstGeom>
          <a:solidFill>
            <a:srgbClr val="3B82F6">
              <a:alpha val="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1"/>
          <p:cNvSpPr/>
          <p:nvPr/>
        </p:nvSpPr>
        <p:spPr>
          <a:xfrm>
            <a:off x="942746" y="5408676"/>
            <a:ext cx="381305" cy="381305"/>
          </a:xfrm>
          <a:prstGeom prst="roundRect">
            <a:avLst>
              <a:gd name="adj" fmla="val 59952"/>
            </a:avLst>
          </a:prstGeom>
          <a:solidFill>
            <a:srgbClr val="3B82F6">
              <a:alpha val="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1"/>
          <p:cNvSpPr txBox="1"/>
          <p:nvPr/>
        </p:nvSpPr>
        <p:spPr>
          <a:xfrm>
            <a:off x="1476756" y="3786937"/>
            <a:ext cx="3835706" cy="194254"/>
          </a:xfrm>
          <a:prstGeom prst="rect">
            <a:avLst/>
          </a:prstGeom>
          <a:noFill/>
          <a:ln>
            <a:noFill/>
          </a:ln>
        </p:spPr>
        <p:txBody>
          <a:bodyPr spcFirstLastPara="1" wrap="square" lIns="0" tIns="0" rIns="0" bIns="0" anchor="ctr" anchorCtr="0">
            <a:noAutofit/>
          </a:bodyPr>
          <a:lstStyle/>
          <a:p>
            <a:pPr>
              <a:buClr>
                <a:srgbClr val="FFFFFF"/>
              </a:buClr>
              <a:buSzPts val="10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One-Click Connectors</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23" name="Google Shape;423;p11"/>
          <p:cNvSpPr txBox="1"/>
          <p:nvPr/>
        </p:nvSpPr>
        <p:spPr>
          <a:xfrm>
            <a:off x="1476756" y="4576968"/>
            <a:ext cx="3322930" cy="194254"/>
          </a:xfrm>
          <a:prstGeom prst="rect">
            <a:avLst/>
          </a:prstGeom>
          <a:noFill/>
          <a:ln>
            <a:noFill/>
          </a:ln>
        </p:spPr>
        <p:txBody>
          <a:bodyPr spcFirstLastPara="1" wrap="square" lIns="0" tIns="0" rIns="0" bIns="0" anchor="ctr" anchorCtr="0">
            <a:noAutofit/>
          </a:bodyPr>
          <a:lstStyle/>
          <a:p>
            <a:pPr>
              <a:buClr>
                <a:srgbClr val="FFFFFF"/>
              </a:buClr>
              <a:buSzPts val="10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Automation Triggers</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24" name="Google Shape;424;p11"/>
          <p:cNvSpPr txBox="1"/>
          <p:nvPr/>
        </p:nvSpPr>
        <p:spPr>
          <a:xfrm>
            <a:off x="1476756" y="4018789"/>
            <a:ext cx="3550329" cy="14251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1200" b="0" i="0" u="none" strike="noStrike" cap="none"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Instant setup for major platforms.</a:t>
            </a:r>
            <a:endParaRPr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26" name="Google Shape;426;p11"/>
          <p:cNvSpPr txBox="1"/>
          <p:nvPr/>
        </p:nvSpPr>
        <p:spPr>
          <a:xfrm>
            <a:off x="1476756" y="4808820"/>
            <a:ext cx="3299071" cy="14251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1200" b="0" i="0" u="none" strike="noStrike" cap="none">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Real-time actions across apps.</a:t>
            </a:r>
            <a:endParaRPr sz="1200" b="0" i="0" u="none" strike="noStrike" cap="none">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27" name="Google Shape;427;p11"/>
          <p:cNvSpPr/>
          <p:nvPr/>
        </p:nvSpPr>
        <p:spPr>
          <a:xfrm>
            <a:off x="5714086" y="1341425"/>
            <a:ext cx="1304849" cy="1295705"/>
          </a:xfrm>
          <a:prstGeom prst="roundRect">
            <a:avLst>
              <a:gd name="adj" fmla="val 8303"/>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11"/>
          <p:cNvSpPr/>
          <p:nvPr/>
        </p:nvSpPr>
        <p:spPr>
          <a:xfrm>
            <a:off x="7135978" y="1313993"/>
            <a:ext cx="1324051" cy="1314907"/>
          </a:xfrm>
          <a:prstGeom prst="roundRect">
            <a:avLst>
              <a:gd name="adj" fmla="val 8063"/>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1"/>
          <p:cNvSpPr/>
          <p:nvPr/>
        </p:nvSpPr>
        <p:spPr>
          <a:xfrm>
            <a:off x="8597189" y="1284732"/>
            <a:ext cx="1352398" cy="1333195"/>
          </a:xfrm>
          <a:prstGeom prst="roundRect">
            <a:avLst>
              <a:gd name="adj" fmla="val 7839"/>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1"/>
          <p:cNvSpPr/>
          <p:nvPr/>
        </p:nvSpPr>
        <p:spPr>
          <a:xfrm>
            <a:off x="10088575" y="1255471"/>
            <a:ext cx="1399946" cy="1352398"/>
          </a:xfrm>
          <a:prstGeom prst="roundRect">
            <a:avLst>
              <a:gd name="adj" fmla="val 7618"/>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1"/>
          <p:cNvSpPr/>
          <p:nvPr/>
        </p:nvSpPr>
        <p:spPr>
          <a:xfrm>
            <a:off x="5665622" y="2773375"/>
            <a:ext cx="1324051" cy="1324051"/>
          </a:xfrm>
          <a:prstGeom prst="roundRect">
            <a:avLst>
              <a:gd name="adj" fmla="val 7949"/>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1"/>
          <p:cNvSpPr/>
          <p:nvPr/>
        </p:nvSpPr>
        <p:spPr>
          <a:xfrm>
            <a:off x="7105802" y="2764231"/>
            <a:ext cx="1343254" cy="1343254"/>
          </a:xfrm>
          <a:prstGeom prst="roundRect">
            <a:avLst>
              <a:gd name="adj" fmla="val 7725"/>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1"/>
          <p:cNvSpPr/>
          <p:nvPr/>
        </p:nvSpPr>
        <p:spPr>
          <a:xfrm>
            <a:off x="8586216" y="2755087"/>
            <a:ext cx="1371600" cy="1362456"/>
          </a:xfrm>
          <a:prstGeom prst="roundRect">
            <a:avLst>
              <a:gd name="adj" fmla="val 7509"/>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1"/>
          <p:cNvSpPr/>
          <p:nvPr/>
        </p:nvSpPr>
        <p:spPr>
          <a:xfrm>
            <a:off x="10099548" y="2745943"/>
            <a:ext cx="1419149" cy="1380744"/>
          </a:xfrm>
          <a:prstGeom prst="roundRect">
            <a:avLst>
              <a:gd name="adj" fmla="val 7308"/>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1"/>
          <p:cNvSpPr/>
          <p:nvPr/>
        </p:nvSpPr>
        <p:spPr>
          <a:xfrm>
            <a:off x="5615330" y="4234586"/>
            <a:ext cx="1343254" cy="1371600"/>
          </a:xfrm>
          <a:prstGeom prst="roundRect">
            <a:avLst>
              <a:gd name="adj" fmla="val 7725"/>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1"/>
          <p:cNvSpPr/>
          <p:nvPr/>
        </p:nvSpPr>
        <p:spPr>
          <a:xfrm>
            <a:off x="7075627" y="4245559"/>
            <a:ext cx="1362456" cy="1390802"/>
          </a:xfrm>
          <a:prstGeom prst="roundRect">
            <a:avLst>
              <a:gd name="adj" fmla="val 7509"/>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1"/>
          <p:cNvSpPr/>
          <p:nvPr/>
        </p:nvSpPr>
        <p:spPr>
          <a:xfrm>
            <a:off x="8576158" y="4256532"/>
            <a:ext cx="1390802" cy="1410005"/>
          </a:xfrm>
          <a:prstGeom prst="roundRect">
            <a:avLst>
              <a:gd name="adj" fmla="val 7205"/>
            </a:avLst>
          </a:prstGeom>
          <a:solidFill>
            <a:srgbClr val="1E293B">
              <a:alpha val="60000"/>
            </a:srgbClr>
          </a:solidFill>
          <a:ln w="12700" cap="flat" cmpd="sng">
            <a:solidFill>
              <a:srgbClr val="94A3B8">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1"/>
          <p:cNvSpPr/>
          <p:nvPr/>
        </p:nvSpPr>
        <p:spPr>
          <a:xfrm>
            <a:off x="10109606" y="4268419"/>
            <a:ext cx="1438351" cy="1429207"/>
          </a:xfrm>
          <a:prstGeom prst="roundRect">
            <a:avLst>
              <a:gd name="adj" fmla="val 6824"/>
            </a:avLst>
          </a:prstGeom>
          <a:solidFill>
            <a:srgbClr val="3B82F6">
              <a:alpha val="20000"/>
            </a:srgbClr>
          </a:solidFill>
          <a:ln w="12700" cap="flat" cmpd="sng">
            <a:solidFill>
              <a:srgbClr val="3B82F6"/>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1"/>
          <p:cNvSpPr/>
          <p:nvPr/>
        </p:nvSpPr>
        <p:spPr>
          <a:xfrm>
            <a:off x="6823253" y="1461211"/>
            <a:ext cx="75895" cy="75895"/>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1"/>
          <p:cNvSpPr/>
          <p:nvPr/>
        </p:nvSpPr>
        <p:spPr>
          <a:xfrm>
            <a:off x="8260690" y="1434694"/>
            <a:ext cx="75895" cy="75895"/>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1"/>
          <p:cNvSpPr/>
          <p:nvPr/>
        </p:nvSpPr>
        <p:spPr>
          <a:xfrm>
            <a:off x="9736531" y="1407262"/>
            <a:ext cx="85954" cy="75895"/>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1"/>
          <p:cNvSpPr/>
          <p:nvPr/>
        </p:nvSpPr>
        <p:spPr>
          <a:xfrm>
            <a:off x="11252606" y="1379830"/>
            <a:ext cx="85954"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1"/>
          <p:cNvSpPr/>
          <p:nvPr/>
        </p:nvSpPr>
        <p:spPr>
          <a:xfrm>
            <a:off x="6789420" y="2894076"/>
            <a:ext cx="75895" cy="75895"/>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1"/>
          <p:cNvSpPr/>
          <p:nvPr/>
        </p:nvSpPr>
        <p:spPr>
          <a:xfrm>
            <a:off x="8245145" y="2886761"/>
            <a:ext cx="75895" cy="75895"/>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1"/>
          <p:cNvSpPr/>
          <p:nvPr/>
        </p:nvSpPr>
        <p:spPr>
          <a:xfrm>
            <a:off x="9742018" y="2879446"/>
            <a:ext cx="85954"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1"/>
          <p:cNvSpPr/>
          <p:nvPr/>
        </p:nvSpPr>
        <p:spPr>
          <a:xfrm>
            <a:off x="11278210" y="2872130"/>
            <a:ext cx="85954"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1"/>
          <p:cNvSpPr/>
          <p:nvPr/>
        </p:nvSpPr>
        <p:spPr>
          <a:xfrm>
            <a:off x="6754673" y="4366260"/>
            <a:ext cx="75895"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1"/>
          <p:cNvSpPr/>
          <p:nvPr/>
        </p:nvSpPr>
        <p:spPr>
          <a:xfrm>
            <a:off x="8230514" y="4379062"/>
            <a:ext cx="85954"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1"/>
          <p:cNvSpPr/>
          <p:nvPr/>
        </p:nvSpPr>
        <p:spPr>
          <a:xfrm>
            <a:off x="9747504" y="4391863"/>
            <a:ext cx="85954" cy="85954"/>
          </a:xfrm>
          <a:prstGeom prst="ellipse">
            <a:avLst/>
          </a:prstGeom>
          <a:solidFill>
            <a:srgbClr val="10B981"/>
          </a:solidFill>
          <a:ln>
            <a:noFill/>
          </a:ln>
          <a:effectLst>
            <a:outerShdw blurRad="76200" dist="12700" dir="16200000" algn="bl" rotWithShape="0">
              <a:srgbClr val="10B98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1"/>
          <p:cNvSpPr txBox="1"/>
          <p:nvPr/>
        </p:nvSpPr>
        <p:spPr>
          <a:xfrm>
            <a:off x="6089904" y="2093976"/>
            <a:ext cx="638251"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5D366"/>
              </a:buClr>
              <a:buSzPts val="900"/>
              <a:buFont typeface="Inter"/>
              <a:buNone/>
            </a:pPr>
            <a:r>
              <a:rPr lang="en-US" sz="900" b="0" i="0" u="none" strike="noStrike" cap="none">
                <a:solidFill>
                  <a:srgbClr val="25D366"/>
                </a:solidFill>
                <a:latin typeface="Inter"/>
                <a:ea typeface="Inter"/>
                <a:cs typeface="Inter"/>
                <a:sym typeface="Inter"/>
              </a:rPr>
              <a:t>WhatsApp</a:t>
            </a:r>
            <a:endParaRPr sz="900" b="0" i="0" u="none" strike="noStrike" cap="none">
              <a:solidFill>
                <a:schemeClr val="dk1"/>
              </a:solidFill>
              <a:latin typeface="Calibri"/>
              <a:ea typeface="Calibri"/>
              <a:cs typeface="Calibri"/>
              <a:sym typeface="Calibri"/>
            </a:endParaRPr>
          </a:p>
        </p:txBody>
      </p:sp>
      <p:sp>
        <p:nvSpPr>
          <p:cNvPr id="451" name="Google Shape;451;p11"/>
          <p:cNvSpPr txBox="1"/>
          <p:nvPr/>
        </p:nvSpPr>
        <p:spPr>
          <a:xfrm>
            <a:off x="7528255" y="2075688"/>
            <a:ext cx="619963"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4405F"/>
              </a:buClr>
              <a:buSzPts val="900"/>
              <a:buFont typeface="Inter"/>
              <a:buNone/>
            </a:pPr>
            <a:r>
              <a:rPr lang="en-US" sz="900" b="0" i="0" u="none" strike="noStrike" cap="none">
                <a:solidFill>
                  <a:srgbClr val="E4405F"/>
                </a:solidFill>
                <a:latin typeface="Inter"/>
                <a:ea typeface="Inter"/>
                <a:cs typeface="Inter"/>
                <a:sym typeface="Inter"/>
              </a:rPr>
              <a:t>Instagram</a:t>
            </a:r>
            <a:endParaRPr sz="900" b="0" i="0" u="none" strike="noStrike" cap="none">
              <a:solidFill>
                <a:schemeClr val="dk1"/>
              </a:solidFill>
              <a:latin typeface="Calibri"/>
              <a:ea typeface="Calibri"/>
              <a:cs typeface="Calibri"/>
              <a:sym typeface="Calibri"/>
            </a:endParaRPr>
          </a:p>
        </p:txBody>
      </p:sp>
      <p:sp>
        <p:nvSpPr>
          <p:cNvPr id="452" name="Google Shape;452;p11"/>
          <p:cNvSpPr txBox="1"/>
          <p:nvPr/>
        </p:nvSpPr>
        <p:spPr>
          <a:xfrm>
            <a:off x="8961120" y="2057400"/>
            <a:ext cx="705002"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84FF"/>
              </a:buClr>
              <a:buSzPts val="900"/>
              <a:buFont typeface="Inter"/>
              <a:buNone/>
            </a:pPr>
            <a:r>
              <a:rPr lang="en-US" sz="900" b="0" i="0" u="none" strike="noStrike" cap="none">
                <a:solidFill>
                  <a:srgbClr val="0084FF"/>
                </a:solidFill>
                <a:latin typeface="Inter"/>
                <a:ea typeface="Inter"/>
                <a:cs typeface="Inter"/>
                <a:sym typeface="Inter"/>
              </a:rPr>
              <a:t>Messenger</a:t>
            </a:r>
            <a:endParaRPr sz="900" b="0" i="0" u="none" strike="noStrike" cap="none">
              <a:solidFill>
                <a:schemeClr val="dk1"/>
              </a:solidFill>
              <a:latin typeface="Calibri"/>
              <a:ea typeface="Calibri"/>
              <a:cs typeface="Calibri"/>
              <a:sym typeface="Calibri"/>
            </a:endParaRPr>
          </a:p>
        </p:txBody>
      </p:sp>
      <p:sp>
        <p:nvSpPr>
          <p:cNvPr id="453" name="Google Shape;453;p11"/>
          <p:cNvSpPr txBox="1"/>
          <p:nvPr/>
        </p:nvSpPr>
        <p:spPr>
          <a:xfrm>
            <a:off x="10626242" y="2040026"/>
            <a:ext cx="400507"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A154B"/>
              </a:buClr>
              <a:buSzPts val="900"/>
              <a:buFont typeface="Inter"/>
              <a:buNone/>
            </a:pPr>
            <a:r>
              <a:rPr lang="en-US" sz="900" b="0" i="0" u="none" strike="noStrike" cap="none" dirty="0">
                <a:solidFill>
                  <a:schemeClr val="bg1">
                    <a:lumMod val="20000"/>
                    <a:lumOff val="80000"/>
                  </a:schemeClr>
                </a:solidFill>
                <a:latin typeface="Inter"/>
                <a:ea typeface="Inter"/>
                <a:cs typeface="Inter"/>
                <a:sym typeface="Inter"/>
              </a:rPr>
              <a:t>Slack</a:t>
            </a:r>
            <a:endParaRPr sz="900" b="0" i="0" u="none" strike="noStrike" cap="none" dirty="0">
              <a:solidFill>
                <a:schemeClr val="bg1">
                  <a:lumMod val="20000"/>
                  <a:lumOff val="80000"/>
                </a:schemeClr>
              </a:solidFill>
              <a:latin typeface="Calibri"/>
              <a:ea typeface="Calibri"/>
              <a:cs typeface="Calibri"/>
              <a:sym typeface="Calibri"/>
            </a:endParaRPr>
          </a:p>
        </p:txBody>
      </p:sp>
      <p:sp>
        <p:nvSpPr>
          <p:cNvPr id="454" name="Google Shape;454;p11"/>
          <p:cNvSpPr txBox="1"/>
          <p:nvPr/>
        </p:nvSpPr>
        <p:spPr>
          <a:xfrm>
            <a:off x="6117336" y="3540557"/>
            <a:ext cx="495605"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5BF47"/>
              </a:buClr>
              <a:buSzPts val="900"/>
              <a:buFont typeface="Inter"/>
              <a:buNone/>
            </a:pPr>
            <a:r>
              <a:rPr lang="en-US" sz="900" b="0" i="0" u="none" strike="noStrike" cap="none">
                <a:solidFill>
                  <a:srgbClr val="95BF47"/>
                </a:solidFill>
                <a:latin typeface="Inter"/>
                <a:ea typeface="Inter"/>
                <a:cs typeface="Inter"/>
                <a:sym typeface="Inter"/>
              </a:rPr>
              <a:t>Shopify</a:t>
            </a:r>
            <a:endParaRPr sz="900" b="0" i="0" u="none" strike="noStrike" cap="none">
              <a:solidFill>
                <a:schemeClr val="dk1"/>
              </a:solidFill>
              <a:latin typeface="Calibri"/>
              <a:ea typeface="Calibri"/>
              <a:cs typeface="Calibri"/>
              <a:sym typeface="Calibri"/>
            </a:endParaRPr>
          </a:p>
        </p:txBody>
      </p:sp>
      <p:sp>
        <p:nvSpPr>
          <p:cNvPr id="455" name="Google Shape;455;p11"/>
          <p:cNvSpPr txBox="1"/>
          <p:nvPr/>
        </p:nvSpPr>
        <p:spPr>
          <a:xfrm>
            <a:off x="7537399" y="3542386"/>
            <a:ext cx="562356"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7A59"/>
              </a:buClr>
              <a:buSzPts val="900"/>
              <a:buFont typeface="Inter"/>
              <a:buNone/>
            </a:pPr>
            <a:r>
              <a:rPr lang="en-US" sz="900" b="0" i="0" u="none" strike="noStrike" cap="none">
                <a:solidFill>
                  <a:srgbClr val="FF7A59"/>
                </a:solidFill>
                <a:latin typeface="Inter"/>
                <a:ea typeface="Inter"/>
                <a:cs typeface="Inter"/>
                <a:sym typeface="Inter"/>
              </a:rPr>
              <a:t>HubSpot</a:t>
            </a:r>
            <a:endParaRPr sz="900" b="0" i="0" u="none" strike="noStrike" cap="none">
              <a:solidFill>
                <a:schemeClr val="dk1"/>
              </a:solidFill>
              <a:latin typeface="Calibri"/>
              <a:ea typeface="Calibri"/>
              <a:cs typeface="Calibri"/>
              <a:sym typeface="Calibri"/>
            </a:endParaRPr>
          </a:p>
        </p:txBody>
      </p:sp>
      <p:sp>
        <p:nvSpPr>
          <p:cNvPr id="456" name="Google Shape;456;p11"/>
          <p:cNvSpPr txBox="1"/>
          <p:nvPr/>
        </p:nvSpPr>
        <p:spPr>
          <a:xfrm>
            <a:off x="8972093" y="3543300"/>
            <a:ext cx="676656"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A1E0"/>
              </a:buClr>
              <a:buSzPts val="900"/>
              <a:buFont typeface="Inter"/>
              <a:buNone/>
            </a:pPr>
            <a:r>
              <a:rPr lang="en-US" sz="900" b="0" i="0" u="none" strike="noStrike" cap="none">
                <a:solidFill>
                  <a:srgbClr val="00A1E0"/>
                </a:solidFill>
                <a:latin typeface="Inter"/>
                <a:ea typeface="Inter"/>
                <a:cs typeface="Inter"/>
                <a:sym typeface="Inter"/>
              </a:rPr>
              <a:t>Salesforce</a:t>
            </a:r>
            <a:endParaRPr sz="900" b="0" i="0" u="none" strike="noStrike" cap="none">
              <a:solidFill>
                <a:schemeClr val="dk1"/>
              </a:solidFill>
              <a:latin typeface="Calibri"/>
              <a:ea typeface="Calibri"/>
              <a:cs typeface="Calibri"/>
              <a:sym typeface="Calibri"/>
            </a:endParaRPr>
          </a:p>
        </p:txBody>
      </p:sp>
      <p:sp>
        <p:nvSpPr>
          <p:cNvPr id="457" name="Google Shape;457;p11"/>
          <p:cNvSpPr txBox="1"/>
          <p:nvPr/>
        </p:nvSpPr>
        <p:spPr>
          <a:xfrm>
            <a:off x="10629900" y="3545129"/>
            <a:ext cx="428854"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5BFF"/>
              </a:buClr>
              <a:buSzPts val="900"/>
              <a:buFont typeface="Inter"/>
              <a:buNone/>
            </a:pPr>
            <a:r>
              <a:rPr lang="en-US" sz="900" b="0" i="0" u="none" strike="noStrike" cap="none" dirty="0">
                <a:solidFill>
                  <a:schemeClr val="tx1">
                    <a:lumMod val="40000"/>
                    <a:lumOff val="60000"/>
                  </a:schemeClr>
                </a:solidFill>
                <a:latin typeface="Inter"/>
                <a:ea typeface="Inter"/>
                <a:cs typeface="Inter"/>
                <a:sym typeface="Inter"/>
              </a:rPr>
              <a:t>Stripe</a:t>
            </a:r>
            <a:endParaRPr sz="900" b="0" i="0" u="none" strike="noStrike" cap="none" dirty="0">
              <a:solidFill>
                <a:schemeClr val="tx1">
                  <a:lumMod val="40000"/>
                  <a:lumOff val="60000"/>
                </a:schemeClr>
              </a:solidFill>
              <a:latin typeface="Calibri"/>
              <a:ea typeface="Calibri"/>
              <a:cs typeface="Calibri"/>
              <a:sym typeface="Calibri"/>
            </a:endParaRPr>
          </a:p>
        </p:txBody>
      </p:sp>
      <p:sp>
        <p:nvSpPr>
          <p:cNvPr id="458" name="Google Shape;458;p11"/>
          <p:cNvSpPr txBox="1"/>
          <p:nvPr/>
        </p:nvSpPr>
        <p:spPr>
          <a:xfrm>
            <a:off x="6088075" y="5020056"/>
            <a:ext cx="476402"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285F4"/>
              </a:buClr>
              <a:buSzPts val="900"/>
              <a:buFont typeface="Inter"/>
              <a:buNone/>
            </a:pPr>
            <a:r>
              <a:rPr lang="en-US" sz="900" b="0" i="0" u="none" strike="noStrike" cap="none" dirty="0">
                <a:solidFill>
                  <a:srgbClr val="4285F4"/>
                </a:solidFill>
                <a:latin typeface="Inter"/>
                <a:ea typeface="Inter"/>
                <a:cs typeface="Inter"/>
                <a:sym typeface="Inter"/>
              </a:rPr>
              <a:t>Google</a:t>
            </a:r>
            <a:endParaRPr sz="900" b="0" i="0" u="none" strike="noStrike" cap="none" dirty="0">
              <a:solidFill>
                <a:schemeClr val="dk1"/>
              </a:solidFill>
              <a:latin typeface="Calibri"/>
              <a:ea typeface="Calibri"/>
              <a:cs typeface="Calibri"/>
              <a:sym typeface="Calibri"/>
            </a:endParaRPr>
          </a:p>
        </p:txBody>
      </p:sp>
      <p:sp>
        <p:nvSpPr>
          <p:cNvPr id="459" name="Google Shape;459;p11"/>
          <p:cNvSpPr txBox="1"/>
          <p:nvPr/>
        </p:nvSpPr>
        <p:spPr>
          <a:xfrm>
            <a:off x="7511796" y="5042002"/>
            <a:ext cx="571500"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79AF"/>
              </a:buClr>
              <a:buSzPts val="900"/>
              <a:buFont typeface="Inter"/>
              <a:buNone/>
            </a:pPr>
            <a:r>
              <a:rPr lang="en-US" sz="900" b="0" i="0" u="none" strike="noStrike" cap="none">
                <a:solidFill>
                  <a:srgbClr val="0079AF"/>
                </a:solidFill>
                <a:latin typeface="Inter"/>
                <a:ea typeface="Inter"/>
                <a:cs typeface="Inter"/>
                <a:sym typeface="Inter"/>
              </a:rPr>
              <a:t>Calendly</a:t>
            </a:r>
            <a:endParaRPr sz="900" b="0" i="0" u="none" strike="noStrike" cap="none">
              <a:solidFill>
                <a:schemeClr val="dk1"/>
              </a:solidFill>
              <a:latin typeface="Calibri"/>
              <a:ea typeface="Calibri"/>
              <a:cs typeface="Calibri"/>
              <a:sym typeface="Calibri"/>
            </a:endParaRPr>
          </a:p>
        </p:txBody>
      </p:sp>
      <p:sp>
        <p:nvSpPr>
          <p:cNvPr id="460" name="Google Shape;460;p11"/>
          <p:cNvSpPr txBox="1"/>
          <p:nvPr/>
        </p:nvSpPr>
        <p:spPr>
          <a:xfrm>
            <a:off x="8975750" y="5063947"/>
            <a:ext cx="667512"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E01B"/>
              </a:buClr>
              <a:buSzPts val="900"/>
              <a:buFont typeface="Inter"/>
              <a:buNone/>
            </a:pPr>
            <a:r>
              <a:rPr lang="en-US" sz="900" b="0" i="0" u="none" strike="noStrike" cap="none">
                <a:solidFill>
                  <a:srgbClr val="FFE01B"/>
                </a:solidFill>
                <a:latin typeface="Inter"/>
                <a:ea typeface="Inter"/>
                <a:cs typeface="Inter"/>
                <a:sym typeface="Inter"/>
              </a:rPr>
              <a:t>Mailchimp</a:t>
            </a:r>
            <a:endParaRPr sz="900" b="0" i="0" u="none" strike="noStrike" cap="none">
              <a:solidFill>
                <a:schemeClr val="dk1"/>
              </a:solidFill>
              <a:latin typeface="Calibri"/>
              <a:ea typeface="Calibri"/>
              <a:cs typeface="Calibri"/>
              <a:sym typeface="Calibri"/>
            </a:endParaRPr>
          </a:p>
        </p:txBody>
      </p:sp>
      <p:sp>
        <p:nvSpPr>
          <p:cNvPr id="461" name="Google Shape;461;p11"/>
          <p:cNvSpPr txBox="1"/>
          <p:nvPr/>
        </p:nvSpPr>
        <p:spPr>
          <a:xfrm>
            <a:off x="10505542" y="5086807"/>
            <a:ext cx="724205"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0A5FA"/>
              </a:buClr>
              <a:buSzPts val="900"/>
              <a:buFont typeface="Inter"/>
              <a:buNone/>
            </a:pPr>
            <a:r>
              <a:rPr lang="en-US" sz="900" b="1" i="0" u="none" strike="noStrike" cap="none">
                <a:solidFill>
                  <a:srgbClr val="60A5FA"/>
                </a:solidFill>
                <a:latin typeface="Inter"/>
                <a:ea typeface="Inter"/>
                <a:cs typeface="Inter"/>
                <a:sym typeface="Inter"/>
              </a:rPr>
              <a:t>100+ More</a:t>
            </a:r>
            <a:endParaRPr sz="900" b="0" i="0" u="none" strike="noStrike" cap="none">
              <a:solidFill>
                <a:schemeClr val="dk1"/>
              </a:solidFill>
              <a:latin typeface="Calibri"/>
              <a:ea typeface="Calibri"/>
              <a:cs typeface="Calibri"/>
              <a:sym typeface="Calibri"/>
            </a:endParaRPr>
          </a:p>
        </p:txBody>
      </p:sp>
      <p:sp>
        <p:nvSpPr>
          <p:cNvPr id="462" name="Google Shape;462;p11"/>
          <p:cNvSpPr/>
          <p:nvPr/>
        </p:nvSpPr>
        <p:spPr>
          <a:xfrm>
            <a:off x="9433865" y="1139342"/>
            <a:ext cx="1419149" cy="342900"/>
          </a:xfrm>
          <a:prstGeom prst="roundRect">
            <a:avLst>
              <a:gd name="adj" fmla="val 59259"/>
            </a:avLst>
          </a:prstGeom>
          <a:solidFill>
            <a:srgbClr val="1E293B"/>
          </a:solidFill>
          <a:ln w="12700" cap="flat" cmpd="sng">
            <a:solidFill>
              <a:srgbClr val="334155"/>
            </a:solidFill>
            <a:prstDash val="solid"/>
            <a:round/>
            <a:headEnd type="none" w="sm" len="sm"/>
            <a:tailEnd type="none" w="sm" len="sm"/>
          </a:ln>
          <a:effectLst>
            <a:outerShdw blurRad="139700" dist="101600" dir="5400000" algn="bl" rotWithShape="0">
              <a:srgbClr val="000000">
                <a:alpha val="2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11"/>
          <p:cNvSpPr/>
          <p:nvPr/>
        </p:nvSpPr>
        <p:spPr>
          <a:xfrm>
            <a:off x="7731252" y="5401818"/>
            <a:ext cx="1314907" cy="342900"/>
          </a:xfrm>
          <a:prstGeom prst="roundRect">
            <a:avLst>
              <a:gd name="adj" fmla="val 59259"/>
            </a:avLst>
          </a:prstGeom>
          <a:solidFill>
            <a:srgbClr val="1E293B"/>
          </a:solidFill>
          <a:ln w="12700" cap="flat" cmpd="sng">
            <a:solidFill>
              <a:srgbClr val="334155"/>
            </a:solidFill>
            <a:prstDash val="solid"/>
            <a:round/>
            <a:headEnd type="none" w="sm" len="sm"/>
            <a:tailEnd type="none" w="sm" len="sm"/>
          </a:ln>
          <a:effectLst>
            <a:outerShdw blurRad="139700" dist="101600" dir="5400000" algn="bl" rotWithShape="0">
              <a:srgbClr val="000000">
                <a:alpha val="2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txBox="1"/>
          <p:nvPr/>
        </p:nvSpPr>
        <p:spPr>
          <a:xfrm>
            <a:off x="9785909" y="1234440"/>
            <a:ext cx="991210"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CRM Connected</a:t>
            </a:r>
            <a:endParaRPr sz="900" b="0" i="0" u="none" strike="noStrike" cap="none">
              <a:solidFill>
                <a:schemeClr val="dk1"/>
              </a:solidFill>
              <a:latin typeface="Calibri"/>
              <a:ea typeface="Calibri"/>
              <a:cs typeface="Calibri"/>
              <a:sym typeface="Calibri"/>
            </a:endParaRPr>
          </a:p>
        </p:txBody>
      </p:sp>
      <p:sp>
        <p:nvSpPr>
          <p:cNvPr id="465" name="Google Shape;465;p11"/>
          <p:cNvSpPr txBox="1"/>
          <p:nvPr/>
        </p:nvSpPr>
        <p:spPr>
          <a:xfrm>
            <a:off x="8083296" y="5496916"/>
            <a:ext cx="886054"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99.9% Uptime</a:t>
            </a:r>
            <a:endParaRPr sz="900" b="0" i="0" u="none" strike="noStrike" cap="none">
              <a:solidFill>
                <a:schemeClr val="dk1"/>
              </a:solidFill>
              <a:latin typeface="Calibri"/>
              <a:ea typeface="Calibri"/>
              <a:cs typeface="Calibri"/>
              <a:sym typeface="Calibri"/>
            </a:endParaRPr>
          </a:p>
        </p:txBody>
      </p:sp>
      <p:pic>
        <p:nvPicPr>
          <p:cNvPr id="2" name="Image 1" descr="preencoded.png">
            <a:extLst>
              <a:ext uri="{FF2B5EF4-FFF2-40B4-BE49-F238E27FC236}">
                <a16:creationId xmlns:a16="http://schemas.microsoft.com/office/drawing/2014/main" id="{98A4F33E-C62E-78F9-AAF2-477094309711}"/>
              </a:ext>
            </a:extLst>
          </p:cNvPr>
          <p:cNvPicPr>
            <a:picLocks noChangeAspect="1"/>
          </p:cNvPicPr>
          <p:nvPr/>
        </p:nvPicPr>
        <p:blipFill>
          <a:blip r:embed="rId3"/>
          <a:stretch>
            <a:fillRect/>
          </a:stretch>
        </p:blipFill>
        <p:spPr>
          <a:xfrm>
            <a:off x="609600" y="1066800"/>
            <a:ext cx="914400" cy="38100"/>
          </a:xfrm>
          <a:prstGeom prst="rect">
            <a:avLst/>
          </a:prstGeom>
        </p:spPr>
      </p:pic>
      <p:sp>
        <p:nvSpPr>
          <p:cNvPr id="3" name="Text 0">
            <a:extLst>
              <a:ext uri="{FF2B5EF4-FFF2-40B4-BE49-F238E27FC236}">
                <a16:creationId xmlns:a16="http://schemas.microsoft.com/office/drawing/2014/main" id="{29C3A108-ECF3-8413-C1AA-A61939FB5B08}"/>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ea typeface="Montserrat" pitchFamily="34" charset="-122"/>
                <a:cs typeface="Montserrat" pitchFamily="34" charset="-120"/>
              </a:rPr>
              <a:t>Connect with 100's of platforms</a:t>
            </a:r>
          </a:p>
        </p:txBody>
      </p:sp>
      <p:sp>
        <p:nvSpPr>
          <p:cNvPr id="6" name="Google Shape;412;p11">
            <a:extLst>
              <a:ext uri="{FF2B5EF4-FFF2-40B4-BE49-F238E27FC236}">
                <a16:creationId xmlns:a16="http://schemas.microsoft.com/office/drawing/2014/main" id="{3B03D14C-626C-2691-28AF-B0F092959FBE}"/>
              </a:ext>
            </a:extLst>
          </p:cNvPr>
          <p:cNvSpPr/>
          <p:nvPr/>
        </p:nvSpPr>
        <p:spPr>
          <a:xfrm>
            <a:off x="783469" y="2790988"/>
            <a:ext cx="4741335" cy="685800"/>
          </a:xfrm>
          <a:prstGeom prst="roundRect">
            <a:avLst>
              <a:gd name="adj" fmla="val 22222"/>
            </a:avLst>
          </a:prstGeom>
          <a:solidFill>
            <a:srgbClr val="1E293B">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413;p11">
            <a:extLst>
              <a:ext uri="{FF2B5EF4-FFF2-40B4-BE49-F238E27FC236}">
                <a16:creationId xmlns:a16="http://schemas.microsoft.com/office/drawing/2014/main" id="{5AB33284-4E42-0F4E-B52E-9417F77F2730}"/>
              </a:ext>
            </a:extLst>
          </p:cNvPr>
          <p:cNvSpPr/>
          <p:nvPr/>
        </p:nvSpPr>
        <p:spPr>
          <a:xfrm>
            <a:off x="783469" y="2938231"/>
            <a:ext cx="28346" cy="685800"/>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418;p11">
            <a:extLst>
              <a:ext uri="{FF2B5EF4-FFF2-40B4-BE49-F238E27FC236}">
                <a16:creationId xmlns:a16="http://schemas.microsoft.com/office/drawing/2014/main" id="{8D721B9D-EA99-7F7B-8A30-FEE309C8835A}"/>
              </a:ext>
            </a:extLst>
          </p:cNvPr>
          <p:cNvSpPr/>
          <p:nvPr/>
        </p:nvSpPr>
        <p:spPr>
          <a:xfrm>
            <a:off x="964520" y="2942778"/>
            <a:ext cx="381305" cy="381305"/>
          </a:xfrm>
          <a:prstGeom prst="roundRect">
            <a:avLst>
              <a:gd name="adj" fmla="val 59952"/>
            </a:avLst>
          </a:prstGeom>
          <a:solidFill>
            <a:srgbClr val="3B82F6">
              <a:alpha val="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21;p11">
            <a:extLst>
              <a:ext uri="{FF2B5EF4-FFF2-40B4-BE49-F238E27FC236}">
                <a16:creationId xmlns:a16="http://schemas.microsoft.com/office/drawing/2014/main" id="{0E330827-BF08-4E76-C48B-B951D52A1771}"/>
              </a:ext>
            </a:extLst>
          </p:cNvPr>
          <p:cNvSpPr txBox="1"/>
          <p:nvPr/>
        </p:nvSpPr>
        <p:spPr>
          <a:xfrm>
            <a:off x="1498530" y="2769698"/>
            <a:ext cx="3585986" cy="194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Custom integrations</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0" name="Google Shape;424;p11">
            <a:extLst>
              <a:ext uri="{FF2B5EF4-FFF2-40B4-BE49-F238E27FC236}">
                <a16:creationId xmlns:a16="http://schemas.microsoft.com/office/drawing/2014/main" id="{74B55E73-4EE5-805D-99E0-CE92542CEE3C}"/>
              </a:ext>
            </a:extLst>
          </p:cNvPr>
          <p:cNvSpPr txBox="1"/>
          <p:nvPr/>
        </p:nvSpPr>
        <p:spPr>
          <a:xfrm>
            <a:off x="1498530" y="3153091"/>
            <a:ext cx="3509782" cy="9523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Advanced custom API / webhook integration</a:t>
            </a:r>
            <a:endParaRPr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13" name="Google Shape;20;p3">
            <a:extLst>
              <a:ext uri="{FF2B5EF4-FFF2-40B4-BE49-F238E27FC236}">
                <a16:creationId xmlns:a16="http://schemas.microsoft.com/office/drawing/2014/main" id="{132D8B0B-C358-5B2C-37BD-96B1448DA98F}"/>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Picture 13">
            <a:extLst>
              <a:ext uri="{FF2B5EF4-FFF2-40B4-BE49-F238E27FC236}">
                <a16:creationId xmlns:a16="http://schemas.microsoft.com/office/drawing/2014/main" id="{47679688-F370-7490-7E84-AF5A980049D2}"/>
              </a:ext>
            </a:extLst>
          </p:cNvPr>
          <p:cNvPicPr>
            <a:picLocks noChangeAspect="1"/>
          </p:cNvPicPr>
          <p:nvPr/>
        </p:nvPicPr>
        <p:blipFill>
          <a:blip r:embed="rId4"/>
          <a:srcRect/>
          <a:stretch/>
        </p:blipFill>
        <p:spPr>
          <a:xfrm>
            <a:off x="11734800" y="6432614"/>
            <a:ext cx="317806" cy="317806"/>
          </a:xfrm>
          <a:prstGeom prst="rect">
            <a:avLst/>
          </a:prstGeom>
        </p:spPr>
      </p:pic>
      <p:grpSp>
        <p:nvGrpSpPr>
          <p:cNvPr id="19" name="Group 18">
            <a:extLst>
              <a:ext uri="{FF2B5EF4-FFF2-40B4-BE49-F238E27FC236}">
                <a16:creationId xmlns:a16="http://schemas.microsoft.com/office/drawing/2014/main" id="{236FB48D-1361-1B7E-CBCA-86FE24615C29}"/>
              </a:ext>
            </a:extLst>
          </p:cNvPr>
          <p:cNvGrpSpPr/>
          <p:nvPr/>
        </p:nvGrpSpPr>
        <p:grpSpPr>
          <a:xfrm>
            <a:off x="4062659" y="5933948"/>
            <a:ext cx="4066682" cy="817576"/>
            <a:chOff x="3883711" y="6217876"/>
            <a:chExt cx="2648912" cy="532544"/>
          </a:xfrm>
        </p:grpSpPr>
        <p:pic>
          <p:nvPicPr>
            <p:cNvPr id="5" name="Picture 4">
              <a:extLst>
                <a:ext uri="{FF2B5EF4-FFF2-40B4-BE49-F238E27FC236}">
                  <a16:creationId xmlns:a16="http://schemas.microsoft.com/office/drawing/2014/main" id="{90A7AA25-5BDA-C7C1-9A43-1D79E89B0EBC}"/>
                </a:ext>
              </a:extLst>
            </p:cNvPr>
            <p:cNvPicPr>
              <a:picLocks noChangeAspect="1"/>
            </p:cNvPicPr>
            <p:nvPr/>
          </p:nvPicPr>
          <p:blipFill>
            <a:blip r:embed="rId5"/>
            <a:stretch>
              <a:fillRect/>
            </a:stretch>
          </p:blipFill>
          <p:spPr>
            <a:xfrm>
              <a:off x="3883711" y="6217876"/>
              <a:ext cx="652732" cy="504384"/>
            </a:xfrm>
            <a:prstGeom prst="rect">
              <a:avLst/>
            </a:prstGeom>
          </p:spPr>
        </p:pic>
        <p:pic>
          <p:nvPicPr>
            <p:cNvPr id="12" name="Picture 11">
              <a:extLst>
                <a:ext uri="{FF2B5EF4-FFF2-40B4-BE49-F238E27FC236}">
                  <a16:creationId xmlns:a16="http://schemas.microsoft.com/office/drawing/2014/main" id="{5E3210BF-E5A9-90B8-2D98-DA8091912D3E}"/>
                </a:ext>
              </a:extLst>
            </p:cNvPr>
            <p:cNvPicPr>
              <a:picLocks noChangeAspect="1"/>
            </p:cNvPicPr>
            <p:nvPr/>
          </p:nvPicPr>
          <p:blipFill>
            <a:blip r:embed="rId6"/>
            <a:stretch>
              <a:fillRect/>
            </a:stretch>
          </p:blipFill>
          <p:spPr>
            <a:xfrm>
              <a:off x="5879890" y="6247272"/>
              <a:ext cx="652733" cy="503148"/>
            </a:xfrm>
            <a:prstGeom prst="rect">
              <a:avLst/>
            </a:prstGeom>
          </p:spPr>
        </p:pic>
        <p:pic>
          <p:nvPicPr>
            <p:cNvPr id="16" name="Picture 15">
              <a:extLst>
                <a:ext uri="{FF2B5EF4-FFF2-40B4-BE49-F238E27FC236}">
                  <a16:creationId xmlns:a16="http://schemas.microsoft.com/office/drawing/2014/main" id="{6A2B728B-F71D-D978-350B-82C901507478}"/>
                </a:ext>
              </a:extLst>
            </p:cNvPr>
            <p:cNvPicPr>
              <a:picLocks noChangeAspect="1"/>
            </p:cNvPicPr>
            <p:nvPr/>
          </p:nvPicPr>
          <p:blipFill>
            <a:blip r:embed="rId7"/>
            <a:stretch>
              <a:fillRect/>
            </a:stretch>
          </p:blipFill>
          <p:spPr>
            <a:xfrm>
              <a:off x="5216418" y="6235600"/>
              <a:ext cx="652733" cy="503148"/>
            </a:xfrm>
            <a:prstGeom prst="rect">
              <a:avLst/>
            </a:prstGeom>
          </p:spPr>
        </p:pic>
        <p:pic>
          <p:nvPicPr>
            <p:cNvPr id="18" name="Picture 17">
              <a:extLst>
                <a:ext uri="{FF2B5EF4-FFF2-40B4-BE49-F238E27FC236}">
                  <a16:creationId xmlns:a16="http://schemas.microsoft.com/office/drawing/2014/main" id="{EBA23F9F-A47E-6048-5909-849BB6CC3D2A}"/>
                </a:ext>
              </a:extLst>
            </p:cNvPr>
            <p:cNvPicPr>
              <a:picLocks noChangeAspect="1"/>
            </p:cNvPicPr>
            <p:nvPr/>
          </p:nvPicPr>
          <p:blipFill>
            <a:blip r:embed="rId8"/>
            <a:stretch>
              <a:fillRect/>
            </a:stretch>
          </p:blipFill>
          <p:spPr>
            <a:xfrm>
              <a:off x="4552946" y="6219112"/>
              <a:ext cx="652733" cy="503148"/>
            </a:xfrm>
            <a:prstGeom prst="rect">
              <a:avLst/>
            </a:prstGeom>
          </p:spPr>
        </p:pic>
      </p:grpSp>
      <p:sp>
        <p:nvSpPr>
          <p:cNvPr id="20" name="Google Shape;422;p11">
            <a:extLst>
              <a:ext uri="{FF2B5EF4-FFF2-40B4-BE49-F238E27FC236}">
                <a16:creationId xmlns:a16="http://schemas.microsoft.com/office/drawing/2014/main" id="{0B03B4DC-F82B-6245-07DD-0B2ABC131AE3}"/>
              </a:ext>
            </a:extLst>
          </p:cNvPr>
          <p:cNvSpPr txBox="1"/>
          <p:nvPr/>
        </p:nvSpPr>
        <p:spPr>
          <a:xfrm>
            <a:off x="1476756" y="5292736"/>
            <a:ext cx="2883099" cy="194254"/>
          </a:xfrm>
          <a:prstGeom prst="rect">
            <a:avLst/>
          </a:prstGeom>
          <a:noFill/>
          <a:ln>
            <a:noFill/>
          </a:ln>
        </p:spPr>
        <p:txBody>
          <a:bodyPr spcFirstLastPara="1" wrap="square" lIns="0" tIns="0" rIns="0" bIns="0" anchor="ctr" anchorCtr="0">
            <a:noAutofit/>
          </a:bodyPr>
          <a:lstStyle/>
          <a:p>
            <a:pPr marR="0" lvl="0" indent="0">
              <a:spcBef>
                <a:spcPts val="0"/>
              </a:spcBef>
              <a:spcAft>
                <a:spcPts val="0"/>
              </a:spcAft>
              <a:buClr>
                <a:srgbClr val="FFFFFF"/>
              </a:buClr>
              <a:buSzPts val="10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Secure Data Sync</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21" name="Google Shape;425;p11">
            <a:extLst>
              <a:ext uri="{FF2B5EF4-FFF2-40B4-BE49-F238E27FC236}">
                <a16:creationId xmlns:a16="http://schemas.microsoft.com/office/drawing/2014/main" id="{7F11350D-B867-3E0D-57E4-88BBE7EB99AB}"/>
              </a:ext>
            </a:extLst>
          </p:cNvPr>
          <p:cNvSpPr txBox="1"/>
          <p:nvPr/>
        </p:nvSpPr>
        <p:spPr>
          <a:xfrm>
            <a:off x="1476756" y="5551095"/>
            <a:ext cx="4106198" cy="34510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1200" b="0" i="0" u="none" strike="noStrike" cap="none"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Enterprise-grade encryption &amp; privacy, meeting SOC 2, GDPR, HIPAA, and ISO to ensure data is always secure.</a:t>
            </a:r>
            <a:endParaRPr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10" name="Google Shape;18;p3">
            <a:extLst>
              <a:ext uri="{FF2B5EF4-FFF2-40B4-BE49-F238E27FC236}">
                <a16:creationId xmlns:a16="http://schemas.microsoft.com/office/drawing/2014/main" id="{DB5BEB31-A53E-311A-4E42-FED33A0D0221}"/>
              </a:ext>
            </a:extLst>
          </p:cNvPr>
          <p:cNvSpPr/>
          <p:nvPr/>
        </p:nvSpPr>
        <p:spPr>
          <a:xfrm>
            <a:off x="7429500" y="-952805"/>
            <a:ext cx="5715000" cy="5715000"/>
          </a:xfrm>
          <a:prstGeom prst="ellipse">
            <a:avLst/>
          </a:prstGeom>
          <a:solidFill>
            <a:srgbClr val="1E1B4B">
              <a:alpha val="4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p3">
            <a:extLst>
              <a:ext uri="{FF2B5EF4-FFF2-40B4-BE49-F238E27FC236}">
                <a16:creationId xmlns:a16="http://schemas.microsoft.com/office/drawing/2014/main" id="{F82804AC-7591-31A5-56A2-6696E5D9A382}"/>
              </a:ext>
            </a:extLst>
          </p:cNvPr>
          <p:cNvSpPr/>
          <p:nvPr/>
        </p:nvSpPr>
        <p:spPr>
          <a:xfrm>
            <a:off x="-476402" y="1219200"/>
            <a:ext cx="6660997" cy="6115203"/>
          </a:xfrm>
          <a:prstGeom prst="ellipse">
            <a:avLst/>
          </a:prstGeom>
          <a:solidFill>
            <a:srgbClr val="172554">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2053742" y="2434133"/>
            <a:ext cx="1990649" cy="1990649"/>
          </a:xfrm>
          <a:prstGeom prst="roundRect">
            <a:avLst>
              <a:gd name="adj" fmla="val 13780"/>
            </a:avLst>
          </a:prstGeom>
          <a:noFill/>
          <a:ln w="1270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1306678" y="1687982"/>
            <a:ext cx="3486607" cy="3486607"/>
          </a:xfrm>
          <a:prstGeom prst="roundRect">
            <a:avLst>
              <a:gd name="adj" fmla="val 7868"/>
            </a:avLst>
          </a:prstGeom>
          <a:noFill/>
          <a:ln w="12700" cap="flat" cmpd="sng">
            <a:solidFill>
              <a:srgbClr val="8B5CF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1182319" y="6186526"/>
            <a:ext cx="1828800" cy="256946"/>
          </a:xfrm>
          <a:prstGeom prst="roundRect">
            <a:avLst>
              <a:gd name="adj" fmla="val 79083"/>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txBox="1"/>
          <p:nvPr/>
        </p:nvSpPr>
        <p:spPr>
          <a:xfrm>
            <a:off x="1306678" y="6234075"/>
            <a:ext cx="1681582"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000" b="1" i="0" u="none" strike="noStrike" cap="none" dirty="0">
                <a:solidFill>
                  <a:srgbClr val="F8FAFC"/>
                </a:solidFill>
                <a:latin typeface="Inter"/>
                <a:ea typeface="Inter"/>
                <a:cs typeface="Inter"/>
                <a:sym typeface="Inter"/>
              </a:rPr>
              <a:t>ADAPTABLE AI MODELS</a:t>
            </a:r>
            <a:endParaRPr sz="1000" b="0" i="0" u="none" strike="noStrike" cap="none" dirty="0">
              <a:solidFill>
                <a:schemeClr val="dk1"/>
              </a:solidFill>
              <a:latin typeface="Calibri"/>
              <a:ea typeface="Calibri"/>
              <a:cs typeface="Calibri"/>
              <a:sym typeface="Calibri"/>
            </a:endParaRPr>
          </a:p>
        </p:txBody>
      </p:sp>
      <p:sp>
        <p:nvSpPr>
          <p:cNvPr id="321" name="Google Shape;321;p9"/>
          <p:cNvSpPr txBox="1"/>
          <p:nvPr/>
        </p:nvSpPr>
        <p:spPr>
          <a:xfrm>
            <a:off x="6476695" y="1877263"/>
            <a:ext cx="4891126" cy="7626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300"/>
              <a:buFont typeface="Inter"/>
              <a:buNone/>
            </a:pPr>
            <a:r>
              <a:rPr lang="en-US" sz="1400" dirty="0">
                <a:solidFill>
                  <a:srgbClr val="D1D5DB"/>
                </a:solidFill>
                <a:latin typeface="Open Sans" pitchFamily="34" charset="0"/>
                <a:ea typeface="Open Sans" pitchFamily="34" charset="-122"/>
                <a:cs typeface="Open Sans" pitchFamily="34" charset="-120"/>
                <a:sym typeface="Inter"/>
              </a:rPr>
              <a:t>We don't just plug in </a:t>
            </a:r>
            <a:r>
              <a:rPr lang="en-US" sz="1400" b="1" dirty="0">
                <a:solidFill>
                  <a:srgbClr val="D1D5DB"/>
                </a:solidFill>
                <a:latin typeface="Open Sans" pitchFamily="34" charset="0"/>
                <a:ea typeface="Open Sans" pitchFamily="34" charset="-122"/>
                <a:cs typeface="Open Sans" pitchFamily="34" charset="-120"/>
                <a:sym typeface="Inter"/>
              </a:rPr>
              <a:t>generic</a:t>
            </a:r>
            <a:r>
              <a:rPr lang="en-US" sz="1400" dirty="0">
                <a:solidFill>
                  <a:srgbClr val="D1D5DB"/>
                </a:solidFill>
                <a:latin typeface="Open Sans" pitchFamily="34" charset="0"/>
                <a:ea typeface="Open Sans" pitchFamily="34" charset="-122"/>
                <a:cs typeface="Open Sans" pitchFamily="34" charset="-120"/>
                <a:sym typeface="Inter"/>
              </a:rPr>
              <a:t> AI. We integrate our proprietary LLM solutions deeply tailored to your specific inventory, brand voice, and business rules for maximum relevance.</a:t>
            </a:r>
            <a:endParaRPr sz="1400" dirty="0">
              <a:solidFill>
                <a:srgbClr val="D1D5DB"/>
              </a:solidFill>
              <a:latin typeface="Open Sans" pitchFamily="34" charset="0"/>
              <a:ea typeface="Open Sans" pitchFamily="34" charset="-122"/>
              <a:cs typeface="Open Sans" pitchFamily="34" charset="-120"/>
              <a:sym typeface="Calibri"/>
            </a:endParaRPr>
          </a:p>
        </p:txBody>
      </p:sp>
      <p:sp>
        <p:nvSpPr>
          <p:cNvPr id="322" name="Google Shape;322;p9"/>
          <p:cNvSpPr/>
          <p:nvPr/>
        </p:nvSpPr>
        <p:spPr>
          <a:xfrm>
            <a:off x="6476695" y="3055925"/>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a:off x="6476695" y="4370832"/>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6476695" y="5533034"/>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txBox="1"/>
          <p:nvPr/>
        </p:nvSpPr>
        <p:spPr>
          <a:xfrm>
            <a:off x="7324344" y="3157525"/>
            <a:ext cx="3813556" cy="2103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Fine-Tuned Precision</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26" name="Google Shape;326;p9"/>
          <p:cNvSpPr txBox="1"/>
          <p:nvPr/>
        </p:nvSpPr>
        <p:spPr>
          <a:xfrm>
            <a:off x="7324343" y="4472432"/>
            <a:ext cx="3908939" cy="210312"/>
          </a:xfrm>
          <a:prstGeom prst="rect">
            <a:avLst/>
          </a:prstGeom>
          <a:noFill/>
          <a:ln>
            <a:noFill/>
          </a:ln>
        </p:spPr>
        <p:txBody>
          <a:bodyPr spcFirstLastPara="1" wrap="square" lIns="0" tIns="0" rIns="0" bIns="0" anchor="ctr" anchorCtr="0">
            <a:noAutofit/>
          </a:bodyPr>
          <a:lstStyle/>
          <a:p>
            <a:pPr>
              <a:buClr>
                <a:srgbClr val="FFFFFF"/>
              </a:buClr>
              <a:buSzPts val="13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Deep Domain Context</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27" name="Google Shape;327;p9"/>
          <p:cNvSpPr txBox="1"/>
          <p:nvPr/>
        </p:nvSpPr>
        <p:spPr>
          <a:xfrm>
            <a:off x="7324344" y="5634634"/>
            <a:ext cx="3564087" cy="210312"/>
          </a:xfrm>
          <a:prstGeom prst="rect">
            <a:avLst/>
          </a:prstGeom>
          <a:noFill/>
          <a:ln>
            <a:noFill/>
          </a:ln>
        </p:spPr>
        <p:txBody>
          <a:bodyPr spcFirstLastPara="1" wrap="square" lIns="0" tIns="0" rIns="0" bIns="0" anchor="ctr" anchorCtr="0">
            <a:noAutofit/>
          </a:bodyPr>
          <a:lstStyle/>
          <a:p>
            <a:pPr marR="0" lvl="0" indent="0">
              <a:spcBef>
                <a:spcPts val="0"/>
              </a:spcBef>
              <a:spcAft>
                <a:spcPts val="0"/>
              </a:spcAft>
              <a:buClr>
                <a:srgbClr val="FFFFFF"/>
              </a:buClr>
              <a:buSzPts val="13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Secure &amp; Compliant</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28" name="Google Shape;328;p9"/>
          <p:cNvSpPr txBox="1"/>
          <p:nvPr/>
        </p:nvSpPr>
        <p:spPr>
          <a:xfrm>
            <a:off x="7324344" y="3570732"/>
            <a:ext cx="3386938" cy="35295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Models trained on your actual data and guardrails to understand your products perfectly.</a:t>
            </a:r>
            <a:endParaRPr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29" name="Google Shape;329;p9"/>
          <p:cNvSpPr txBox="1"/>
          <p:nvPr/>
        </p:nvSpPr>
        <p:spPr>
          <a:xfrm>
            <a:off x="7324344" y="4884725"/>
            <a:ext cx="3643884" cy="352958"/>
          </a:xfrm>
          <a:prstGeom prst="rect">
            <a:avLst/>
          </a:prstGeom>
          <a:noFill/>
          <a:ln>
            <a:noFill/>
          </a:ln>
        </p:spPr>
        <p:txBody>
          <a:bodyPr spcFirstLastPara="1" wrap="square" lIns="0" tIns="0" rIns="0" bIns="0" anchor="ctr" anchorCtr="0">
            <a:noAutofit/>
          </a:bodyPr>
          <a:lstStyle/>
          <a:p>
            <a:pPr>
              <a:buClr>
                <a:srgbClr val="F8FAFC"/>
              </a:buClr>
              <a:buSzPts val="1000"/>
            </a:pPr>
            <a:r>
              <a:rPr lang="en-US"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Enhanced with prompt engineering and evaluation loops specific to your industry needs.</a:t>
            </a:r>
            <a:endParaRPr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30" name="Google Shape;330;p9"/>
          <p:cNvSpPr txBox="1"/>
          <p:nvPr/>
        </p:nvSpPr>
        <p:spPr>
          <a:xfrm>
            <a:off x="7324344" y="6046927"/>
            <a:ext cx="3948379" cy="352958"/>
          </a:xfrm>
          <a:prstGeom prst="rect">
            <a:avLst/>
          </a:prstGeom>
          <a:noFill/>
          <a:ln>
            <a:noFill/>
          </a:ln>
        </p:spPr>
        <p:txBody>
          <a:bodyPr spcFirstLastPara="1" wrap="square" lIns="0" tIns="0" rIns="0" bIns="0" anchor="ctr" anchorCtr="0">
            <a:noAutofit/>
          </a:bodyPr>
          <a:lstStyle/>
          <a:p>
            <a:pPr marR="0" lvl="0" indent="0">
              <a:spcBef>
                <a:spcPts val="0"/>
              </a:spcBef>
              <a:spcAft>
                <a:spcPts val="0"/>
              </a:spcAft>
              <a:buClr>
                <a:srgbClr val="F8FAFC"/>
              </a:buClr>
              <a:buSzPts val="1000"/>
              <a:buFont typeface="Inter"/>
              <a:buNone/>
            </a:pPr>
            <a:r>
              <a:rPr lang="en-US"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Enterprise-grade integration that keeps your proprietary data safe and compliant.</a:t>
            </a:r>
            <a:endParaRPr sz="1200"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32" name="Google Shape;332;p9"/>
          <p:cNvSpPr/>
          <p:nvPr/>
        </p:nvSpPr>
        <p:spPr>
          <a:xfrm>
            <a:off x="1067105" y="1709928"/>
            <a:ext cx="1591056" cy="552298"/>
          </a:xfrm>
          <a:prstGeom prst="roundRect">
            <a:avLst>
              <a:gd name="adj" fmla="val 28545"/>
            </a:avLst>
          </a:prstGeom>
          <a:solidFill>
            <a:srgbClr val="1E293B"/>
          </a:solidFill>
          <a:ln w="12700" cap="flat" cmpd="sng">
            <a:solidFill>
              <a:srgbClr val="334155"/>
            </a:solidFill>
            <a:prstDash val="solid"/>
            <a:round/>
            <a:headEnd type="none" w="sm" len="sm"/>
            <a:tailEnd type="none" w="sm" len="sm"/>
          </a:ln>
          <a:effectLst>
            <a:outerShdw blurRad="139700" dist="101600" dir="5400000" algn="bl" rotWithShape="0">
              <a:srgbClr val="000000">
                <a:alpha val="2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1228954" y="1834286"/>
            <a:ext cx="304495" cy="304495"/>
          </a:xfrm>
          <a:prstGeom prst="roundRect">
            <a:avLst>
              <a:gd name="adj" fmla="val 75075"/>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1067105" y="4527194"/>
            <a:ext cx="1533449" cy="552298"/>
          </a:xfrm>
          <a:prstGeom prst="roundRect">
            <a:avLst>
              <a:gd name="adj" fmla="val 28545"/>
            </a:avLst>
          </a:prstGeom>
          <a:solidFill>
            <a:srgbClr val="1E293B"/>
          </a:solidFill>
          <a:ln w="12700" cap="flat" cmpd="sng">
            <a:solidFill>
              <a:srgbClr val="334155"/>
            </a:solidFill>
            <a:prstDash val="solid"/>
            <a:round/>
            <a:headEnd type="none" w="sm" len="sm"/>
            <a:tailEnd type="none" w="sm" len="sm"/>
          </a:ln>
          <a:effectLst>
            <a:outerShdw blurRad="139700" dist="101600" dir="5400000" algn="bl" rotWithShape="0">
              <a:srgbClr val="000000">
                <a:alpha val="2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9"/>
          <p:cNvSpPr txBox="1"/>
          <p:nvPr/>
        </p:nvSpPr>
        <p:spPr>
          <a:xfrm>
            <a:off x="1647749" y="1834286"/>
            <a:ext cx="619963"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900"/>
              <a:buFont typeface="Inter"/>
              <a:buNone/>
            </a:pPr>
            <a:r>
              <a:rPr lang="en-US" sz="900" b="0" i="0" u="none" strike="noStrike" cap="none">
                <a:solidFill>
                  <a:srgbClr val="E2E8F0"/>
                </a:solidFill>
                <a:latin typeface="Inter"/>
                <a:ea typeface="Inter"/>
                <a:cs typeface="Inter"/>
                <a:sym typeface="Inter"/>
              </a:rPr>
              <a:t>Your Data</a:t>
            </a:r>
            <a:endParaRPr sz="900" b="0" i="0" u="none" strike="noStrike" cap="none">
              <a:solidFill>
                <a:schemeClr val="dk1"/>
              </a:solidFill>
              <a:latin typeface="Calibri"/>
              <a:ea typeface="Calibri"/>
              <a:cs typeface="Calibri"/>
              <a:sym typeface="Calibri"/>
            </a:endParaRPr>
          </a:p>
        </p:txBody>
      </p:sp>
      <p:sp>
        <p:nvSpPr>
          <p:cNvPr id="336" name="Google Shape;336;p9"/>
          <p:cNvSpPr txBox="1"/>
          <p:nvPr/>
        </p:nvSpPr>
        <p:spPr>
          <a:xfrm>
            <a:off x="1647749" y="1986077"/>
            <a:ext cx="933602"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900"/>
              <a:buFont typeface="Inter"/>
              <a:buNone/>
            </a:pPr>
            <a:r>
              <a:rPr lang="en-US" sz="900" b="1" i="0" u="none" strike="noStrike" cap="none">
                <a:solidFill>
                  <a:srgbClr val="E2E8F0"/>
                </a:solidFill>
                <a:latin typeface="Inter"/>
                <a:ea typeface="Inter"/>
                <a:cs typeface="Inter"/>
                <a:sym typeface="Inter"/>
              </a:rPr>
              <a:t>Proprietary Set</a:t>
            </a:r>
            <a:endParaRPr sz="900" b="0" i="0" u="none" strike="noStrike" cap="none">
              <a:solidFill>
                <a:schemeClr val="dk1"/>
              </a:solidFill>
              <a:latin typeface="Calibri"/>
              <a:ea typeface="Calibri"/>
              <a:cs typeface="Calibri"/>
              <a:sym typeface="Calibri"/>
            </a:endParaRPr>
          </a:p>
        </p:txBody>
      </p:sp>
      <p:sp>
        <p:nvSpPr>
          <p:cNvPr id="337" name="Google Shape;337;p9"/>
          <p:cNvSpPr/>
          <p:nvPr/>
        </p:nvSpPr>
        <p:spPr>
          <a:xfrm>
            <a:off x="1228954" y="4651553"/>
            <a:ext cx="304495" cy="304495"/>
          </a:xfrm>
          <a:prstGeom prst="roundRect">
            <a:avLst>
              <a:gd name="adj" fmla="val 75075"/>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txBox="1"/>
          <p:nvPr/>
        </p:nvSpPr>
        <p:spPr>
          <a:xfrm>
            <a:off x="1647749" y="4651553"/>
            <a:ext cx="752551"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900"/>
              <a:buFont typeface="Inter"/>
              <a:buNone/>
            </a:pPr>
            <a:r>
              <a:rPr lang="en-US" sz="900" b="0" i="0" u="none" strike="noStrike" cap="none">
                <a:solidFill>
                  <a:srgbClr val="E2E8F0"/>
                </a:solidFill>
                <a:latin typeface="Inter"/>
                <a:ea typeface="Inter"/>
                <a:cs typeface="Inter"/>
                <a:sym typeface="Inter"/>
              </a:rPr>
              <a:t>Product Info</a:t>
            </a:r>
            <a:endParaRPr sz="900" b="0" i="0" u="none" strike="noStrike" cap="none">
              <a:solidFill>
                <a:schemeClr val="dk1"/>
              </a:solidFill>
              <a:latin typeface="Calibri"/>
              <a:ea typeface="Calibri"/>
              <a:cs typeface="Calibri"/>
              <a:sym typeface="Calibri"/>
            </a:endParaRPr>
          </a:p>
        </p:txBody>
      </p:sp>
      <p:sp>
        <p:nvSpPr>
          <p:cNvPr id="339" name="Google Shape;339;p9"/>
          <p:cNvSpPr txBox="1"/>
          <p:nvPr/>
        </p:nvSpPr>
        <p:spPr>
          <a:xfrm>
            <a:off x="1647749" y="4803343"/>
            <a:ext cx="876910" cy="1435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900"/>
              <a:buFont typeface="Inter"/>
              <a:buNone/>
            </a:pPr>
            <a:r>
              <a:rPr lang="en-US" sz="900" b="1" i="0" u="none" strike="noStrike" cap="none">
                <a:solidFill>
                  <a:srgbClr val="E2E8F0"/>
                </a:solidFill>
                <a:latin typeface="Inter"/>
                <a:ea typeface="Inter"/>
                <a:cs typeface="Inter"/>
                <a:sym typeface="Inter"/>
              </a:rPr>
              <a:t>SKUs &amp; Specs</a:t>
            </a:r>
            <a:endParaRPr sz="900" b="0" i="0" u="none" strike="noStrike" cap="none">
              <a:solidFill>
                <a:schemeClr val="dk1"/>
              </a:solidFill>
              <a:latin typeface="Calibri"/>
              <a:ea typeface="Calibri"/>
              <a:cs typeface="Calibri"/>
              <a:sym typeface="Calibri"/>
            </a:endParaRPr>
          </a:p>
        </p:txBody>
      </p:sp>
      <p:sp>
        <p:nvSpPr>
          <p:cNvPr id="340" name="Google Shape;340;p9"/>
          <p:cNvSpPr/>
          <p:nvPr/>
        </p:nvSpPr>
        <p:spPr>
          <a:xfrm>
            <a:off x="1652321" y="2962656"/>
            <a:ext cx="3629254" cy="933602"/>
          </a:xfrm>
          <a:prstGeom prst="roundRect">
            <a:avLst>
              <a:gd name="adj" fmla="val 9994"/>
            </a:avLst>
          </a:prstGeom>
          <a:solidFill>
            <a:srgbClr val="1E293B"/>
          </a:solidFill>
          <a:ln w="12700" cap="flat" cmpd="sng">
            <a:solidFill>
              <a:srgbClr val="8B5CF6"/>
            </a:solidFill>
            <a:prstDash val="solid"/>
            <a:round/>
            <a:headEnd type="none" w="sm" len="sm"/>
            <a:tailEnd type="none" w="sm" len="sm"/>
          </a:ln>
          <a:effectLst>
            <a:outerShdw blurRad="139700" dist="101600" dir="5400000" algn="bl" rotWithShape="0">
              <a:srgbClr val="000000">
                <a:alpha val="2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 name="Image 1" descr="preencoded.png">
            <a:extLst>
              <a:ext uri="{FF2B5EF4-FFF2-40B4-BE49-F238E27FC236}">
                <a16:creationId xmlns:a16="http://schemas.microsoft.com/office/drawing/2014/main" id="{1DEBD90A-8A42-6222-357B-C939C7D652E1}"/>
              </a:ext>
            </a:extLst>
          </p:cNvPr>
          <p:cNvPicPr>
            <a:picLocks noChangeAspect="1"/>
          </p:cNvPicPr>
          <p:nvPr/>
        </p:nvPicPr>
        <p:blipFill>
          <a:blip r:embed="rId3"/>
          <a:stretch>
            <a:fillRect/>
          </a:stretch>
        </p:blipFill>
        <p:spPr>
          <a:xfrm>
            <a:off x="609600" y="1066800"/>
            <a:ext cx="914400" cy="38100"/>
          </a:xfrm>
          <a:prstGeom prst="rect">
            <a:avLst/>
          </a:prstGeom>
        </p:spPr>
      </p:pic>
      <p:sp>
        <p:nvSpPr>
          <p:cNvPr id="5" name="Text 0">
            <a:extLst>
              <a:ext uri="{FF2B5EF4-FFF2-40B4-BE49-F238E27FC236}">
                <a16:creationId xmlns:a16="http://schemas.microsoft.com/office/drawing/2014/main" id="{6A343537-1715-E14C-A23B-6000BA766BB6}"/>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ea typeface="Montserrat" pitchFamily="34" charset="-122"/>
                <a:cs typeface="Montserrat" pitchFamily="34" charset="-120"/>
              </a:rPr>
              <a:t>Built Around Your Unique Products</a:t>
            </a:r>
          </a:p>
        </p:txBody>
      </p:sp>
      <p:pic>
        <p:nvPicPr>
          <p:cNvPr id="8" name="Graphic 7">
            <a:extLst>
              <a:ext uri="{FF2B5EF4-FFF2-40B4-BE49-F238E27FC236}">
                <a16:creationId xmlns:a16="http://schemas.microsoft.com/office/drawing/2014/main" id="{75DCE062-56A4-289A-1C9F-B0EDC3FDD80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6005" y="1760728"/>
            <a:ext cx="456895" cy="456895"/>
          </a:xfrm>
          <a:prstGeom prst="rect">
            <a:avLst/>
          </a:prstGeom>
        </p:spPr>
      </p:pic>
      <p:pic>
        <p:nvPicPr>
          <p:cNvPr id="9" name="Graphic 8">
            <a:extLst>
              <a:ext uri="{FF2B5EF4-FFF2-40B4-BE49-F238E27FC236}">
                <a16:creationId xmlns:a16="http://schemas.microsoft.com/office/drawing/2014/main" id="{FCB855A7-104F-02E5-F781-45394D2949E9}"/>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9171" y="4594254"/>
            <a:ext cx="421976" cy="421976"/>
          </a:xfrm>
          <a:prstGeom prst="rect">
            <a:avLst/>
          </a:prstGeom>
        </p:spPr>
      </p:pic>
      <p:sp>
        <p:nvSpPr>
          <p:cNvPr id="331" name="Google Shape;331;p9"/>
          <p:cNvSpPr/>
          <p:nvPr/>
        </p:nvSpPr>
        <p:spPr>
          <a:xfrm>
            <a:off x="2381098" y="2762402"/>
            <a:ext cx="1333195" cy="1333195"/>
          </a:xfrm>
          <a:prstGeom prst="roundRect">
            <a:avLst>
              <a:gd name="adj" fmla="val 11758"/>
            </a:avLst>
          </a:prstGeom>
          <a:solidFill>
            <a:srgbClr val="1E293B"/>
          </a:solidFill>
          <a:ln w="50800" cap="flat" cmpd="sng">
            <a:solidFill>
              <a:srgbClr val="8B5CF6"/>
            </a:solidFill>
            <a:prstDash val="solid"/>
            <a:round/>
            <a:headEnd type="none" w="sm" len="sm"/>
            <a:tailEnd type="none" w="sm" len="sm"/>
          </a:ln>
          <a:effectLst>
            <a:outerShdw blurRad="482600" dist="12700" dir="16200000" algn="bl" rotWithShape="0">
              <a:srgbClr val="8B5CF6">
                <a:alpha val="2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txBox="1"/>
          <p:nvPr/>
        </p:nvSpPr>
        <p:spPr>
          <a:xfrm>
            <a:off x="3866998" y="3386023"/>
            <a:ext cx="795528"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1000"/>
              <a:buFont typeface="Inter"/>
              <a:buNone/>
            </a:pPr>
            <a:r>
              <a:rPr lang="en-US" sz="1000" b="0" i="0" u="none" strike="noStrike" cap="none">
                <a:solidFill>
                  <a:srgbClr val="E2E8F0"/>
                </a:solidFill>
                <a:latin typeface="Inter"/>
                <a:ea typeface="Inter"/>
                <a:cs typeface="Inter"/>
                <a:sym typeface="Inter"/>
              </a:rPr>
              <a:t>Fine-tuned</a:t>
            </a:r>
            <a:endParaRPr sz="1000" b="0" i="0" u="none" strike="noStrike" cap="none">
              <a:solidFill>
                <a:schemeClr val="dk1"/>
              </a:solidFill>
              <a:latin typeface="Calibri"/>
              <a:ea typeface="Calibri"/>
              <a:cs typeface="Calibri"/>
              <a:sym typeface="Calibri"/>
            </a:endParaRPr>
          </a:p>
        </p:txBody>
      </p:sp>
      <p:sp>
        <p:nvSpPr>
          <p:cNvPr id="344" name="Google Shape;344;p9"/>
          <p:cNvSpPr txBox="1"/>
          <p:nvPr/>
        </p:nvSpPr>
        <p:spPr>
          <a:xfrm>
            <a:off x="4785055" y="3386023"/>
            <a:ext cx="547726"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1000"/>
              <a:buFont typeface="Inter"/>
              <a:buNone/>
            </a:pPr>
            <a:r>
              <a:rPr lang="en-US" sz="1000" b="0" i="0" u="none" strike="noStrike" cap="none" dirty="0">
                <a:solidFill>
                  <a:srgbClr val="E2E8F0"/>
                </a:solidFill>
                <a:latin typeface="Inter"/>
                <a:ea typeface="Inter"/>
                <a:cs typeface="Inter"/>
                <a:sym typeface="Inter"/>
              </a:rPr>
              <a:t>Secure</a:t>
            </a:r>
            <a:endParaRPr sz="1000" b="0" i="0" u="none" strike="noStrike" cap="none" dirty="0">
              <a:solidFill>
                <a:schemeClr val="dk1"/>
              </a:solidFill>
              <a:latin typeface="Calibri"/>
              <a:ea typeface="Calibri"/>
              <a:cs typeface="Calibri"/>
              <a:sym typeface="Calibri"/>
            </a:endParaRPr>
          </a:p>
        </p:txBody>
      </p:sp>
      <p:sp>
        <p:nvSpPr>
          <p:cNvPr id="345" name="Google Shape;345;p9"/>
          <p:cNvSpPr/>
          <p:nvPr/>
        </p:nvSpPr>
        <p:spPr>
          <a:xfrm>
            <a:off x="3778403" y="3230865"/>
            <a:ext cx="725120" cy="472092"/>
          </a:xfrm>
          <a:prstGeom prst="roundRect">
            <a:avLst>
              <a:gd name="adj" fmla="val 282486"/>
            </a:avLst>
          </a:prstGeom>
          <a:noFill/>
          <a:ln w="508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E7FB20DF-2F54-66CE-6306-9D344004DD2C}"/>
              </a:ext>
            </a:extLst>
          </p:cNvPr>
          <p:cNvPicPr>
            <a:picLocks noChangeAspect="1"/>
          </p:cNvPicPr>
          <p:nvPr/>
        </p:nvPicPr>
        <p:blipFill>
          <a:blip r:embed="rId8"/>
          <a:srcRect l="2816" r="-1672"/>
          <a:stretch>
            <a:fillRect/>
          </a:stretch>
        </p:blipFill>
        <p:spPr>
          <a:xfrm>
            <a:off x="2459660" y="2962656"/>
            <a:ext cx="1238135" cy="961034"/>
          </a:xfrm>
          <a:prstGeom prst="rect">
            <a:avLst/>
          </a:prstGeom>
        </p:spPr>
      </p:pic>
      <p:sp>
        <p:nvSpPr>
          <p:cNvPr id="341" name="Google Shape;341;p9"/>
          <p:cNvSpPr txBox="1"/>
          <p:nvPr/>
        </p:nvSpPr>
        <p:spPr>
          <a:xfrm>
            <a:off x="2854096" y="2842413"/>
            <a:ext cx="529438"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2E8F0"/>
              </a:buClr>
              <a:buSzPts val="1000"/>
              <a:buFont typeface="Inter"/>
              <a:buNone/>
            </a:pPr>
            <a:r>
              <a:rPr lang="en-US" sz="1000" b="0" i="0" u="none" strike="noStrike" cap="none" dirty="0">
                <a:solidFill>
                  <a:srgbClr val="E2E8F0"/>
                </a:solidFill>
                <a:latin typeface="Inter"/>
                <a:ea typeface="Inter"/>
                <a:cs typeface="Inter"/>
                <a:sym typeface="Inter"/>
              </a:rPr>
              <a:t>Output</a:t>
            </a:r>
            <a:endParaRPr sz="1000" b="0" i="0" u="none" strike="noStrike" cap="none" dirty="0">
              <a:solidFill>
                <a:schemeClr val="dk1"/>
              </a:solidFill>
              <a:latin typeface="Calibri"/>
              <a:ea typeface="Calibri"/>
              <a:cs typeface="Calibri"/>
              <a:sym typeface="Calibri"/>
            </a:endParaRPr>
          </a:p>
        </p:txBody>
      </p:sp>
      <p:sp>
        <p:nvSpPr>
          <p:cNvPr id="342" name="Google Shape;342;p9"/>
          <p:cNvSpPr txBox="1"/>
          <p:nvPr/>
        </p:nvSpPr>
        <p:spPr>
          <a:xfrm>
            <a:off x="2448865" y="3381450"/>
            <a:ext cx="1219709" cy="254661"/>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Inter"/>
              <a:buNone/>
            </a:pPr>
            <a:r>
              <a:rPr lang="en-US" sz="1300" b="1" i="0" u="none" strike="noStrike" cap="none" dirty="0">
                <a:solidFill>
                  <a:srgbClr val="FFFFFF"/>
                </a:solidFill>
                <a:latin typeface="Inter"/>
                <a:ea typeface="Inter"/>
                <a:cs typeface="Inter"/>
                <a:sym typeface="Inter"/>
              </a:rPr>
              <a:t>Custom Model</a:t>
            </a:r>
            <a:endParaRPr sz="1300" b="0" i="0" u="none" strike="noStrike" cap="none" dirty="0">
              <a:solidFill>
                <a:schemeClr val="dk1"/>
              </a:solidFill>
              <a:latin typeface="Calibri"/>
              <a:ea typeface="Calibri"/>
              <a:cs typeface="Calibri"/>
              <a:sym typeface="Calibri"/>
            </a:endParaRPr>
          </a:p>
        </p:txBody>
      </p:sp>
      <p:sp>
        <p:nvSpPr>
          <p:cNvPr id="12" name="Google Shape;20;p3">
            <a:extLst>
              <a:ext uri="{FF2B5EF4-FFF2-40B4-BE49-F238E27FC236}">
                <a16:creationId xmlns:a16="http://schemas.microsoft.com/office/drawing/2014/main" id="{A84E4388-CD4D-A752-381A-7C9495DE4E30}"/>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Picture 12">
            <a:extLst>
              <a:ext uri="{FF2B5EF4-FFF2-40B4-BE49-F238E27FC236}">
                <a16:creationId xmlns:a16="http://schemas.microsoft.com/office/drawing/2014/main" id="{38E4FA76-C7BE-E5AF-74DC-5DC626C55860}"/>
              </a:ext>
            </a:extLst>
          </p:cNvPr>
          <p:cNvPicPr>
            <a:picLocks noChangeAspect="1"/>
          </p:cNvPicPr>
          <p:nvPr/>
        </p:nvPicPr>
        <p:blipFill>
          <a:blip r:embed="rId9"/>
          <a:srcRect/>
          <a:stretch/>
        </p:blipFill>
        <p:spPr>
          <a:xfrm>
            <a:off x="11734800" y="6432614"/>
            <a:ext cx="317806" cy="3178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9" name="Google Shape;359;p10"/>
          <p:cNvSpPr/>
          <p:nvPr/>
        </p:nvSpPr>
        <p:spPr>
          <a:xfrm>
            <a:off x="-952806" y="-952806"/>
            <a:ext cx="7048805" cy="7201205"/>
          </a:xfrm>
          <a:prstGeom prst="ellipse">
            <a:avLst/>
          </a:prstGeom>
          <a:solidFill>
            <a:srgbClr val="3B0764">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0"/>
          <p:cNvSpPr/>
          <p:nvPr/>
        </p:nvSpPr>
        <p:spPr>
          <a:xfrm>
            <a:off x="7429500" y="2095805"/>
            <a:ext cx="5715000" cy="5715000"/>
          </a:xfrm>
          <a:prstGeom prst="ellipse">
            <a:avLst/>
          </a:prstGeom>
          <a:solidFill>
            <a:srgbClr val="1E1B4B">
              <a:alpha val="2980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0"/>
          <p:cNvSpPr/>
          <p:nvPr/>
        </p:nvSpPr>
        <p:spPr>
          <a:xfrm>
            <a:off x="1354226" y="1735531"/>
            <a:ext cx="3390595" cy="3390595"/>
          </a:xfrm>
          <a:prstGeom prst="ellipse">
            <a:avLst/>
          </a:prstGeom>
          <a:noFill/>
          <a:ln w="12700" cap="flat" cmpd="sng">
            <a:solidFill>
              <a:srgbClr val="94A3B8">
                <a:alpha val="2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0"/>
          <p:cNvSpPr/>
          <p:nvPr/>
        </p:nvSpPr>
        <p:spPr>
          <a:xfrm>
            <a:off x="1019556" y="1400861"/>
            <a:ext cx="4058107" cy="4058107"/>
          </a:xfrm>
          <a:prstGeom prst="ellipse">
            <a:avLst/>
          </a:prstGeom>
          <a:noFill/>
          <a:ln w="12700" cap="flat" cmpd="sng">
            <a:solidFill>
              <a:srgbClr val="94A3B8">
                <a:alpha val="20000"/>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0"/>
          <p:cNvSpPr/>
          <p:nvPr/>
        </p:nvSpPr>
        <p:spPr>
          <a:xfrm>
            <a:off x="9677095" y="229514"/>
            <a:ext cx="1876349" cy="256946"/>
          </a:xfrm>
          <a:prstGeom prst="roundRect">
            <a:avLst>
              <a:gd name="adj" fmla="val 79083"/>
            </a:avLst>
          </a:prstGeom>
          <a:noFill/>
          <a:ln w="12700" cap="flat" cmpd="sng">
            <a:solidFill>
              <a:srgbClr val="E5E7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0"/>
          <p:cNvSpPr txBox="1"/>
          <p:nvPr/>
        </p:nvSpPr>
        <p:spPr>
          <a:xfrm>
            <a:off x="9801454" y="277063"/>
            <a:ext cx="1729130" cy="162763"/>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78BFA"/>
              </a:buClr>
              <a:buSzPts val="1000"/>
              <a:buFont typeface="Inter"/>
              <a:buNone/>
            </a:pPr>
            <a:r>
              <a:rPr lang="en-US" sz="1000" b="1" i="0" u="none" strike="noStrike" cap="none" dirty="0">
                <a:solidFill>
                  <a:srgbClr val="FFFFFF"/>
                </a:solidFill>
                <a:latin typeface="Inter"/>
                <a:ea typeface="Inter"/>
                <a:cs typeface="Inter"/>
                <a:sym typeface="Inter"/>
              </a:rPr>
              <a:t>AI SALES &amp; SUPPORT</a:t>
            </a:r>
            <a:endParaRPr sz="1000" b="0" i="0" u="none" strike="noStrike" cap="none" dirty="0">
              <a:solidFill>
                <a:srgbClr val="FFFFFF"/>
              </a:solidFill>
              <a:latin typeface="Calibri"/>
              <a:ea typeface="Calibri"/>
              <a:cs typeface="Calibri"/>
              <a:sym typeface="Calibri"/>
            </a:endParaRPr>
          </a:p>
        </p:txBody>
      </p:sp>
      <p:sp>
        <p:nvSpPr>
          <p:cNvPr id="367" name="Google Shape;367;p10"/>
          <p:cNvSpPr txBox="1"/>
          <p:nvPr/>
        </p:nvSpPr>
        <p:spPr>
          <a:xfrm>
            <a:off x="6476695" y="1877263"/>
            <a:ext cx="5053889" cy="7626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300"/>
              <a:buFont typeface="Inter"/>
              <a:buNone/>
            </a:pPr>
            <a:r>
              <a:rPr lang="en-US" sz="1400" dirty="0">
                <a:solidFill>
                  <a:srgbClr val="D1D5DB"/>
                </a:solidFill>
                <a:latin typeface="Open Sans" pitchFamily="34" charset="0"/>
                <a:ea typeface="Open Sans" pitchFamily="34" charset="-122"/>
                <a:cs typeface="Open Sans" pitchFamily="34" charset="-120"/>
                <a:sym typeface="Inter"/>
              </a:rPr>
              <a:t>Deploy multi-language intelligent assistants that never sleep. Deliver proactive outreach and real-time support to drive revenue and customer satisfaction simultaneously.</a:t>
            </a:r>
            <a:endParaRPr sz="1400" dirty="0">
              <a:solidFill>
                <a:srgbClr val="D1D5DB"/>
              </a:solidFill>
              <a:latin typeface="Open Sans" pitchFamily="34" charset="0"/>
              <a:ea typeface="Open Sans" pitchFamily="34" charset="-122"/>
              <a:cs typeface="Open Sans" pitchFamily="34" charset="-120"/>
              <a:sym typeface="Calibri"/>
            </a:endParaRPr>
          </a:p>
        </p:txBody>
      </p:sp>
      <p:sp>
        <p:nvSpPr>
          <p:cNvPr id="368" name="Google Shape;368;p10"/>
          <p:cNvSpPr/>
          <p:nvPr/>
        </p:nvSpPr>
        <p:spPr>
          <a:xfrm>
            <a:off x="6476695" y="3055925"/>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0"/>
          <p:cNvSpPr/>
          <p:nvPr/>
        </p:nvSpPr>
        <p:spPr>
          <a:xfrm>
            <a:off x="6476695" y="4370832"/>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0"/>
          <p:cNvSpPr/>
          <p:nvPr/>
        </p:nvSpPr>
        <p:spPr>
          <a:xfrm>
            <a:off x="6476695" y="5533034"/>
            <a:ext cx="4953305" cy="1086307"/>
          </a:xfrm>
          <a:prstGeom prst="roundRect">
            <a:avLst>
              <a:gd name="adj" fmla="val 8861"/>
            </a:avLst>
          </a:prstGeom>
          <a:solidFill>
            <a:srgbClr val="1E293B">
              <a:alpha val="29803"/>
            </a:srgbClr>
          </a:solidFill>
          <a:ln w="12700" cap="flat" cmpd="sng">
            <a:solidFill>
              <a:srgbClr val="94A3B8">
                <a:alpha val="4705"/>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0"/>
          <p:cNvSpPr txBox="1"/>
          <p:nvPr/>
        </p:nvSpPr>
        <p:spPr>
          <a:xfrm>
            <a:off x="7324343" y="3170225"/>
            <a:ext cx="3978657" cy="20025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US"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Multi-Language Fluency</a:t>
            </a:r>
            <a:endParaRPr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72" name="Google Shape;372;p10"/>
          <p:cNvSpPr txBox="1"/>
          <p:nvPr/>
        </p:nvSpPr>
        <p:spPr>
          <a:xfrm>
            <a:off x="7324344" y="4485131"/>
            <a:ext cx="4105656" cy="25786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US"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Proactive Engagement</a:t>
            </a:r>
            <a:endParaRPr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73" name="Google Shape;373;p10"/>
          <p:cNvSpPr txBox="1"/>
          <p:nvPr/>
        </p:nvSpPr>
        <p:spPr>
          <a:xfrm>
            <a:off x="7324344" y="5647334"/>
            <a:ext cx="3978656" cy="21854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Inter"/>
              <a:buNone/>
            </a:pPr>
            <a:r>
              <a:rPr lang="en-US" b="1" i="0" u="none" strike="noStrike" cap="none"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Consistent Brand Voice</a:t>
            </a:r>
            <a:endParaRPr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74" name="Google Shape;374;p10"/>
          <p:cNvSpPr txBox="1"/>
          <p:nvPr/>
        </p:nvSpPr>
        <p:spPr>
          <a:xfrm>
            <a:off x="7324344" y="3570732"/>
            <a:ext cx="4105656" cy="35295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200" b="0" i="0" u="none" strike="noStrike" cap="none"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Seamlessly communicate with global customers in their native language with cultural nuance.</a:t>
            </a:r>
            <a:endParaRPr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75" name="Google Shape;375;p10"/>
          <p:cNvSpPr txBox="1"/>
          <p:nvPr/>
        </p:nvSpPr>
        <p:spPr>
          <a:xfrm>
            <a:off x="7324344" y="4884725"/>
            <a:ext cx="4036085" cy="35295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200" b="0" i="0" u="none" strike="noStrike" cap="none" dirty="0">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Initiate conversations based on user behavior to guide them through the sales funnel automatically.</a:t>
            </a:r>
            <a:endParaRPr sz="1200" b="0" i="0" u="none" strike="noStrike" cap="none" dirty="0">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76" name="Google Shape;376;p10"/>
          <p:cNvSpPr txBox="1"/>
          <p:nvPr/>
        </p:nvSpPr>
        <p:spPr>
          <a:xfrm>
            <a:off x="7324345" y="6046927"/>
            <a:ext cx="4105656" cy="35295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200" b="0" i="0" u="none" strike="noStrike" cap="none">
                <a:solidFill>
                  <a:srgbClr val="F8FAFC"/>
                </a:solidFill>
                <a:latin typeface="Open Sans" panose="020B0606030504020204" pitchFamily="34" charset="0"/>
                <a:ea typeface="Open Sans" panose="020B0606030504020204" pitchFamily="34" charset="0"/>
                <a:cs typeface="Open Sans" panose="020B0606030504020204" pitchFamily="34" charset="0"/>
                <a:sym typeface="Inter"/>
              </a:rPr>
              <a:t>Ensure every interaction aligns with your brand identity while providing accurate, compliant responses.</a:t>
            </a:r>
            <a:endParaRPr sz="1200" b="0" i="0" u="none" strike="noStrike" cap="none">
              <a:solidFill>
                <a:schemeClr val="dk1"/>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pic>
        <p:nvPicPr>
          <p:cNvPr id="377" name="Google Shape;377;p10" descr="preencoded.png"/>
          <p:cNvPicPr preferRelativeResize="0"/>
          <p:nvPr/>
        </p:nvPicPr>
        <p:blipFill rotWithShape="1">
          <a:blip r:embed="rId3">
            <a:alphaModFix/>
          </a:blip>
          <a:srcRect/>
          <a:stretch/>
        </p:blipFill>
        <p:spPr>
          <a:xfrm>
            <a:off x="1619402" y="2000707"/>
            <a:ext cx="2857500" cy="2857500"/>
          </a:xfrm>
          <a:prstGeom prst="rect">
            <a:avLst/>
          </a:prstGeom>
          <a:noFill/>
          <a:ln>
            <a:noFill/>
          </a:ln>
        </p:spPr>
      </p:pic>
      <p:sp>
        <p:nvSpPr>
          <p:cNvPr id="378" name="Google Shape;378;p10"/>
          <p:cNvSpPr/>
          <p:nvPr/>
        </p:nvSpPr>
        <p:spPr>
          <a:xfrm>
            <a:off x="2190902" y="2572207"/>
            <a:ext cx="1714500" cy="1714500"/>
          </a:xfrm>
          <a:prstGeom prst="ellipse">
            <a:avLst/>
          </a:prstGeom>
          <a:blipFill>
            <a:blip r:embed="rId4"/>
            <a:stretch>
              <a:fillRect l="-19894" t="-1487" r="-16320" b="-3259"/>
            </a:stretch>
          </a:blipFill>
          <a:ln w="25400" cap="flat" cmpd="sng">
            <a:solidFill>
              <a:srgbClr val="A855F7"/>
            </a:solidFill>
            <a:prstDash val="solid"/>
            <a:round/>
            <a:headEnd type="none" w="sm" len="sm"/>
            <a:tailEnd type="none" w="sm" len="sm"/>
          </a:ln>
          <a:effectLst>
            <a:outerShdw blurRad="571500" dist="12700" dir="16200000" algn="bl" rotWithShape="0">
              <a:srgbClr val="A855F7">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9" name="Google Shape;379;p10"/>
          <p:cNvSpPr/>
          <p:nvPr/>
        </p:nvSpPr>
        <p:spPr>
          <a:xfrm>
            <a:off x="3429000" y="2895905"/>
            <a:ext cx="152705" cy="152705"/>
          </a:xfrm>
          <a:prstGeom prst="roundRect">
            <a:avLst>
              <a:gd name="adj" fmla="val 598802"/>
            </a:avLst>
          </a:prstGeom>
          <a:solidFill>
            <a:schemeClr val="tx2">
              <a:alpha val="88627"/>
            </a:schemeClr>
          </a:solidFill>
          <a:ln w="25400" cap="flat" cmpd="sng">
            <a:solidFill>
              <a:srgbClr val="AA9F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0"/>
          <p:cNvSpPr/>
          <p:nvPr/>
        </p:nvSpPr>
        <p:spPr>
          <a:xfrm>
            <a:off x="3785616" y="1614830"/>
            <a:ext cx="886054" cy="381305"/>
          </a:xfrm>
          <a:prstGeom prst="roundRect">
            <a:avLst>
              <a:gd name="adj" fmla="val 119904"/>
            </a:avLst>
          </a:prstGeom>
          <a:solidFill>
            <a:srgbClr val="FFFFFF"/>
          </a:solidFill>
          <a:ln>
            <a:noFill/>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0"/>
          <p:cNvSpPr txBox="1"/>
          <p:nvPr/>
        </p:nvSpPr>
        <p:spPr>
          <a:xfrm>
            <a:off x="3938321" y="1719072"/>
            <a:ext cx="255118"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900" b="1" i="0" u="none" strike="noStrike" cap="none" dirty="0">
                <a:latin typeface="Inter"/>
                <a:ea typeface="Inter"/>
                <a:cs typeface="Inter"/>
                <a:sym typeface="Inter"/>
              </a:rPr>
              <a:t>🇺🇸</a:t>
            </a:r>
            <a:endParaRPr sz="900" b="0" i="0" u="none" strike="noStrike" cap="none" dirty="0">
              <a:latin typeface="Calibri"/>
              <a:ea typeface="Calibri"/>
              <a:cs typeface="Calibri"/>
              <a:sym typeface="Calibri"/>
            </a:endParaRPr>
          </a:p>
        </p:txBody>
      </p:sp>
      <p:sp>
        <p:nvSpPr>
          <p:cNvPr id="382" name="Google Shape;382;p10"/>
          <p:cNvSpPr txBox="1"/>
          <p:nvPr/>
        </p:nvSpPr>
        <p:spPr>
          <a:xfrm>
            <a:off x="4169664" y="1709928"/>
            <a:ext cx="445313"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900" b="1" i="0" u="none" strike="noStrike" cap="none" dirty="0">
                <a:latin typeface="Inter"/>
                <a:ea typeface="Inter"/>
                <a:cs typeface="Inter"/>
                <a:sym typeface="Inter"/>
              </a:rPr>
              <a:t>Hello!</a:t>
            </a:r>
            <a:endParaRPr sz="900" b="0" i="0" u="none" strike="noStrike" cap="none" dirty="0">
              <a:latin typeface="Calibri"/>
              <a:ea typeface="Calibri"/>
              <a:cs typeface="Calibri"/>
              <a:sym typeface="Calibri"/>
            </a:endParaRPr>
          </a:p>
        </p:txBody>
      </p:sp>
      <p:sp>
        <p:nvSpPr>
          <p:cNvPr id="383" name="Google Shape;383;p10"/>
          <p:cNvSpPr/>
          <p:nvPr/>
        </p:nvSpPr>
        <p:spPr>
          <a:xfrm>
            <a:off x="1238098" y="4600346"/>
            <a:ext cx="895198" cy="381305"/>
          </a:xfrm>
          <a:prstGeom prst="roundRect">
            <a:avLst>
              <a:gd name="adj" fmla="val 119904"/>
            </a:avLst>
          </a:prstGeom>
          <a:solidFill>
            <a:srgbClr val="7C3AED"/>
          </a:solidFill>
          <a:ln>
            <a:noFill/>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0"/>
          <p:cNvSpPr txBox="1"/>
          <p:nvPr/>
        </p:nvSpPr>
        <p:spPr>
          <a:xfrm>
            <a:off x="1390802" y="4704588"/>
            <a:ext cx="255118"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a:t>
            </a:r>
            <a:endParaRPr sz="900" b="0" i="0" u="none" strike="noStrike" cap="none">
              <a:solidFill>
                <a:schemeClr val="dk1"/>
              </a:solidFill>
              <a:latin typeface="Calibri"/>
              <a:ea typeface="Calibri"/>
              <a:cs typeface="Calibri"/>
              <a:sym typeface="Calibri"/>
            </a:endParaRPr>
          </a:p>
        </p:txBody>
      </p:sp>
      <p:sp>
        <p:nvSpPr>
          <p:cNvPr id="385" name="Google Shape;385;p10"/>
          <p:cNvSpPr txBox="1"/>
          <p:nvPr/>
        </p:nvSpPr>
        <p:spPr>
          <a:xfrm>
            <a:off x="1621231" y="4695444"/>
            <a:ext cx="445313"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¡Hola!</a:t>
            </a:r>
            <a:endParaRPr sz="900" b="0" i="0" u="none" strike="noStrike" cap="none">
              <a:solidFill>
                <a:schemeClr val="dk1"/>
              </a:solidFill>
              <a:latin typeface="Calibri"/>
              <a:ea typeface="Calibri"/>
              <a:cs typeface="Calibri"/>
              <a:sym typeface="Calibri"/>
            </a:endParaRPr>
          </a:p>
        </p:txBody>
      </p:sp>
      <p:sp>
        <p:nvSpPr>
          <p:cNvPr id="386" name="Google Shape;386;p10"/>
          <p:cNvSpPr/>
          <p:nvPr/>
        </p:nvSpPr>
        <p:spPr>
          <a:xfrm>
            <a:off x="4427525" y="3338474"/>
            <a:ext cx="1009498" cy="381305"/>
          </a:xfrm>
          <a:prstGeom prst="roundRect">
            <a:avLst>
              <a:gd name="adj" fmla="val 119904"/>
            </a:avLst>
          </a:prstGeom>
          <a:solidFill>
            <a:srgbClr val="2563EB"/>
          </a:solidFill>
          <a:ln>
            <a:noFill/>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0"/>
          <p:cNvSpPr txBox="1"/>
          <p:nvPr/>
        </p:nvSpPr>
        <p:spPr>
          <a:xfrm>
            <a:off x="4580230" y="3443630"/>
            <a:ext cx="255118"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a:t>
            </a:r>
            <a:endParaRPr sz="900" b="0" i="0" u="none" strike="noStrike" cap="none">
              <a:solidFill>
                <a:schemeClr val="dk1"/>
              </a:solidFill>
              <a:latin typeface="Calibri"/>
              <a:ea typeface="Calibri"/>
              <a:cs typeface="Calibri"/>
              <a:sym typeface="Calibri"/>
            </a:endParaRPr>
          </a:p>
        </p:txBody>
      </p:sp>
      <p:sp>
        <p:nvSpPr>
          <p:cNvPr id="388" name="Google Shape;388;p10"/>
          <p:cNvSpPr txBox="1"/>
          <p:nvPr/>
        </p:nvSpPr>
        <p:spPr>
          <a:xfrm>
            <a:off x="4811573" y="3433572"/>
            <a:ext cx="559613"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00"/>
              <a:buFont typeface="Inter"/>
              <a:buNone/>
            </a:pPr>
            <a:r>
              <a:rPr lang="en-US" sz="900" b="1" i="0" u="none" strike="noStrike" cap="none">
                <a:solidFill>
                  <a:srgbClr val="FFFFFF"/>
                </a:solidFill>
                <a:latin typeface="Inter"/>
                <a:ea typeface="Inter"/>
                <a:cs typeface="Inter"/>
                <a:sym typeface="Inter"/>
              </a:rPr>
              <a:t>Bonjour</a:t>
            </a:r>
            <a:endParaRPr sz="900" b="0" i="0" u="none" strike="noStrike" cap="none">
              <a:solidFill>
                <a:schemeClr val="dk1"/>
              </a:solidFill>
              <a:latin typeface="Calibri"/>
              <a:ea typeface="Calibri"/>
              <a:cs typeface="Calibri"/>
              <a:sym typeface="Calibri"/>
            </a:endParaRPr>
          </a:p>
        </p:txBody>
      </p:sp>
      <p:sp>
        <p:nvSpPr>
          <p:cNvPr id="389" name="Google Shape;389;p10"/>
          <p:cNvSpPr/>
          <p:nvPr/>
        </p:nvSpPr>
        <p:spPr>
          <a:xfrm>
            <a:off x="761695" y="2478024"/>
            <a:ext cx="866851" cy="400507"/>
          </a:xfrm>
          <a:prstGeom prst="roundRect">
            <a:avLst>
              <a:gd name="adj" fmla="val 108719"/>
            </a:avLst>
          </a:prstGeom>
          <a:noFill/>
          <a:ln w="12700" cap="flat" cmpd="sng">
            <a:solidFill>
              <a:srgbClr val="E5E7EB"/>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0"/>
          <p:cNvSpPr txBox="1"/>
          <p:nvPr/>
        </p:nvSpPr>
        <p:spPr>
          <a:xfrm>
            <a:off x="923544" y="2592324"/>
            <a:ext cx="255118" cy="152705"/>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900" b="1" i="0" u="none" strike="noStrike" cap="none">
                <a:solidFill>
                  <a:srgbClr val="F8FAFC"/>
                </a:solidFill>
                <a:latin typeface="Inter"/>
                <a:ea typeface="Inter"/>
                <a:cs typeface="Inter"/>
                <a:sym typeface="Inter"/>
              </a:rPr>
              <a:t>🇩🇪</a:t>
            </a:r>
            <a:endParaRPr sz="900" b="0" i="0" u="none" strike="noStrike" cap="none">
              <a:solidFill>
                <a:schemeClr val="dk1"/>
              </a:solidFill>
              <a:latin typeface="Calibri"/>
              <a:ea typeface="Calibri"/>
              <a:cs typeface="Calibri"/>
              <a:sym typeface="Calibri"/>
            </a:endParaRPr>
          </a:p>
        </p:txBody>
      </p:sp>
      <p:sp>
        <p:nvSpPr>
          <p:cNvPr id="391" name="Google Shape;391;p10"/>
          <p:cNvSpPr txBox="1"/>
          <p:nvPr/>
        </p:nvSpPr>
        <p:spPr>
          <a:xfrm>
            <a:off x="1154887" y="2583180"/>
            <a:ext cx="397764"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900"/>
              <a:buFont typeface="Inter"/>
              <a:buNone/>
            </a:pPr>
            <a:r>
              <a:rPr lang="en-US" sz="900" b="1" i="0" u="none" strike="noStrike" cap="none">
                <a:solidFill>
                  <a:srgbClr val="F8FAFC"/>
                </a:solidFill>
                <a:latin typeface="Inter"/>
                <a:ea typeface="Inter"/>
                <a:cs typeface="Inter"/>
                <a:sym typeface="Inter"/>
              </a:rPr>
              <a:t>Hallo</a:t>
            </a:r>
            <a:endParaRPr sz="900" b="0" i="0" u="none" strike="noStrike" cap="none">
              <a:solidFill>
                <a:schemeClr val="dk1"/>
              </a:solidFill>
              <a:latin typeface="Calibri"/>
              <a:ea typeface="Calibri"/>
              <a:cs typeface="Calibri"/>
              <a:sym typeface="Calibri"/>
            </a:endParaRPr>
          </a:p>
        </p:txBody>
      </p:sp>
      <p:pic>
        <p:nvPicPr>
          <p:cNvPr id="4" name="Image 1" descr="preencoded.png">
            <a:extLst>
              <a:ext uri="{FF2B5EF4-FFF2-40B4-BE49-F238E27FC236}">
                <a16:creationId xmlns:a16="http://schemas.microsoft.com/office/drawing/2014/main" id="{422FB957-32E2-AA41-CE2A-22067B1AC93B}"/>
              </a:ext>
            </a:extLst>
          </p:cNvPr>
          <p:cNvPicPr>
            <a:picLocks noChangeAspect="1"/>
          </p:cNvPicPr>
          <p:nvPr/>
        </p:nvPicPr>
        <p:blipFill>
          <a:blip r:embed="rId5"/>
          <a:stretch>
            <a:fillRect/>
          </a:stretch>
        </p:blipFill>
        <p:spPr>
          <a:xfrm>
            <a:off x="609600" y="1066800"/>
            <a:ext cx="914400" cy="38100"/>
          </a:xfrm>
          <a:prstGeom prst="rect">
            <a:avLst/>
          </a:prstGeom>
        </p:spPr>
      </p:pic>
      <p:sp>
        <p:nvSpPr>
          <p:cNvPr id="5" name="Text 0">
            <a:extLst>
              <a:ext uri="{FF2B5EF4-FFF2-40B4-BE49-F238E27FC236}">
                <a16:creationId xmlns:a16="http://schemas.microsoft.com/office/drawing/2014/main" id="{546EEDA5-5BAB-B590-C2EA-4A11BD5C1E69}"/>
              </a:ext>
            </a:extLst>
          </p:cNvPr>
          <p:cNvSpPr/>
          <p:nvPr/>
        </p:nvSpPr>
        <p:spPr>
          <a:xfrm>
            <a:off x="609600" y="609600"/>
            <a:ext cx="11277600" cy="381000"/>
          </a:xfrm>
          <a:prstGeom prst="rect">
            <a:avLst/>
          </a:prstGeom>
          <a:noFill/>
          <a:ln/>
        </p:spPr>
        <p:txBody>
          <a:bodyPr vert="horz" wrap="square" lIns="0" tIns="0" rIns="0" bIns="0" rtlCol="0" anchor="t"/>
          <a:lstStyle/>
          <a:p>
            <a:pPr>
              <a:lnSpc>
                <a:spcPts val="3000"/>
              </a:lnSpc>
            </a:pPr>
            <a:r>
              <a:rPr lang="en-US" sz="2700" b="1" dirty="0">
                <a:solidFill>
                  <a:srgbClr val="FFFFFF"/>
                </a:solidFill>
                <a:latin typeface="Montserrat" pitchFamily="34" charset="0"/>
                <a:ea typeface="Montserrat" pitchFamily="34" charset="-122"/>
                <a:cs typeface="Montserrat" pitchFamily="34" charset="-120"/>
              </a:rPr>
              <a:t>Engage &amp; Convert 24/7 Worldwide.</a:t>
            </a:r>
          </a:p>
        </p:txBody>
      </p:sp>
      <p:sp>
        <p:nvSpPr>
          <p:cNvPr id="6" name="Google Shape;20;p3">
            <a:extLst>
              <a:ext uri="{FF2B5EF4-FFF2-40B4-BE49-F238E27FC236}">
                <a16:creationId xmlns:a16="http://schemas.microsoft.com/office/drawing/2014/main" id="{8E6CDDF2-55C6-AC0F-625E-16F707A85EE4}"/>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 name="Picture 6">
            <a:extLst>
              <a:ext uri="{FF2B5EF4-FFF2-40B4-BE49-F238E27FC236}">
                <a16:creationId xmlns:a16="http://schemas.microsoft.com/office/drawing/2014/main" id="{394F15A4-364E-1A9D-485A-90AC562EBE8B}"/>
              </a:ext>
            </a:extLst>
          </p:cNvPr>
          <p:cNvPicPr>
            <a:picLocks noChangeAspect="1"/>
          </p:cNvPicPr>
          <p:nvPr/>
        </p:nvPicPr>
        <p:blipFill>
          <a:blip r:embed="rId6"/>
          <a:srcRect/>
          <a:stretch/>
        </p:blipFill>
        <p:spPr>
          <a:xfrm>
            <a:off x="11734800" y="6432614"/>
            <a:ext cx="317806" cy="3178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6" name="Google Shape;516;p13"/>
          <p:cNvSpPr/>
          <p:nvPr/>
        </p:nvSpPr>
        <p:spPr>
          <a:xfrm>
            <a:off x="1218895" y="-1429207"/>
            <a:ext cx="8572500" cy="8572500"/>
          </a:xfrm>
          <a:prstGeom prst="ellipse">
            <a:avLst/>
          </a:prstGeom>
          <a:solidFill>
            <a:srgbClr val="1E3A8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3353105" y="1143000"/>
            <a:ext cx="7619695" cy="7619695"/>
          </a:xfrm>
          <a:prstGeom prst="ellipse">
            <a:avLst/>
          </a:prstGeom>
          <a:solidFill>
            <a:srgbClr val="581C87">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13"/>
          <p:cNvSpPr/>
          <p:nvPr/>
        </p:nvSpPr>
        <p:spPr>
          <a:xfrm>
            <a:off x="4876495" y="2743200"/>
            <a:ext cx="3810305" cy="3810305"/>
          </a:xfrm>
          <a:prstGeom prst="ellipse">
            <a:avLst/>
          </a:prstGeom>
          <a:solidFill>
            <a:srgbClr val="3B82F6">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3"/>
          <p:cNvSpPr/>
          <p:nvPr/>
        </p:nvSpPr>
        <p:spPr>
          <a:xfrm>
            <a:off x="9318550" y="163678"/>
            <a:ext cx="2734056" cy="333756"/>
          </a:xfrm>
          <a:prstGeom prst="roundRect">
            <a:avLst>
              <a:gd name="adj" fmla="val 273973"/>
            </a:avLst>
          </a:prstGeom>
          <a:noFill/>
          <a:ln w="12700" cap="flat" cmpd="sng">
            <a:solidFill>
              <a:srgbClr val="E5E7EB"/>
            </a:solidFill>
            <a:prstDash val="solid"/>
            <a:round/>
            <a:headEnd type="none" w="sm" len="sm"/>
            <a:tailEnd type="none" w="sm" len="sm"/>
          </a:ln>
          <a:effectLst>
            <a:outerShdw blurRad="12700" dist="12700" dir="16200000" algn="bl" rotWithShape="0">
              <a:srgbClr val="000000">
                <a:alpha val="74901"/>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3"/>
          <p:cNvSpPr txBox="1"/>
          <p:nvPr/>
        </p:nvSpPr>
        <p:spPr>
          <a:xfrm>
            <a:off x="9724544" y="249631"/>
            <a:ext cx="2224735" cy="162763"/>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0A5FA"/>
              </a:buClr>
              <a:buSzPts val="1000"/>
              <a:buFont typeface="Inter"/>
              <a:buNone/>
            </a:pPr>
            <a:r>
              <a:rPr lang="en-US" sz="1000" b="1" i="0" u="none" strike="noStrike" cap="none" dirty="0">
                <a:solidFill>
                  <a:srgbClr val="FFFFFF"/>
                </a:solidFill>
                <a:latin typeface="Inter"/>
                <a:ea typeface="Inter"/>
                <a:cs typeface="Inter"/>
                <a:sym typeface="Inter"/>
              </a:rPr>
              <a:t>TRANSFORMATION AWAITS</a:t>
            </a:r>
            <a:endParaRPr sz="1000" b="0" i="0" u="none" strike="noStrike" cap="none" dirty="0">
              <a:solidFill>
                <a:srgbClr val="FFFFFF"/>
              </a:solidFill>
              <a:latin typeface="Calibri"/>
              <a:ea typeface="Calibri"/>
              <a:cs typeface="Calibri"/>
              <a:sym typeface="Calibri"/>
            </a:endParaRPr>
          </a:p>
        </p:txBody>
      </p:sp>
      <p:sp>
        <p:nvSpPr>
          <p:cNvPr id="521" name="Google Shape;521;p13"/>
          <p:cNvSpPr txBox="1"/>
          <p:nvPr/>
        </p:nvSpPr>
        <p:spPr>
          <a:xfrm>
            <a:off x="3580790" y="2145182"/>
            <a:ext cx="5181905"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8FAFC"/>
              </a:buClr>
              <a:buSzPts val="1500"/>
              <a:buFont typeface="Inter"/>
              <a:buNone/>
            </a:pPr>
            <a:r>
              <a:rPr lang="en-US" sz="1500" b="0" i="0" u="none" strike="noStrike" cap="none">
                <a:solidFill>
                  <a:srgbClr val="F8FAFC"/>
                </a:solidFill>
                <a:latin typeface="Inter"/>
                <a:ea typeface="Inter"/>
                <a:cs typeface="Inter"/>
                <a:sym typeface="Inter"/>
              </a:rPr>
              <a:t>Ready to unlock the full potential of AI for your business?</a:t>
            </a:r>
            <a:endParaRPr sz="1500" b="0" i="0" u="none" strike="noStrike" cap="none">
              <a:solidFill>
                <a:schemeClr val="dk1"/>
              </a:solidFill>
              <a:latin typeface="Calibri"/>
              <a:ea typeface="Calibri"/>
              <a:cs typeface="Calibri"/>
              <a:sym typeface="Calibri"/>
            </a:endParaRPr>
          </a:p>
        </p:txBody>
      </p:sp>
      <p:sp>
        <p:nvSpPr>
          <p:cNvPr id="522" name="Google Shape;522;p13"/>
          <p:cNvSpPr txBox="1"/>
          <p:nvPr/>
        </p:nvSpPr>
        <p:spPr>
          <a:xfrm>
            <a:off x="3722522" y="2412187"/>
            <a:ext cx="4896612"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8FAFC"/>
              </a:buClr>
              <a:buSzPts val="1500"/>
              <a:buFont typeface="Inter"/>
              <a:buNone/>
            </a:pPr>
            <a:r>
              <a:rPr lang="en-US" sz="1500" b="0" i="0" u="none" strike="noStrike" cap="none">
                <a:solidFill>
                  <a:srgbClr val="F8FAFC"/>
                </a:solidFill>
                <a:latin typeface="Inter"/>
                <a:ea typeface="Inter"/>
                <a:cs typeface="Inter"/>
                <a:sym typeface="Inter"/>
              </a:rPr>
              <a:t>Let’s build intelligent solutions that deliver real results.</a:t>
            </a:r>
            <a:endParaRPr sz="1500" b="0" i="0" u="none" strike="noStrike" cap="none">
              <a:solidFill>
                <a:schemeClr val="dk1"/>
              </a:solidFill>
              <a:latin typeface="Calibri"/>
              <a:ea typeface="Calibri"/>
              <a:cs typeface="Calibri"/>
              <a:sym typeface="Calibri"/>
            </a:endParaRPr>
          </a:p>
        </p:txBody>
      </p:sp>
      <p:sp>
        <p:nvSpPr>
          <p:cNvPr id="523" name="Google Shape;523;p13"/>
          <p:cNvSpPr/>
          <p:nvPr/>
        </p:nvSpPr>
        <p:spPr>
          <a:xfrm>
            <a:off x="1828800" y="3117190"/>
            <a:ext cx="2695651" cy="1943100"/>
          </a:xfrm>
          <a:prstGeom prst="roundRect">
            <a:avLst>
              <a:gd name="adj" fmla="val 3691"/>
            </a:avLst>
          </a:prstGeom>
          <a:solidFill>
            <a:srgbClr val="1E293B">
              <a:alpha val="40000"/>
            </a:srgbClr>
          </a:solidFill>
          <a:ln w="12700" cap="flat" cmpd="sng">
            <a:solidFill>
              <a:srgbClr val="94A3B8">
                <a:alpha val="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3"/>
          <p:cNvSpPr/>
          <p:nvPr/>
        </p:nvSpPr>
        <p:spPr>
          <a:xfrm>
            <a:off x="4749394" y="3117190"/>
            <a:ext cx="2695651" cy="1943100"/>
          </a:xfrm>
          <a:prstGeom prst="roundRect">
            <a:avLst>
              <a:gd name="adj" fmla="val 3691"/>
            </a:avLst>
          </a:prstGeom>
          <a:solidFill>
            <a:srgbClr val="1E293B">
              <a:alpha val="40000"/>
            </a:srgbClr>
          </a:solidFill>
          <a:ln w="12700" cap="flat" cmpd="sng">
            <a:solidFill>
              <a:srgbClr val="94A3B8">
                <a:alpha val="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3"/>
          <p:cNvSpPr/>
          <p:nvPr/>
        </p:nvSpPr>
        <p:spPr>
          <a:xfrm>
            <a:off x="7670902" y="3117190"/>
            <a:ext cx="2695651" cy="1943100"/>
          </a:xfrm>
          <a:prstGeom prst="roundRect">
            <a:avLst>
              <a:gd name="adj" fmla="val 3691"/>
            </a:avLst>
          </a:prstGeom>
          <a:solidFill>
            <a:srgbClr val="1E293B">
              <a:alpha val="40000"/>
            </a:srgbClr>
          </a:solidFill>
          <a:ln w="12700" cap="flat" cmpd="sng">
            <a:solidFill>
              <a:srgbClr val="94A3B8">
                <a:alpha val="980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3"/>
          <p:cNvSpPr/>
          <p:nvPr/>
        </p:nvSpPr>
        <p:spPr>
          <a:xfrm>
            <a:off x="2870302" y="3354934"/>
            <a:ext cx="609905" cy="609905"/>
          </a:xfrm>
          <a:prstGeom prst="roundRect">
            <a:avLst>
              <a:gd name="adj" fmla="val 46852"/>
            </a:avLst>
          </a:prstGeom>
          <a:solidFill>
            <a:srgbClr val="0F172A">
              <a:alpha val="60000"/>
            </a:srgbClr>
          </a:solidFill>
          <a:ln w="12700" cap="flat" cmpd="sng">
            <a:solidFill>
              <a:srgbClr val="FFFFFF">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txBox="1"/>
          <p:nvPr/>
        </p:nvSpPr>
        <p:spPr>
          <a:xfrm>
            <a:off x="2233879" y="4135831"/>
            <a:ext cx="1680286"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5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Save Time</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28" name="Google Shape;528;p13"/>
          <p:cNvSpPr txBox="1"/>
          <p:nvPr/>
        </p:nvSpPr>
        <p:spPr>
          <a:xfrm>
            <a:off x="5181905" y="4135831"/>
            <a:ext cx="1594824" cy="228600"/>
          </a:xfrm>
          <a:prstGeom prst="rect">
            <a:avLst/>
          </a:prstGeom>
          <a:noFill/>
          <a:ln>
            <a:noFill/>
          </a:ln>
        </p:spPr>
        <p:txBody>
          <a:bodyPr spcFirstLastPara="1" wrap="square" lIns="0" tIns="0" rIns="0" bIns="0" anchor="ctr" anchorCtr="0">
            <a:noAutofit/>
          </a:bodyPr>
          <a:lstStyle/>
          <a:p>
            <a:pPr algn="ctr">
              <a:buClr>
                <a:srgbClr val="FFFFFF"/>
              </a:buClr>
              <a:buSzPts val="1500"/>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Cut Costs</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29" name="Google Shape;529;p13"/>
          <p:cNvSpPr txBox="1"/>
          <p:nvPr/>
        </p:nvSpPr>
        <p:spPr>
          <a:xfrm>
            <a:off x="7692847" y="4135831"/>
            <a:ext cx="2843666" cy="228600"/>
          </a:xfrm>
          <a:prstGeom prst="rect">
            <a:avLst/>
          </a:prstGeom>
          <a:noFill/>
          <a:ln>
            <a:noFill/>
          </a:ln>
        </p:spPr>
        <p:txBody>
          <a:bodyPr spcFirstLastPara="1" wrap="square" lIns="0" tIns="0" rIns="0" bIns="0" anchor="ctr" anchorCtr="0">
            <a:noAutofit/>
          </a:bodyPr>
          <a:lstStyle/>
          <a:p>
            <a:pPr marR="0" lvl="0" indent="0" algn="ctr">
              <a:spcBef>
                <a:spcPts val="0"/>
              </a:spcBef>
              <a:spcAft>
                <a:spcPts val="0"/>
              </a:spcAft>
              <a:buClr>
                <a:srgbClr val="FFFFFF"/>
              </a:buClr>
              <a:buSzPts val="1500"/>
              <a:buFont typeface="Inter"/>
              <a:buNone/>
            </a:pPr>
            <a:r>
              <a:rPr lang="en-US"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Inter"/>
              </a:rPr>
              <a:t>Accelerate Growth</a:t>
            </a:r>
            <a:endParaRPr b="1" dirty="0">
              <a:solidFill>
                <a:srgbClr val="FFFFFF"/>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30" name="Google Shape;530;p13"/>
          <p:cNvSpPr txBox="1"/>
          <p:nvPr/>
        </p:nvSpPr>
        <p:spPr>
          <a:xfrm>
            <a:off x="2308860" y="4431182"/>
            <a:ext cx="1834286" cy="35295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8FAFC"/>
              </a:buClr>
              <a:buSzPts val="1000"/>
              <a:buFont typeface="Inter"/>
              <a:buNone/>
            </a:pPr>
            <a:r>
              <a:rPr lang="en-US" sz="1000" b="0" i="0" u="none" strike="noStrike" cap="none">
                <a:solidFill>
                  <a:srgbClr val="F8FAFC"/>
                </a:solidFill>
                <a:latin typeface="Inter"/>
                <a:ea typeface="Inter"/>
                <a:cs typeface="Inter"/>
                <a:sym typeface="Inter"/>
              </a:rPr>
              <a:t>Automate 80% of repetitive workflows.</a:t>
            </a:r>
            <a:endParaRPr sz="1000" b="0" i="0" u="none" strike="noStrike" cap="none">
              <a:solidFill>
                <a:schemeClr val="dk1"/>
              </a:solidFill>
              <a:latin typeface="Calibri"/>
              <a:ea typeface="Calibri"/>
              <a:cs typeface="Calibri"/>
              <a:sym typeface="Calibri"/>
            </a:endParaRPr>
          </a:p>
        </p:txBody>
      </p:sp>
      <p:sp>
        <p:nvSpPr>
          <p:cNvPr id="531" name="Google Shape;531;p13"/>
          <p:cNvSpPr txBox="1"/>
          <p:nvPr/>
        </p:nvSpPr>
        <p:spPr>
          <a:xfrm>
            <a:off x="5170018" y="4431182"/>
            <a:ext cx="1957730" cy="35295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8FAFC"/>
              </a:buClr>
              <a:buSzPts val="1000"/>
              <a:buFont typeface="Inter"/>
              <a:buNone/>
            </a:pPr>
            <a:r>
              <a:rPr lang="en-US" sz="1000" b="0" i="0" u="none" strike="noStrike" cap="none">
                <a:solidFill>
                  <a:srgbClr val="F8FAFC"/>
                </a:solidFill>
                <a:latin typeface="Inter"/>
                <a:ea typeface="Inter"/>
                <a:cs typeface="Inter"/>
                <a:sym typeface="Inter"/>
              </a:rPr>
              <a:t>Reduce operational overhead significantly.</a:t>
            </a:r>
            <a:endParaRPr sz="1000" b="0" i="0" u="none" strike="noStrike" cap="none">
              <a:solidFill>
                <a:schemeClr val="dk1"/>
              </a:solidFill>
              <a:latin typeface="Calibri"/>
              <a:ea typeface="Calibri"/>
              <a:cs typeface="Calibri"/>
              <a:sym typeface="Calibri"/>
            </a:endParaRPr>
          </a:p>
        </p:txBody>
      </p:sp>
      <p:sp>
        <p:nvSpPr>
          <p:cNvPr id="532" name="Google Shape;532;p13"/>
          <p:cNvSpPr txBox="1"/>
          <p:nvPr/>
        </p:nvSpPr>
        <p:spPr>
          <a:xfrm>
            <a:off x="8075066" y="4431182"/>
            <a:ext cx="1986077" cy="35295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8FAFC"/>
              </a:buClr>
              <a:buSzPts val="1000"/>
              <a:buFont typeface="Inter"/>
              <a:buNone/>
            </a:pPr>
            <a:r>
              <a:rPr lang="en-US" sz="1000" b="0" i="0" u="none" strike="noStrike" cap="none">
                <a:solidFill>
                  <a:srgbClr val="F8FAFC"/>
                </a:solidFill>
                <a:latin typeface="Inter"/>
                <a:ea typeface="Inter"/>
                <a:cs typeface="Inter"/>
                <a:sym typeface="Inter"/>
              </a:rPr>
              <a:t>Scale revenue without scaling headcount.</a:t>
            </a:r>
            <a:endParaRPr sz="1000" b="0" i="0" u="none" strike="noStrike" cap="none">
              <a:solidFill>
                <a:schemeClr val="dk1"/>
              </a:solidFill>
              <a:latin typeface="Calibri"/>
              <a:ea typeface="Calibri"/>
              <a:cs typeface="Calibri"/>
              <a:sym typeface="Calibri"/>
            </a:endParaRPr>
          </a:p>
        </p:txBody>
      </p:sp>
      <p:sp>
        <p:nvSpPr>
          <p:cNvPr id="533" name="Google Shape;533;p13"/>
          <p:cNvSpPr/>
          <p:nvPr/>
        </p:nvSpPr>
        <p:spPr>
          <a:xfrm>
            <a:off x="5790895" y="3354934"/>
            <a:ext cx="609905" cy="609905"/>
          </a:xfrm>
          <a:prstGeom prst="roundRect">
            <a:avLst>
              <a:gd name="adj" fmla="val 46852"/>
            </a:avLst>
          </a:prstGeom>
          <a:solidFill>
            <a:srgbClr val="0F172A">
              <a:alpha val="60000"/>
            </a:srgbClr>
          </a:solidFill>
          <a:ln w="12700" cap="flat" cmpd="sng">
            <a:solidFill>
              <a:srgbClr val="FFFFFF">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3"/>
          <p:cNvSpPr/>
          <p:nvPr/>
        </p:nvSpPr>
        <p:spPr>
          <a:xfrm>
            <a:off x="8712403" y="3354934"/>
            <a:ext cx="609905" cy="609905"/>
          </a:xfrm>
          <a:prstGeom prst="roundRect">
            <a:avLst>
              <a:gd name="adj" fmla="val 46852"/>
            </a:avLst>
          </a:prstGeom>
          <a:solidFill>
            <a:srgbClr val="0F172A">
              <a:alpha val="60000"/>
            </a:srgbClr>
          </a:solidFill>
          <a:ln w="12700" cap="flat" cmpd="sng">
            <a:solidFill>
              <a:srgbClr val="FFFFFF">
                <a:alpha val="9803"/>
              </a:srgbClr>
            </a:solidFill>
            <a:prstDash val="solid"/>
            <a:round/>
            <a:headEnd type="none" w="sm" len="sm"/>
            <a:tailEnd type="none" w="sm" len="sm"/>
          </a:ln>
          <a:effectLst>
            <a:outerShdw blurRad="63500" dist="38100" dir="5400000" algn="bl" rotWithShape="0">
              <a:srgbClr val="000000">
                <a:alpha val="980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roup 8">
            <a:extLst>
              <a:ext uri="{FF2B5EF4-FFF2-40B4-BE49-F238E27FC236}">
                <a16:creationId xmlns:a16="http://schemas.microsoft.com/office/drawing/2014/main" id="{8236B6EE-C94B-5FAD-6732-2DFE4642A6FA}"/>
              </a:ext>
            </a:extLst>
          </p:cNvPr>
          <p:cNvGrpSpPr/>
          <p:nvPr/>
        </p:nvGrpSpPr>
        <p:grpSpPr>
          <a:xfrm>
            <a:off x="4315968" y="5379492"/>
            <a:ext cx="3562502" cy="676656"/>
            <a:chOff x="4315968" y="5517490"/>
            <a:chExt cx="3562502" cy="676656"/>
          </a:xfrm>
        </p:grpSpPr>
        <p:sp>
          <p:nvSpPr>
            <p:cNvPr id="535" name="Google Shape;535;p13">
              <a:hlinkClick r:id="rId3"/>
            </p:cNvPr>
            <p:cNvSpPr/>
            <p:nvPr/>
          </p:nvSpPr>
          <p:spPr>
            <a:xfrm>
              <a:off x="4315968" y="5517490"/>
              <a:ext cx="3562502" cy="676656"/>
            </a:xfrm>
            <a:prstGeom prst="roundRect">
              <a:avLst>
                <a:gd name="adj" fmla="val 135135"/>
              </a:avLst>
            </a:prstGeom>
            <a:solidFill>
              <a:schemeClr val="accent2">
                <a:lumMod val="75000"/>
              </a:schemeClr>
            </a:solidFill>
            <a:ln w="12700" cap="flat" cmpd="sng">
              <a:solidFill>
                <a:srgbClr val="FFFFFF">
                  <a:alpha val="14901"/>
                </a:srgbClr>
              </a:solidFill>
              <a:prstDash val="solid"/>
              <a:round/>
              <a:headEnd type="none" w="sm" len="sm"/>
              <a:tailEnd type="none" w="sm" len="sm"/>
            </a:ln>
            <a:effectLst>
              <a:outerShdw blurRad="241300" dist="12700" dir="16200000" algn="bl" rotWithShape="0">
                <a:srgbClr val="3B82F6">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a:hlinkClick r:id="rId3"/>
            </p:cNvPr>
            <p:cNvSpPr/>
            <p:nvPr/>
          </p:nvSpPr>
          <p:spPr>
            <a:xfrm>
              <a:off x="5041900" y="5517490"/>
              <a:ext cx="2403145" cy="657454"/>
            </a:xfrm>
            <a:prstGeom prst="rect">
              <a:avLst/>
            </a:prstGeom>
            <a:solidFill>
              <a:srgbClr val="AA9FEB">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txBox="1"/>
            <p:nvPr/>
          </p:nvSpPr>
          <p:spPr>
            <a:xfrm>
              <a:off x="5215025" y="5726887"/>
              <a:ext cx="2214677" cy="24780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Inter"/>
                <a:buNone/>
              </a:pPr>
              <a:r>
                <a:rPr lang="en-US" sz="1600" b="1" i="0" u="none" strike="noStrike" cap="none" dirty="0">
                  <a:solidFill>
                    <a:srgbClr val="FFFFFF"/>
                  </a:solidFill>
                  <a:latin typeface="Inter"/>
                  <a:ea typeface="Inter"/>
                  <a:cs typeface="Inter"/>
                  <a:sym typeface="Inter"/>
                </a:rPr>
                <a:t>Book a Strategy Call</a:t>
              </a:r>
              <a:endParaRPr sz="1600" b="0" i="0" u="none" strike="noStrike" cap="none" dirty="0">
                <a:solidFill>
                  <a:schemeClr val="dk1"/>
                </a:solidFill>
                <a:latin typeface="Calibri"/>
                <a:ea typeface="Calibri"/>
                <a:cs typeface="Calibri"/>
                <a:sym typeface="Calibri"/>
              </a:endParaRPr>
            </a:p>
          </p:txBody>
        </p:sp>
      </p:grpSp>
      <p:sp>
        <p:nvSpPr>
          <p:cNvPr id="544" name="Google Shape;544;p13"/>
          <p:cNvSpPr txBox="1"/>
          <p:nvPr/>
        </p:nvSpPr>
        <p:spPr>
          <a:xfrm>
            <a:off x="4626153" y="6420002"/>
            <a:ext cx="1548079"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000" b="0" i="0" u="none" strike="noStrike" cap="none" dirty="0">
                <a:solidFill>
                  <a:srgbClr val="F8FAFC"/>
                </a:solidFill>
                <a:latin typeface="Inter"/>
                <a:ea typeface="Inter"/>
                <a:cs typeface="Inter"/>
                <a:sym typeface="Inter"/>
              </a:rPr>
              <a:t>eze@massapro.com</a:t>
            </a:r>
            <a:endParaRPr sz="1000" b="0" i="0" u="none" strike="noStrike" cap="none" dirty="0">
              <a:solidFill>
                <a:schemeClr val="dk1"/>
              </a:solidFill>
              <a:latin typeface="Calibri"/>
              <a:ea typeface="Calibri"/>
              <a:cs typeface="Calibri"/>
              <a:sym typeface="Calibri"/>
            </a:endParaRPr>
          </a:p>
        </p:txBody>
      </p:sp>
      <p:sp>
        <p:nvSpPr>
          <p:cNvPr id="545" name="Google Shape;545;p13"/>
          <p:cNvSpPr txBox="1"/>
          <p:nvPr/>
        </p:nvSpPr>
        <p:spPr>
          <a:xfrm>
            <a:off x="6865518" y="6420002"/>
            <a:ext cx="1090879"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000" b="0" i="0" u="none" strike="noStrike" cap="none">
                <a:solidFill>
                  <a:srgbClr val="F8FAFC"/>
                </a:solidFill>
                <a:latin typeface="Inter"/>
                <a:ea typeface="Inter"/>
                <a:cs typeface="Inter"/>
                <a:sym typeface="Inter"/>
              </a:rPr>
              <a:t>massapro.com</a:t>
            </a:r>
            <a:endParaRPr sz="1000" b="0" i="0" u="none" strike="noStrike" cap="none">
              <a:solidFill>
                <a:schemeClr val="dk1"/>
              </a:solidFill>
              <a:latin typeface="Calibri"/>
              <a:ea typeface="Calibri"/>
              <a:cs typeface="Calibri"/>
              <a:sym typeface="Calibri"/>
            </a:endParaRPr>
          </a:p>
        </p:txBody>
      </p:sp>
      <p:sp>
        <p:nvSpPr>
          <p:cNvPr id="2" name="Google Shape;20;p3">
            <a:extLst>
              <a:ext uri="{FF2B5EF4-FFF2-40B4-BE49-F238E27FC236}">
                <a16:creationId xmlns:a16="http://schemas.microsoft.com/office/drawing/2014/main" id="{354944E0-B5CB-3974-F681-36F99094C380}"/>
              </a:ext>
            </a:extLst>
          </p:cNvPr>
          <p:cNvSpPr/>
          <p:nvPr/>
        </p:nvSpPr>
        <p:spPr>
          <a:xfrm>
            <a:off x="11656111" y="6336273"/>
            <a:ext cx="495605" cy="495605"/>
          </a:xfrm>
          <a:prstGeom prst="roundRect">
            <a:avLst>
              <a:gd name="adj" fmla="val 47962"/>
            </a:avLst>
          </a:prstGeom>
          <a:gradFill flip="none" rotWithShape="1">
            <a:gsLst>
              <a:gs pos="10000">
                <a:srgbClr val="4E3FC6"/>
              </a:gs>
              <a:gs pos="69000">
                <a:schemeClr val="accent1">
                  <a:lumMod val="45000"/>
                  <a:lumOff val="55000"/>
                </a:schemeClr>
              </a:gs>
              <a:gs pos="100000">
                <a:srgbClr val="9F92E8"/>
              </a:gs>
            </a:gsLst>
            <a:lin ang="16200000" scaled="1"/>
            <a:tileRect/>
          </a:gradFill>
          <a:ln>
            <a:noFill/>
          </a:ln>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9C0D4DA7-9D42-ECF9-6044-22F3B52C5B55}"/>
              </a:ext>
            </a:extLst>
          </p:cNvPr>
          <p:cNvPicPr>
            <a:picLocks noChangeAspect="1"/>
          </p:cNvPicPr>
          <p:nvPr/>
        </p:nvPicPr>
        <p:blipFill>
          <a:blip r:embed="rId4"/>
          <a:srcRect/>
          <a:stretch/>
        </p:blipFill>
        <p:spPr>
          <a:xfrm>
            <a:off x="11734800" y="6432614"/>
            <a:ext cx="317806" cy="317806"/>
          </a:xfrm>
          <a:prstGeom prst="rect">
            <a:avLst/>
          </a:prstGeom>
        </p:spPr>
      </p:pic>
      <p:sp>
        <p:nvSpPr>
          <p:cNvPr id="4" name="Text 2">
            <a:extLst>
              <a:ext uri="{FF2B5EF4-FFF2-40B4-BE49-F238E27FC236}">
                <a16:creationId xmlns:a16="http://schemas.microsoft.com/office/drawing/2014/main" id="{085A6681-7FCD-67E8-6550-CE00D8958BCE}"/>
              </a:ext>
            </a:extLst>
          </p:cNvPr>
          <p:cNvSpPr/>
          <p:nvPr/>
        </p:nvSpPr>
        <p:spPr>
          <a:xfrm>
            <a:off x="1762125" y="947278"/>
            <a:ext cx="8534400" cy="914400"/>
          </a:xfrm>
          <a:prstGeom prst="rect">
            <a:avLst/>
          </a:prstGeom>
          <a:noFill/>
          <a:ln/>
        </p:spPr>
        <p:txBody>
          <a:bodyPr vert="horz" wrap="square" lIns="0" tIns="0" rIns="0" bIns="0" rtlCol="0" anchor="t"/>
          <a:lstStyle/>
          <a:p>
            <a:pPr marL="0" indent="0" algn="ctr">
              <a:lnSpc>
                <a:spcPts val="3600"/>
              </a:lnSpc>
              <a:buNone/>
            </a:pPr>
            <a:r>
              <a:rPr lang="en-US" sz="3600" b="1" dirty="0">
                <a:solidFill>
                  <a:srgbClr val="FFFFFF"/>
                </a:solidFill>
                <a:latin typeface="Montserrat" pitchFamily="34" charset="0"/>
                <a:ea typeface="Montserrat" pitchFamily="34" charset="-122"/>
                <a:cs typeface="Montserrat" pitchFamily="34" charset="-120"/>
              </a:rPr>
              <a:t>What are you still waiting for?</a:t>
            </a:r>
          </a:p>
        </p:txBody>
      </p:sp>
      <p:pic>
        <p:nvPicPr>
          <p:cNvPr id="5" name="Graphic 4">
            <a:extLst>
              <a:ext uri="{FF2B5EF4-FFF2-40B4-BE49-F238E27FC236}">
                <a16:creationId xmlns:a16="http://schemas.microsoft.com/office/drawing/2014/main" id="{FD84F84B-9F87-BF2D-8B09-2D40B60F49F1}"/>
              </a:ext>
            </a:extLst>
          </p:cNvPr>
          <p:cNvPicPr>
            <a:picLocks noChangeAspect="1"/>
          </p:cNvPicPr>
          <p:nvPr/>
        </p:nvPicPr>
        <p:blipFill rotWithShape="1">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b="38556"/>
          <a:stretch/>
        </p:blipFill>
        <p:spPr>
          <a:xfrm>
            <a:off x="5644262" y="3308804"/>
            <a:ext cx="932874" cy="573194"/>
          </a:xfrm>
          <a:prstGeom prst="rect">
            <a:avLst/>
          </a:prstGeom>
        </p:spPr>
      </p:pic>
      <p:pic>
        <p:nvPicPr>
          <p:cNvPr id="6" name="Graphic 5">
            <a:extLst>
              <a:ext uri="{FF2B5EF4-FFF2-40B4-BE49-F238E27FC236}">
                <a16:creationId xmlns:a16="http://schemas.microsoft.com/office/drawing/2014/main" id="{78A0D268-074F-2366-8422-43A9C9F33A72}"/>
              </a:ext>
            </a:extLst>
          </p:cNvPr>
          <p:cNvPicPr>
            <a:picLocks noChangeAspect="1"/>
          </p:cNvPicPr>
          <p:nvPr/>
        </p:nvPicPr>
        <p:blipFill rotWithShape="1">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b="35628"/>
          <a:stretch/>
        </p:blipFill>
        <p:spPr>
          <a:xfrm>
            <a:off x="2675422" y="3258003"/>
            <a:ext cx="1019126" cy="656035"/>
          </a:xfrm>
          <a:prstGeom prst="rect">
            <a:avLst/>
          </a:prstGeom>
        </p:spPr>
      </p:pic>
      <p:pic>
        <p:nvPicPr>
          <p:cNvPr id="7" name="Image 5" descr="preencoded.png">
            <a:extLst>
              <a:ext uri="{FF2B5EF4-FFF2-40B4-BE49-F238E27FC236}">
                <a16:creationId xmlns:a16="http://schemas.microsoft.com/office/drawing/2014/main" id="{469992D5-1A8D-DAE3-2292-86B72AE09864}"/>
              </a:ext>
            </a:extLst>
          </p:cNvPr>
          <p:cNvPicPr>
            <a:picLocks noChangeAspect="1"/>
          </p:cNvPicPr>
          <p:nvPr/>
        </p:nvPicPr>
        <p:blipFill>
          <a:blip r:embed="rId9">
            <a:duotone>
              <a:schemeClr val="accent3">
                <a:shade val="45000"/>
                <a:satMod val="135000"/>
              </a:schemeClr>
              <a:prstClr val="white"/>
            </a:duotone>
          </a:blip>
          <a:stretch>
            <a:fillRect/>
          </a:stretch>
        </p:blipFill>
        <p:spPr>
          <a:xfrm>
            <a:off x="6526276" y="6375350"/>
            <a:ext cx="285750" cy="285750"/>
          </a:xfrm>
          <a:prstGeom prst="rect">
            <a:avLst/>
          </a:prstGeom>
        </p:spPr>
      </p:pic>
      <p:pic>
        <p:nvPicPr>
          <p:cNvPr id="8" name="Image 7" descr="preencoded.png">
            <a:extLst>
              <a:ext uri="{FF2B5EF4-FFF2-40B4-BE49-F238E27FC236}">
                <a16:creationId xmlns:a16="http://schemas.microsoft.com/office/drawing/2014/main" id="{A0ED7795-3738-564A-DFE9-A35828F8BE6D}"/>
              </a:ext>
            </a:extLst>
          </p:cNvPr>
          <p:cNvPicPr>
            <a:picLocks noChangeAspect="1"/>
          </p:cNvPicPr>
          <p:nvPr/>
        </p:nvPicPr>
        <p:blipFill>
          <a:blip r:embed="rId10">
            <a:duotone>
              <a:schemeClr val="accent3">
                <a:shade val="45000"/>
                <a:satMod val="135000"/>
              </a:schemeClr>
              <a:prstClr val="white"/>
            </a:duotone>
          </a:blip>
          <a:stretch>
            <a:fillRect/>
          </a:stretch>
        </p:blipFill>
        <p:spPr>
          <a:xfrm>
            <a:off x="4241190" y="6375350"/>
            <a:ext cx="285750" cy="285750"/>
          </a:xfrm>
          <a:prstGeom prst="rect">
            <a:avLst/>
          </a:prstGeom>
        </p:spPr>
      </p:pic>
      <p:pic>
        <p:nvPicPr>
          <p:cNvPr id="11" name="Picture 10">
            <a:extLst>
              <a:ext uri="{FF2B5EF4-FFF2-40B4-BE49-F238E27FC236}">
                <a16:creationId xmlns:a16="http://schemas.microsoft.com/office/drawing/2014/main" id="{C8F3A36A-AEE3-FA26-D6B2-F1AF2555DD4E}"/>
              </a:ext>
            </a:extLst>
          </p:cNvPr>
          <p:cNvPicPr>
            <a:picLocks noChangeAspect="1"/>
          </p:cNvPicPr>
          <p:nvPr/>
        </p:nvPicPr>
        <p:blipFill>
          <a:blip r:embed="rId11"/>
          <a:stretch>
            <a:fillRect/>
          </a:stretch>
        </p:blipFill>
        <p:spPr>
          <a:xfrm>
            <a:off x="4507004" y="5492528"/>
            <a:ext cx="738360" cy="563620"/>
          </a:xfrm>
          <a:prstGeom prst="roundRect">
            <a:avLst/>
          </a:prstGeom>
        </p:spPr>
      </p:pic>
      <p:pic>
        <p:nvPicPr>
          <p:cNvPr id="12" name="Image 3" descr="preencoded.png">
            <a:extLst>
              <a:ext uri="{FF2B5EF4-FFF2-40B4-BE49-F238E27FC236}">
                <a16:creationId xmlns:a16="http://schemas.microsoft.com/office/drawing/2014/main" id="{82D4C1A1-E1F7-44F7-4B27-75218B93C88E}"/>
              </a:ext>
            </a:extLst>
          </p:cNvPr>
          <p:cNvPicPr>
            <a:picLocks noChangeAspect="1"/>
          </p:cNvPicPr>
          <p:nvPr/>
        </p:nvPicPr>
        <p:blipFill>
          <a:blip r:embed="rId12">
            <a:duotone>
              <a:schemeClr val="accent1">
                <a:shade val="45000"/>
                <a:satMod val="135000"/>
              </a:schemeClr>
              <a:prstClr val="white"/>
            </a:duotone>
          </a:blip>
          <a:stretch>
            <a:fillRect/>
          </a:stretch>
        </p:blipFill>
        <p:spPr>
          <a:xfrm>
            <a:off x="8816030" y="3461303"/>
            <a:ext cx="427435" cy="427435"/>
          </a:xfrm>
          <a:prstGeom prst="rect">
            <a:avLst/>
          </a:prstGeom>
        </p:spPr>
      </p:pic>
      <p:sp>
        <p:nvSpPr>
          <p:cNvPr id="13" name="Google Shape;544;p13">
            <a:extLst>
              <a:ext uri="{FF2B5EF4-FFF2-40B4-BE49-F238E27FC236}">
                <a16:creationId xmlns:a16="http://schemas.microsoft.com/office/drawing/2014/main" id="{14470C45-19A2-A5FB-14D1-EC92548DC47C}"/>
              </a:ext>
            </a:extLst>
          </p:cNvPr>
          <p:cNvSpPr txBox="1"/>
          <p:nvPr/>
        </p:nvSpPr>
        <p:spPr>
          <a:xfrm>
            <a:off x="5324653" y="5835802"/>
            <a:ext cx="1548079" cy="1911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8FAFC"/>
              </a:buClr>
              <a:buSzPts val="1000"/>
              <a:buFont typeface="Inter"/>
              <a:buNone/>
            </a:pPr>
            <a:r>
              <a:rPr lang="en-US" sz="1000" b="0" i="0" u="none" strike="noStrike" cap="none" dirty="0">
                <a:solidFill>
                  <a:srgbClr val="F8FAFC"/>
                </a:solidFill>
                <a:latin typeface="Inter"/>
                <a:ea typeface="Inter"/>
                <a:cs typeface="Inter"/>
                <a:sym typeface="Inter"/>
              </a:rPr>
              <a:t>Ezequiel Sznaider - CEO</a:t>
            </a:r>
            <a:endParaRPr sz="10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Custom 6">
      <a:dk1>
        <a:srgbClr val="5747D3"/>
      </a:dk1>
      <a:lt1>
        <a:srgbClr val="9384E5"/>
      </a:lt1>
      <a:dk2>
        <a:srgbClr val="5545CF"/>
      </a:dk2>
      <a:lt2>
        <a:srgbClr val="E7E6E6"/>
      </a:lt2>
      <a:accent1>
        <a:srgbClr val="332E81"/>
      </a:accent1>
      <a:accent2>
        <a:srgbClr val="FAA51D"/>
      </a:accent2>
      <a:accent3>
        <a:srgbClr val="7030A0"/>
      </a:accent3>
      <a:accent4>
        <a:srgbClr val="FFC000"/>
      </a:accent4>
      <a:accent5>
        <a:srgbClr val="CD80EA"/>
      </a:accent5>
      <a:accent6>
        <a:srgbClr val="ED7D31"/>
      </a:accent6>
      <a:hlink>
        <a:srgbClr val="E3D0F1"/>
      </a:hlink>
      <a:folHlink>
        <a:srgbClr val="5747D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9209</TotalTime>
  <Words>899</Words>
  <Application>Microsoft Office PowerPoint</Application>
  <PresentationFormat>Widescreen</PresentationFormat>
  <Paragraphs>135</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Inter</vt:lpstr>
      <vt:lpstr>Montserrat</vt:lpstr>
      <vt:lpstr>Open Sans</vt:lpstr>
      <vt:lpstr>Satoshi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Omni-channel AI platform</dc:title>
  <dc:subject>PptxGenJS Presentation</dc:subject>
  <dc:creator>MassaPro</dc:creator>
  <cp:keywords>AI Agents</cp:keywords>
  <cp:lastModifiedBy>EZEQUIEL SZNAIDER</cp:lastModifiedBy>
  <cp:revision>154</cp:revision>
  <dcterms:created xsi:type="dcterms:W3CDTF">2025-10-30T11:22:31Z</dcterms:created>
  <dcterms:modified xsi:type="dcterms:W3CDTF">2025-12-30T11:44:01Z</dcterms:modified>
</cp:coreProperties>
</file>