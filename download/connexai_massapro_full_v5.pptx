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media/image1.jpg" ContentType="image/jpg"/>
  <Override PartName="/ppt/media/image10.jpg" ContentType="image/jpg"/>
  <Override PartName="/ppt/media/image11.jpg" ContentType="image/jpg"/>
  <Override PartName="/ppt/media/image12.jpg" ContentType="image/jpg"/>
  <Override PartName="/ppt/media/image17.jpg" ContentType="image/jpg"/>
  <Override PartName="/ppt/media/image27.jpg" ContentType="image/jpg"/>
  <Override PartName="/ppt/media/image36.jpg" ContentType="image/jpg"/>
  <Override PartName="/ppt/media/image5.jpg" ContentType="image/jpg"/>
  <Override PartName="/ppt/media/image6.jpg" ContentType="image/jpg"/>
  <Override PartName="/ppt/media/image7.jpg" ContentType="image/jpg"/>
  <Override PartName="/ppt/media/image8.jpg" ContentType="image/jpg"/>
  <Override PartName="/ppt/media/image9.jpg" ContentType="image/jpg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</p:sldIdLst>
  <p:sldSz cx="9144000" cy="5143500"/>
  <p:notesSz cx="9144000" cy="514350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slide" Target="slides/slide15.xml"/><Relationship Id="rId21" Type="http://schemas.openxmlformats.org/officeDocument/2006/relationships/slide" Target="slides/slide16.xml"/><Relationship Id="rId22" Type="http://schemas.openxmlformats.org/officeDocument/2006/relationships/slide" Target="slides/slide17.xml"/><Relationship Id="rId23" Type="http://schemas.openxmlformats.org/officeDocument/2006/relationships/slide" Target="slides/slide18.xml"/><Relationship Id="rId24" Type="http://schemas.openxmlformats.org/officeDocument/2006/relationships/slide" Target="slides/slide19.xml"/><Relationship Id="rId25" Type="http://schemas.openxmlformats.org/officeDocument/2006/relationships/slide" Target="slides/slide20.xml"/><Relationship Id="rId26" Type="http://schemas.openxmlformats.org/officeDocument/2006/relationships/slide" Target="slides/slide21.xml"/><Relationship Id="rId27" Type="http://schemas.openxmlformats.org/officeDocument/2006/relationships/slide" Target="slides/slide22.xml"/><Relationship Id="rId28" Type="http://schemas.openxmlformats.org/officeDocument/2006/relationships/slide" Target="slides/slide23.xml"/><Relationship Id="rId29" Type="http://schemas.openxmlformats.org/officeDocument/2006/relationships/slide" Target="slides/slide24.xml"/><Relationship Id="rId30" Type="http://schemas.openxmlformats.org/officeDocument/2006/relationships/slide" Target="slides/slide25.xml"/><Relationship Id="rId31" Type="http://schemas.openxmlformats.org/officeDocument/2006/relationships/slide" Target="slides/slide26.xml"/><Relationship Id="rId32" Type="http://schemas.openxmlformats.org/officeDocument/2006/relationships/slide" Target="slides/slide27.xml"/><Relationship Id="rId33" Type="http://schemas.openxmlformats.org/officeDocument/2006/relationships/slide" Target="slides/slide28.xml"/><Relationship Id="rId34" Type="http://schemas.openxmlformats.org/officeDocument/2006/relationships/slide" Target="slides/slide29.xml"/><Relationship Id="rId35" Type="http://schemas.openxmlformats.org/officeDocument/2006/relationships/slide" Target="slides/slide3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 showMasterSp="0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768233"/>
            <a:ext cx="9140825" cy="208915"/>
          </a:xfrm>
          <a:custGeom>
            <a:avLst/>
            <a:gdLst/>
            <a:ahLst/>
            <a:cxnLst/>
            <a:rect l="l" t="t" r="r" b="b"/>
            <a:pathLst>
              <a:path w="9140825" h="208915">
                <a:moveTo>
                  <a:pt x="9140342" y="208483"/>
                </a:moveTo>
                <a:lnTo>
                  <a:pt x="0" y="208483"/>
                </a:lnTo>
                <a:lnTo>
                  <a:pt x="0" y="0"/>
                </a:lnTo>
                <a:lnTo>
                  <a:pt x="9140342" y="0"/>
                </a:lnTo>
                <a:lnTo>
                  <a:pt x="9140342" y="208483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3740536" y="661891"/>
            <a:ext cx="1662927" cy="384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500" b="0" i="0">
                <a:solidFill>
                  <a:schemeClr val="bg1"/>
                </a:solidFill>
                <a:latin typeface="Arial MT"/>
                <a:cs typeface="Arial MT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2880360"/>
            <a:ext cx="6400800" cy="12858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 showMasterSp="0">
  <p:cSld name="Title and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431674"/>
            <a:ext cx="9144000" cy="1243805"/>
          </a:xfrm>
          <a:prstGeom prst="rect">
            <a:avLst/>
          </a:prstGeom>
        </p:spPr>
      </p:pic>
      <p:pic>
        <p:nvPicPr>
          <p:cNvPr id="17" name="bg object 1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807501" y="14632"/>
            <a:ext cx="336499" cy="36582"/>
          </a:xfrm>
          <a:prstGeom prst="rect">
            <a:avLst/>
          </a:prstGeom>
        </p:spPr>
      </p:pic>
      <p:pic>
        <p:nvPicPr>
          <p:cNvPr id="18" name="bg object 18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5340096" y="14632"/>
            <a:ext cx="3160166" cy="36582"/>
          </a:xfrm>
          <a:prstGeom prst="rect">
            <a:avLst/>
          </a:prstGeom>
        </p:spPr>
      </p:pic>
      <p:pic>
        <p:nvPicPr>
          <p:cNvPr id="19" name="bg object 19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0" y="14632"/>
            <a:ext cx="9144000" cy="36582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500" b="0" i="0">
                <a:solidFill>
                  <a:schemeClr val="bg1"/>
                </a:solidFill>
                <a:latin typeface="Arial MT"/>
                <a:cs typeface="Arial MT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500" b="0" i="0">
                <a:solidFill>
                  <a:schemeClr val="bg1"/>
                </a:solidFill>
                <a:latin typeface="Arial MT"/>
                <a:cs typeface="Arial MT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457200" y="1183005"/>
            <a:ext cx="3977640" cy="33947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4709160" y="1183005"/>
            <a:ext cx="3977640" cy="33947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500" b="0" i="0">
                <a:solidFill>
                  <a:schemeClr val="bg1"/>
                </a:solidFill>
                <a:latin typeface="Arial MT"/>
                <a:cs typeface="Arial MT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574243" y="1097475"/>
            <a:ext cx="7995513" cy="17970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500" b="0" i="0">
                <a:solidFill>
                  <a:schemeClr val="bg1"/>
                </a:solidFill>
                <a:latin typeface="Arial MT"/>
                <a:cs typeface="Arial MT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457200" y="1183005"/>
            <a:ext cx="8229600" cy="33947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3108960" y="4783455"/>
            <a:ext cx="292608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457200" y="4783455"/>
            <a:ext cx="210312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6583680" y="4783455"/>
            <a:ext cx="210312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.jpg"/><Relationship Id="rId3" Type="http://schemas.openxmlformats.org/officeDocument/2006/relationships/image" Target="../media/image6.jpg"/><Relationship Id="rId4" Type="http://schemas.openxmlformats.org/officeDocument/2006/relationships/image" Target="../media/image7.jpg"/><Relationship Id="rId5" Type="http://schemas.openxmlformats.org/officeDocument/2006/relationships/image" Target="../media/image8.jpg"/><Relationship Id="rId6" Type="http://schemas.openxmlformats.org/officeDocument/2006/relationships/image" Target="../media/image9.jpg"/><Relationship Id="rId7" Type="http://schemas.openxmlformats.org/officeDocument/2006/relationships/image" Target="../media/image10.jpg"/><Relationship Id="rId8" Type="http://schemas.openxmlformats.org/officeDocument/2006/relationships/image" Target="../media/image11.jpg"/><Relationship Id="rId9" Type="http://schemas.openxmlformats.org/officeDocument/2006/relationships/image" Target="../media/image12.jpg"/><Relationship Id="rId10" Type="http://schemas.openxmlformats.org/officeDocument/2006/relationships/image" Target="../media/image13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4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5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6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7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8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9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0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2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3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4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5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6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7.jp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8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9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30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31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32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33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34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35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36.jp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37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38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39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40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4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ctr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350">
                <a:solidFill>
                  <a:srgbClr val="7C3AED"/>
                </a:solidFill>
                <a:latin typeface="Calibri"/>
                <a:cs typeface="Calibri"/>
              </a:rPr>
              <a:t>M</a:t>
            </a:r>
            <a:r>
              <a:rPr dirty="0" sz="2350" spc="310">
                <a:solidFill>
                  <a:srgbClr val="7C3AED"/>
                </a:solidFill>
                <a:latin typeface="Calibri"/>
                <a:cs typeface="Calibri"/>
              </a:rPr>
              <a:t> </a:t>
            </a:r>
            <a:r>
              <a:rPr dirty="0" sz="2350" spc="75">
                <a:solidFill/>
                <a:latin typeface="Calibri"/>
                <a:cs typeface="Calibri"/>
              </a:rPr>
              <a:t>MassaPro</a:t>
            </a:r>
            <a:endParaRPr sz="2350">
              <a:latin typeface="Calibri"/>
              <a:cs typeface="Calibri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0" y="1236488"/>
            <a:ext cx="9140825" cy="281940"/>
          </a:xfrm>
          <a:custGeom>
            <a:avLst/>
            <a:gdLst/>
            <a:ahLst/>
            <a:cxnLst/>
            <a:rect l="l" t="t" r="r" b="b"/>
            <a:pathLst>
              <a:path w="9140825" h="281940">
                <a:moveTo>
                  <a:pt x="9140342" y="281635"/>
                </a:moveTo>
                <a:lnTo>
                  <a:pt x="0" y="281635"/>
                </a:lnTo>
                <a:lnTo>
                  <a:pt x="0" y="0"/>
                </a:lnTo>
                <a:lnTo>
                  <a:pt x="9140342" y="0"/>
                </a:lnTo>
                <a:lnTo>
                  <a:pt x="9140342" y="28163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1626076" y="1138429"/>
            <a:ext cx="5904230" cy="3917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spc="-135">
                <a:solidFill>
                  <a:srgbClr val="FFFFFF"/>
                </a:solidFill>
                <a:latin typeface="Arial MT"/>
                <a:cs typeface="Arial MT"/>
              </a:rPr>
              <a:t>The</a:t>
            </a:r>
            <a:r>
              <a:rPr dirty="0" sz="2400" spc="-17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2400" spc="-120">
                <a:solidFill>
                  <a:srgbClr val="FFFFFF"/>
                </a:solidFill>
                <a:latin typeface="Arial MT"/>
                <a:cs typeface="Arial MT"/>
              </a:rPr>
              <a:t>Global</a:t>
            </a:r>
            <a:r>
              <a:rPr dirty="0" sz="2400" spc="-5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2400" spc="-145">
                <a:solidFill>
                  <a:srgbClr val="FFFFFF"/>
                </a:solidFill>
                <a:latin typeface="Arial MT"/>
                <a:cs typeface="Arial MT"/>
              </a:rPr>
              <a:t>Leader</a:t>
            </a:r>
            <a:r>
              <a:rPr dirty="0" sz="2400" spc="-5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2400" spc="-30">
                <a:solidFill>
                  <a:srgbClr val="FFFFFF"/>
                </a:solidFill>
                <a:latin typeface="Arial MT"/>
                <a:cs typeface="Arial MT"/>
              </a:rPr>
              <a:t>in</a:t>
            </a:r>
            <a:r>
              <a:rPr dirty="0" sz="2400" spc="-204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2400" spc="-105">
                <a:solidFill>
                  <a:srgbClr val="FFFFFF"/>
                </a:solidFill>
                <a:latin typeface="Arial MT"/>
                <a:cs typeface="Arial MT"/>
              </a:rPr>
              <a:t>Conversational</a:t>
            </a:r>
            <a:r>
              <a:rPr dirty="0" sz="2400" spc="-19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2400" spc="-90">
                <a:solidFill>
                  <a:srgbClr val="FFFFFF"/>
                </a:solidFill>
                <a:latin typeface="Arial MT"/>
                <a:cs typeface="Arial MT"/>
              </a:rPr>
              <a:t>Agentic</a:t>
            </a:r>
            <a:r>
              <a:rPr dirty="0" sz="2400" spc="2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2400" spc="-25">
                <a:solidFill>
                  <a:srgbClr val="FFFFFF"/>
                </a:solidFill>
                <a:latin typeface="Arial MT"/>
                <a:cs typeface="Arial MT"/>
              </a:rPr>
              <a:t>AI</a:t>
            </a:r>
            <a:endParaRPr sz="24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574243" y="1097475"/>
            <a:ext cx="3639820" cy="179705"/>
          </a:xfrm>
          <a:prstGeom prst="rect"/>
          <a:solidFill>
            <a:srgbClr val="000000"/>
          </a:solidFill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1395"/>
              </a:lnSpc>
            </a:pPr>
            <a:r>
              <a:rPr dirty="0">
                <a:solidFill/>
              </a:rPr>
              <a:t>One Platform. A Complete Agentic AI Workforce.</a:t>
            </a:r>
          </a:p>
        </p:txBody>
      </p:sp>
      <p:sp>
        <p:nvSpPr>
          <p:cNvPr id="3" name="object 3"/>
          <p:cNvSpPr/>
          <p:nvPr/>
        </p:nvSpPr>
        <p:spPr>
          <a:xfrm>
            <a:off x="0" y="1719377"/>
            <a:ext cx="9140825" cy="92075"/>
          </a:xfrm>
          <a:custGeom>
            <a:avLst/>
            <a:gdLst/>
            <a:ahLst/>
            <a:cxnLst/>
            <a:rect l="l" t="t" r="r" b="b"/>
            <a:pathLst>
              <a:path w="9140825" h="92075">
                <a:moveTo>
                  <a:pt x="9140342" y="91440"/>
                </a:moveTo>
                <a:lnTo>
                  <a:pt x="0" y="91440"/>
                </a:lnTo>
                <a:lnTo>
                  <a:pt x="0" y="0"/>
                </a:lnTo>
                <a:lnTo>
                  <a:pt x="9140342" y="0"/>
                </a:lnTo>
                <a:lnTo>
                  <a:pt x="9140342" y="9144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4" name="object 4"/>
          <p:cNvGrpSpPr/>
          <p:nvPr/>
        </p:nvGrpSpPr>
        <p:grpSpPr>
          <a:xfrm>
            <a:off x="0" y="1946189"/>
            <a:ext cx="9140825" cy="479425"/>
            <a:chOff x="0" y="1946189"/>
            <a:chExt cx="9140825" cy="479425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603443" y="2081543"/>
              <a:ext cx="746150" cy="289001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311542" y="1979113"/>
              <a:ext cx="479145" cy="245102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800953" y="1946189"/>
              <a:ext cx="1762963" cy="223153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0" y="1946189"/>
              <a:ext cx="9140825" cy="479425"/>
            </a:xfrm>
            <a:custGeom>
              <a:avLst/>
              <a:gdLst/>
              <a:ahLst/>
              <a:cxnLst/>
              <a:rect l="l" t="t" r="r" b="b"/>
              <a:pathLst>
                <a:path w="9140825" h="479425">
                  <a:moveTo>
                    <a:pt x="9140342" y="479145"/>
                  </a:moveTo>
                  <a:lnTo>
                    <a:pt x="0" y="479145"/>
                  </a:lnTo>
                  <a:lnTo>
                    <a:pt x="0" y="0"/>
                  </a:lnTo>
                  <a:lnTo>
                    <a:pt x="9140342" y="0"/>
                  </a:lnTo>
                  <a:lnTo>
                    <a:pt x="9140342" y="479145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9" name="object 9"/>
          <p:cNvSpPr txBox="1"/>
          <p:nvPr/>
        </p:nvSpPr>
        <p:spPr>
          <a:xfrm>
            <a:off x="558921" y="1680918"/>
            <a:ext cx="3037840" cy="7473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750">
                <a:solidFill>
                  <a:srgbClr val="C8C8C8"/>
                </a:solidFill>
                <a:latin typeface="Arial MT"/>
                <a:cs typeface="Arial MT"/>
              </a:rPr>
              <a:t>purpose</a:t>
            </a:r>
            <a:r>
              <a:rPr dirty="0" sz="750" spc="-5">
                <a:solidFill>
                  <a:srgbClr val="C8C8C8"/>
                </a:solidFill>
                <a:latin typeface="Arial MT"/>
                <a:cs typeface="Arial MT"/>
              </a:rPr>
              <a:t> </a:t>
            </a:r>
            <a:r>
              <a:rPr dirty="0" sz="750" spc="-10">
                <a:solidFill>
                  <a:srgbClr val="BDBDBD"/>
                </a:solidFill>
                <a:latin typeface="Arial MT"/>
                <a:cs typeface="Arial MT"/>
              </a:rPr>
              <a:t>models,</a:t>
            </a:r>
            <a:r>
              <a:rPr dirty="0" sz="750" spc="-20">
                <a:solidFill>
                  <a:srgbClr val="BDBDBD"/>
                </a:solidFill>
                <a:latin typeface="Arial MT"/>
                <a:cs typeface="Arial MT"/>
              </a:rPr>
              <a:t> </a:t>
            </a:r>
            <a:r>
              <a:rPr dirty="0" sz="750">
                <a:solidFill>
                  <a:srgbClr val="BFBFBF"/>
                </a:solidFill>
                <a:latin typeface="Arial MT"/>
                <a:cs typeface="Arial MT"/>
              </a:rPr>
              <a:t>we</a:t>
            </a:r>
            <a:r>
              <a:rPr dirty="0" sz="750" spc="-5">
                <a:solidFill>
                  <a:srgbClr val="BFBFBF"/>
                </a:solidFill>
                <a:latin typeface="Arial MT"/>
                <a:cs typeface="Arial MT"/>
              </a:rPr>
              <a:t> </a:t>
            </a:r>
            <a:r>
              <a:rPr dirty="0" sz="750" spc="-10">
                <a:solidFill>
                  <a:srgbClr val="C8C8C8"/>
                </a:solidFill>
                <a:latin typeface="Arial MT"/>
                <a:cs typeface="Arial MT"/>
              </a:rPr>
              <a:t>design </a:t>
            </a:r>
            <a:r>
              <a:rPr dirty="0" sz="750">
                <a:solidFill>
                  <a:srgbClr val="BABABA"/>
                </a:solidFill>
                <a:latin typeface="Arial MT"/>
                <a:cs typeface="Arial MT"/>
              </a:rPr>
              <a:t>and</a:t>
            </a:r>
            <a:r>
              <a:rPr dirty="0" sz="750" spc="-20">
                <a:solidFill>
                  <a:srgbClr val="BABABA"/>
                </a:solidFill>
                <a:latin typeface="Arial MT"/>
                <a:cs typeface="Arial MT"/>
              </a:rPr>
              <a:t> </a:t>
            </a:r>
            <a:r>
              <a:rPr dirty="0" sz="750">
                <a:solidFill>
                  <a:srgbClr val="C1C1C1"/>
                </a:solidFill>
                <a:latin typeface="Arial MT"/>
                <a:cs typeface="Arial MT"/>
              </a:rPr>
              <a:t>control every</a:t>
            </a:r>
            <a:r>
              <a:rPr dirty="0" sz="750" spc="-10">
                <a:solidFill>
                  <a:srgbClr val="C1C1C1"/>
                </a:solidFill>
                <a:latin typeface="Arial MT"/>
                <a:cs typeface="Arial MT"/>
              </a:rPr>
              <a:t> layer</a:t>
            </a:r>
            <a:r>
              <a:rPr dirty="0" sz="750" spc="-5">
                <a:solidFill>
                  <a:srgbClr val="C1C1C1"/>
                </a:solidFill>
                <a:latin typeface="Arial MT"/>
                <a:cs typeface="Arial MT"/>
              </a:rPr>
              <a:t> </a:t>
            </a:r>
            <a:r>
              <a:rPr dirty="0" sz="750">
                <a:solidFill>
                  <a:srgbClr val="C3C3C3"/>
                </a:solidFill>
                <a:latin typeface="Arial MT"/>
                <a:cs typeface="Arial MT"/>
              </a:rPr>
              <a:t>of</a:t>
            </a:r>
            <a:r>
              <a:rPr dirty="0" sz="750" spc="-35">
                <a:solidFill>
                  <a:srgbClr val="C3C3C3"/>
                </a:solidFill>
                <a:latin typeface="Arial MT"/>
                <a:cs typeface="Arial MT"/>
              </a:rPr>
              <a:t> </a:t>
            </a:r>
            <a:r>
              <a:rPr dirty="0" sz="750">
                <a:solidFill>
                  <a:srgbClr val="BCBCBC"/>
                </a:solidFill>
                <a:latin typeface="Arial MT"/>
                <a:cs typeface="Arial MT"/>
              </a:rPr>
              <a:t>our</a:t>
            </a:r>
            <a:r>
              <a:rPr dirty="0" sz="750" spc="10">
                <a:solidFill>
                  <a:srgbClr val="BCBCBC"/>
                </a:solidFill>
                <a:latin typeface="Arial MT"/>
                <a:cs typeface="Arial MT"/>
              </a:rPr>
              <a:t> </a:t>
            </a:r>
            <a:r>
              <a:rPr dirty="0" sz="750" spc="-30">
                <a:solidFill>
                  <a:srgbClr val="BABABA"/>
                </a:solidFill>
                <a:latin typeface="Arial MT"/>
                <a:cs typeface="Arial MT"/>
              </a:rPr>
              <a:t>AI</a:t>
            </a:r>
            <a:r>
              <a:rPr dirty="0" sz="750" spc="-25">
                <a:solidFill>
                  <a:srgbClr val="BABABA"/>
                </a:solidFill>
                <a:latin typeface="Arial MT"/>
                <a:cs typeface="Arial MT"/>
              </a:rPr>
              <a:t> </a:t>
            </a:r>
            <a:r>
              <a:rPr dirty="0" sz="750" spc="-10">
                <a:solidFill>
                  <a:srgbClr val="C8C8C8"/>
                </a:solidFill>
                <a:latin typeface="Arial MT"/>
                <a:cs typeface="Arial MT"/>
              </a:rPr>
              <a:t>technology.</a:t>
            </a:r>
            <a:endParaRPr sz="75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520"/>
              </a:spcBef>
            </a:pPr>
            <a:endParaRPr sz="750">
              <a:latin typeface="Arial MT"/>
              <a:cs typeface="Arial MT"/>
            </a:endParaRPr>
          </a:p>
          <a:p>
            <a:pPr marL="34925">
              <a:lnSpc>
                <a:spcPct val="100000"/>
              </a:lnSpc>
            </a:pPr>
            <a:r>
              <a:rPr dirty="0" sz="800">
                <a:solidFill>
                  <a:srgbClr val="7C3AED"/>
                </a:solidFill>
                <a:latin typeface="Arial MT"/>
                <a:cs typeface="Arial MT"/>
              </a:rPr>
              <a:t>:.•':</a:t>
            </a:r>
            <a:r>
              <a:rPr dirty="0" sz="800" spc="355">
                <a:solidFill>
                  <a:srgbClr val="7C3AED"/>
                </a:solidFill>
                <a:latin typeface="Arial MT"/>
                <a:cs typeface="Arial MT"/>
              </a:rPr>
              <a:t> </a:t>
            </a:r>
            <a:r>
              <a:rPr dirty="0" sz="800" spc="-35">
                <a:solidFill>
                  <a:srgbClr val="FFFFFF"/>
                </a:solidFill>
                <a:latin typeface="Arial MT"/>
                <a:cs typeface="Arial MT"/>
              </a:rPr>
              <a:t>Advanced</a:t>
            </a:r>
            <a:r>
              <a:rPr dirty="0" sz="800" spc="-10">
                <a:solidFill>
                  <a:srgbClr val="FFFFFF"/>
                </a:solidFill>
                <a:latin typeface="Arial MT"/>
                <a:cs typeface="Arial MT"/>
              </a:rPr>
              <a:t> Agentic</a:t>
            </a:r>
            <a:r>
              <a:rPr dirty="0" sz="800" spc="1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800" spc="-20">
                <a:solidFill>
                  <a:srgbClr val="FFFFFF"/>
                </a:solidFill>
                <a:latin typeface="Arial MT"/>
                <a:cs typeface="Arial MT"/>
              </a:rPr>
              <a:t>Application</a:t>
            </a:r>
            <a:r>
              <a:rPr dirty="0" sz="800" spc="-3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800" spc="-40">
                <a:solidFill>
                  <a:srgbClr val="FFFFFF"/>
                </a:solidFill>
                <a:latin typeface="Arial MT"/>
                <a:cs typeface="Arial MT"/>
              </a:rPr>
              <a:t>Layer</a:t>
            </a:r>
            <a:r>
              <a:rPr dirty="0" sz="800" spc="-1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800" spc="-10">
                <a:solidFill>
                  <a:srgbClr val="FFFFFF"/>
                </a:solidFill>
                <a:latin typeface="Arial MT"/>
                <a:cs typeface="Arial MT"/>
              </a:rPr>
              <a:t>Capability</a:t>
            </a:r>
            <a:endParaRPr sz="8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615"/>
              </a:spcBef>
            </a:pPr>
            <a:endParaRPr sz="800">
              <a:latin typeface="Arial MT"/>
              <a:cs typeface="Arial MT"/>
            </a:endParaRPr>
          </a:p>
          <a:p>
            <a:pPr marL="40005">
              <a:lnSpc>
                <a:spcPct val="100000"/>
              </a:lnSpc>
              <a:spcBef>
                <a:spcPts val="5"/>
              </a:spcBef>
            </a:pPr>
            <a:r>
              <a:rPr dirty="0" sz="750">
                <a:solidFill>
                  <a:srgbClr val="EDE9FE"/>
                </a:solidFill>
                <a:latin typeface="Arial MT"/>
                <a:cs typeface="Arial MT"/>
              </a:rPr>
              <a:t>!{!</a:t>
            </a:r>
            <a:r>
              <a:rPr dirty="0" sz="750" spc="285">
                <a:solidFill>
                  <a:srgbClr val="EDE9FE"/>
                </a:solidFill>
                <a:latin typeface="Arial MT"/>
                <a:cs typeface="Arial MT"/>
              </a:rPr>
              <a:t>  </a:t>
            </a:r>
            <a:r>
              <a:rPr dirty="0" sz="750">
                <a:solidFill>
                  <a:srgbClr val="FFFFFF"/>
                </a:solidFill>
                <a:latin typeface="Arial MT"/>
                <a:cs typeface="Arial MT"/>
              </a:rPr>
              <a:t>Proprietary</a:t>
            </a:r>
            <a:r>
              <a:rPr dirty="0" sz="750" spc="5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750" spc="-10">
                <a:solidFill>
                  <a:srgbClr val="FFFFFF"/>
                </a:solidFill>
                <a:latin typeface="Arial MT"/>
                <a:cs typeface="Arial MT"/>
              </a:rPr>
              <a:t>Voice</a:t>
            </a:r>
            <a:r>
              <a:rPr dirty="0" sz="750">
                <a:solidFill>
                  <a:srgbClr val="FFFFFF"/>
                </a:solidFill>
                <a:latin typeface="Arial MT"/>
                <a:cs typeface="Arial MT"/>
              </a:rPr>
              <a:t> Recognition</a:t>
            </a:r>
            <a:r>
              <a:rPr dirty="0" sz="750" spc="2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750" spc="-10">
                <a:solidFill>
                  <a:srgbClr val="FFFFFF"/>
                </a:solidFill>
                <a:latin typeface="Arial MT"/>
                <a:cs typeface="Arial MT"/>
              </a:rPr>
              <a:t>Models</a:t>
            </a:r>
            <a:endParaRPr sz="750">
              <a:latin typeface="Arial MT"/>
              <a:cs typeface="Arial MT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0" y="2619307"/>
            <a:ext cx="9140825" cy="494030"/>
            <a:chOff x="0" y="2619307"/>
            <a:chExt cx="9140825" cy="494030"/>
          </a:xfrm>
        </p:grpSpPr>
        <p:pic>
          <p:nvPicPr>
            <p:cNvPr id="11" name="object 11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5800953" y="2915625"/>
              <a:ext cx="654710" cy="186570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7018934" y="2633940"/>
              <a:ext cx="797356" cy="299976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7190841" y="2677839"/>
              <a:ext cx="603503" cy="230469"/>
            </a:xfrm>
            <a:prstGeom prst="rect">
              <a:avLst/>
            </a:prstGeom>
          </p:spPr>
        </p:pic>
        <p:sp>
          <p:nvSpPr>
            <p:cNvPr id="14" name="object 14"/>
            <p:cNvSpPr/>
            <p:nvPr/>
          </p:nvSpPr>
          <p:spPr>
            <a:xfrm>
              <a:off x="0" y="2619307"/>
              <a:ext cx="9140825" cy="494030"/>
            </a:xfrm>
            <a:custGeom>
              <a:avLst/>
              <a:gdLst/>
              <a:ahLst/>
              <a:cxnLst/>
              <a:rect l="l" t="t" r="r" b="b"/>
              <a:pathLst>
                <a:path w="9140825" h="494030">
                  <a:moveTo>
                    <a:pt x="9140342" y="493776"/>
                  </a:moveTo>
                  <a:lnTo>
                    <a:pt x="0" y="493776"/>
                  </a:lnTo>
                  <a:lnTo>
                    <a:pt x="0" y="0"/>
                  </a:lnTo>
                  <a:lnTo>
                    <a:pt x="9140342" y="0"/>
                  </a:lnTo>
                  <a:lnTo>
                    <a:pt x="9140342" y="493776"/>
                  </a:lnTo>
                  <a:close/>
                </a:path>
              </a:pathLst>
            </a:custGeom>
            <a:solidFill>
              <a:srgbClr val="031113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5" name="object 15"/>
          <p:cNvSpPr txBox="1"/>
          <p:nvPr/>
        </p:nvSpPr>
        <p:spPr>
          <a:xfrm>
            <a:off x="582415" y="2601831"/>
            <a:ext cx="145415" cy="1327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700" spc="-10">
                <a:solidFill>
                  <a:srgbClr val="6D28D9"/>
                </a:solidFill>
                <a:latin typeface="Arial MT"/>
                <a:cs typeface="Arial MT"/>
              </a:rPr>
              <a:t>•'I..</a:t>
            </a:r>
            <a:endParaRPr sz="700">
              <a:latin typeface="Arial MT"/>
              <a:cs typeface="Arial MT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792428" y="2601831"/>
            <a:ext cx="1764030" cy="1327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700" spc="10">
                <a:solidFill>
                  <a:srgbClr val="FFFFFF"/>
                </a:solidFill>
                <a:latin typeface="Arial MT"/>
                <a:cs typeface="Arial MT"/>
              </a:rPr>
              <a:t>Proprietary</a:t>
            </a:r>
            <a:r>
              <a:rPr dirty="0" sz="700" spc="16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700" spc="10">
                <a:solidFill>
                  <a:srgbClr val="FFFFFF"/>
                </a:solidFill>
                <a:latin typeface="Arial MT"/>
                <a:cs typeface="Arial MT"/>
              </a:rPr>
              <a:t>Voice</a:t>
            </a:r>
            <a:r>
              <a:rPr dirty="0" sz="700" spc="8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700" spc="10">
                <a:solidFill>
                  <a:srgbClr val="FFFFFF"/>
                </a:solidFill>
                <a:latin typeface="Arial MT"/>
                <a:cs typeface="Arial MT"/>
              </a:rPr>
              <a:t>Synthesis</a:t>
            </a:r>
            <a:r>
              <a:rPr dirty="0" sz="700" spc="17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700" spc="10">
                <a:solidFill>
                  <a:srgbClr val="FFFFFF"/>
                </a:solidFill>
                <a:latin typeface="Arial MT"/>
                <a:cs typeface="Arial MT"/>
              </a:rPr>
              <a:t>And</a:t>
            </a:r>
            <a:r>
              <a:rPr dirty="0" sz="700" spc="6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700" spc="-10">
                <a:solidFill>
                  <a:srgbClr val="FFFFFF"/>
                </a:solidFill>
                <a:latin typeface="Arial MT"/>
                <a:cs typeface="Arial MT"/>
              </a:rPr>
              <a:t>Cloning</a:t>
            </a:r>
            <a:endParaRPr sz="700">
              <a:latin typeface="Arial MT"/>
              <a:cs typeface="Arial MT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6106947" y="2903739"/>
            <a:ext cx="81280" cy="1479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800" spc="-50">
                <a:solidFill>
                  <a:srgbClr val="A78BFA"/>
                </a:solidFill>
                <a:latin typeface="Arial MT"/>
                <a:cs typeface="Arial MT"/>
              </a:rPr>
              <a:t>*”</a:t>
            </a:r>
            <a:endParaRPr sz="800">
              <a:latin typeface="Arial MT"/>
              <a:cs typeface="Arial MT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7524638" y="2903739"/>
            <a:ext cx="51435" cy="1479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800" spc="-50">
                <a:solidFill>
                  <a:srgbClr val="AAAAAA"/>
                </a:solidFill>
                <a:latin typeface="Arial MT"/>
                <a:cs typeface="Arial MT"/>
              </a:rPr>
              <a:t>”</a:t>
            </a:r>
            <a:endParaRPr sz="800">
              <a:latin typeface="Arial MT"/>
              <a:cs typeface="Arial MT"/>
            </a:endParaRPr>
          </a:p>
        </p:txBody>
      </p:sp>
      <p:grpSp>
        <p:nvGrpSpPr>
          <p:cNvPr id="19" name="object 19"/>
          <p:cNvGrpSpPr/>
          <p:nvPr/>
        </p:nvGrpSpPr>
        <p:grpSpPr>
          <a:xfrm>
            <a:off x="0" y="3131461"/>
            <a:ext cx="9140825" cy="223520"/>
            <a:chOff x="0" y="3131461"/>
            <a:chExt cx="9140825" cy="223520"/>
          </a:xfrm>
        </p:grpSpPr>
        <p:pic>
          <p:nvPicPr>
            <p:cNvPr id="20" name="object 20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6616598" y="3135120"/>
              <a:ext cx="782726" cy="219495"/>
            </a:xfrm>
            <a:prstGeom prst="rect">
              <a:avLst/>
            </a:prstGeom>
          </p:spPr>
        </p:pic>
        <p:sp>
          <p:nvSpPr>
            <p:cNvPr id="21" name="object 21"/>
            <p:cNvSpPr/>
            <p:nvPr/>
          </p:nvSpPr>
          <p:spPr>
            <a:xfrm>
              <a:off x="0" y="3131461"/>
              <a:ext cx="9140825" cy="223520"/>
            </a:xfrm>
            <a:custGeom>
              <a:avLst/>
              <a:gdLst/>
              <a:ahLst/>
              <a:cxnLst/>
              <a:rect l="l" t="t" r="r" b="b"/>
              <a:pathLst>
                <a:path w="9140825" h="223520">
                  <a:moveTo>
                    <a:pt x="9140342" y="223113"/>
                  </a:moveTo>
                  <a:lnTo>
                    <a:pt x="0" y="223113"/>
                  </a:lnTo>
                  <a:lnTo>
                    <a:pt x="0" y="0"/>
                  </a:lnTo>
                  <a:lnTo>
                    <a:pt x="9140342" y="0"/>
                  </a:lnTo>
                  <a:lnTo>
                    <a:pt x="9140342" y="223113"/>
                  </a:lnTo>
                  <a:close/>
                </a:path>
              </a:pathLst>
            </a:custGeom>
            <a:solidFill>
              <a:srgbClr val="051616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2" name="object 22"/>
          <p:cNvSpPr txBox="1"/>
          <p:nvPr/>
        </p:nvSpPr>
        <p:spPr>
          <a:xfrm>
            <a:off x="574174" y="2903739"/>
            <a:ext cx="2028189" cy="45465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800">
                <a:solidFill>
                  <a:srgbClr val="F5F3FF"/>
                </a:solidFill>
                <a:latin typeface="Arial MT"/>
                <a:cs typeface="Arial MT"/>
              </a:rPr>
              <a:t>=••</a:t>
            </a:r>
            <a:r>
              <a:rPr dirty="0" sz="800" spc="434">
                <a:solidFill>
                  <a:srgbClr val="F5F3FF"/>
                </a:solidFill>
                <a:latin typeface="Arial MT"/>
                <a:cs typeface="Arial MT"/>
              </a:rPr>
              <a:t> </a:t>
            </a:r>
            <a:r>
              <a:rPr dirty="0" sz="800" spc="-10">
                <a:solidFill>
                  <a:srgbClr val="FFFFFF"/>
                </a:solidFill>
                <a:latin typeface="Arial MT"/>
                <a:cs typeface="Arial MT"/>
              </a:rPr>
              <a:t>Advanced</a:t>
            </a:r>
            <a:r>
              <a:rPr dirty="0" sz="800" spc="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800" spc="-10">
                <a:solidFill>
                  <a:srgbClr val="FFFFFF"/>
                </a:solidFill>
                <a:latin typeface="Arial MT"/>
                <a:cs typeface="Arial MT"/>
              </a:rPr>
              <a:t>Fine</a:t>
            </a:r>
            <a:r>
              <a:rPr dirty="0" sz="800" spc="-2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800">
                <a:solidFill>
                  <a:srgbClr val="FFFFFF"/>
                </a:solidFill>
                <a:latin typeface="Arial MT"/>
                <a:cs typeface="Arial MT"/>
              </a:rPr>
              <a:t>Tuning</a:t>
            </a:r>
            <a:r>
              <a:rPr dirty="0" sz="800" spc="1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800">
                <a:solidFill>
                  <a:srgbClr val="FFFFFF"/>
                </a:solidFill>
                <a:latin typeface="Arial MT"/>
                <a:cs typeface="Arial MT"/>
              </a:rPr>
              <a:t>/</a:t>
            </a:r>
            <a:r>
              <a:rPr dirty="0" sz="800" spc="-3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800" spc="-45">
                <a:solidFill>
                  <a:srgbClr val="FFFFFF"/>
                </a:solidFill>
                <a:latin typeface="Arial MT"/>
                <a:cs typeface="Arial MT"/>
              </a:rPr>
              <a:t>DPO</a:t>
            </a:r>
            <a:r>
              <a:rPr dirty="0" sz="800" spc="-2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800" spc="-30">
                <a:solidFill>
                  <a:srgbClr val="FFFFFF"/>
                </a:solidFill>
                <a:latin typeface="Arial MT"/>
                <a:cs typeface="Arial MT"/>
              </a:rPr>
              <a:t>LLM</a:t>
            </a:r>
            <a:r>
              <a:rPr dirty="0" sz="800" spc="-2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800" spc="-10">
                <a:solidFill>
                  <a:srgbClr val="FFFFFF"/>
                </a:solidFill>
                <a:latin typeface="Arial MT"/>
                <a:cs typeface="Arial MT"/>
              </a:rPr>
              <a:t>Layer</a:t>
            </a:r>
            <a:endParaRPr sz="8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535"/>
              </a:spcBef>
            </a:pPr>
            <a:endParaRPr sz="800">
              <a:latin typeface="Arial MT"/>
              <a:cs typeface="Arial MT"/>
            </a:endParaRPr>
          </a:p>
          <a:p>
            <a:pPr marL="32384">
              <a:lnSpc>
                <a:spcPct val="100000"/>
              </a:lnSpc>
              <a:spcBef>
                <a:spcPts val="5"/>
              </a:spcBef>
              <a:tabLst>
                <a:tab pos="222885" algn="l"/>
              </a:tabLst>
            </a:pPr>
            <a:r>
              <a:rPr dirty="0" sz="800" spc="-50">
                <a:solidFill>
                  <a:srgbClr val="5B21B6"/>
                </a:solidFill>
                <a:latin typeface="Arial MT"/>
                <a:cs typeface="Arial MT"/>
              </a:rPr>
              <a:t>Ø</a:t>
            </a:r>
            <a:r>
              <a:rPr dirty="0" sz="800">
                <a:solidFill>
                  <a:srgbClr val="5B21B6"/>
                </a:solidFill>
                <a:latin typeface="Arial MT"/>
                <a:cs typeface="Arial MT"/>
              </a:rPr>
              <a:t>	</a:t>
            </a:r>
            <a:r>
              <a:rPr dirty="0" sz="800" spc="-70">
                <a:solidFill>
                  <a:srgbClr val="FFFFFF"/>
                </a:solidFill>
                <a:latin typeface="Arial MT"/>
                <a:cs typeface="Arial MT"/>
              </a:rPr>
              <a:t>100%</a:t>
            </a:r>
            <a:r>
              <a:rPr dirty="0" sz="800" spc="-3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800" spc="-25">
                <a:solidFill>
                  <a:srgbClr val="FFFFFF"/>
                </a:solidFill>
                <a:latin typeface="Arial MT"/>
                <a:cs typeface="Arial MT"/>
              </a:rPr>
              <a:t>Owned</a:t>
            </a:r>
            <a:r>
              <a:rPr dirty="0" sz="80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800" spc="-40">
                <a:solidFill>
                  <a:srgbClr val="FFFFFF"/>
                </a:solidFill>
                <a:latin typeface="Arial MT"/>
                <a:cs typeface="Arial MT"/>
              </a:rPr>
              <a:t>Single-</a:t>
            </a:r>
            <a:r>
              <a:rPr dirty="0" sz="800" spc="-30">
                <a:solidFill>
                  <a:srgbClr val="FFFFFF"/>
                </a:solidFill>
                <a:latin typeface="Arial MT"/>
                <a:cs typeface="Arial MT"/>
              </a:rPr>
              <a:t>Vendor</a:t>
            </a:r>
            <a:r>
              <a:rPr dirty="0" sz="800" spc="7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800" spc="-10">
                <a:solidFill>
                  <a:srgbClr val="FFFFFF"/>
                </a:solidFill>
                <a:latin typeface="Arial MT"/>
                <a:cs typeface="Arial MT"/>
              </a:rPr>
              <a:t>Stack</a:t>
            </a:r>
            <a:endParaRPr sz="800">
              <a:latin typeface="Arial MT"/>
              <a:cs typeface="Arial MT"/>
            </a:endParaRPr>
          </a:p>
        </p:txBody>
      </p:sp>
      <p:sp>
        <p:nvSpPr>
          <p:cNvPr id="23" name="object 23"/>
          <p:cNvSpPr/>
          <p:nvPr/>
        </p:nvSpPr>
        <p:spPr>
          <a:xfrm>
            <a:off x="0" y="3555819"/>
            <a:ext cx="9140825" cy="106680"/>
          </a:xfrm>
          <a:custGeom>
            <a:avLst/>
            <a:gdLst/>
            <a:ahLst/>
            <a:cxnLst/>
            <a:rect l="l" t="t" r="r" b="b"/>
            <a:pathLst>
              <a:path w="9140825" h="106679">
                <a:moveTo>
                  <a:pt x="9140342" y="106070"/>
                </a:moveTo>
                <a:lnTo>
                  <a:pt x="0" y="106070"/>
                </a:lnTo>
                <a:lnTo>
                  <a:pt x="0" y="0"/>
                </a:lnTo>
                <a:lnTo>
                  <a:pt x="9140342" y="0"/>
                </a:lnTo>
                <a:lnTo>
                  <a:pt x="9140342" y="106070"/>
                </a:lnTo>
                <a:close/>
              </a:path>
            </a:pathLst>
          </a:custGeom>
          <a:solidFill>
            <a:srgbClr val="0A1F1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4" name="object 24"/>
          <p:cNvSpPr txBox="1"/>
          <p:nvPr/>
        </p:nvSpPr>
        <p:spPr>
          <a:xfrm>
            <a:off x="590212" y="3524676"/>
            <a:ext cx="121285" cy="1403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750" spc="-50">
                <a:solidFill>
                  <a:srgbClr val="FFFFFF"/>
                </a:solidFill>
                <a:latin typeface="Arial MT"/>
                <a:cs typeface="Arial MT"/>
              </a:rPr>
              <a:t>,/ê'</a:t>
            </a:r>
            <a:endParaRPr sz="750">
              <a:latin typeface="Arial MT"/>
              <a:cs typeface="Arial MT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791752" y="3524676"/>
            <a:ext cx="1621790" cy="1403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750">
                <a:solidFill>
                  <a:srgbClr val="FFFFFF"/>
                </a:solidFill>
                <a:latin typeface="Arial MT"/>
                <a:cs typeface="Arial MT"/>
              </a:rPr>
              <a:t>Enterprise</a:t>
            </a:r>
            <a:r>
              <a:rPr dirty="0" sz="750" spc="10">
                <a:solidFill>
                  <a:srgbClr val="FFFFFF"/>
                </a:solidFill>
                <a:latin typeface="Arial MT"/>
                <a:cs typeface="Arial MT"/>
              </a:rPr>
              <a:t> Implementation</a:t>
            </a:r>
            <a:r>
              <a:rPr dirty="0" sz="750" spc="-2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750" spc="-10">
                <a:solidFill>
                  <a:srgbClr val="FFFFFF"/>
                </a:solidFill>
                <a:latin typeface="Arial MT"/>
                <a:cs typeface="Arial MT"/>
              </a:rPr>
              <a:t>Capability</a:t>
            </a:r>
            <a:endParaRPr sz="750">
              <a:latin typeface="Arial MT"/>
              <a:cs typeface="Arial MT"/>
            </a:endParaRPr>
          </a:p>
        </p:txBody>
      </p:sp>
      <p:grpSp>
        <p:nvGrpSpPr>
          <p:cNvPr id="26" name="object 26"/>
          <p:cNvGrpSpPr/>
          <p:nvPr/>
        </p:nvGrpSpPr>
        <p:grpSpPr>
          <a:xfrm>
            <a:off x="0" y="3826530"/>
            <a:ext cx="9144000" cy="142875"/>
            <a:chOff x="0" y="3826530"/>
            <a:chExt cx="9144000" cy="142875"/>
          </a:xfrm>
        </p:grpSpPr>
        <p:pic>
          <p:nvPicPr>
            <p:cNvPr id="27" name="object 27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0" y="3826530"/>
              <a:ext cx="9144000" cy="21949"/>
            </a:xfrm>
            <a:prstGeom prst="rect">
              <a:avLst/>
            </a:prstGeom>
          </p:spPr>
        </p:pic>
        <p:pic>
          <p:nvPicPr>
            <p:cNvPr id="28" name="object 28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0" y="3826530"/>
              <a:ext cx="9144000" cy="21949"/>
            </a:xfrm>
            <a:prstGeom prst="rect">
              <a:avLst/>
            </a:prstGeom>
          </p:spPr>
        </p:pic>
        <p:sp>
          <p:nvSpPr>
            <p:cNvPr id="29" name="object 29"/>
            <p:cNvSpPr/>
            <p:nvPr/>
          </p:nvSpPr>
          <p:spPr>
            <a:xfrm>
              <a:off x="0" y="3863112"/>
              <a:ext cx="9140825" cy="106680"/>
            </a:xfrm>
            <a:custGeom>
              <a:avLst/>
              <a:gdLst/>
              <a:ahLst/>
              <a:cxnLst/>
              <a:rect l="l" t="t" r="r" b="b"/>
              <a:pathLst>
                <a:path w="9140825" h="106679">
                  <a:moveTo>
                    <a:pt x="9140342" y="106070"/>
                  </a:moveTo>
                  <a:lnTo>
                    <a:pt x="0" y="106070"/>
                  </a:lnTo>
                  <a:lnTo>
                    <a:pt x="0" y="0"/>
                  </a:lnTo>
                  <a:lnTo>
                    <a:pt x="9140342" y="0"/>
                  </a:lnTo>
                  <a:lnTo>
                    <a:pt x="9140342" y="106070"/>
                  </a:lnTo>
                  <a:close/>
                </a:path>
              </a:pathLst>
            </a:custGeom>
            <a:solidFill>
              <a:srgbClr val="0F2426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0" name="object 30"/>
          <p:cNvSpPr txBox="1"/>
          <p:nvPr/>
        </p:nvSpPr>
        <p:spPr>
          <a:xfrm>
            <a:off x="585419" y="3829275"/>
            <a:ext cx="121285" cy="1479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800" spc="-225">
                <a:solidFill>
                  <a:srgbClr val="FFFFFF"/>
                </a:solidFill>
                <a:latin typeface="Arial MT"/>
                <a:cs typeface="Arial MT"/>
              </a:rPr>
              <a:t>žõ'.</a:t>
            </a:r>
            <a:endParaRPr sz="800">
              <a:latin typeface="Arial MT"/>
              <a:cs typeface="Arial MT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791548" y="3829275"/>
            <a:ext cx="2221230" cy="1479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800" spc="-25">
                <a:solidFill>
                  <a:srgbClr val="FFFFFF"/>
                </a:solidFill>
                <a:latin typeface="Arial MT"/>
                <a:cs typeface="Arial MT"/>
              </a:rPr>
              <a:t>Native</a:t>
            </a:r>
            <a:r>
              <a:rPr dirty="0" sz="800" spc="-1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800" spc="-35">
                <a:solidFill>
                  <a:srgbClr val="FFFFFF"/>
                </a:solidFill>
                <a:latin typeface="Arial MT"/>
                <a:cs typeface="Arial MT"/>
              </a:rPr>
              <a:t>Omnichannel</a:t>
            </a:r>
            <a:r>
              <a:rPr dirty="0" sz="80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800" spc="-35">
                <a:solidFill>
                  <a:srgbClr val="FFFFFF"/>
                </a:solidFill>
                <a:latin typeface="Arial MT"/>
                <a:cs typeface="Arial MT"/>
              </a:rPr>
              <a:t>Execution</a:t>
            </a:r>
            <a:r>
              <a:rPr dirty="0" sz="800" spc="-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800" spc="-35">
                <a:solidFill>
                  <a:srgbClr val="FFFFFF"/>
                </a:solidFill>
                <a:latin typeface="Arial MT"/>
                <a:cs typeface="Arial MT"/>
              </a:rPr>
              <a:t>Layer</a:t>
            </a:r>
            <a:r>
              <a:rPr dirty="0" sz="800" spc="3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800" spc="-25">
                <a:solidFill>
                  <a:srgbClr val="FFFFFF"/>
                </a:solidFill>
                <a:latin typeface="Arial MT"/>
                <a:cs typeface="Arial MT"/>
              </a:rPr>
              <a:t>For</a:t>
            </a:r>
            <a:r>
              <a:rPr dirty="0" sz="800" spc="2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800" spc="-20">
                <a:solidFill>
                  <a:srgbClr val="FFFFFF"/>
                </a:solidFill>
                <a:latin typeface="Arial MT"/>
                <a:cs typeface="Arial MT"/>
              </a:rPr>
              <a:t>AI</a:t>
            </a:r>
            <a:r>
              <a:rPr dirty="0" sz="800" spc="-4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800" spc="-10">
                <a:solidFill>
                  <a:srgbClr val="FFFFFF"/>
                </a:solidFill>
                <a:latin typeface="Arial MT"/>
                <a:cs typeface="Arial MT"/>
              </a:rPr>
              <a:t>Agents</a:t>
            </a:r>
            <a:endParaRPr sz="800">
              <a:latin typeface="Arial MT"/>
              <a:cs typeface="Arial MT"/>
            </a:endParaRPr>
          </a:p>
        </p:txBody>
      </p:sp>
      <p:sp>
        <p:nvSpPr>
          <p:cNvPr id="32" name="object 32"/>
          <p:cNvSpPr/>
          <p:nvPr/>
        </p:nvSpPr>
        <p:spPr>
          <a:xfrm>
            <a:off x="0" y="4163088"/>
            <a:ext cx="9140825" cy="121285"/>
          </a:xfrm>
          <a:custGeom>
            <a:avLst/>
            <a:gdLst/>
            <a:ahLst/>
            <a:cxnLst/>
            <a:rect l="l" t="t" r="r" b="b"/>
            <a:pathLst>
              <a:path w="9140825" h="121285">
                <a:moveTo>
                  <a:pt x="9140342" y="120700"/>
                </a:moveTo>
                <a:lnTo>
                  <a:pt x="0" y="120700"/>
                </a:lnTo>
                <a:lnTo>
                  <a:pt x="0" y="0"/>
                </a:lnTo>
                <a:lnTo>
                  <a:pt x="9140342" y="0"/>
                </a:lnTo>
                <a:lnTo>
                  <a:pt x="9140342" y="120700"/>
                </a:lnTo>
                <a:close/>
              </a:path>
            </a:pathLst>
          </a:custGeom>
          <a:solidFill>
            <a:srgbClr val="1A2F2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3" name="object 33"/>
          <p:cNvSpPr txBox="1"/>
          <p:nvPr/>
        </p:nvSpPr>
        <p:spPr>
          <a:xfrm>
            <a:off x="585297" y="4136568"/>
            <a:ext cx="2301875" cy="1479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800" spc="-75">
                <a:solidFill>
                  <a:srgbClr val="FFFFFF"/>
                </a:solidFill>
                <a:latin typeface="Arial MT"/>
                <a:cs typeface="Arial MT"/>
              </a:rPr>
              <a:t>@•.</a:t>
            </a:r>
            <a:r>
              <a:rPr dirty="0" sz="800" spc="40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800" spc="-20">
                <a:solidFill>
                  <a:srgbClr val="FFFFFF"/>
                </a:solidFill>
                <a:latin typeface="Arial MT"/>
                <a:cs typeface="Arial MT"/>
              </a:rPr>
              <a:t>Native</a:t>
            </a:r>
            <a:r>
              <a:rPr dirty="0" sz="800" spc="-3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800" spc="-35">
                <a:solidFill>
                  <a:srgbClr val="FFFFFF"/>
                </a:solidFill>
                <a:latin typeface="Arial MT"/>
                <a:cs typeface="Arial MT"/>
              </a:rPr>
              <a:t>AI</a:t>
            </a:r>
            <a:r>
              <a:rPr dirty="0" sz="800" spc="-6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800" spc="-10">
                <a:solidFill>
                  <a:srgbClr val="FFFFFF"/>
                </a:solidFill>
                <a:latin typeface="Arial MT"/>
                <a:cs typeface="Arial MT"/>
              </a:rPr>
              <a:t>Ouality</a:t>
            </a:r>
            <a:r>
              <a:rPr dirty="0" sz="800" spc="-1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800" spc="-40">
                <a:solidFill>
                  <a:srgbClr val="FFFFFF"/>
                </a:solidFill>
                <a:latin typeface="Arial MT"/>
                <a:cs typeface="Arial MT"/>
              </a:rPr>
              <a:t>Assurance</a:t>
            </a:r>
            <a:r>
              <a:rPr dirty="0" sz="800" spc="-1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800" spc="-20">
                <a:solidFill>
                  <a:srgbClr val="FFFFFF"/>
                </a:solidFill>
                <a:latin typeface="Arial MT"/>
                <a:cs typeface="Arial MT"/>
              </a:rPr>
              <a:t>And</a:t>
            </a:r>
            <a:r>
              <a:rPr dirty="0" sz="800" spc="-3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800" spc="-20">
                <a:solidFill>
                  <a:srgbClr val="FFFFFF"/>
                </a:solidFill>
                <a:latin typeface="Arial MT"/>
                <a:cs typeface="Arial MT"/>
              </a:rPr>
              <a:t>Analytics</a:t>
            </a:r>
            <a:r>
              <a:rPr dirty="0" sz="800" spc="-10">
                <a:solidFill>
                  <a:srgbClr val="FFFFFF"/>
                </a:solidFill>
                <a:latin typeface="Arial MT"/>
                <a:cs typeface="Arial MT"/>
              </a:rPr>
              <a:t> Tools</a:t>
            </a:r>
            <a:endParaRPr sz="800">
              <a:latin typeface="Arial MT"/>
              <a:cs typeface="Arial MT"/>
            </a:endParaRPr>
          </a:p>
        </p:txBody>
      </p:sp>
      <p:sp>
        <p:nvSpPr>
          <p:cNvPr id="34" name="Rounded Rectangle 33"/>
          <p:cNvSpPr/>
          <p:nvPr/>
        </p:nvSpPr>
        <p:spPr>
          <a:xfrm>
            <a:off x="7589520" y="109728"/>
            <a:ext cx="1417320" cy="2926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7C3A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100" b="1">
                <a:solidFill>
                  <a:srgbClr val="7C3AED"/>
                </a:solidFill>
                <a:latin typeface="Inter"/>
              </a:rPr>
              <a:t>MassaPro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662672" y="173736"/>
            <a:ext cx="164592" cy="164592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Inter"/>
              </a:rPr>
              <a:t>M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14632"/>
            <a:ext cx="9144000" cy="36830"/>
            <a:chOff x="0" y="14632"/>
            <a:chExt cx="9144000" cy="3683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14632"/>
              <a:ext cx="9144000" cy="36582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14632"/>
              <a:ext cx="9144000" cy="36582"/>
            </a:xfrm>
            <a:prstGeom prst="rect">
              <a:avLst/>
            </a:prstGeom>
          </p:spPr>
        </p:pic>
      </p:grpSp>
      <p:sp>
        <p:nvSpPr>
          <p:cNvPr id="5" name="object 5"/>
          <p:cNvSpPr/>
          <p:nvPr/>
        </p:nvSpPr>
        <p:spPr>
          <a:xfrm>
            <a:off x="0" y="431674"/>
            <a:ext cx="9140825" cy="245110"/>
          </a:xfrm>
          <a:custGeom>
            <a:avLst/>
            <a:gdLst/>
            <a:ahLst/>
            <a:cxnLst/>
            <a:rect l="l" t="t" r="r" b="b"/>
            <a:pathLst>
              <a:path w="9140825" h="245109">
                <a:moveTo>
                  <a:pt x="9140342" y="245059"/>
                </a:moveTo>
                <a:lnTo>
                  <a:pt x="0" y="245059"/>
                </a:lnTo>
                <a:lnTo>
                  <a:pt x="0" y="0"/>
                </a:lnTo>
                <a:lnTo>
                  <a:pt x="9140342" y="0"/>
                </a:lnTo>
                <a:lnTo>
                  <a:pt x="9140342" y="24505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723176" y="407287"/>
            <a:ext cx="627380" cy="1936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00" spc="45">
                <a:solidFill>
                  <a:srgbClr val="FFFFFF"/>
                </a:solidFill>
                <a:latin typeface="Calibri"/>
                <a:cs typeface="Calibri"/>
              </a:rPr>
              <a:t>MassaPro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323759" y="548791"/>
            <a:ext cx="492125" cy="1555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850">
                <a:solidFill>
                  <a:srgbClr val="7C3AED"/>
                </a:solidFill>
                <a:latin typeface="Calibri"/>
                <a:cs typeface="Calibri"/>
              </a:rPr>
              <a:t>Con</a:t>
            </a:r>
            <a:r>
              <a:rPr dirty="0" sz="850" spc="155">
                <a:solidFill>
                  <a:srgbClr val="7C3AED"/>
                </a:solidFill>
                <a:latin typeface="Calibri"/>
                <a:cs typeface="Calibri"/>
              </a:rPr>
              <a:t> </a:t>
            </a:r>
            <a:r>
              <a:rPr dirty="0" sz="850" spc="-10">
                <a:solidFill>
                  <a:srgbClr val="6D28D9"/>
                </a:solidFill>
                <a:latin typeface="Calibri"/>
                <a:cs typeface="Calibri"/>
              </a:rPr>
              <a:t>tents</a:t>
            </a:r>
            <a:endParaRPr sz="850">
              <a:latin typeface="Calibri"/>
              <a:cs typeface="Calibri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0" y="826764"/>
            <a:ext cx="9140825" cy="194310"/>
          </a:xfrm>
          <a:custGeom>
            <a:avLst/>
            <a:gdLst/>
            <a:ahLst/>
            <a:cxnLst/>
            <a:rect l="l" t="t" r="r" b="b"/>
            <a:pathLst>
              <a:path w="9140825" h="194309">
                <a:moveTo>
                  <a:pt x="9140342" y="193852"/>
                </a:moveTo>
                <a:lnTo>
                  <a:pt x="0" y="193852"/>
                </a:lnTo>
                <a:lnTo>
                  <a:pt x="0" y="0"/>
                </a:lnTo>
                <a:lnTo>
                  <a:pt x="9140342" y="0"/>
                </a:lnTo>
                <a:lnTo>
                  <a:pt x="9140342" y="19385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 txBox="1"/>
          <p:nvPr/>
        </p:nvSpPr>
        <p:spPr>
          <a:xfrm>
            <a:off x="2978373" y="767168"/>
            <a:ext cx="3174365" cy="2622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550" spc="-30">
                <a:solidFill>
                  <a:srgbClr val="FFFFFF"/>
                </a:solidFill>
                <a:latin typeface="Arial MT"/>
                <a:cs typeface="Arial MT"/>
              </a:rPr>
              <a:t>Unrivaled</a:t>
            </a:r>
            <a:r>
              <a:rPr dirty="0" sz="1550" spc="-7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1550" spc="-50">
                <a:solidFill>
                  <a:srgbClr val="FFFFFF"/>
                </a:solidFill>
                <a:latin typeface="Arial MT"/>
                <a:cs typeface="Arial MT"/>
              </a:rPr>
              <a:t>Full-</a:t>
            </a:r>
            <a:r>
              <a:rPr dirty="0" sz="1550" spc="-30">
                <a:solidFill>
                  <a:srgbClr val="FFFFFF"/>
                </a:solidFill>
                <a:latin typeface="Arial MT"/>
                <a:cs typeface="Arial MT"/>
              </a:rPr>
              <a:t>Stack</a:t>
            </a:r>
            <a:r>
              <a:rPr dirty="0" sz="1550" spc="2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1550" spc="-20">
                <a:solidFill>
                  <a:srgbClr val="FFFFFF"/>
                </a:solidFill>
                <a:latin typeface="Arial MT"/>
                <a:cs typeface="Arial MT"/>
              </a:rPr>
              <a:t>Agentic</a:t>
            </a:r>
            <a:r>
              <a:rPr dirty="0" sz="1550" spc="-4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1550" spc="-10">
                <a:solidFill>
                  <a:srgbClr val="FFFFFF"/>
                </a:solidFill>
                <a:latin typeface="Arial MT"/>
                <a:cs typeface="Arial MT"/>
              </a:rPr>
              <a:t>Offering</a:t>
            </a:r>
            <a:endParaRPr sz="1550">
              <a:latin typeface="Arial MT"/>
              <a:cs typeface="Arial MT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0" y="3504604"/>
            <a:ext cx="9140825" cy="76835"/>
          </a:xfrm>
          <a:custGeom>
            <a:avLst/>
            <a:gdLst/>
            <a:ahLst/>
            <a:cxnLst/>
            <a:rect l="l" t="t" r="r" b="b"/>
            <a:pathLst>
              <a:path w="9140825" h="76835">
                <a:moveTo>
                  <a:pt x="9140342" y="76809"/>
                </a:moveTo>
                <a:lnTo>
                  <a:pt x="0" y="76809"/>
                </a:lnTo>
                <a:lnTo>
                  <a:pt x="0" y="0"/>
                </a:lnTo>
                <a:lnTo>
                  <a:pt x="9140342" y="0"/>
                </a:lnTo>
                <a:lnTo>
                  <a:pt x="9140342" y="76809"/>
                </a:lnTo>
                <a:close/>
              </a:path>
            </a:pathLst>
          </a:custGeom>
          <a:solidFill>
            <a:srgbClr val="131313"/>
          </a:solidFill>
        </p:spPr>
        <p:txBody>
          <a:bodyPr wrap="square" lIns="0" tIns="0" rIns="0" bIns="0" rtlCol="0"/>
          <a:lstStyle/>
          <a:p/>
        </p:txBody>
      </p:sp>
      <p:graphicFrame>
        <p:nvGraphicFramePr>
          <p:cNvPr id="11" name="object 11"/>
          <p:cNvGraphicFramePr>
            <a:graphicFrameLocks noGrp="1"/>
          </p:cNvGraphicFramePr>
          <p:nvPr/>
        </p:nvGraphicFramePr>
        <p:xfrm>
          <a:off x="0" y="1477933"/>
          <a:ext cx="9217025" cy="2110104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543175"/>
                <a:gridCol w="636269"/>
                <a:gridCol w="2116455"/>
                <a:gridCol w="670560"/>
                <a:gridCol w="1845944"/>
                <a:gridCol w="1325245"/>
              </a:tblGrid>
              <a:tr h="127635">
                <a:tc>
                  <a:txBody>
                    <a:bodyPr/>
                    <a:lstStyle/>
                    <a:p>
                      <a:pPr marL="778510">
                        <a:lnSpc>
                          <a:spcPts val="910"/>
                        </a:lnSpc>
                      </a:pPr>
                      <a:r>
                        <a:rPr dirty="0" sz="950">
                          <a:solidFill>
                            <a:srgbClr val="82B3B6"/>
                          </a:solidFill>
                          <a:latin typeface="Arial MT"/>
                          <a:cs typeface="Arial MT"/>
                        </a:rPr>
                        <a:t>°</a:t>
                      </a:r>
                      <a:r>
                        <a:rPr dirty="0" sz="950" spc="-75">
                          <a:solidFill>
                            <a:srgbClr val="82B3B6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950">
                          <a:solidFill>
                            <a:srgbClr val="DBDBDB"/>
                          </a:solidFill>
                          <a:latin typeface="Arial MT"/>
                          <a:cs typeface="Arial MT"/>
                        </a:rPr>
                        <a:t>°</a:t>
                      </a:r>
                      <a:r>
                        <a:rPr dirty="0" sz="950" spc="150">
                          <a:solidFill>
                            <a:srgbClr val="DBDBDB"/>
                          </a:solidFill>
                          <a:latin typeface="Arial MT"/>
                          <a:cs typeface="Arial MT"/>
                        </a:rPr>
                        <a:t>  </a:t>
                      </a:r>
                      <a:r>
                        <a:rPr dirty="0" sz="950" spc="-35">
                          <a:solidFill>
                            <a:srgbClr val="FFFFFF"/>
                          </a:solidFill>
                          <a:latin typeface="Arial MT"/>
                          <a:cs typeface="Arial MT"/>
                        </a:rPr>
                        <a:t>Deep</a:t>
                      </a:r>
                      <a:r>
                        <a:rPr dirty="0" sz="950" spc="20">
                          <a:solidFill>
                            <a:srgbClr val="FFFFFF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950" spc="-85">
                          <a:solidFill>
                            <a:srgbClr val="FFFFFF"/>
                          </a:solidFill>
                          <a:latin typeface="Arial MT"/>
                          <a:cs typeface="Arial MT"/>
                        </a:rPr>
                        <a:t>Tech</a:t>
                      </a:r>
                      <a:r>
                        <a:rPr dirty="0" sz="950" spc="5">
                          <a:solidFill>
                            <a:srgbClr val="FFFFFF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950" spc="-10">
                          <a:solidFill>
                            <a:srgbClr val="FFFFFF"/>
                          </a:solidFill>
                          <a:latin typeface="Arial MT"/>
                          <a:cs typeface="Arial MT"/>
                        </a:rPr>
                        <a:t>Layer</a:t>
                      </a:r>
                      <a:endParaRPr sz="950">
                        <a:latin typeface="Arial MT"/>
                        <a:cs typeface="Arial MT"/>
                      </a:endParaRPr>
                    </a:p>
                  </a:txBody>
                  <a:tcPr marL="0" marR="0" marB="0" marT="0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204470">
                        <a:lnSpc>
                          <a:spcPts val="850"/>
                        </a:lnSpc>
                      </a:pPr>
                      <a:r>
                        <a:rPr dirty="0" sz="800" spc="-50">
                          <a:solidFill>
                            <a:srgbClr val="FFFFFF"/>
                          </a:solidFill>
                          <a:latin typeface="Consolas"/>
                          <a:cs typeface="Consolas"/>
                        </a:rPr>
                        <a:t>6</a:t>
                      </a:r>
                      <a:endParaRPr sz="800">
                        <a:latin typeface="Consolas"/>
                        <a:cs typeface="Consolas"/>
                      </a:endParaRPr>
                    </a:p>
                  </a:txBody>
                  <a:tcPr marL="0" marR="0" marB="0" marT="0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marL="162560" marR="218440" indent="-162560">
                        <a:lnSpc>
                          <a:spcPts val="910"/>
                        </a:lnSpc>
                        <a:buClr>
                          <a:srgbClr val="B8E9DF"/>
                        </a:buClr>
                        <a:buChar char="•"/>
                        <a:tabLst>
                          <a:tab pos="162560" algn="l"/>
                        </a:tabLst>
                      </a:pPr>
                      <a:r>
                        <a:rPr dirty="0" sz="850">
                          <a:solidFill>
                            <a:srgbClr val="FFFFFF"/>
                          </a:solidFill>
                          <a:latin typeface="Arial MT"/>
                          <a:cs typeface="Arial MT"/>
                        </a:rPr>
                        <a:t>Agentic</a:t>
                      </a:r>
                      <a:r>
                        <a:rPr dirty="0" sz="850" spc="240">
                          <a:solidFill>
                            <a:srgbClr val="FFFFFF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850">
                          <a:solidFill>
                            <a:srgbClr val="FFFFFF"/>
                          </a:solidFill>
                          <a:latin typeface="Arial MT"/>
                          <a:cs typeface="Arial MT"/>
                        </a:rPr>
                        <a:t>Application</a:t>
                      </a:r>
                      <a:r>
                        <a:rPr dirty="0" sz="850" spc="170">
                          <a:solidFill>
                            <a:srgbClr val="FFFFFF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850" spc="-10">
                          <a:solidFill>
                            <a:srgbClr val="FFFFFF"/>
                          </a:solidFill>
                          <a:latin typeface="Arial MT"/>
                          <a:cs typeface="Arial MT"/>
                        </a:rPr>
                        <a:t>Layer</a:t>
                      </a:r>
                      <a:endParaRPr sz="850">
                        <a:latin typeface="Arial MT"/>
                        <a:cs typeface="Arial MT"/>
                      </a:endParaRPr>
                    </a:p>
                  </a:txBody>
                  <a:tcPr marL="0" marR="0" marB="0" marT="0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207645">
                        <a:lnSpc>
                          <a:spcPts val="840"/>
                        </a:lnSpc>
                      </a:pPr>
                      <a:r>
                        <a:rPr dirty="0" sz="750" spc="-25">
                          <a:solidFill>
                            <a:srgbClr val="FFFFFF"/>
                          </a:solidFill>
                          <a:latin typeface="Arial MT"/>
                          <a:cs typeface="Arial MT"/>
                        </a:rPr>
                        <a:t>16</a:t>
                      </a:r>
                      <a:endParaRPr sz="750">
                        <a:latin typeface="Arial MT"/>
                        <a:cs typeface="Arial MT"/>
                      </a:endParaRPr>
                    </a:p>
                  </a:txBody>
                  <a:tcPr marL="0" marR="0" marB="0" marT="0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381635">
                        <a:lnSpc>
                          <a:spcPts val="910"/>
                        </a:lnSpc>
                      </a:pPr>
                      <a:r>
                        <a:rPr dirty="0" sz="900">
                          <a:solidFill>
                            <a:srgbClr val="A0DDCA"/>
                          </a:solidFill>
                          <a:latin typeface="Arial MT"/>
                          <a:cs typeface="Arial MT"/>
                        </a:rPr>
                        <a:t>.</a:t>
                      </a:r>
                      <a:r>
                        <a:rPr dirty="0" sz="900" spc="120">
                          <a:solidFill>
                            <a:srgbClr val="A0DDCA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900">
                          <a:solidFill>
                            <a:srgbClr val="D4D4D4"/>
                          </a:solidFill>
                          <a:latin typeface="Arial MT"/>
                          <a:cs typeface="Arial MT"/>
                        </a:rPr>
                        <a:t>”</a:t>
                      </a:r>
                      <a:r>
                        <a:rPr dirty="0" sz="900" spc="465">
                          <a:solidFill>
                            <a:srgbClr val="D4D4D4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900">
                          <a:solidFill>
                            <a:srgbClr val="FFFFFF"/>
                          </a:solidFill>
                          <a:latin typeface="Arial MT"/>
                          <a:cs typeface="Arial MT"/>
                        </a:rPr>
                        <a:t>AI</a:t>
                      </a:r>
                      <a:r>
                        <a:rPr dirty="0" sz="900" spc="-15">
                          <a:solidFill>
                            <a:srgbClr val="FFFFFF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900">
                          <a:solidFill>
                            <a:srgbClr val="FFFFFF"/>
                          </a:solidFill>
                          <a:latin typeface="Arial MT"/>
                          <a:cs typeface="Arial MT"/>
                        </a:rPr>
                        <a:t>Agent </a:t>
                      </a:r>
                      <a:r>
                        <a:rPr dirty="0" sz="900" spc="-10">
                          <a:solidFill>
                            <a:srgbClr val="FFFFFF"/>
                          </a:solidFill>
                          <a:latin typeface="Arial MT"/>
                          <a:cs typeface="Arial MT"/>
                        </a:rPr>
                        <a:t>Toolkit</a:t>
                      </a:r>
                      <a:endParaRPr sz="900">
                        <a:latin typeface="Arial MT"/>
                        <a:cs typeface="Arial MT"/>
                      </a:endParaRPr>
                    </a:p>
                  </a:txBody>
                  <a:tcPr marL="0" marR="0" marB="0" marT="0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462915">
                        <a:lnSpc>
                          <a:spcPts val="850"/>
                        </a:lnSpc>
                      </a:pPr>
                      <a:r>
                        <a:rPr dirty="0" sz="800" spc="-25">
                          <a:solidFill>
                            <a:srgbClr val="FFFFFF"/>
                          </a:solidFill>
                          <a:latin typeface="Arial MT"/>
                          <a:cs typeface="Arial MT"/>
                        </a:rPr>
                        <a:t>25</a:t>
                      </a:r>
                      <a:endParaRPr sz="800">
                        <a:latin typeface="Arial MT"/>
                        <a:cs typeface="Arial MT"/>
                      </a:endParaRPr>
                    </a:p>
                  </a:txBody>
                  <a:tcPr marL="0" marR="0" marB="0" marT="0">
                    <a:solidFill>
                      <a:srgbClr val="000000"/>
                    </a:solidFill>
                  </a:tcPr>
                </a:tc>
              </a:tr>
              <a:tr h="129539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</a:tr>
              <a:tr h="111760">
                <a:tc>
                  <a:txBody>
                    <a:bodyPr/>
                    <a:lstStyle/>
                    <a:p>
                      <a:pPr marL="760095">
                        <a:lnSpc>
                          <a:spcPts val="680"/>
                        </a:lnSpc>
                      </a:pPr>
                      <a:r>
                        <a:rPr dirty="0" sz="750" spc="-10">
                          <a:solidFill>
                            <a:srgbClr val="C4C4C4"/>
                          </a:solidFill>
                          <a:latin typeface="Arial MT"/>
                          <a:cs typeface="Arial MT"/>
                        </a:rPr>
                        <a:t>Voice</a:t>
                      </a:r>
                      <a:r>
                        <a:rPr dirty="0" sz="750">
                          <a:solidFill>
                            <a:srgbClr val="C4C4C4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750" spc="-10">
                          <a:solidFill>
                            <a:srgbClr val="C8C8C8"/>
                          </a:solidFill>
                          <a:latin typeface="Arial MT"/>
                          <a:cs typeface="Arial MT"/>
                        </a:rPr>
                        <a:t>Recognition</a:t>
                      </a:r>
                      <a:r>
                        <a:rPr dirty="0" sz="750" spc="10">
                          <a:solidFill>
                            <a:srgbClr val="C8C8C8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750">
                          <a:solidFill>
                            <a:srgbClr val="C4C4C4"/>
                          </a:solidFill>
                          <a:latin typeface="Arial MT"/>
                          <a:cs typeface="Arial MT"/>
                        </a:rPr>
                        <a:t>Model</a:t>
                      </a:r>
                      <a:r>
                        <a:rPr dirty="0" sz="750" spc="-10">
                          <a:solidFill>
                            <a:srgbClr val="C4C4C4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750" spc="-10">
                          <a:solidFill>
                            <a:srgbClr val="C3C3C3"/>
                          </a:solidFill>
                          <a:latin typeface="Arial MT"/>
                          <a:cs typeface="Arial MT"/>
                        </a:rPr>
                        <a:t>Performance</a:t>
                      </a:r>
                      <a:endParaRPr sz="750">
                        <a:latin typeface="Arial MT"/>
                        <a:cs typeface="Arial MT"/>
                      </a:endParaRPr>
                    </a:p>
                  </a:txBody>
                  <a:tcPr marL="0" marR="0" marB="0" marT="0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204470">
                        <a:lnSpc>
                          <a:spcPts val="680"/>
                        </a:lnSpc>
                      </a:pPr>
                      <a:r>
                        <a:rPr dirty="0" sz="800" spc="-50">
                          <a:solidFill>
                            <a:srgbClr val="C1C1C1"/>
                          </a:solidFill>
                          <a:latin typeface="Consolas"/>
                          <a:cs typeface="Consolas"/>
                        </a:rPr>
                        <a:t>7</a:t>
                      </a:r>
                      <a:endParaRPr sz="800">
                        <a:latin typeface="Consolas"/>
                        <a:cs typeface="Consolas"/>
                      </a:endParaRPr>
                    </a:p>
                  </a:txBody>
                  <a:tcPr marL="0" marR="0" marB="0" marT="0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361315">
                        <a:lnSpc>
                          <a:spcPts val="680"/>
                        </a:lnSpc>
                      </a:pPr>
                      <a:r>
                        <a:rPr dirty="0" sz="700">
                          <a:solidFill>
                            <a:srgbClr val="CFCFCF"/>
                          </a:solidFill>
                          <a:latin typeface="Arial MT"/>
                          <a:cs typeface="Arial MT"/>
                        </a:rPr>
                        <a:t>Build</a:t>
                      </a:r>
                      <a:r>
                        <a:rPr dirty="0" sz="700" spc="65">
                          <a:solidFill>
                            <a:srgbClr val="CFCFCF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700">
                          <a:solidFill>
                            <a:srgbClr val="C3C3C3"/>
                          </a:solidFill>
                          <a:latin typeface="Arial MT"/>
                          <a:cs typeface="Arial MT"/>
                        </a:rPr>
                        <a:t>Your</a:t>
                      </a:r>
                      <a:r>
                        <a:rPr dirty="0" sz="700" spc="75">
                          <a:solidFill>
                            <a:srgbClr val="C3C3C3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700">
                          <a:solidFill>
                            <a:srgbClr val="BCBCBC"/>
                          </a:solidFill>
                          <a:latin typeface="Arial MT"/>
                          <a:cs typeface="Arial MT"/>
                        </a:rPr>
                        <a:t>Al</a:t>
                      </a:r>
                      <a:r>
                        <a:rPr dirty="0" sz="700" spc="20">
                          <a:solidFill>
                            <a:srgbClr val="BCBCBC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700" spc="-10">
                          <a:solidFill>
                            <a:srgbClr val="C1C1C1"/>
                          </a:solidFill>
                          <a:latin typeface="Arial MT"/>
                          <a:cs typeface="Arial MT"/>
                        </a:rPr>
                        <a:t>Workforce</a:t>
                      </a:r>
                      <a:endParaRPr sz="700">
                        <a:latin typeface="Arial MT"/>
                        <a:cs typeface="Arial MT"/>
                      </a:endParaRPr>
                    </a:p>
                  </a:txBody>
                  <a:tcPr marL="0" marR="0" marB="0" marT="0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211454">
                        <a:lnSpc>
                          <a:spcPts val="680"/>
                        </a:lnSpc>
                      </a:pPr>
                      <a:r>
                        <a:rPr dirty="0" sz="750" spc="-25">
                          <a:solidFill>
                            <a:srgbClr val="C1C1C1"/>
                          </a:solidFill>
                          <a:latin typeface="Arial MT"/>
                          <a:cs typeface="Arial MT"/>
                        </a:rPr>
                        <a:t>17</a:t>
                      </a:r>
                      <a:endParaRPr sz="750">
                        <a:latin typeface="Arial MT"/>
                        <a:cs typeface="Arial MT"/>
                      </a:endParaRPr>
                    </a:p>
                  </a:txBody>
                  <a:tcPr marL="0" marR="0" marB="0" marT="0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351155">
                        <a:lnSpc>
                          <a:spcPts val="680"/>
                        </a:lnSpc>
                      </a:pPr>
                      <a:r>
                        <a:rPr dirty="0" sz="750" spc="-20">
                          <a:solidFill>
                            <a:srgbClr val="BDBDBD"/>
                          </a:solidFill>
                          <a:latin typeface="Arial MT"/>
                          <a:cs typeface="Arial MT"/>
                        </a:rPr>
                        <a:t>Omni</a:t>
                      </a:r>
                      <a:endParaRPr sz="750">
                        <a:latin typeface="Arial MT"/>
                        <a:cs typeface="Arial MT"/>
                      </a:endParaRPr>
                    </a:p>
                  </a:txBody>
                  <a:tcPr marL="0" marR="0" marB="0" marT="0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466725">
                        <a:lnSpc>
                          <a:spcPts val="680"/>
                        </a:lnSpc>
                      </a:pPr>
                      <a:r>
                        <a:rPr dirty="0" sz="750" spc="-25">
                          <a:solidFill>
                            <a:srgbClr val="C1C1C1"/>
                          </a:solidFill>
                          <a:latin typeface="Arial MT"/>
                          <a:cs typeface="Arial MT"/>
                        </a:rPr>
                        <a:t>26</a:t>
                      </a:r>
                      <a:endParaRPr sz="750">
                        <a:latin typeface="Arial MT"/>
                        <a:cs typeface="Arial MT"/>
                      </a:endParaRPr>
                    </a:p>
                  </a:txBody>
                  <a:tcPr marL="0" marR="0" marB="0" marT="0">
                    <a:solidFill>
                      <a:srgbClr val="000000"/>
                    </a:solidFill>
                  </a:tcPr>
                </a:tc>
              </a:tr>
              <a:tr h="10541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</a:tr>
              <a:tr h="113664">
                <a:tc>
                  <a:txBody>
                    <a:bodyPr/>
                    <a:lstStyle/>
                    <a:p>
                      <a:pPr marL="763905">
                        <a:lnSpc>
                          <a:spcPts val="680"/>
                        </a:lnSpc>
                      </a:pPr>
                      <a:r>
                        <a:rPr dirty="0" sz="750" spc="-10">
                          <a:solidFill>
                            <a:srgbClr val="C4C4C4"/>
                          </a:solidFill>
                          <a:latin typeface="Arial MT"/>
                          <a:cs typeface="Arial MT"/>
                        </a:rPr>
                        <a:t>Voice </a:t>
                      </a:r>
                      <a:r>
                        <a:rPr dirty="0" sz="750">
                          <a:solidFill>
                            <a:srgbClr val="C6C6C6"/>
                          </a:solidFill>
                          <a:latin typeface="Arial MT"/>
                          <a:cs typeface="Arial MT"/>
                        </a:rPr>
                        <a:t>Cloning</a:t>
                      </a:r>
                      <a:r>
                        <a:rPr dirty="0" sz="750" spc="-10">
                          <a:solidFill>
                            <a:srgbClr val="C6C6C6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750">
                          <a:solidFill>
                            <a:srgbClr val="C6C6C6"/>
                          </a:solidFill>
                          <a:latin typeface="Arial MT"/>
                          <a:cs typeface="Arial MT"/>
                        </a:rPr>
                        <a:t>Model</a:t>
                      </a:r>
                      <a:r>
                        <a:rPr dirty="0" sz="750" spc="-10">
                          <a:solidFill>
                            <a:srgbClr val="C6C6C6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750" spc="-10">
                          <a:solidFill>
                            <a:srgbClr val="CDCDCD"/>
                          </a:solidFill>
                          <a:latin typeface="Arial MT"/>
                          <a:cs typeface="Arial MT"/>
                        </a:rPr>
                        <a:t>Performance</a:t>
                      </a:r>
                      <a:endParaRPr sz="750">
                        <a:latin typeface="Arial MT"/>
                        <a:cs typeface="Arial MT"/>
                      </a:endParaRPr>
                    </a:p>
                  </a:txBody>
                  <a:tcPr marL="0" marR="0" marB="0" marT="0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204470">
                        <a:lnSpc>
                          <a:spcPts val="680"/>
                        </a:lnSpc>
                      </a:pPr>
                      <a:r>
                        <a:rPr dirty="0" sz="800" spc="-50">
                          <a:solidFill>
                            <a:srgbClr val="C1C1C1"/>
                          </a:solidFill>
                          <a:latin typeface="Consolas"/>
                          <a:cs typeface="Consolas"/>
                        </a:rPr>
                        <a:t>8</a:t>
                      </a:r>
                      <a:endParaRPr sz="800">
                        <a:latin typeface="Consolas"/>
                        <a:cs typeface="Consolas"/>
                      </a:endParaRPr>
                    </a:p>
                  </a:txBody>
                  <a:tcPr marL="0" marR="0" marB="0" marT="0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360045">
                        <a:lnSpc>
                          <a:spcPts val="680"/>
                        </a:lnSpc>
                      </a:pPr>
                      <a:r>
                        <a:rPr dirty="0" sz="750">
                          <a:solidFill>
                            <a:srgbClr val="CDCDCD"/>
                          </a:solidFill>
                          <a:latin typeface="Arial MT"/>
                          <a:cs typeface="Arial MT"/>
                        </a:rPr>
                        <a:t>Design</a:t>
                      </a:r>
                      <a:r>
                        <a:rPr dirty="0" sz="750" spc="-5">
                          <a:solidFill>
                            <a:srgbClr val="CDCDCD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750">
                          <a:solidFill>
                            <a:srgbClr val="CDCDCD"/>
                          </a:solidFill>
                          <a:latin typeface="Arial MT"/>
                          <a:cs typeface="Arial MT"/>
                        </a:rPr>
                        <a:t>Agents</a:t>
                      </a:r>
                      <a:r>
                        <a:rPr dirty="0" sz="750" spc="-15">
                          <a:solidFill>
                            <a:srgbClr val="CDCDCD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750">
                          <a:solidFill>
                            <a:srgbClr val="C4C4C4"/>
                          </a:solidFill>
                          <a:latin typeface="Arial MT"/>
                          <a:cs typeface="Arial MT"/>
                        </a:rPr>
                        <a:t>for </a:t>
                      </a:r>
                      <a:r>
                        <a:rPr dirty="0" sz="750" spc="-10">
                          <a:solidFill>
                            <a:srgbClr val="D1D1D1"/>
                          </a:solidFill>
                          <a:latin typeface="Arial MT"/>
                          <a:cs typeface="Arial MT"/>
                        </a:rPr>
                        <a:t>Any</a:t>
                      </a:r>
                      <a:r>
                        <a:rPr dirty="0" sz="750" spc="-25">
                          <a:solidFill>
                            <a:srgbClr val="D1D1D1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750" spc="-20">
                          <a:solidFill>
                            <a:srgbClr val="C1C1C1"/>
                          </a:solidFill>
                          <a:latin typeface="Arial MT"/>
                          <a:cs typeface="Arial MT"/>
                        </a:rPr>
                        <a:t>Role</a:t>
                      </a:r>
                      <a:endParaRPr sz="750">
                        <a:latin typeface="Arial MT"/>
                        <a:cs typeface="Arial MT"/>
                      </a:endParaRPr>
                    </a:p>
                  </a:txBody>
                  <a:tcPr marL="0" marR="0" marB="0" marT="0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208279">
                        <a:lnSpc>
                          <a:spcPts val="680"/>
                        </a:lnSpc>
                      </a:pPr>
                      <a:r>
                        <a:rPr dirty="0" sz="700" spc="-25">
                          <a:solidFill>
                            <a:srgbClr val="C3C3C3"/>
                          </a:solidFill>
                          <a:latin typeface="Arial MT"/>
                          <a:cs typeface="Arial MT"/>
                        </a:rPr>
                        <a:t>18</a:t>
                      </a:r>
                      <a:endParaRPr sz="700">
                        <a:latin typeface="Arial MT"/>
                        <a:cs typeface="Arial MT"/>
                      </a:endParaRPr>
                    </a:p>
                  </a:txBody>
                  <a:tcPr marL="0" marR="0" marB="0" marT="0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352425">
                        <a:lnSpc>
                          <a:spcPts val="680"/>
                        </a:lnSpc>
                      </a:pPr>
                      <a:r>
                        <a:rPr dirty="0" sz="700" spc="-10">
                          <a:solidFill>
                            <a:srgbClr val="CDCDCD"/>
                          </a:solidFill>
                          <a:latin typeface="Arial MT"/>
                          <a:cs typeface="Arial MT"/>
                        </a:rPr>
                        <a:t>Dash</a:t>
                      </a:r>
                      <a:r>
                        <a:rPr dirty="0" sz="700" spc="-10">
                          <a:solidFill>
                            <a:srgbClr val="D1D1D1"/>
                          </a:solidFill>
                          <a:latin typeface="Arial MT"/>
                          <a:cs typeface="Arial MT"/>
                        </a:rPr>
                        <a:t>boards</a:t>
                      </a:r>
                      <a:endParaRPr sz="700">
                        <a:latin typeface="Arial MT"/>
                        <a:cs typeface="Arial MT"/>
                      </a:endParaRPr>
                    </a:p>
                  </a:txBody>
                  <a:tcPr marL="0" marR="0" marB="0" marT="0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464820">
                        <a:lnSpc>
                          <a:spcPts val="680"/>
                        </a:lnSpc>
                      </a:pPr>
                      <a:r>
                        <a:rPr dirty="0" sz="800" spc="-25">
                          <a:solidFill>
                            <a:srgbClr val="CACACA"/>
                          </a:solidFill>
                          <a:latin typeface="Courier New"/>
                          <a:cs typeface="Courier New"/>
                        </a:rPr>
                        <a:t>27</a:t>
                      </a:r>
                      <a:endParaRPr sz="800">
                        <a:latin typeface="Courier New"/>
                        <a:cs typeface="Courier New"/>
                      </a:endParaRPr>
                    </a:p>
                  </a:txBody>
                  <a:tcPr marL="0" marR="0" marB="0" marT="0">
                    <a:solidFill>
                      <a:srgbClr val="000000"/>
                    </a:solidFill>
                  </a:tcPr>
                </a:tc>
              </a:tr>
              <a:tr h="10350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</a:tr>
              <a:tr h="114935">
                <a:tc>
                  <a:txBody>
                    <a:bodyPr/>
                    <a:lstStyle/>
                    <a:p>
                      <a:pPr marL="760730">
                        <a:lnSpc>
                          <a:spcPts val="680"/>
                        </a:lnSpc>
                      </a:pPr>
                      <a:r>
                        <a:rPr dirty="0" sz="700">
                          <a:solidFill>
                            <a:srgbClr val="C3C3C3"/>
                          </a:solidFill>
                          <a:latin typeface="Arial MT"/>
                          <a:cs typeface="Arial MT"/>
                        </a:rPr>
                        <a:t>How</a:t>
                      </a:r>
                      <a:r>
                        <a:rPr dirty="0" sz="700" spc="90">
                          <a:solidFill>
                            <a:srgbClr val="C3C3C3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700">
                          <a:solidFill>
                            <a:srgbClr val="C8C8C8"/>
                          </a:solidFill>
                          <a:latin typeface="Arial MT"/>
                          <a:cs typeface="Arial MT"/>
                        </a:rPr>
                        <a:t>Al</a:t>
                      </a:r>
                      <a:r>
                        <a:rPr dirty="0" sz="700" spc="60">
                          <a:solidFill>
                            <a:srgbClr val="C8C8C8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700">
                          <a:solidFill>
                            <a:srgbClr val="CACACA"/>
                          </a:solidFill>
                          <a:latin typeface="Arial MT"/>
                          <a:cs typeface="Arial MT"/>
                        </a:rPr>
                        <a:t>Voice</a:t>
                      </a:r>
                      <a:r>
                        <a:rPr dirty="0" sz="700" spc="105">
                          <a:solidFill>
                            <a:srgbClr val="CACACA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700" spc="-10">
                          <a:solidFill>
                            <a:srgbClr val="C6C6C6"/>
                          </a:solidFill>
                          <a:latin typeface="Arial MT"/>
                          <a:cs typeface="Arial MT"/>
                        </a:rPr>
                        <a:t>Works</a:t>
                      </a:r>
                      <a:endParaRPr sz="700">
                        <a:latin typeface="Arial MT"/>
                        <a:cs typeface="Arial MT"/>
                      </a:endParaRPr>
                    </a:p>
                  </a:txBody>
                  <a:tcPr marL="0" marR="0" marB="0" marT="0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205740">
                        <a:lnSpc>
                          <a:spcPts val="680"/>
                        </a:lnSpc>
                      </a:pPr>
                      <a:r>
                        <a:rPr dirty="0" sz="750" spc="-50">
                          <a:solidFill>
                            <a:srgbClr val="BFBFBF"/>
                          </a:solidFill>
                          <a:latin typeface="Consolas"/>
                          <a:cs typeface="Consolas"/>
                        </a:rPr>
                        <a:t>9</a:t>
                      </a:r>
                      <a:endParaRPr sz="750">
                        <a:latin typeface="Consolas"/>
                        <a:cs typeface="Consolas"/>
                      </a:endParaRPr>
                    </a:p>
                  </a:txBody>
                  <a:tcPr marL="0" marR="0" marB="0" marT="0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357505">
                        <a:lnSpc>
                          <a:spcPts val="680"/>
                        </a:lnSpc>
                      </a:pPr>
                      <a:r>
                        <a:rPr dirty="0" sz="700" i="1">
                          <a:solidFill>
                            <a:srgbClr val="BDBDBD"/>
                          </a:solidFill>
                          <a:latin typeface="Arial"/>
                          <a:cs typeface="Arial"/>
                        </a:rPr>
                        <a:t>0</a:t>
                      </a:r>
                      <a:r>
                        <a:rPr dirty="0" sz="700" spc="85" i="1">
                          <a:solidFill>
                            <a:srgbClr val="BDBDBD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700">
                          <a:solidFill>
                            <a:srgbClr val="CACACA"/>
                          </a:solidFill>
                          <a:latin typeface="Arial MT"/>
                          <a:cs typeface="Arial MT"/>
                        </a:rPr>
                        <a:t>rchestrate</a:t>
                      </a:r>
                      <a:r>
                        <a:rPr dirty="0" sz="700" spc="150">
                          <a:solidFill>
                            <a:srgbClr val="CACACA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700">
                          <a:solidFill>
                            <a:srgbClr val="C1C1C1"/>
                          </a:solidFill>
                          <a:latin typeface="Arial MT"/>
                          <a:cs typeface="Arial MT"/>
                        </a:rPr>
                        <a:t>Agentic</a:t>
                      </a:r>
                      <a:r>
                        <a:rPr dirty="0" sz="700" spc="130">
                          <a:solidFill>
                            <a:srgbClr val="C1C1C1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700" spc="-10">
                          <a:solidFill>
                            <a:srgbClr val="C1C1C1"/>
                          </a:solidFill>
                          <a:latin typeface="Arial MT"/>
                          <a:cs typeface="Arial MT"/>
                        </a:rPr>
                        <a:t>J</a:t>
                      </a:r>
                      <a:r>
                        <a:rPr dirty="0" sz="700" spc="-10">
                          <a:solidFill>
                            <a:srgbClr val="C6C6C6"/>
                          </a:solidFill>
                          <a:latin typeface="Arial MT"/>
                          <a:cs typeface="Arial MT"/>
                        </a:rPr>
                        <a:t>ourneys</a:t>
                      </a:r>
                      <a:endParaRPr sz="700">
                        <a:latin typeface="Arial MT"/>
                        <a:cs typeface="Arial MT"/>
                      </a:endParaRPr>
                    </a:p>
                  </a:txBody>
                  <a:tcPr marL="0" marR="0" marB="0" marT="0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207645">
                        <a:lnSpc>
                          <a:spcPts val="680"/>
                        </a:lnSpc>
                      </a:pPr>
                      <a:r>
                        <a:rPr dirty="0" sz="750" spc="-25">
                          <a:solidFill>
                            <a:srgbClr val="C1C1C1"/>
                          </a:solidFill>
                          <a:latin typeface="Arial MT"/>
                          <a:cs typeface="Arial MT"/>
                        </a:rPr>
                        <a:t>19</a:t>
                      </a:r>
                      <a:endParaRPr sz="750">
                        <a:latin typeface="Arial MT"/>
                        <a:cs typeface="Arial MT"/>
                      </a:endParaRPr>
                    </a:p>
                  </a:txBody>
                  <a:tcPr marL="0" marR="0" marB="0" marT="0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351790">
                        <a:lnSpc>
                          <a:spcPts val="680"/>
                        </a:lnSpc>
                      </a:pPr>
                      <a:r>
                        <a:rPr dirty="0" sz="700" spc="-20">
                          <a:solidFill>
                            <a:srgbClr val="D3D3D3"/>
                          </a:solidFill>
                          <a:latin typeface="Arial MT"/>
                          <a:cs typeface="Arial MT"/>
                        </a:rPr>
                        <a:t>Flow</a:t>
                      </a:r>
                      <a:endParaRPr sz="700">
                        <a:latin typeface="Arial MT"/>
                        <a:cs typeface="Arial MT"/>
                      </a:endParaRPr>
                    </a:p>
                  </a:txBody>
                  <a:tcPr marL="0" marR="0" marB="0" marT="0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461009">
                        <a:lnSpc>
                          <a:spcPts val="680"/>
                        </a:lnSpc>
                      </a:pPr>
                      <a:r>
                        <a:rPr dirty="0" sz="800" spc="-25">
                          <a:solidFill>
                            <a:srgbClr val="BABABA"/>
                          </a:solidFill>
                          <a:latin typeface="Courier New"/>
                          <a:cs typeface="Courier New"/>
                        </a:rPr>
                        <a:t>28</a:t>
                      </a:r>
                      <a:endParaRPr sz="800">
                        <a:latin typeface="Courier New"/>
                        <a:cs typeface="Courier New"/>
                      </a:endParaRPr>
                    </a:p>
                  </a:txBody>
                  <a:tcPr marL="0" marR="0" marB="0" marT="0">
                    <a:solidFill>
                      <a:srgbClr val="000000"/>
                    </a:solidFill>
                  </a:tcPr>
                </a:tc>
              </a:tr>
              <a:tr h="10033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</a:tr>
              <a:tr h="118745">
                <a:tc>
                  <a:txBody>
                    <a:bodyPr/>
                    <a:lstStyle/>
                    <a:p>
                      <a:pPr marL="763270">
                        <a:lnSpc>
                          <a:spcPts val="680"/>
                        </a:lnSpc>
                      </a:pPr>
                      <a:r>
                        <a:rPr dirty="0" sz="750">
                          <a:solidFill>
                            <a:srgbClr val="C3C3C3"/>
                          </a:solidFill>
                          <a:latin typeface="Arial MT"/>
                          <a:cs typeface="Arial MT"/>
                        </a:rPr>
                        <a:t>Clone</a:t>
                      </a:r>
                      <a:r>
                        <a:rPr dirty="0" sz="750" spc="-55">
                          <a:solidFill>
                            <a:srgbClr val="C3C3C3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750" spc="-20">
                          <a:solidFill>
                            <a:srgbClr val="D1D1D1"/>
                          </a:solidFill>
                          <a:latin typeface="Arial MT"/>
                          <a:cs typeface="Arial MT"/>
                        </a:rPr>
                        <a:t>Real</a:t>
                      </a:r>
                      <a:r>
                        <a:rPr dirty="0" sz="750" spc="-15">
                          <a:solidFill>
                            <a:srgbClr val="D1D1D1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750" spc="-10">
                          <a:solidFill>
                            <a:srgbClr val="C8C8C8"/>
                          </a:solidFill>
                          <a:latin typeface="Arial MT"/>
                          <a:cs typeface="Arial MT"/>
                        </a:rPr>
                        <a:t>Voices</a:t>
                      </a:r>
                      <a:r>
                        <a:rPr dirty="0" sz="750" spc="-5">
                          <a:solidFill>
                            <a:srgbClr val="C8C8C8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750" spc="-70">
                          <a:solidFill>
                            <a:srgbClr val="C3C3C3"/>
                          </a:solidFill>
                          <a:latin typeface="Arial MT"/>
                          <a:cs typeface="Arial MT"/>
                        </a:rPr>
                        <a:t>&amp;</a:t>
                      </a:r>
                      <a:r>
                        <a:rPr dirty="0" sz="750" spc="10">
                          <a:solidFill>
                            <a:srgbClr val="C3C3C3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750" spc="-10">
                          <a:solidFill>
                            <a:srgbClr val="CACACA"/>
                          </a:solidFill>
                          <a:latin typeface="Arial MT"/>
                          <a:cs typeface="Arial MT"/>
                        </a:rPr>
                        <a:t>Customise</a:t>
                      </a:r>
                      <a:endParaRPr sz="750">
                        <a:latin typeface="Arial MT"/>
                        <a:cs typeface="Arial MT"/>
                      </a:endParaRPr>
                    </a:p>
                  </a:txBody>
                  <a:tcPr marL="0" marR="0" marB="0" marT="0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182245">
                        <a:lnSpc>
                          <a:spcPts val="680"/>
                        </a:lnSpc>
                      </a:pPr>
                      <a:r>
                        <a:rPr dirty="0" sz="700" spc="-25">
                          <a:solidFill>
                            <a:srgbClr val="BABABA"/>
                          </a:solidFill>
                          <a:latin typeface="Arial MT"/>
                          <a:cs typeface="Arial MT"/>
                        </a:rPr>
                        <a:t>10</a:t>
                      </a:r>
                      <a:endParaRPr sz="700">
                        <a:latin typeface="Arial MT"/>
                        <a:cs typeface="Arial MT"/>
                      </a:endParaRPr>
                    </a:p>
                  </a:txBody>
                  <a:tcPr marL="0" marR="0" marB="0" marT="0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marR="190500">
                        <a:lnSpc>
                          <a:spcPts val="680"/>
                        </a:lnSpc>
                      </a:pPr>
                      <a:r>
                        <a:rPr dirty="0" sz="700">
                          <a:solidFill>
                            <a:srgbClr val="C6C6C6"/>
                          </a:solidFill>
                          <a:latin typeface="Arial MT"/>
                          <a:cs typeface="Arial MT"/>
                        </a:rPr>
                        <a:t>Th</a:t>
                      </a:r>
                      <a:r>
                        <a:rPr dirty="0" sz="700">
                          <a:solidFill>
                            <a:srgbClr val="BABABA"/>
                          </a:solidFill>
                          <a:latin typeface="Arial MT"/>
                          <a:cs typeface="Arial MT"/>
                        </a:rPr>
                        <a:t>e</a:t>
                      </a:r>
                      <a:r>
                        <a:rPr dirty="0" sz="700" spc="75">
                          <a:solidFill>
                            <a:srgbClr val="BABABA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700">
                          <a:solidFill>
                            <a:srgbClr val="CFCFCF"/>
                          </a:solidFill>
                          <a:latin typeface="Arial MT"/>
                          <a:cs typeface="Arial MT"/>
                        </a:rPr>
                        <a:t>Building</a:t>
                      </a:r>
                      <a:r>
                        <a:rPr dirty="0" sz="700" spc="110">
                          <a:solidFill>
                            <a:srgbClr val="CFCFCF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700">
                          <a:solidFill>
                            <a:srgbClr val="CCCCCC"/>
                          </a:solidFill>
                          <a:latin typeface="Arial MT"/>
                          <a:cs typeface="Arial MT"/>
                        </a:rPr>
                        <a:t>Bloc</a:t>
                      </a:r>
                      <a:r>
                        <a:rPr dirty="0" sz="700">
                          <a:solidFill>
                            <a:srgbClr val="C6C6C6"/>
                          </a:solidFill>
                          <a:latin typeface="Arial MT"/>
                          <a:cs typeface="Arial MT"/>
                        </a:rPr>
                        <a:t>ks</a:t>
                      </a:r>
                      <a:r>
                        <a:rPr dirty="0" sz="700" spc="85">
                          <a:solidFill>
                            <a:srgbClr val="C6C6C6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700">
                          <a:solidFill>
                            <a:srgbClr val="C1C1C1"/>
                          </a:solidFill>
                          <a:latin typeface="Arial MT"/>
                          <a:cs typeface="Arial MT"/>
                        </a:rPr>
                        <a:t>of</a:t>
                      </a:r>
                      <a:r>
                        <a:rPr dirty="0" sz="700" spc="70">
                          <a:solidFill>
                            <a:srgbClr val="C1C1C1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700">
                          <a:solidFill>
                            <a:srgbClr val="C8C8C8"/>
                          </a:solidFill>
                          <a:latin typeface="Arial MT"/>
                          <a:cs typeface="Arial MT"/>
                        </a:rPr>
                        <a:t>Every</a:t>
                      </a:r>
                      <a:r>
                        <a:rPr dirty="0" sz="700" spc="120">
                          <a:solidFill>
                            <a:srgbClr val="C8C8C8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700" spc="-10">
                          <a:solidFill>
                            <a:srgbClr val="CDCDCD"/>
                          </a:solidFill>
                          <a:latin typeface="Arial MT"/>
                          <a:cs typeface="Arial MT"/>
                        </a:rPr>
                        <a:t>Journey</a:t>
                      </a:r>
                      <a:endParaRPr sz="700">
                        <a:latin typeface="Arial MT"/>
                        <a:cs typeface="Arial MT"/>
                      </a:endParaRPr>
                    </a:p>
                  </a:txBody>
                  <a:tcPr marL="0" marR="0" marB="0" marT="0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198120">
                        <a:lnSpc>
                          <a:spcPts val="680"/>
                        </a:lnSpc>
                      </a:pPr>
                      <a:r>
                        <a:rPr dirty="0" sz="850" spc="-25">
                          <a:solidFill>
                            <a:srgbClr val="C6C6C6"/>
                          </a:solidFill>
                          <a:latin typeface="Courier New"/>
                          <a:cs typeface="Courier New"/>
                        </a:rPr>
                        <a:t>20</a:t>
                      </a:r>
                      <a:endParaRPr sz="850">
                        <a:latin typeface="Courier New"/>
                        <a:cs typeface="Courier New"/>
                      </a:endParaRPr>
                    </a:p>
                  </a:txBody>
                  <a:tcPr marL="0" marR="0" marB="0" marT="0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351790">
                        <a:lnSpc>
                          <a:spcPts val="680"/>
                        </a:lnSpc>
                      </a:pPr>
                      <a:r>
                        <a:rPr dirty="0" sz="750" spc="-20">
                          <a:solidFill>
                            <a:srgbClr val="C6C6C6"/>
                          </a:solidFill>
                          <a:latin typeface="Arial MT"/>
                          <a:cs typeface="Arial MT"/>
                        </a:rPr>
                        <a:t>AI</a:t>
                      </a:r>
                      <a:r>
                        <a:rPr dirty="0" sz="750" spc="-25">
                          <a:solidFill>
                            <a:srgbClr val="C6C6C6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750" spc="-10">
                          <a:solidFill>
                            <a:srgbClr val="CACACA"/>
                          </a:solidFill>
                          <a:latin typeface="Arial MT"/>
                          <a:cs typeface="Arial MT"/>
                        </a:rPr>
                        <a:t>Marketplace</a:t>
                      </a:r>
                      <a:endParaRPr sz="750">
                        <a:latin typeface="Arial MT"/>
                        <a:cs typeface="Arial MT"/>
                      </a:endParaRPr>
                    </a:p>
                  </a:txBody>
                  <a:tcPr marL="0" marR="0" marB="0" marT="0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461009">
                        <a:lnSpc>
                          <a:spcPts val="680"/>
                        </a:lnSpc>
                      </a:pPr>
                      <a:r>
                        <a:rPr dirty="0" sz="800" spc="-25">
                          <a:solidFill>
                            <a:srgbClr val="CACACA"/>
                          </a:solidFill>
                          <a:latin typeface="Courier New"/>
                          <a:cs typeface="Courier New"/>
                        </a:rPr>
                        <a:t>29</a:t>
                      </a:r>
                      <a:endParaRPr sz="800">
                        <a:latin typeface="Courier New"/>
                        <a:cs typeface="Courier New"/>
                      </a:endParaRPr>
                    </a:p>
                  </a:txBody>
                  <a:tcPr marL="0" marR="0" marB="0" marT="0">
                    <a:solidFill>
                      <a:srgbClr val="000000"/>
                    </a:solidFill>
                  </a:tcPr>
                </a:tc>
              </a:tr>
              <a:tr h="10922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</a:tr>
              <a:tr h="109220">
                <a:tc>
                  <a:txBody>
                    <a:bodyPr/>
                    <a:lstStyle/>
                    <a:p>
                      <a:pPr marL="762000">
                        <a:lnSpc>
                          <a:spcPts val="680"/>
                        </a:lnSpc>
                      </a:pPr>
                      <a:r>
                        <a:rPr dirty="0" sz="700">
                          <a:solidFill>
                            <a:srgbClr val="D1D1D1"/>
                          </a:solidFill>
                          <a:latin typeface="Arial MT"/>
                          <a:cs typeface="Arial MT"/>
                        </a:rPr>
                        <a:t>The</a:t>
                      </a:r>
                      <a:r>
                        <a:rPr dirty="0" sz="700" spc="125">
                          <a:solidFill>
                            <a:srgbClr val="D1D1D1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700">
                          <a:solidFill>
                            <a:srgbClr val="D1D1D1"/>
                          </a:solidFill>
                          <a:latin typeface="Arial MT"/>
                          <a:cs typeface="Arial MT"/>
                        </a:rPr>
                        <a:t>Ana</a:t>
                      </a:r>
                      <a:r>
                        <a:rPr dirty="0" sz="700">
                          <a:solidFill>
                            <a:srgbClr val="C3C3C3"/>
                          </a:solidFill>
                          <a:latin typeface="Arial MT"/>
                          <a:cs typeface="Arial MT"/>
                        </a:rPr>
                        <a:t>to</a:t>
                      </a:r>
                      <a:r>
                        <a:rPr dirty="0" sz="700">
                          <a:solidFill>
                            <a:srgbClr val="C1C1C1"/>
                          </a:solidFill>
                          <a:latin typeface="Arial MT"/>
                          <a:cs typeface="Arial MT"/>
                        </a:rPr>
                        <a:t>my</a:t>
                      </a:r>
                      <a:r>
                        <a:rPr dirty="0" sz="700" spc="75">
                          <a:solidFill>
                            <a:srgbClr val="C1C1C1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700">
                          <a:solidFill>
                            <a:srgbClr val="CDCDCD"/>
                          </a:solidFill>
                          <a:latin typeface="Arial MT"/>
                          <a:cs typeface="Arial MT"/>
                        </a:rPr>
                        <a:t>of</a:t>
                      </a:r>
                      <a:r>
                        <a:rPr dirty="0" sz="700" spc="70">
                          <a:solidFill>
                            <a:srgbClr val="CDCDCD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700">
                          <a:solidFill>
                            <a:srgbClr val="C1C1C1"/>
                          </a:solidFill>
                          <a:latin typeface="Arial MT"/>
                          <a:cs typeface="Arial MT"/>
                        </a:rPr>
                        <a:t>Every</a:t>
                      </a:r>
                      <a:r>
                        <a:rPr dirty="0" sz="700" spc="90">
                          <a:solidFill>
                            <a:srgbClr val="C1C1C1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700">
                          <a:solidFill>
                            <a:srgbClr val="BFBFBF"/>
                          </a:solidFill>
                          <a:latin typeface="Arial MT"/>
                          <a:cs typeface="Arial MT"/>
                        </a:rPr>
                        <a:t>C</a:t>
                      </a:r>
                      <a:r>
                        <a:rPr dirty="0" sz="700">
                          <a:solidFill>
                            <a:srgbClr val="CFCFCF"/>
                          </a:solidFill>
                          <a:latin typeface="Arial MT"/>
                          <a:cs typeface="Arial MT"/>
                        </a:rPr>
                        <a:t>on</a:t>
                      </a:r>
                      <a:r>
                        <a:rPr dirty="0" sz="700">
                          <a:solidFill>
                            <a:srgbClr val="C6C6C6"/>
                          </a:solidFill>
                          <a:latin typeface="Arial MT"/>
                          <a:cs typeface="Arial MT"/>
                        </a:rPr>
                        <a:t>ve</a:t>
                      </a:r>
                      <a:r>
                        <a:rPr dirty="0" sz="700">
                          <a:solidFill>
                            <a:srgbClr val="C8C8C8"/>
                          </a:solidFill>
                          <a:latin typeface="Arial MT"/>
                          <a:cs typeface="Arial MT"/>
                        </a:rPr>
                        <a:t>rs</a:t>
                      </a:r>
                      <a:r>
                        <a:rPr dirty="0" sz="700">
                          <a:solidFill>
                            <a:srgbClr val="CDCDCD"/>
                          </a:solidFill>
                          <a:latin typeface="Arial MT"/>
                          <a:cs typeface="Arial MT"/>
                        </a:rPr>
                        <a:t>a</a:t>
                      </a:r>
                      <a:r>
                        <a:rPr dirty="0" sz="700" spc="-85">
                          <a:solidFill>
                            <a:srgbClr val="CDCDCD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700" spc="-20">
                          <a:solidFill>
                            <a:srgbClr val="D4D4D4"/>
                          </a:solidFill>
                          <a:latin typeface="Arial MT"/>
                          <a:cs typeface="Arial MT"/>
                        </a:rPr>
                        <a:t>tion</a:t>
                      </a:r>
                      <a:endParaRPr sz="700">
                        <a:latin typeface="Arial MT"/>
                        <a:cs typeface="Arial MT"/>
                      </a:endParaRPr>
                    </a:p>
                  </a:txBody>
                  <a:tcPr marL="0" marR="0" marB="0" marT="0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198120">
                        <a:lnSpc>
                          <a:spcPts val="675"/>
                        </a:lnSpc>
                      </a:pPr>
                      <a:r>
                        <a:rPr dirty="0" sz="650" spc="-25">
                          <a:solidFill>
                            <a:srgbClr val="C8C8C8"/>
                          </a:solidFill>
                          <a:latin typeface="Arial MT"/>
                          <a:cs typeface="Arial MT"/>
                        </a:rPr>
                        <a:t>11</a:t>
                      </a:r>
                      <a:endParaRPr sz="650">
                        <a:latin typeface="Arial MT"/>
                        <a:cs typeface="Arial MT"/>
                      </a:endParaRPr>
                    </a:p>
                  </a:txBody>
                  <a:tcPr marL="0" marR="0" marB="0" marT="0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359410">
                        <a:lnSpc>
                          <a:spcPts val="680"/>
                        </a:lnSpc>
                      </a:pPr>
                      <a:r>
                        <a:rPr dirty="0" sz="700">
                          <a:solidFill>
                            <a:srgbClr val="C6C6C6"/>
                          </a:solidFill>
                          <a:latin typeface="Arial MT"/>
                          <a:cs typeface="Arial MT"/>
                        </a:rPr>
                        <a:t>Confidence</a:t>
                      </a:r>
                      <a:r>
                        <a:rPr dirty="0" sz="700" spc="140">
                          <a:solidFill>
                            <a:srgbClr val="C6C6C6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700">
                          <a:solidFill>
                            <a:srgbClr val="C1C1C1"/>
                          </a:solidFill>
                          <a:latin typeface="Arial MT"/>
                          <a:cs typeface="Arial MT"/>
                        </a:rPr>
                        <a:t>in</a:t>
                      </a:r>
                      <a:r>
                        <a:rPr dirty="0" sz="700" spc="85">
                          <a:solidFill>
                            <a:srgbClr val="C1C1C1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700">
                          <a:solidFill>
                            <a:srgbClr val="CACACA"/>
                          </a:solidFill>
                          <a:latin typeface="Arial MT"/>
                          <a:cs typeface="Arial MT"/>
                        </a:rPr>
                        <a:t>Every</a:t>
                      </a:r>
                      <a:r>
                        <a:rPr dirty="0" sz="700" spc="114">
                          <a:solidFill>
                            <a:srgbClr val="CACACA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700" spc="-10">
                          <a:solidFill>
                            <a:srgbClr val="C3C3C3"/>
                          </a:solidFill>
                          <a:latin typeface="Arial MT"/>
                          <a:cs typeface="Arial MT"/>
                        </a:rPr>
                        <a:t>Change</a:t>
                      </a:r>
                      <a:endParaRPr sz="700">
                        <a:latin typeface="Arial MT"/>
                        <a:cs typeface="Arial MT"/>
                      </a:endParaRPr>
                    </a:p>
                  </a:txBody>
                  <a:tcPr marL="0" marR="0" marB="0" marT="0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215900">
                        <a:lnSpc>
                          <a:spcPts val="675"/>
                        </a:lnSpc>
                      </a:pPr>
                      <a:r>
                        <a:rPr dirty="0" sz="650" spc="-25">
                          <a:solidFill>
                            <a:srgbClr val="C3C3C3"/>
                          </a:solidFill>
                          <a:latin typeface="Arial MT"/>
                          <a:cs typeface="Arial MT"/>
                        </a:rPr>
                        <a:t>21</a:t>
                      </a:r>
                      <a:endParaRPr sz="650">
                        <a:latin typeface="Arial MT"/>
                        <a:cs typeface="Arial MT"/>
                      </a:endParaRPr>
                    </a:p>
                  </a:txBody>
                  <a:tcPr marL="0" marR="0" marB="0" marT="0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5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5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solidFill>
                      <a:srgbClr val="000000"/>
                    </a:solidFill>
                  </a:tcPr>
                </a:tc>
              </a:tr>
              <a:tr h="10350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</a:tr>
              <a:tr h="114935">
                <a:tc>
                  <a:txBody>
                    <a:bodyPr/>
                    <a:lstStyle/>
                    <a:p>
                      <a:pPr marL="760095">
                        <a:lnSpc>
                          <a:spcPts val="680"/>
                        </a:lnSpc>
                      </a:pPr>
                      <a:r>
                        <a:rPr dirty="0" sz="750" spc="-10">
                          <a:solidFill>
                            <a:srgbClr val="CDCDCD"/>
                          </a:solidFill>
                          <a:latin typeface="Arial MT"/>
                          <a:cs typeface="Arial MT"/>
                        </a:rPr>
                        <a:t>Reporting</a:t>
                      </a:r>
                      <a:r>
                        <a:rPr dirty="0" sz="750" spc="10">
                          <a:solidFill>
                            <a:srgbClr val="CDCDCD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750" spc="-10">
                          <a:solidFill>
                            <a:srgbClr val="CCCCCC"/>
                          </a:solidFill>
                          <a:latin typeface="Arial MT"/>
                          <a:cs typeface="Arial MT"/>
                        </a:rPr>
                        <a:t>That</a:t>
                      </a:r>
                      <a:r>
                        <a:rPr dirty="0" sz="750" spc="-15">
                          <a:solidFill>
                            <a:srgbClr val="CCCCCC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750" spc="-20">
                          <a:solidFill>
                            <a:srgbClr val="CFCFCF"/>
                          </a:solidFill>
                          <a:latin typeface="Arial MT"/>
                          <a:cs typeface="Arial MT"/>
                        </a:rPr>
                        <a:t>Turns</a:t>
                      </a:r>
                      <a:r>
                        <a:rPr dirty="0" sz="750">
                          <a:solidFill>
                            <a:srgbClr val="CFCFCF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750" spc="-10">
                          <a:solidFill>
                            <a:srgbClr val="C6C6C6"/>
                          </a:solidFill>
                          <a:latin typeface="Arial MT"/>
                          <a:cs typeface="Arial MT"/>
                        </a:rPr>
                        <a:t>Data</a:t>
                      </a:r>
                      <a:r>
                        <a:rPr dirty="0" sz="750">
                          <a:solidFill>
                            <a:srgbClr val="C6C6C6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750">
                          <a:solidFill>
                            <a:srgbClr val="C4C4C4"/>
                          </a:solidFill>
                          <a:latin typeface="Arial MT"/>
                          <a:cs typeface="Arial MT"/>
                        </a:rPr>
                        <a:t>into</a:t>
                      </a:r>
                      <a:r>
                        <a:rPr dirty="0" sz="750" spc="-10">
                          <a:solidFill>
                            <a:srgbClr val="C4C4C4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750" spc="-10">
                          <a:solidFill>
                            <a:srgbClr val="CFCFCF"/>
                          </a:solidFill>
                          <a:latin typeface="Arial MT"/>
                          <a:cs typeface="Arial MT"/>
                        </a:rPr>
                        <a:t>Action</a:t>
                      </a:r>
                      <a:endParaRPr sz="750">
                        <a:latin typeface="Arial MT"/>
                        <a:cs typeface="Arial MT"/>
                      </a:endParaRPr>
                    </a:p>
                  </a:txBody>
                  <a:tcPr marL="0" marR="0" marB="0" marT="0">
                    <a:solidFill>
                      <a:srgbClr val="000E0F"/>
                    </a:solidFill>
                  </a:tcPr>
                </a:tc>
                <a:tc>
                  <a:txBody>
                    <a:bodyPr/>
                    <a:lstStyle/>
                    <a:p>
                      <a:pPr marL="188595">
                        <a:lnSpc>
                          <a:spcPts val="675"/>
                        </a:lnSpc>
                      </a:pPr>
                      <a:r>
                        <a:rPr dirty="0" sz="650" spc="-25">
                          <a:solidFill>
                            <a:srgbClr val="BCBCBC"/>
                          </a:solidFill>
                          <a:latin typeface="Calibri"/>
                          <a:cs typeface="Calibri"/>
                        </a:rPr>
                        <a:t>12</a:t>
                      </a:r>
                      <a:endParaRPr sz="65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solidFill>
                      <a:srgbClr val="000E0F"/>
                    </a:solidFill>
                  </a:tcPr>
                </a:tc>
                <a:tc>
                  <a:txBody>
                    <a:bodyPr/>
                    <a:lstStyle/>
                    <a:p>
                      <a:pPr marL="359410">
                        <a:lnSpc>
                          <a:spcPts val="680"/>
                        </a:lnSpc>
                      </a:pPr>
                      <a:r>
                        <a:rPr dirty="0" sz="700">
                          <a:solidFill>
                            <a:srgbClr val="C6C6C6"/>
                          </a:solidFill>
                          <a:latin typeface="Arial MT"/>
                          <a:cs typeface="Arial MT"/>
                        </a:rPr>
                        <a:t>Connect</a:t>
                      </a:r>
                      <a:r>
                        <a:rPr dirty="0" sz="700" spc="65">
                          <a:solidFill>
                            <a:srgbClr val="C6C6C6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700">
                          <a:solidFill>
                            <a:srgbClr val="D1D1D1"/>
                          </a:solidFill>
                          <a:latin typeface="Arial MT"/>
                          <a:cs typeface="Arial MT"/>
                        </a:rPr>
                        <a:t>to</a:t>
                      </a:r>
                      <a:r>
                        <a:rPr dirty="0" sz="700" spc="60">
                          <a:solidFill>
                            <a:srgbClr val="D1D1D1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700">
                          <a:solidFill>
                            <a:srgbClr val="CACACA"/>
                          </a:solidFill>
                          <a:latin typeface="Arial MT"/>
                          <a:cs typeface="Arial MT"/>
                        </a:rPr>
                        <a:t>Your</a:t>
                      </a:r>
                      <a:r>
                        <a:rPr dirty="0" sz="700" spc="95">
                          <a:solidFill>
                            <a:srgbClr val="CACACA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700" spc="-10">
                          <a:solidFill>
                            <a:srgbClr val="CFCFCF"/>
                          </a:solidFill>
                          <a:latin typeface="Arial MT"/>
                          <a:cs typeface="Arial MT"/>
                        </a:rPr>
                        <a:t>Systems</a:t>
                      </a:r>
                      <a:endParaRPr sz="700">
                        <a:latin typeface="Arial MT"/>
                        <a:cs typeface="Arial MT"/>
                      </a:endParaRPr>
                    </a:p>
                  </a:txBody>
                  <a:tcPr marL="0" marR="0" marB="0" marT="0">
                    <a:solidFill>
                      <a:srgbClr val="000E0F"/>
                    </a:solidFill>
                  </a:tcPr>
                </a:tc>
                <a:tc>
                  <a:txBody>
                    <a:bodyPr/>
                    <a:lstStyle/>
                    <a:p>
                      <a:pPr marL="198755">
                        <a:lnSpc>
                          <a:spcPts val="680"/>
                        </a:lnSpc>
                      </a:pPr>
                      <a:r>
                        <a:rPr dirty="0" sz="800" spc="-25">
                          <a:solidFill>
                            <a:srgbClr val="CACACA"/>
                          </a:solidFill>
                          <a:latin typeface="Courier New"/>
                          <a:cs typeface="Courier New"/>
                        </a:rPr>
                        <a:t>22</a:t>
                      </a:r>
                      <a:endParaRPr sz="800">
                        <a:latin typeface="Courier New"/>
                        <a:cs typeface="Courier New"/>
                      </a:endParaRPr>
                    </a:p>
                  </a:txBody>
                  <a:tcPr marL="0" marR="0" marB="0" marT="0">
                    <a:solidFill>
                      <a:srgbClr val="000E0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5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solidFill>
                      <a:srgbClr val="000E0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5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solidFill>
                      <a:srgbClr val="000E0F"/>
                    </a:solidFill>
                  </a:tcPr>
                </a:tc>
              </a:tr>
              <a:tr h="10541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</a:tr>
              <a:tr h="113664">
                <a:tc>
                  <a:txBody>
                    <a:bodyPr/>
                    <a:lstStyle/>
                    <a:p>
                      <a:pPr marL="761365">
                        <a:lnSpc>
                          <a:spcPts val="680"/>
                        </a:lnSpc>
                      </a:pPr>
                      <a:r>
                        <a:rPr dirty="0" sz="700">
                          <a:solidFill>
                            <a:srgbClr val="C1C1C1"/>
                          </a:solidFill>
                          <a:latin typeface="Arial MT"/>
                          <a:cs typeface="Arial MT"/>
                        </a:rPr>
                        <a:t>Meet</a:t>
                      </a:r>
                      <a:r>
                        <a:rPr dirty="0" sz="700" spc="40">
                          <a:solidFill>
                            <a:srgbClr val="C1C1C1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700">
                          <a:solidFill>
                            <a:srgbClr val="C6C6C6"/>
                          </a:solidFill>
                          <a:latin typeface="Arial MT"/>
                          <a:cs typeface="Arial MT"/>
                        </a:rPr>
                        <a:t>CI</a:t>
                      </a:r>
                      <a:r>
                        <a:rPr dirty="0" sz="700">
                          <a:solidFill>
                            <a:srgbClr val="CDCDCD"/>
                          </a:solidFill>
                          <a:latin typeface="Arial MT"/>
                          <a:cs typeface="Arial MT"/>
                        </a:rPr>
                        <a:t>ara,</a:t>
                      </a:r>
                      <a:r>
                        <a:rPr dirty="0" sz="700" spc="30">
                          <a:solidFill>
                            <a:srgbClr val="CDCDCD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700">
                          <a:solidFill>
                            <a:srgbClr val="CDCDCD"/>
                          </a:solidFill>
                          <a:latin typeface="Arial MT"/>
                          <a:cs typeface="Arial MT"/>
                        </a:rPr>
                        <a:t>Your</a:t>
                      </a:r>
                      <a:r>
                        <a:rPr dirty="0" sz="700" spc="35">
                          <a:solidFill>
                            <a:srgbClr val="CDCDCD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700">
                          <a:solidFill>
                            <a:srgbClr val="CFCFCF"/>
                          </a:solidFill>
                          <a:latin typeface="Arial MT"/>
                          <a:cs typeface="Arial MT"/>
                        </a:rPr>
                        <a:t>Analytic</a:t>
                      </a:r>
                      <a:r>
                        <a:rPr dirty="0" sz="700" spc="-90">
                          <a:solidFill>
                            <a:srgbClr val="CFCFCF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700">
                          <a:solidFill>
                            <a:srgbClr val="C3C3C3"/>
                          </a:solidFill>
                          <a:latin typeface="Arial MT"/>
                          <a:cs typeface="Arial MT"/>
                        </a:rPr>
                        <a:t>s</a:t>
                      </a:r>
                      <a:r>
                        <a:rPr dirty="0" sz="700" spc="50">
                          <a:solidFill>
                            <a:srgbClr val="C3C3C3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700" spc="-10">
                          <a:solidFill>
                            <a:srgbClr val="CDCDCD"/>
                          </a:solidFill>
                          <a:latin typeface="Arial MT"/>
                          <a:cs typeface="Arial MT"/>
                        </a:rPr>
                        <a:t>Assistant</a:t>
                      </a:r>
                      <a:endParaRPr sz="700">
                        <a:latin typeface="Arial MT"/>
                        <a:cs typeface="Arial MT"/>
                      </a:endParaRPr>
                    </a:p>
                  </a:txBody>
                  <a:tcPr marL="0" marR="0" marB="0" marT="0">
                    <a:solidFill>
                      <a:srgbClr val="011111"/>
                    </a:solidFill>
                  </a:tcPr>
                </a:tc>
                <a:tc>
                  <a:txBody>
                    <a:bodyPr/>
                    <a:lstStyle/>
                    <a:p>
                      <a:pPr marL="186690">
                        <a:lnSpc>
                          <a:spcPts val="675"/>
                        </a:lnSpc>
                      </a:pPr>
                      <a:r>
                        <a:rPr dirty="0" sz="650" spc="-25">
                          <a:solidFill>
                            <a:srgbClr val="C4C4C4"/>
                          </a:solidFill>
                          <a:latin typeface="Arial MT"/>
                          <a:cs typeface="Arial MT"/>
                        </a:rPr>
                        <a:t>13</a:t>
                      </a:r>
                      <a:endParaRPr sz="650">
                        <a:latin typeface="Arial MT"/>
                        <a:cs typeface="Arial MT"/>
                      </a:endParaRPr>
                    </a:p>
                  </a:txBody>
                  <a:tcPr marL="0" marR="0" marB="0" marT="0">
                    <a:solidFill>
                      <a:srgbClr val="011111"/>
                    </a:solidFill>
                  </a:tcPr>
                </a:tc>
                <a:tc>
                  <a:txBody>
                    <a:bodyPr/>
                    <a:lstStyle/>
                    <a:p>
                      <a:pPr marL="360045">
                        <a:lnSpc>
                          <a:spcPts val="680"/>
                        </a:lnSpc>
                      </a:pPr>
                      <a:r>
                        <a:rPr dirty="0" sz="700">
                          <a:solidFill>
                            <a:srgbClr val="C6C6C6"/>
                          </a:solidFill>
                          <a:latin typeface="Arial MT"/>
                          <a:cs typeface="Arial MT"/>
                        </a:rPr>
                        <a:t>From</a:t>
                      </a:r>
                      <a:r>
                        <a:rPr dirty="0" sz="700" spc="70">
                          <a:solidFill>
                            <a:srgbClr val="C6C6C6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700">
                          <a:solidFill>
                            <a:srgbClr val="BCBCBC"/>
                          </a:solidFill>
                          <a:latin typeface="Arial MT"/>
                          <a:cs typeface="Arial MT"/>
                        </a:rPr>
                        <a:t>OC</a:t>
                      </a:r>
                      <a:r>
                        <a:rPr dirty="0" sz="700" spc="75">
                          <a:solidFill>
                            <a:srgbClr val="BCBCBC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700">
                          <a:solidFill>
                            <a:srgbClr val="BFBFBF"/>
                          </a:solidFill>
                          <a:latin typeface="Arial MT"/>
                          <a:cs typeface="Arial MT"/>
                        </a:rPr>
                        <a:t>to</a:t>
                      </a:r>
                      <a:r>
                        <a:rPr dirty="0" sz="700" spc="65">
                          <a:solidFill>
                            <a:srgbClr val="BFBFBF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700">
                          <a:solidFill>
                            <a:srgbClr val="C8C8C8"/>
                          </a:solidFill>
                          <a:latin typeface="Arial MT"/>
                          <a:cs typeface="Arial MT"/>
                        </a:rPr>
                        <a:t>Strategic</a:t>
                      </a:r>
                      <a:r>
                        <a:rPr dirty="0" sz="700" spc="100">
                          <a:solidFill>
                            <a:srgbClr val="C8C8C8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700">
                          <a:solidFill>
                            <a:srgbClr val="D4D4D4"/>
                          </a:solidFill>
                          <a:latin typeface="Arial MT"/>
                          <a:cs typeface="Arial MT"/>
                        </a:rPr>
                        <a:t>Coach</a:t>
                      </a:r>
                      <a:r>
                        <a:rPr dirty="0" sz="700" spc="-125">
                          <a:solidFill>
                            <a:srgbClr val="D4D4D4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700" spc="-25">
                          <a:solidFill>
                            <a:srgbClr val="C6C6C6"/>
                          </a:solidFill>
                          <a:latin typeface="Arial MT"/>
                          <a:cs typeface="Arial MT"/>
                        </a:rPr>
                        <a:t>in</a:t>
                      </a:r>
                      <a:r>
                        <a:rPr dirty="0" sz="700" spc="-25">
                          <a:solidFill>
                            <a:srgbClr val="B8B8B8"/>
                          </a:solidFill>
                          <a:latin typeface="Arial MT"/>
                          <a:cs typeface="Arial MT"/>
                        </a:rPr>
                        <a:t>g</a:t>
                      </a:r>
                      <a:endParaRPr sz="700">
                        <a:latin typeface="Arial MT"/>
                        <a:cs typeface="Arial MT"/>
                      </a:endParaRPr>
                    </a:p>
                  </a:txBody>
                  <a:tcPr marL="0" marR="0" marB="0" marT="0">
                    <a:solidFill>
                      <a:srgbClr val="011111"/>
                    </a:solidFill>
                  </a:tcPr>
                </a:tc>
                <a:tc>
                  <a:txBody>
                    <a:bodyPr/>
                    <a:lstStyle/>
                    <a:p>
                      <a:pPr marL="202565">
                        <a:lnSpc>
                          <a:spcPts val="680"/>
                        </a:lnSpc>
                      </a:pPr>
                      <a:r>
                        <a:rPr dirty="0" sz="800" spc="-25">
                          <a:solidFill>
                            <a:srgbClr val="C3C3C3"/>
                          </a:solidFill>
                          <a:latin typeface="Courier New"/>
                          <a:cs typeface="Courier New"/>
                        </a:rPr>
                        <a:t>23</a:t>
                      </a:r>
                      <a:endParaRPr sz="800">
                        <a:latin typeface="Courier New"/>
                        <a:cs typeface="Courier New"/>
                      </a:endParaRPr>
                    </a:p>
                  </a:txBody>
                  <a:tcPr marL="0" marR="0" marB="0" marT="0">
                    <a:solidFill>
                      <a:srgbClr val="01111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5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solidFill>
                      <a:srgbClr val="01111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5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solidFill>
                      <a:srgbClr val="011111"/>
                    </a:solidFill>
                  </a:tcPr>
                </a:tc>
              </a:tr>
              <a:tr h="10350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</a:tr>
              <a:tr h="107950">
                <a:tc>
                  <a:txBody>
                    <a:bodyPr/>
                    <a:lstStyle/>
                    <a:p>
                      <a:pPr marL="760095">
                        <a:lnSpc>
                          <a:spcPts val="620"/>
                        </a:lnSpc>
                      </a:pPr>
                      <a:r>
                        <a:rPr dirty="0" sz="750">
                          <a:solidFill>
                            <a:srgbClr val="C3C3C3"/>
                          </a:solidFill>
                          <a:latin typeface="Arial MT"/>
                          <a:cs typeface="Arial MT"/>
                        </a:rPr>
                        <a:t>Equip</a:t>
                      </a:r>
                      <a:r>
                        <a:rPr dirty="0" sz="750" spc="-15">
                          <a:solidFill>
                            <a:srgbClr val="C3C3C3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750">
                          <a:solidFill>
                            <a:srgbClr val="C3C3C3"/>
                          </a:solidFill>
                          <a:latin typeface="Arial MT"/>
                          <a:cs typeface="Arial MT"/>
                        </a:rPr>
                        <a:t>Agents</a:t>
                      </a:r>
                      <a:r>
                        <a:rPr dirty="0" sz="750" spc="5">
                          <a:solidFill>
                            <a:srgbClr val="C3C3C3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750">
                          <a:solidFill>
                            <a:srgbClr val="CACACA"/>
                          </a:solidFill>
                          <a:latin typeface="Arial MT"/>
                          <a:cs typeface="Arial MT"/>
                        </a:rPr>
                        <a:t>with</a:t>
                      </a:r>
                      <a:r>
                        <a:rPr dirty="0" sz="750" spc="-20">
                          <a:solidFill>
                            <a:srgbClr val="CACACA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750" spc="-10">
                          <a:solidFill>
                            <a:srgbClr val="C8C8C8"/>
                          </a:solidFill>
                          <a:latin typeface="Arial MT"/>
                          <a:cs typeface="Arial MT"/>
                        </a:rPr>
                        <a:t>Knowledge</a:t>
                      </a:r>
                      <a:endParaRPr sz="750">
                        <a:latin typeface="Arial MT"/>
                        <a:cs typeface="Arial MT"/>
                      </a:endParaRPr>
                    </a:p>
                  </a:txBody>
                  <a:tcPr marL="0" marR="0" marB="0" marT="0">
                    <a:solidFill>
                      <a:srgbClr val="031618"/>
                    </a:solidFill>
                  </a:tcPr>
                </a:tc>
                <a:tc>
                  <a:txBody>
                    <a:bodyPr/>
                    <a:lstStyle/>
                    <a:p>
                      <a:pPr marL="181610">
                        <a:lnSpc>
                          <a:spcPts val="620"/>
                        </a:lnSpc>
                      </a:pPr>
                      <a:r>
                        <a:rPr dirty="0" sz="750" spc="-25">
                          <a:solidFill>
                            <a:srgbClr val="BDBDBD"/>
                          </a:solidFill>
                          <a:latin typeface="Arial MT"/>
                          <a:cs typeface="Arial MT"/>
                        </a:rPr>
                        <a:t>14</a:t>
                      </a:r>
                      <a:endParaRPr sz="750">
                        <a:latin typeface="Arial MT"/>
                        <a:cs typeface="Arial MT"/>
                      </a:endParaRPr>
                    </a:p>
                  </a:txBody>
                  <a:tcPr marL="0" marR="0" marB="0" marT="0">
                    <a:solidFill>
                      <a:srgbClr val="031618"/>
                    </a:solidFill>
                  </a:tcPr>
                </a:tc>
                <a:tc>
                  <a:txBody>
                    <a:bodyPr/>
                    <a:lstStyle/>
                    <a:p>
                      <a:pPr marL="358775">
                        <a:lnSpc>
                          <a:spcPts val="620"/>
                        </a:lnSpc>
                      </a:pPr>
                      <a:r>
                        <a:rPr dirty="0" sz="750" spc="-10">
                          <a:solidFill>
                            <a:srgbClr val="CACACA"/>
                          </a:solidFill>
                          <a:latin typeface="Arial MT"/>
                          <a:cs typeface="Arial MT"/>
                        </a:rPr>
                        <a:t>Generate</a:t>
                      </a:r>
                      <a:r>
                        <a:rPr dirty="0" sz="750">
                          <a:solidFill>
                            <a:srgbClr val="CACACA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750" spc="-10">
                          <a:solidFill>
                            <a:srgbClr val="CDCDCD"/>
                          </a:solidFill>
                          <a:latin typeface="Arial MT"/>
                          <a:cs typeface="Arial MT"/>
                        </a:rPr>
                        <a:t>Scorecards</a:t>
                      </a:r>
                      <a:r>
                        <a:rPr dirty="0" sz="750" spc="45">
                          <a:solidFill>
                            <a:srgbClr val="CDCDCD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750">
                          <a:solidFill>
                            <a:srgbClr val="C8C8C8"/>
                          </a:solidFill>
                          <a:latin typeface="Arial MT"/>
                          <a:cs typeface="Arial MT"/>
                        </a:rPr>
                        <a:t>with</a:t>
                      </a:r>
                      <a:r>
                        <a:rPr dirty="0" sz="750" spc="-15">
                          <a:solidFill>
                            <a:srgbClr val="C8C8C8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750" spc="-10">
                          <a:solidFill>
                            <a:srgbClr val="CDCDCD"/>
                          </a:solidFill>
                          <a:latin typeface="Arial MT"/>
                          <a:cs typeface="Arial MT"/>
                        </a:rPr>
                        <a:t>Clara</a:t>
                      </a:r>
                      <a:endParaRPr sz="750">
                        <a:latin typeface="Arial MT"/>
                        <a:cs typeface="Arial MT"/>
                      </a:endParaRPr>
                    </a:p>
                  </a:txBody>
                  <a:tcPr marL="0" marR="0" marB="0" marT="0">
                    <a:solidFill>
                      <a:srgbClr val="031618"/>
                    </a:solidFill>
                  </a:tcPr>
                </a:tc>
                <a:tc>
                  <a:txBody>
                    <a:bodyPr/>
                    <a:lstStyle/>
                    <a:p>
                      <a:pPr marL="208279">
                        <a:lnSpc>
                          <a:spcPts val="620"/>
                        </a:lnSpc>
                      </a:pPr>
                      <a:r>
                        <a:rPr dirty="0" sz="750" spc="-25">
                          <a:solidFill>
                            <a:srgbClr val="BFBFBF"/>
                          </a:solidFill>
                          <a:latin typeface="Arial MT"/>
                          <a:cs typeface="Arial MT"/>
                        </a:rPr>
                        <a:t>24</a:t>
                      </a:r>
                      <a:endParaRPr sz="750">
                        <a:latin typeface="Arial MT"/>
                        <a:cs typeface="Arial MT"/>
                      </a:endParaRPr>
                    </a:p>
                  </a:txBody>
                  <a:tcPr marL="0" marR="0" marB="0" marT="0">
                    <a:solidFill>
                      <a:srgbClr val="03161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solidFill>
                      <a:srgbClr val="03161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solidFill>
                      <a:srgbClr val="031618"/>
                    </a:solidFill>
                  </a:tcPr>
                </a:tc>
              </a:tr>
              <a:tr h="21717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0"/>
                        </a:spcBef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  <a:p>
                      <a:pPr marL="760730">
                        <a:lnSpc>
                          <a:spcPts val="760"/>
                        </a:lnSpc>
                      </a:pPr>
                      <a:r>
                        <a:rPr dirty="0" sz="700">
                          <a:solidFill>
                            <a:srgbClr val="C6C6C6"/>
                          </a:solidFill>
                          <a:latin typeface="Arial MT"/>
                          <a:cs typeface="Arial MT"/>
                        </a:rPr>
                        <a:t>Foundatio</a:t>
                      </a:r>
                      <a:r>
                        <a:rPr dirty="0" sz="700" spc="-45">
                          <a:solidFill>
                            <a:srgbClr val="C6C6C6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700">
                          <a:solidFill>
                            <a:srgbClr val="C1C1C1"/>
                          </a:solidFill>
                          <a:latin typeface="Arial MT"/>
                          <a:cs typeface="Arial MT"/>
                        </a:rPr>
                        <a:t>n</a:t>
                      </a:r>
                      <a:r>
                        <a:rPr dirty="0" sz="700">
                          <a:solidFill>
                            <a:srgbClr val="BABABA"/>
                          </a:solidFill>
                          <a:latin typeface="Arial MT"/>
                          <a:cs typeface="Arial MT"/>
                        </a:rPr>
                        <a:t>al</a:t>
                      </a:r>
                      <a:r>
                        <a:rPr dirty="0" sz="700" spc="114">
                          <a:solidFill>
                            <a:srgbClr val="BABABA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700" spc="-10">
                          <a:solidFill>
                            <a:srgbClr val="C4C4C4"/>
                          </a:solidFill>
                          <a:latin typeface="Arial MT"/>
                          <a:cs typeface="Arial MT"/>
                        </a:rPr>
                        <a:t>Models</a:t>
                      </a:r>
                      <a:endParaRPr sz="700">
                        <a:latin typeface="Arial MT"/>
                        <a:cs typeface="Arial MT"/>
                      </a:endParaRPr>
                    </a:p>
                  </a:txBody>
                  <a:tcPr marL="0" marR="0" marB="0" marT="6350"/>
                </a:tc>
                <a:tc>
                  <a:txBody>
                    <a:bodyPr/>
                    <a:lstStyle/>
                    <a:p>
                      <a:pPr marL="181610">
                        <a:lnSpc>
                          <a:spcPts val="810"/>
                        </a:lnSpc>
                        <a:spcBef>
                          <a:spcPts val="805"/>
                        </a:spcBef>
                      </a:pPr>
                      <a:r>
                        <a:rPr dirty="0" sz="750" spc="-25">
                          <a:solidFill>
                            <a:srgbClr val="BFBFBF"/>
                          </a:solidFill>
                          <a:latin typeface="Arial MT"/>
                          <a:cs typeface="Arial MT"/>
                        </a:rPr>
                        <a:t>15</a:t>
                      </a:r>
                      <a:endParaRPr sz="750">
                        <a:latin typeface="Arial MT"/>
                        <a:cs typeface="Arial MT"/>
                      </a:endParaRPr>
                    </a:p>
                  </a:txBody>
                  <a:tcPr marL="0" marR="0" marB="0" marT="102235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</a:tr>
            </a:tbl>
          </a:graphicData>
        </a:graphic>
      </p:graphicFrame>
      <p:sp>
        <p:nvSpPr>
          <p:cNvPr id="12" name="Rounded Rectangle 11"/>
          <p:cNvSpPr/>
          <p:nvPr/>
        </p:nvSpPr>
        <p:spPr>
          <a:xfrm>
            <a:off x="7589520" y="109728"/>
            <a:ext cx="1417320" cy="2926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7C3A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100" b="1">
                <a:solidFill>
                  <a:srgbClr val="7C3AED"/>
                </a:solidFill>
                <a:latin typeface="Inter"/>
              </a:rPr>
              <a:t>MassaPro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62672" y="173736"/>
            <a:ext cx="164592" cy="164592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Inter"/>
              </a:rPr>
              <a:t>M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7589520" y="109728"/>
            <a:ext cx="1417320" cy="2926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7C3A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100" b="1">
                <a:solidFill>
                  <a:srgbClr val="7C3AED"/>
                </a:solidFill>
                <a:latin typeface="Inter"/>
              </a:rPr>
              <a:t>MassaPro</a:t>
            </a:r>
          </a:p>
        </p:txBody>
      </p:sp>
      <p:sp>
        <p:nvSpPr>
          <p:cNvPr id="4" name="Rectangle 3"/>
          <p:cNvSpPr/>
          <p:nvPr/>
        </p:nvSpPr>
        <p:spPr>
          <a:xfrm>
            <a:off x="7662672" y="173736"/>
            <a:ext cx="164592" cy="164592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Inter"/>
              </a:rPr>
              <a:t>M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7589520" y="109728"/>
            <a:ext cx="1417320" cy="2926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7C3A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100" b="1">
                <a:solidFill>
                  <a:srgbClr val="7C3AED"/>
                </a:solidFill>
                <a:latin typeface="Inter"/>
              </a:rPr>
              <a:t>MassaPro</a:t>
            </a:r>
          </a:p>
        </p:txBody>
      </p:sp>
      <p:sp>
        <p:nvSpPr>
          <p:cNvPr id="4" name="Rectangle 3"/>
          <p:cNvSpPr/>
          <p:nvPr/>
        </p:nvSpPr>
        <p:spPr>
          <a:xfrm>
            <a:off x="7662672" y="173736"/>
            <a:ext cx="164592" cy="164592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Inter"/>
              </a:rPr>
              <a:t>M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7589520" y="109728"/>
            <a:ext cx="1417320" cy="2926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7C3A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100" b="1">
                <a:solidFill>
                  <a:srgbClr val="7C3AED"/>
                </a:solidFill>
                <a:latin typeface="Inter"/>
              </a:rPr>
              <a:t>MassaPro</a:t>
            </a:r>
          </a:p>
        </p:txBody>
      </p:sp>
      <p:sp>
        <p:nvSpPr>
          <p:cNvPr id="4" name="Rectangle 3"/>
          <p:cNvSpPr/>
          <p:nvPr/>
        </p:nvSpPr>
        <p:spPr>
          <a:xfrm>
            <a:off x="7662672" y="173736"/>
            <a:ext cx="164592" cy="164592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Inter"/>
              </a:rPr>
              <a:t>M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7589520" y="109728"/>
            <a:ext cx="1417320" cy="2926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7C3A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100" b="1">
                <a:solidFill>
                  <a:srgbClr val="7C3AED"/>
                </a:solidFill>
                <a:latin typeface="Inter"/>
              </a:rPr>
              <a:t>MassaPro</a:t>
            </a:r>
          </a:p>
        </p:txBody>
      </p:sp>
      <p:sp>
        <p:nvSpPr>
          <p:cNvPr id="4" name="Rectangle 3"/>
          <p:cNvSpPr/>
          <p:nvPr/>
        </p:nvSpPr>
        <p:spPr>
          <a:xfrm>
            <a:off x="7662672" y="173736"/>
            <a:ext cx="164592" cy="164592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Inter"/>
              </a:rPr>
              <a:t>M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7589520" y="109728"/>
            <a:ext cx="1417320" cy="2926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7C3A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100" b="1">
                <a:solidFill>
                  <a:srgbClr val="7C3AED"/>
                </a:solidFill>
                <a:latin typeface="Inter"/>
              </a:rPr>
              <a:t>MassaPro</a:t>
            </a:r>
          </a:p>
        </p:txBody>
      </p:sp>
      <p:sp>
        <p:nvSpPr>
          <p:cNvPr id="4" name="Rectangle 3"/>
          <p:cNvSpPr/>
          <p:nvPr/>
        </p:nvSpPr>
        <p:spPr>
          <a:xfrm>
            <a:off x="7662672" y="173736"/>
            <a:ext cx="164592" cy="164592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Inter"/>
              </a:rPr>
              <a:t>M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7589520" y="109728"/>
            <a:ext cx="1417320" cy="2926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7C3A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100" b="1">
                <a:solidFill>
                  <a:srgbClr val="7C3AED"/>
                </a:solidFill>
                <a:latin typeface="Inter"/>
              </a:rPr>
              <a:t>MassaPro</a:t>
            </a:r>
          </a:p>
        </p:txBody>
      </p:sp>
      <p:sp>
        <p:nvSpPr>
          <p:cNvPr id="4" name="Rectangle 3"/>
          <p:cNvSpPr/>
          <p:nvPr/>
        </p:nvSpPr>
        <p:spPr>
          <a:xfrm>
            <a:off x="7662672" y="173736"/>
            <a:ext cx="164592" cy="164592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Inter"/>
              </a:rPr>
              <a:t>M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7589520" y="109728"/>
            <a:ext cx="1417320" cy="2926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7C3A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100" b="1">
                <a:solidFill>
                  <a:srgbClr val="7C3AED"/>
                </a:solidFill>
                <a:latin typeface="Inter"/>
              </a:rPr>
              <a:t>MassaPro</a:t>
            </a:r>
          </a:p>
        </p:txBody>
      </p:sp>
      <p:sp>
        <p:nvSpPr>
          <p:cNvPr id="4" name="Rectangle 3"/>
          <p:cNvSpPr/>
          <p:nvPr/>
        </p:nvSpPr>
        <p:spPr>
          <a:xfrm>
            <a:off x="7662672" y="173736"/>
            <a:ext cx="164592" cy="164592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Inter"/>
              </a:rPr>
              <a:t>M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7589520" y="109728"/>
            <a:ext cx="1417320" cy="2926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7C3A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100" b="1">
                <a:solidFill>
                  <a:srgbClr val="7C3AED"/>
                </a:solidFill>
                <a:latin typeface="Inter"/>
              </a:rPr>
              <a:t>MassaPro</a:t>
            </a:r>
          </a:p>
        </p:txBody>
      </p:sp>
      <p:sp>
        <p:nvSpPr>
          <p:cNvPr id="4" name="Rectangle 3"/>
          <p:cNvSpPr/>
          <p:nvPr/>
        </p:nvSpPr>
        <p:spPr>
          <a:xfrm>
            <a:off x="7662672" y="173736"/>
            <a:ext cx="164592" cy="164592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Inter"/>
              </a:rPr>
              <a:t>M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7589520" y="109728"/>
            <a:ext cx="1417320" cy="2926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7C3A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100" b="1">
                <a:solidFill>
                  <a:srgbClr val="7C3AED"/>
                </a:solidFill>
                <a:latin typeface="Inter"/>
              </a:rPr>
              <a:t>MassaPro</a:t>
            </a:r>
          </a:p>
        </p:txBody>
      </p:sp>
      <p:sp>
        <p:nvSpPr>
          <p:cNvPr id="4" name="Rectangle 3"/>
          <p:cNvSpPr/>
          <p:nvPr/>
        </p:nvSpPr>
        <p:spPr>
          <a:xfrm>
            <a:off x="7662672" y="173736"/>
            <a:ext cx="164592" cy="164592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Inter"/>
              </a:rPr>
              <a:t>M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7589520" y="109728"/>
            <a:ext cx="1417320" cy="2926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7C3A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100" b="1">
                <a:solidFill>
                  <a:srgbClr val="7C3AED"/>
                </a:solidFill>
                <a:latin typeface="Inter"/>
              </a:rPr>
              <a:t>MassaPro</a:t>
            </a:r>
          </a:p>
        </p:txBody>
      </p:sp>
      <p:sp>
        <p:nvSpPr>
          <p:cNvPr id="4" name="Rectangle 3"/>
          <p:cNvSpPr/>
          <p:nvPr/>
        </p:nvSpPr>
        <p:spPr>
          <a:xfrm>
            <a:off x="7662672" y="173736"/>
            <a:ext cx="164592" cy="164592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Inter"/>
              </a:rPr>
              <a:t>M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7589520" y="109728"/>
            <a:ext cx="1417320" cy="2926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7C3A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100" b="1">
                <a:solidFill>
                  <a:srgbClr val="7C3AED"/>
                </a:solidFill>
                <a:latin typeface="Inter"/>
              </a:rPr>
              <a:t>MassaPro</a:t>
            </a:r>
          </a:p>
        </p:txBody>
      </p:sp>
      <p:sp>
        <p:nvSpPr>
          <p:cNvPr id="4" name="Rectangle 3"/>
          <p:cNvSpPr/>
          <p:nvPr/>
        </p:nvSpPr>
        <p:spPr>
          <a:xfrm>
            <a:off x="7662672" y="173736"/>
            <a:ext cx="164592" cy="164592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Inter"/>
              </a:rPr>
              <a:t>M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7589520" y="109728"/>
            <a:ext cx="1417320" cy="2926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7C3A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100" b="1">
                <a:solidFill>
                  <a:srgbClr val="7C3AED"/>
                </a:solidFill>
                <a:latin typeface="Inter"/>
              </a:rPr>
              <a:t>MassaPro</a:t>
            </a:r>
          </a:p>
        </p:txBody>
      </p:sp>
      <p:sp>
        <p:nvSpPr>
          <p:cNvPr id="4" name="Rectangle 3"/>
          <p:cNvSpPr/>
          <p:nvPr/>
        </p:nvSpPr>
        <p:spPr>
          <a:xfrm>
            <a:off x="7662672" y="173736"/>
            <a:ext cx="164592" cy="164592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Inter"/>
              </a:rPr>
              <a:t>M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7589520" y="109728"/>
            <a:ext cx="1417320" cy="2926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7C3A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100" b="1">
                <a:solidFill>
                  <a:srgbClr val="7C3AED"/>
                </a:solidFill>
                <a:latin typeface="Inter"/>
              </a:rPr>
              <a:t>MassaPro</a:t>
            </a:r>
          </a:p>
        </p:txBody>
      </p:sp>
      <p:sp>
        <p:nvSpPr>
          <p:cNvPr id="4" name="Rectangle 3"/>
          <p:cNvSpPr/>
          <p:nvPr/>
        </p:nvSpPr>
        <p:spPr>
          <a:xfrm>
            <a:off x="7662672" y="173736"/>
            <a:ext cx="164592" cy="164592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Inter"/>
              </a:rPr>
              <a:t>M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7589520" y="109728"/>
            <a:ext cx="1417320" cy="2926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7C3A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100" b="1">
                <a:solidFill>
                  <a:srgbClr val="7C3AED"/>
                </a:solidFill>
                <a:latin typeface="Inter"/>
              </a:rPr>
              <a:t>MassaPro</a:t>
            </a:r>
          </a:p>
        </p:txBody>
      </p:sp>
      <p:sp>
        <p:nvSpPr>
          <p:cNvPr id="4" name="Rectangle 3"/>
          <p:cNvSpPr/>
          <p:nvPr/>
        </p:nvSpPr>
        <p:spPr>
          <a:xfrm>
            <a:off x="7662672" y="173736"/>
            <a:ext cx="164592" cy="164592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Inter"/>
              </a:rPr>
              <a:t>M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7589520" y="109728"/>
            <a:ext cx="1417320" cy="2926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7C3A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100" b="1">
                <a:solidFill>
                  <a:srgbClr val="7C3AED"/>
                </a:solidFill>
                <a:latin typeface="Inter"/>
              </a:rPr>
              <a:t>MassaPro</a:t>
            </a:r>
          </a:p>
        </p:txBody>
      </p:sp>
      <p:sp>
        <p:nvSpPr>
          <p:cNvPr id="4" name="Rectangle 3"/>
          <p:cNvSpPr/>
          <p:nvPr/>
        </p:nvSpPr>
        <p:spPr>
          <a:xfrm>
            <a:off x="7662672" y="173736"/>
            <a:ext cx="164592" cy="164592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Inter"/>
              </a:rPr>
              <a:t>M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7589520" y="109728"/>
            <a:ext cx="1417320" cy="2926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7C3A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100" b="1">
                <a:solidFill>
                  <a:srgbClr val="7C3AED"/>
                </a:solidFill>
                <a:latin typeface="Inter"/>
              </a:rPr>
              <a:t>MassaPro</a:t>
            </a:r>
          </a:p>
        </p:txBody>
      </p:sp>
      <p:sp>
        <p:nvSpPr>
          <p:cNvPr id="4" name="Rectangle 3"/>
          <p:cNvSpPr/>
          <p:nvPr/>
        </p:nvSpPr>
        <p:spPr>
          <a:xfrm>
            <a:off x="7662672" y="173736"/>
            <a:ext cx="164592" cy="164592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Inter"/>
              </a:rPr>
              <a:t>M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7589520" y="109728"/>
            <a:ext cx="1417320" cy="2926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7C3A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100" b="1">
                <a:solidFill>
                  <a:srgbClr val="7C3AED"/>
                </a:solidFill>
                <a:latin typeface="Inter"/>
              </a:rPr>
              <a:t>MassaPro</a:t>
            </a:r>
          </a:p>
        </p:txBody>
      </p:sp>
      <p:sp>
        <p:nvSpPr>
          <p:cNvPr id="4" name="Rectangle 3"/>
          <p:cNvSpPr/>
          <p:nvPr/>
        </p:nvSpPr>
        <p:spPr>
          <a:xfrm>
            <a:off x="7662672" y="173736"/>
            <a:ext cx="164592" cy="164592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Inter"/>
              </a:rPr>
              <a:t>M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7589520" y="109728"/>
            <a:ext cx="1417320" cy="2926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7C3A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100" b="1">
                <a:solidFill>
                  <a:srgbClr val="7C3AED"/>
                </a:solidFill>
                <a:latin typeface="Inter"/>
              </a:rPr>
              <a:t>MassaPro</a:t>
            </a:r>
          </a:p>
        </p:txBody>
      </p:sp>
      <p:sp>
        <p:nvSpPr>
          <p:cNvPr id="4" name="Rectangle 3"/>
          <p:cNvSpPr/>
          <p:nvPr/>
        </p:nvSpPr>
        <p:spPr>
          <a:xfrm>
            <a:off x="7662672" y="173736"/>
            <a:ext cx="164592" cy="164592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Inter"/>
              </a:rPr>
              <a:t>M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7589520" y="109728"/>
            <a:ext cx="1417320" cy="2926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7C3A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100" b="1">
                <a:solidFill>
                  <a:srgbClr val="7C3AED"/>
                </a:solidFill>
                <a:latin typeface="Inter"/>
              </a:rPr>
              <a:t>MassaPro</a:t>
            </a:r>
          </a:p>
        </p:txBody>
      </p:sp>
      <p:sp>
        <p:nvSpPr>
          <p:cNvPr id="4" name="Rectangle 3"/>
          <p:cNvSpPr/>
          <p:nvPr/>
        </p:nvSpPr>
        <p:spPr>
          <a:xfrm>
            <a:off x="7662672" y="173736"/>
            <a:ext cx="164592" cy="164592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Inter"/>
              </a:rPr>
              <a:t>M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7589520" y="109728"/>
            <a:ext cx="1417320" cy="2926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7C3A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100" b="1">
                <a:solidFill>
                  <a:srgbClr val="7C3AED"/>
                </a:solidFill>
                <a:latin typeface="Inter"/>
              </a:rPr>
              <a:t>MassaPro</a:t>
            </a:r>
          </a:p>
        </p:txBody>
      </p:sp>
      <p:sp>
        <p:nvSpPr>
          <p:cNvPr id="4" name="Rectangle 3"/>
          <p:cNvSpPr/>
          <p:nvPr/>
        </p:nvSpPr>
        <p:spPr>
          <a:xfrm>
            <a:off x="7662672" y="173736"/>
            <a:ext cx="164592" cy="164592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Inter"/>
              </a:rPr>
              <a:t>M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7589520" y="109728"/>
            <a:ext cx="1417320" cy="2926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7C3A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100" b="1">
                <a:solidFill>
                  <a:srgbClr val="7C3AED"/>
                </a:solidFill>
                <a:latin typeface="Inter"/>
              </a:rPr>
              <a:t>MassaPro</a:t>
            </a:r>
          </a:p>
        </p:txBody>
      </p:sp>
      <p:sp>
        <p:nvSpPr>
          <p:cNvPr id="4" name="Rectangle 3"/>
          <p:cNvSpPr/>
          <p:nvPr/>
        </p:nvSpPr>
        <p:spPr>
          <a:xfrm>
            <a:off x="7662672" y="173736"/>
            <a:ext cx="164592" cy="164592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Inter"/>
              </a:rPr>
              <a:t>M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7589520" y="109728"/>
            <a:ext cx="1417320" cy="2926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7C3A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100" b="1">
                <a:solidFill>
                  <a:srgbClr val="7C3AED"/>
                </a:solidFill>
                <a:latin typeface="Inter"/>
              </a:rPr>
              <a:t>MassaPro</a:t>
            </a:r>
          </a:p>
        </p:txBody>
      </p:sp>
      <p:sp>
        <p:nvSpPr>
          <p:cNvPr id="4" name="Rectangle 3"/>
          <p:cNvSpPr/>
          <p:nvPr/>
        </p:nvSpPr>
        <p:spPr>
          <a:xfrm>
            <a:off x="7662672" y="173736"/>
            <a:ext cx="164592" cy="164592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Inter"/>
              </a:rPr>
              <a:t>M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7589520" y="109728"/>
            <a:ext cx="1417320" cy="2926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7C3A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100" b="1">
                <a:solidFill>
                  <a:srgbClr val="7C3AED"/>
                </a:solidFill>
                <a:latin typeface="Inter"/>
              </a:rPr>
              <a:t>MassaPro</a:t>
            </a:r>
          </a:p>
        </p:txBody>
      </p:sp>
      <p:sp>
        <p:nvSpPr>
          <p:cNvPr id="4" name="Rectangle 3"/>
          <p:cNvSpPr/>
          <p:nvPr/>
        </p:nvSpPr>
        <p:spPr>
          <a:xfrm>
            <a:off x="7662672" y="173736"/>
            <a:ext cx="164592" cy="164592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Inter"/>
              </a:rPr>
              <a:t>M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7589520" y="109728"/>
            <a:ext cx="1417320" cy="2926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7C3A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100" b="1">
                <a:solidFill>
                  <a:srgbClr val="7C3AED"/>
                </a:solidFill>
                <a:latin typeface="Inter"/>
              </a:rPr>
              <a:t>MassaPro</a:t>
            </a:r>
          </a:p>
        </p:txBody>
      </p:sp>
      <p:sp>
        <p:nvSpPr>
          <p:cNvPr id="4" name="Rectangle 3"/>
          <p:cNvSpPr/>
          <p:nvPr/>
        </p:nvSpPr>
        <p:spPr>
          <a:xfrm>
            <a:off x="7662672" y="173736"/>
            <a:ext cx="164592" cy="164592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Inter"/>
              </a:rPr>
              <a:t>M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7589520" y="109728"/>
            <a:ext cx="1417320" cy="2926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7C3A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100" b="1">
                <a:solidFill>
                  <a:srgbClr val="7C3AED"/>
                </a:solidFill>
                <a:latin typeface="Inter"/>
              </a:rPr>
              <a:t>MassaPro</a:t>
            </a:r>
          </a:p>
        </p:txBody>
      </p:sp>
      <p:sp>
        <p:nvSpPr>
          <p:cNvPr id="4" name="Rectangle 3"/>
          <p:cNvSpPr/>
          <p:nvPr/>
        </p:nvSpPr>
        <p:spPr>
          <a:xfrm>
            <a:off x="7662672" y="173736"/>
            <a:ext cx="164592" cy="164592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Inter"/>
              </a:rPr>
              <a:t>M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7589520" y="109728"/>
            <a:ext cx="1417320" cy="2926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7C3A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100" b="1">
                <a:solidFill>
                  <a:srgbClr val="7C3AED"/>
                </a:solidFill>
                <a:latin typeface="Inter"/>
              </a:rPr>
              <a:t>MassaPro</a:t>
            </a:r>
          </a:p>
        </p:txBody>
      </p:sp>
      <p:sp>
        <p:nvSpPr>
          <p:cNvPr id="4" name="Rectangle 3"/>
          <p:cNvSpPr/>
          <p:nvPr/>
        </p:nvSpPr>
        <p:spPr>
          <a:xfrm>
            <a:off x="7662672" y="173736"/>
            <a:ext cx="164592" cy="164592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Inter"/>
              </a:rPr>
              <a:t>M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7589520" y="109728"/>
            <a:ext cx="1417320" cy="2926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7C3A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100" b="1">
                <a:solidFill>
                  <a:srgbClr val="7C3AED"/>
                </a:solidFill>
                <a:latin typeface="Inter"/>
              </a:rPr>
              <a:t>MassaPro</a:t>
            </a:r>
          </a:p>
        </p:txBody>
      </p:sp>
      <p:sp>
        <p:nvSpPr>
          <p:cNvPr id="4" name="Rectangle 3"/>
          <p:cNvSpPr/>
          <p:nvPr/>
        </p:nvSpPr>
        <p:spPr>
          <a:xfrm>
            <a:off x="7662672" y="173736"/>
            <a:ext cx="164592" cy="164592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Inter"/>
              </a:rPr>
              <a:t>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(US) ConnexAI Enterprise Product Brochure (2026)</dc:title>
  <dcterms:created xsi:type="dcterms:W3CDTF">2026-09-01T16:50:11Z</dcterms:created>
  <dcterms:modified xsi:type="dcterms:W3CDTF">2026-09-01T16:50:11Z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verter">
    <vt:lpwstr>SolidFramework v10.0.19910.1</vt:lpwstr>
  </property>
  <property fmtid="{D5CDD505-2E9C-101B-9397-08002B2CF9AE}" pid="3" name="Created">
    <vt:filetime>2026-09-01T00:00:00Z</vt:filetime>
  </property>
  <property fmtid="{D5CDD505-2E9C-101B-9397-08002B2CF9AE}" pid="4" name="Creator">
    <vt:lpwstr>Google</vt:lpwstr>
  </property>
  <property fmtid="{D5CDD505-2E9C-101B-9397-08002B2CF9AE}" pid="5" name="LastSaved">
    <vt:filetime>2026-09-01T00:00:00Z</vt:filetime>
  </property>
</Properties>
</file>